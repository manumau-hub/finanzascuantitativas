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0"/>
  </p:notesMasterIdLst>
  <p:sldIdLst>
    <p:sldId id="261" r:id="rId2"/>
    <p:sldId id="264" r:id="rId3"/>
    <p:sldId id="271" r:id="rId4"/>
    <p:sldId id="280" r:id="rId5"/>
    <p:sldId id="281" r:id="rId6"/>
    <p:sldId id="272" r:id="rId7"/>
    <p:sldId id="276" r:id="rId8"/>
    <p:sldId id="277" r:id="rId9"/>
    <p:sldId id="278" r:id="rId10"/>
    <p:sldId id="279" r:id="rId11"/>
    <p:sldId id="282" r:id="rId12"/>
    <p:sldId id="283" r:id="rId13"/>
    <p:sldId id="284" r:id="rId14"/>
    <p:sldId id="285" r:id="rId15"/>
    <p:sldId id="274" r:id="rId16"/>
    <p:sldId id="260" r:id="rId17"/>
    <p:sldId id="275" r:id="rId18"/>
    <p:sldId id="27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08" userDrawn="1">
          <p15:clr>
            <a:srgbClr val="A4A3A4"/>
          </p15:clr>
        </p15:guide>
        <p15:guide id="2" pos="489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meson Spence" initials="JS" lastIdx="1" clrIdx="0">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AB6"/>
    <a:srgbClr val="FF6600"/>
    <a:srgbClr val="1B398B"/>
    <a:srgbClr val="C54F30"/>
    <a:srgbClr val="1A427E"/>
    <a:srgbClr val="0099CC"/>
    <a:srgbClr val="17E9C6"/>
    <a:srgbClr val="DBE1E1"/>
    <a:srgbClr val="E3F7FF"/>
    <a:srgbClr val="1037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04" autoAdjust="0"/>
    <p:restoredTop sz="96374" autoAdjust="0"/>
  </p:normalViewPr>
  <p:slideViewPr>
    <p:cSldViewPr snapToGrid="0" snapToObjects="1">
      <p:cViewPr varScale="1">
        <p:scale>
          <a:sx n="110" d="100"/>
          <a:sy n="110" d="100"/>
        </p:scale>
        <p:origin x="1002" y="270"/>
      </p:cViewPr>
      <p:guideLst>
        <p:guide orient="horz" pos="1008"/>
        <p:guide pos="4896"/>
      </p:guideLst>
    </p:cSldViewPr>
  </p:slideViewPr>
  <p:outlineViewPr>
    <p:cViewPr>
      <p:scale>
        <a:sx n="33" d="100"/>
        <a:sy n="33" d="100"/>
      </p:scale>
      <p:origin x="0" y="-8094"/>
    </p:cViewPr>
  </p:outlineViewPr>
  <p:notesTextViewPr>
    <p:cViewPr>
      <p:scale>
        <a:sx n="3" d="2"/>
        <a:sy n="3" d="2"/>
      </p:scale>
      <p:origin x="0" y="0"/>
    </p:cViewPr>
  </p:notesTextViewPr>
  <p:sorterViewPr>
    <p:cViewPr>
      <p:scale>
        <a:sx n="120" d="100"/>
        <a:sy n="12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Source Sans Pro"/>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Source Sans Pro"/>
              </a:defRPr>
            </a:lvl1pPr>
          </a:lstStyle>
          <a:p>
            <a:fld id="{F05AAA67-03B6-F84B-9760-3E700A9B8D1C}" type="datetimeFigureOut">
              <a:rPr lang="en-US" smtClean="0"/>
              <a:pPr/>
              <a:t>4/30/2019</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Source Sans Pro"/>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Source Sans Pro"/>
              </a:defRPr>
            </a:lvl1pPr>
          </a:lstStyle>
          <a:p>
            <a:fld id="{C48DCC56-E564-9646-8A93-B106C6D4033F}" type="slidenum">
              <a:rPr lang="en-US" smtClean="0"/>
              <a:pPr/>
              <a:t>‹#›</a:t>
            </a:fld>
            <a:endParaRPr lang="en-US" dirty="0"/>
          </a:p>
        </p:txBody>
      </p:sp>
    </p:spTree>
    <p:extLst>
      <p:ext uri="{BB962C8B-B14F-4D97-AF65-F5344CB8AC3E}">
        <p14:creationId xmlns:p14="http://schemas.microsoft.com/office/powerpoint/2010/main" val="9330042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Source Sans Pro"/>
        <a:ea typeface="+mn-ea"/>
        <a:cs typeface="+mn-cs"/>
      </a:defRPr>
    </a:lvl1pPr>
    <a:lvl2pPr marL="457200" algn="l" defTabSz="914400" rtl="0" eaLnBrk="1" latinLnBrk="0" hangingPunct="1">
      <a:defRPr sz="1200" kern="1200">
        <a:solidFill>
          <a:schemeClr val="tx1"/>
        </a:solidFill>
        <a:latin typeface="Source Sans Pro"/>
        <a:ea typeface="+mn-ea"/>
        <a:cs typeface="+mn-cs"/>
      </a:defRPr>
    </a:lvl2pPr>
    <a:lvl3pPr marL="914400" algn="l" defTabSz="914400" rtl="0" eaLnBrk="1" latinLnBrk="0" hangingPunct="1">
      <a:defRPr sz="1200" kern="1200">
        <a:solidFill>
          <a:schemeClr val="tx1"/>
        </a:solidFill>
        <a:latin typeface="Source Sans Pro"/>
        <a:ea typeface="+mn-ea"/>
        <a:cs typeface="+mn-cs"/>
      </a:defRPr>
    </a:lvl3pPr>
    <a:lvl4pPr marL="1371600" algn="l" defTabSz="914400" rtl="0" eaLnBrk="1" latinLnBrk="0" hangingPunct="1">
      <a:defRPr sz="1200" kern="1200">
        <a:solidFill>
          <a:schemeClr val="tx1"/>
        </a:solidFill>
        <a:latin typeface="Source Sans Pro"/>
        <a:ea typeface="+mn-ea"/>
        <a:cs typeface="+mn-cs"/>
      </a:defRPr>
    </a:lvl4pPr>
    <a:lvl5pPr marL="1828800" algn="l" defTabSz="914400" rtl="0" eaLnBrk="1" latinLnBrk="0" hangingPunct="1">
      <a:defRPr sz="1200" kern="1200">
        <a:solidFill>
          <a:schemeClr val="tx1"/>
        </a:solidFill>
        <a:latin typeface="Source Sans Pro"/>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75819"/>
            <a:ext cx="12192000" cy="7409637"/>
          </a:xfrm>
          <a:prstGeom prst="rect">
            <a:avLst/>
          </a:prstGeom>
        </p:spPr>
      </p:pic>
      <p:sp>
        <p:nvSpPr>
          <p:cNvPr id="14" name="Text Placeholder 13"/>
          <p:cNvSpPr>
            <a:spLocks noGrp="1"/>
          </p:cNvSpPr>
          <p:nvPr>
            <p:ph type="body" sz="quarter" idx="10" hasCustomPrompt="1"/>
          </p:nvPr>
        </p:nvSpPr>
        <p:spPr>
          <a:xfrm>
            <a:off x="2125135" y="2294473"/>
            <a:ext cx="5977467" cy="2223553"/>
          </a:xfrm>
          <a:prstGeom prst="rect">
            <a:avLst/>
          </a:prstGeom>
        </p:spPr>
        <p:txBody>
          <a:bodyPr wrap="square" lIns="0" tIns="0" rIns="0" bIns="0" anchor="t" anchorCtr="0"/>
          <a:lstStyle>
            <a:lvl1pPr marL="0" indent="0">
              <a:buNone/>
              <a:defRPr sz="3200" b="0" i="0" cap="none" spc="50" baseline="0">
                <a:solidFill>
                  <a:schemeClr val="bg1"/>
                </a:solidFill>
                <a:latin typeface="+mj-lt"/>
                <a:ea typeface="Raleway" charset="0"/>
                <a:cs typeface="Raleway" charset="0"/>
              </a:defRPr>
            </a:lvl1pPr>
            <a:lvl2pPr marL="457200" indent="0">
              <a:buNone/>
              <a:defRPr sz="4800" b="1" i="0">
                <a:latin typeface="Source Sans Pro" charset="0"/>
                <a:ea typeface="Source Sans Pro" charset="0"/>
                <a:cs typeface="Source Sans Pro" charset="0"/>
              </a:defRPr>
            </a:lvl2pPr>
            <a:lvl3pPr marL="914400" indent="0">
              <a:buNone/>
              <a:defRPr sz="4800" b="1" i="0">
                <a:latin typeface="Source Sans Pro" charset="0"/>
                <a:ea typeface="Source Sans Pro" charset="0"/>
                <a:cs typeface="Source Sans Pro" charset="0"/>
              </a:defRPr>
            </a:lvl3pPr>
            <a:lvl4pPr marL="1371600" indent="0">
              <a:buNone/>
              <a:defRPr sz="4800" b="1" i="0">
                <a:latin typeface="Source Sans Pro" charset="0"/>
                <a:ea typeface="Source Sans Pro" charset="0"/>
                <a:cs typeface="Source Sans Pro" charset="0"/>
              </a:defRPr>
            </a:lvl4pPr>
            <a:lvl5pPr marL="1828800" indent="0">
              <a:buNone/>
              <a:defRPr sz="4800" b="1" i="0">
                <a:latin typeface="Source Sans Pro" charset="0"/>
                <a:ea typeface="Source Sans Pro" charset="0"/>
                <a:cs typeface="Source Sans Pro" charset="0"/>
              </a:defRPr>
            </a:lvl5pPr>
          </a:lstStyle>
          <a:p>
            <a:pPr lvl="0"/>
            <a:r>
              <a:rPr lang="en-US" dirty="0"/>
              <a:t>Click to edit master text styles</a:t>
            </a:r>
          </a:p>
          <a:p>
            <a:pPr lvl="0"/>
            <a:endParaRPr lang="en-US" dirty="0"/>
          </a:p>
        </p:txBody>
      </p:sp>
      <p:sp>
        <p:nvSpPr>
          <p:cNvPr id="6" name="Text Placeholder 5"/>
          <p:cNvSpPr>
            <a:spLocks noGrp="1"/>
          </p:cNvSpPr>
          <p:nvPr>
            <p:ph type="body" sz="quarter" idx="11"/>
          </p:nvPr>
        </p:nvSpPr>
        <p:spPr>
          <a:xfrm>
            <a:off x="2125134" y="4518026"/>
            <a:ext cx="5977467" cy="1069982"/>
          </a:xfrm>
          <a:prstGeom prst="rect">
            <a:avLst/>
          </a:prstGeom>
        </p:spPr>
        <p:txBody>
          <a:bodyPr/>
          <a:lstStyle>
            <a:lvl1pPr marL="0" indent="0">
              <a:buNone/>
              <a:defRPr>
                <a:solidFill>
                  <a:srgbClr val="FF6600"/>
                </a:solidFill>
                <a:latin typeface="+mj-lt"/>
                <a:ea typeface="Raleway" charset="0"/>
                <a:cs typeface="Raleway" charset="0"/>
              </a:defRPr>
            </a:lvl1pPr>
            <a:lvl2pPr marL="457200" indent="0">
              <a:buNone/>
              <a:defRPr>
                <a:solidFill>
                  <a:schemeClr val="bg1"/>
                </a:solidFill>
                <a:latin typeface="Raleway" charset="0"/>
                <a:ea typeface="Raleway" charset="0"/>
                <a:cs typeface="Raleway" charset="0"/>
              </a:defRPr>
            </a:lvl2pPr>
            <a:lvl3pPr marL="914400" indent="0">
              <a:buNone/>
              <a:defRPr>
                <a:solidFill>
                  <a:schemeClr val="bg1"/>
                </a:solidFill>
                <a:latin typeface="Raleway" charset="0"/>
                <a:ea typeface="Raleway" charset="0"/>
                <a:cs typeface="Raleway" charset="0"/>
              </a:defRPr>
            </a:lvl3pPr>
            <a:lvl4pPr marL="1371600" indent="0">
              <a:buNone/>
              <a:defRPr>
                <a:solidFill>
                  <a:schemeClr val="bg1"/>
                </a:solidFill>
                <a:latin typeface="Raleway" charset="0"/>
                <a:ea typeface="Raleway" charset="0"/>
                <a:cs typeface="Raleway" charset="0"/>
              </a:defRPr>
            </a:lvl4pPr>
            <a:lvl5pPr marL="1828800" indent="0">
              <a:buNone/>
              <a:defRPr>
                <a:solidFill>
                  <a:schemeClr val="bg1"/>
                </a:solidFill>
                <a:latin typeface="Raleway" charset="0"/>
                <a:ea typeface="Raleway" charset="0"/>
                <a:cs typeface="Raleway" charset="0"/>
              </a:defRPr>
            </a:lvl5pPr>
          </a:lstStyle>
          <a:p>
            <a:pPr lvl="0"/>
            <a:r>
              <a:rPr lang="en-US" dirty="0"/>
              <a:t>Click to edit Master text styles</a:t>
            </a:r>
          </a:p>
        </p:txBody>
      </p:sp>
    </p:spTree>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165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rimary Slide Master">
    <p:spTree>
      <p:nvGrpSpPr>
        <p:cNvPr id="1" name=""/>
        <p:cNvGrpSpPr/>
        <p:nvPr/>
      </p:nvGrpSpPr>
      <p:grpSpPr>
        <a:xfrm>
          <a:off x="0" y="0"/>
          <a:ext cx="0" cy="0"/>
          <a:chOff x="0" y="0"/>
          <a:chExt cx="0" cy="0"/>
        </a:xfrm>
      </p:grpSpPr>
      <p:sp>
        <p:nvSpPr>
          <p:cNvPr id="4" name="Rectangle 3"/>
          <p:cNvSpPr/>
          <p:nvPr userDrawn="1"/>
        </p:nvSpPr>
        <p:spPr>
          <a:xfrm>
            <a:off x="6378641" y="6524187"/>
            <a:ext cx="6096000" cy="123111"/>
          </a:xfrm>
          <a:prstGeom prst="rect">
            <a:avLst/>
          </a:prstGeom>
        </p:spPr>
        <p:txBody>
          <a:bodyPr lIns="0" tIns="0" rIns="0" bIns="0" anchor="t">
            <a:spAutoFit/>
          </a:bodyPr>
          <a:lstStyle/>
          <a:p>
            <a:pPr algn="ctr"/>
            <a:r>
              <a:rPr lang="en-US" sz="800" b="0" i="0" dirty="0">
                <a:solidFill>
                  <a:schemeClr val="bg2">
                    <a:lumMod val="75000"/>
                  </a:schemeClr>
                </a:solidFill>
                <a:latin typeface="+mj-lt"/>
                <a:ea typeface="Trebuchet MS" charset="0"/>
                <a:cs typeface="Trebuchet MS" charset="0"/>
              </a:rPr>
              <a:t>Confidential</a:t>
            </a:r>
            <a:r>
              <a:rPr lang="en-US" sz="800" b="0" i="0" baseline="0" dirty="0">
                <a:solidFill>
                  <a:schemeClr val="bg2">
                    <a:lumMod val="75000"/>
                  </a:schemeClr>
                </a:solidFill>
                <a:latin typeface="+mj-lt"/>
                <a:ea typeface="Trebuchet MS" charset="0"/>
                <a:cs typeface="Trebuchet MS" charset="0"/>
              </a:rPr>
              <a:t> – Not for Redistribution – Copyright © 2018 Axioma, Inc. </a:t>
            </a:r>
            <a:endParaRPr lang="en-US" sz="800" b="0" i="0" dirty="0">
              <a:solidFill>
                <a:schemeClr val="bg2">
                  <a:lumMod val="75000"/>
                </a:schemeClr>
              </a:solidFill>
              <a:latin typeface="+mj-lt"/>
              <a:ea typeface="Trebuchet MS" charset="0"/>
              <a:cs typeface="Trebuchet MS" charset="0"/>
            </a:endParaRPr>
          </a:p>
        </p:txBody>
      </p:sp>
      <p:sp>
        <p:nvSpPr>
          <p:cNvPr id="17" name="Text Placeholder 16"/>
          <p:cNvSpPr>
            <a:spLocks noGrp="1"/>
          </p:cNvSpPr>
          <p:nvPr>
            <p:ph type="body" sz="quarter" idx="12"/>
          </p:nvPr>
        </p:nvSpPr>
        <p:spPr>
          <a:xfrm>
            <a:off x="576072" y="500723"/>
            <a:ext cx="8794750" cy="356527"/>
          </a:xfrm>
          <a:prstGeom prst="rect">
            <a:avLst/>
          </a:prstGeom>
        </p:spPr>
        <p:txBody>
          <a:bodyPr lIns="0" tIns="0" rIns="0" bIns="0"/>
          <a:lstStyle>
            <a:lvl1pPr marL="0" indent="0">
              <a:buNone/>
              <a:defRPr sz="1800" cap="none" spc="50" baseline="0">
                <a:latin typeface="+mj-lt"/>
              </a:defRPr>
            </a:lvl1pPr>
          </a:lstStyle>
          <a:p>
            <a:pPr lvl="0"/>
            <a:r>
              <a:rPr lang="en-US" dirty="0"/>
              <a:t>Click to edit Master text styles</a:t>
            </a:r>
          </a:p>
        </p:txBody>
      </p:sp>
      <p:sp>
        <p:nvSpPr>
          <p:cNvPr id="27" name="Text Placeholder 9"/>
          <p:cNvSpPr>
            <a:spLocks noGrp="1"/>
          </p:cNvSpPr>
          <p:nvPr>
            <p:ph type="body" sz="quarter" idx="14" hasCustomPrompt="1"/>
          </p:nvPr>
        </p:nvSpPr>
        <p:spPr>
          <a:xfrm>
            <a:off x="576071" y="1351026"/>
            <a:ext cx="10938019" cy="4932828"/>
          </a:xfrm>
          <a:prstGeom prst="rect">
            <a:avLst/>
          </a:prstGeom>
        </p:spPr>
        <p:txBody>
          <a:bodyPr lIns="0" tIns="0" rIns="0" bIns="0"/>
          <a:lstStyle>
            <a:lvl1pPr marL="0" indent="0">
              <a:lnSpc>
                <a:spcPts val="2160"/>
              </a:lnSpc>
              <a:spcBef>
                <a:spcPts val="0"/>
              </a:spcBef>
              <a:spcAft>
                <a:spcPts val="0"/>
              </a:spcAft>
              <a:buFont typeface="Arial" panose="020B0604020202020204" pitchFamily="34" charset="0"/>
              <a:buNone/>
              <a:defRPr sz="1800" b="0">
                <a:solidFill>
                  <a:schemeClr val="accent1">
                    <a:lumMod val="50000"/>
                  </a:schemeClr>
                </a:solidFill>
                <a:latin typeface="+mj-lt"/>
              </a:defRPr>
            </a:lvl1pPr>
            <a:lvl2pPr marL="571500" indent="-173038">
              <a:lnSpc>
                <a:spcPts val="2160"/>
              </a:lnSpc>
              <a:spcBef>
                <a:spcPts val="0"/>
              </a:spcBef>
              <a:spcAft>
                <a:spcPts val="0"/>
              </a:spcAft>
              <a:buFont typeface="Arial" charset="0"/>
              <a:buChar char="•"/>
              <a:tabLst/>
              <a:defRPr sz="1600" baseline="0">
                <a:solidFill>
                  <a:schemeClr val="accent1">
                    <a:lumMod val="50000"/>
                  </a:schemeClr>
                </a:solidFill>
                <a:latin typeface="+mj-lt"/>
              </a:defRPr>
            </a:lvl2pPr>
            <a:lvl3pPr marL="858838" indent="-231775">
              <a:lnSpc>
                <a:spcPts val="2160"/>
              </a:lnSpc>
              <a:spcBef>
                <a:spcPts val="0"/>
              </a:spcBef>
              <a:spcAft>
                <a:spcPts val="0"/>
              </a:spcAft>
              <a:tabLst/>
              <a:defRPr sz="1400">
                <a:solidFill>
                  <a:schemeClr val="accent1">
                    <a:lumMod val="50000"/>
                  </a:schemeClr>
                </a:solidFill>
                <a:latin typeface="+mj-lt"/>
              </a:defRPr>
            </a:lvl3pPr>
            <a:lvl4pPr marL="1085850" indent="-171450">
              <a:lnSpc>
                <a:spcPts val="2160"/>
              </a:lnSpc>
              <a:spcBef>
                <a:spcPts val="0"/>
              </a:spcBef>
              <a:spcAft>
                <a:spcPts val="0"/>
              </a:spcAft>
              <a:defRPr sz="1200" b="0">
                <a:solidFill>
                  <a:schemeClr val="accent1">
                    <a:lumMod val="50000"/>
                  </a:schemeClr>
                </a:solidFill>
                <a:latin typeface="+mj-lt"/>
              </a:defRPr>
            </a:lvl4pPr>
            <a:lvl5pPr>
              <a:lnSpc>
                <a:spcPts val="2160"/>
              </a:lnSpc>
              <a:spcBef>
                <a:spcPts val="0"/>
              </a:spcBef>
              <a:spcAft>
                <a:spcPts val="0"/>
              </a:spcAft>
              <a:defRPr>
                <a:solidFill>
                  <a:schemeClr val="accent1">
                    <a:lumMod val="50000"/>
                  </a:schemeClr>
                </a:solidFill>
                <a:latin typeface="+mj-lt"/>
              </a:defRPr>
            </a:lvl5pPr>
          </a:lstStyle>
          <a:p>
            <a:pPr lvl="0"/>
            <a:r>
              <a:rPr lang="en-US" dirty="0"/>
              <a:t>Click to edit Master text styles</a:t>
            </a:r>
          </a:p>
          <a:p>
            <a:pPr lvl="0"/>
            <a:endParaRPr lang="en-US" dirty="0"/>
          </a:p>
        </p:txBody>
      </p:sp>
      <p:grpSp>
        <p:nvGrpSpPr>
          <p:cNvPr id="7" name="Group 6">
            <a:extLst>
              <a:ext uri="{FF2B5EF4-FFF2-40B4-BE49-F238E27FC236}">
                <a16:creationId xmlns:a16="http://schemas.microsoft.com/office/drawing/2014/main" id="{4800A329-E3D4-4EE8-8D44-3806883A71C5}"/>
              </a:ext>
            </a:extLst>
          </p:cNvPr>
          <p:cNvGrpSpPr/>
          <p:nvPr userDrawn="1"/>
        </p:nvGrpSpPr>
        <p:grpSpPr>
          <a:xfrm>
            <a:off x="1447922" y="6449327"/>
            <a:ext cx="10066169" cy="231087"/>
            <a:chOff x="3360206" y="6449327"/>
            <a:chExt cx="8153885" cy="231087"/>
          </a:xfrm>
        </p:grpSpPr>
        <p:cxnSp>
          <p:nvCxnSpPr>
            <p:cNvPr id="8" name="Straight Connector 7">
              <a:extLst>
                <a:ext uri="{FF2B5EF4-FFF2-40B4-BE49-F238E27FC236}">
                  <a16:creationId xmlns:a16="http://schemas.microsoft.com/office/drawing/2014/main" id="{E40D29D3-1EF0-431E-BA16-EBE4DB71B447}"/>
                </a:ext>
              </a:extLst>
            </p:cNvPr>
            <p:cNvCxnSpPr>
              <a:cxnSpLocks/>
            </p:cNvCxnSpPr>
            <p:nvPr userDrawn="1"/>
          </p:nvCxnSpPr>
          <p:spPr>
            <a:xfrm flipV="1">
              <a:off x="3360206" y="6449328"/>
              <a:ext cx="8153885" cy="46284"/>
            </a:xfrm>
            <a:prstGeom prst="line">
              <a:avLst/>
            </a:prstGeom>
            <a:ln w="9525">
              <a:solidFill>
                <a:srgbClr val="006AB6"/>
              </a:solidFill>
            </a:ln>
          </p:spPr>
          <p:style>
            <a:lnRef idx="1">
              <a:schemeClr val="accent2"/>
            </a:lnRef>
            <a:fillRef idx="0">
              <a:schemeClr val="accent2"/>
            </a:fillRef>
            <a:effectRef idx="0">
              <a:schemeClr val="accent2"/>
            </a:effectRef>
            <a:fontRef idx="minor">
              <a:schemeClr val="tx1"/>
            </a:fontRef>
          </p:style>
        </p:cxnSp>
        <p:cxnSp>
          <p:nvCxnSpPr>
            <p:cNvPr id="10" name="Straight Connector 9">
              <a:extLst>
                <a:ext uri="{FF2B5EF4-FFF2-40B4-BE49-F238E27FC236}">
                  <a16:creationId xmlns:a16="http://schemas.microsoft.com/office/drawing/2014/main" id="{929FE15E-1BC4-43DF-92B5-5A76255C0B55}"/>
                </a:ext>
              </a:extLst>
            </p:cNvPr>
            <p:cNvCxnSpPr>
              <a:cxnSpLocks/>
            </p:cNvCxnSpPr>
            <p:nvPr userDrawn="1"/>
          </p:nvCxnSpPr>
          <p:spPr>
            <a:xfrm>
              <a:off x="11126286" y="6449327"/>
              <a:ext cx="0" cy="231087"/>
            </a:xfrm>
            <a:prstGeom prst="line">
              <a:avLst/>
            </a:prstGeom>
            <a:ln>
              <a:solidFill>
                <a:srgbClr val="006AB6"/>
              </a:solidFill>
            </a:ln>
          </p:spPr>
          <p:style>
            <a:lnRef idx="2">
              <a:schemeClr val="accent2"/>
            </a:lnRef>
            <a:fillRef idx="0">
              <a:schemeClr val="accent2"/>
            </a:fillRef>
            <a:effectRef idx="1">
              <a:schemeClr val="accent2"/>
            </a:effectRef>
            <a:fontRef idx="minor">
              <a:schemeClr val="tx1"/>
            </a:fontRef>
          </p:style>
        </p:cxnSp>
      </p:grpSp>
      <p:sp>
        <p:nvSpPr>
          <p:cNvPr id="11" name="Slide Number Placeholder 5">
            <a:extLst>
              <a:ext uri="{FF2B5EF4-FFF2-40B4-BE49-F238E27FC236}">
                <a16:creationId xmlns:a16="http://schemas.microsoft.com/office/drawing/2014/main" id="{044C2E6E-AEDB-4C9E-A5C1-3CD50DFE9997}"/>
              </a:ext>
            </a:extLst>
          </p:cNvPr>
          <p:cNvSpPr txBox="1">
            <a:spLocks/>
          </p:cNvSpPr>
          <p:nvPr userDrawn="1"/>
        </p:nvSpPr>
        <p:spPr>
          <a:xfrm>
            <a:off x="10852635" y="6495612"/>
            <a:ext cx="493283" cy="161975"/>
          </a:xfrm>
          <a:prstGeom prst="rect">
            <a:avLst/>
          </a:prstGeom>
        </p:spPr>
        <p:txBody>
          <a:bodyPr lIns="0" tIns="0" rIns="0" bIns="0" anchor="ctr"/>
          <a:lstStyle>
            <a:defPPr>
              <a:defRPr lang="en-US"/>
            </a:defPPr>
            <a:lvl1pPr marL="0" algn="r" defTabSz="914400" rtl="0" eaLnBrk="1" latinLnBrk="0" hangingPunct="1">
              <a:defRPr sz="1000" b="1"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E2FD75-36E0-AA46-8B0C-C51DE6FED517}" type="slidenum">
              <a:rPr lang="en-US" smtClean="0"/>
              <a:t>‹#›</a:t>
            </a:fld>
            <a:endParaRPr lang="en-US" dirty="0"/>
          </a:p>
        </p:txBody>
      </p:sp>
      <p:pic>
        <p:nvPicPr>
          <p:cNvPr id="12" name="Picture 11">
            <a:extLst>
              <a:ext uri="{FF2B5EF4-FFF2-40B4-BE49-F238E27FC236}">
                <a16:creationId xmlns:a16="http://schemas.microsoft.com/office/drawing/2014/main" id="{716F4E9C-4CD9-45A0-868C-BBE606308531}"/>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t="1" b="22130"/>
          <a:stretch/>
        </p:blipFill>
        <p:spPr>
          <a:xfrm>
            <a:off x="483382" y="6358713"/>
            <a:ext cx="843462" cy="296882"/>
          </a:xfrm>
          <a:prstGeom prst="rect">
            <a:avLst/>
          </a:prstGeom>
        </p:spPr>
      </p:pic>
    </p:spTree>
    <p:extLst/>
  </p:cSld>
  <p:clrMapOvr>
    <a:masterClrMapping/>
  </p:clrMapOvr>
  <p:extLst mod="1">
    <p:ext uri="{DCECCB84-F9BA-43D5-87BE-67443E8EF086}">
      <p15:sldGuideLst xmlns:p15="http://schemas.microsoft.com/office/powerpoint/2012/main">
        <p15:guide id="1" orient="horz" pos="4164" userDrawn="1">
          <p15:clr>
            <a:srgbClr val="FBAE40"/>
          </p15:clr>
        </p15:guide>
        <p15:guide id="2" pos="3840" userDrawn="1">
          <p15:clr>
            <a:srgbClr val="FBAE40"/>
          </p15:clr>
        </p15:guide>
        <p15:guide id="3" orient="horz" pos="213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able / Graphics">
    <p:spTree>
      <p:nvGrpSpPr>
        <p:cNvPr id="1" name=""/>
        <p:cNvGrpSpPr/>
        <p:nvPr/>
      </p:nvGrpSpPr>
      <p:grpSpPr>
        <a:xfrm>
          <a:off x="0" y="0"/>
          <a:ext cx="0" cy="0"/>
          <a:chOff x="0" y="0"/>
          <a:chExt cx="0" cy="0"/>
        </a:xfrm>
      </p:grpSpPr>
      <p:sp>
        <p:nvSpPr>
          <p:cNvPr id="4" name="Rectangle 3"/>
          <p:cNvSpPr/>
          <p:nvPr userDrawn="1"/>
        </p:nvSpPr>
        <p:spPr>
          <a:xfrm>
            <a:off x="6378641" y="6524187"/>
            <a:ext cx="6096000" cy="123111"/>
          </a:xfrm>
          <a:prstGeom prst="rect">
            <a:avLst/>
          </a:prstGeom>
        </p:spPr>
        <p:txBody>
          <a:bodyPr lIns="0" tIns="0" rIns="0" bIns="0" anchor="t">
            <a:spAutoFit/>
          </a:bodyPr>
          <a:lstStyle/>
          <a:p>
            <a:pPr algn="ctr"/>
            <a:r>
              <a:rPr lang="en-US" sz="800" b="0" i="0" dirty="0">
                <a:solidFill>
                  <a:schemeClr val="bg2">
                    <a:lumMod val="75000"/>
                  </a:schemeClr>
                </a:solidFill>
                <a:latin typeface="+mj-lt"/>
                <a:ea typeface="Trebuchet MS" charset="0"/>
                <a:cs typeface="Trebuchet MS" charset="0"/>
              </a:rPr>
              <a:t>Confidential</a:t>
            </a:r>
            <a:r>
              <a:rPr lang="en-US" sz="800" b="0" i="0" baseline="0" dirty="0">
                <a:solidFill>
                  <a:schemeClr val="bg2">
                    <a:lumMod val="75000"/>
                  </a:schemeClr>
                </a:solidFill>
                <a:latin typeface="+mj-lt"/>
                <a:ea typeface="Trebuchet MS" charset="0"/>
                <a:cs typeface="Trebuchet MS" charset="0"/>
              </a:rPr>
              <a:t> – Not for Redistribution – Copyright © 2018 Axioma, Inc. </a:t>
            </a:r>
            <a:endParaRPr lang="en-US" sz="800" b="0" i="0" dirty="0">
              <a:solidFill>
                <a:schemeClr val="bg2">
                  <a:lumMod val="75000"/>
                </a:schemeClr>
              </a:solidFill>
              <a:latin typeface="+mj-lt"/>
              <a:ea typeface="Trebuchet MS" charset="0"/>
              <a:cs typeface="Trebuchet MS" charset="0"/>
            </a:endParaRPr>
          </a:p>
        </p:txBody>
      </p:sp>
      <p:sp>
        <p:nvSpPr>
          <p:cNvPr id="17" name="Text Placeholder 16"/>
          <p:cNvSpPr>
            <a:spLocks noGrp="1"/>
          </p:cNvSpPr>
          <p:nvPr>
            <p:ph type="body" sz="quarter" idx="12"/>
          </p:nvPr>
        </p:nvSpPr>
        <p:spPr>
          <a:xfrm>
            <a:off x="576072" y="515307"/>
            <a:ext cx="8794750" cy="356527"/>
          </a:xfrm>
          <a:prstGeom prst="rect">
            <a:avLst/>
          </a:prstGeom>
        </p:spPr>
        <p:txBody>
          <a:bodyPr lIns="0" tIns="0" rIns="0" bIns="0"/>
          <a:lstStyle>
            <a:lvl1pPr marL="0" indent="0">
              <a:buNone/>
              <a:defRPr sz="1800" cap="none" spc="50" baseline="0">
                <a:latin typeface="+mj-lt"/>
              </a:defRPr>
            </a:lvl1pPr>
          </a:lstStyle>
          <a:p>
            <a:pPr lvl="0"/>
            <a:r>
              <a:rPr lang="en-US" dirty="0"/>
              <a:t>Click to edit Master text styles</a:t>
            </a:r>
          </a:p>
        </p:txBody>
      </p:sp>
      <p:grpSp>
        <p:nvGrpSpPr>
          <p:cNvPr id="7" name="Group 6">
            <a:extLst>
              <a:ext uri="{FF2B5EF4-FFF2-40B4-BE49-F238E27FC236}">
                <a16:creationId xmlns:a16="http://schemas.microsoft.com/office/drawing/2014/main" id="{4800A329-E3D4-4EE8-8D44-3806883A71C5}"/>
              </a:ext>
            </a:extLst>
          </p:cNvPr>
          <p:cNvGrpSpPr/>
          <p:nvPr userDrawn="1"/>
        </p:nvGrpSpPr>
        <p:grpSpPr>
          <a:xfrm>
            <a:off x="1447922" y="6449327"/>
            <a:ext cx="10066169" cy="231087"/>
            <a:chOff x="3360206" y="6449327"/>
            <a:chExt cx="8153885" cy="231087"/>
          </a:xfrm>
        </p:grpSpPr>
        <p:cxnSp>
          <p:nvCxnSpPr>
            <p:cNvPr id="8" name="Straight Connector 7">
              <a:extLst>
                <a:ext uri="{FF2B5EF4-FFF2-40B4-BE49-F238E27FC236}">
                  <a16:creationId xmlns:a16="http://schemas.microsoft.com/office/drawing/2014/main" id="{E40D29D3-1EF0-431E-BA16-EBE4DB71B447}"/>
                </a:ext>
              </a:extLst>
            </p:cNvPr>
            <p:cNvCxnSpPr>
              <a:cxnSpLocks/>
            </p:cNvCxnSpPr>
            <p:nvPr userDrawn="1"/>
          </p:nvCxnSpPr>
          <p:spPr>
            <a:xfrm flipV="1">
              <a:off x="3360206" y="6449328"/>
              <a:ext cx="8153885" cy="46284"/>
            </a:xfrm>
            <a:prstGeom prst="line">
              <a:avLst/>
            </a:prstGeom>
            <a:ln w="9525">
              <a:solidFill>
                <a:srgbClr val="006AB6"/>
              </a:solidFill>
            </a:ln>
          </p:spPr>
          <p:style>
            <a:lnRef idx="1">
              <a:schemeClr val="accent2"/>
            </a:lnRef>
            <a:fillRef idx="0">
              <a:schemeClr val="accent2"/>
            </a:fillRef>
            <a:effectRef idx="0">
              <a:schemeClr val="accent2"/>
            </a:effectRef>
            <a:fontRef idx="minor">
              <a:schemeClr val="tx1"/>
            </a:fontRef>
          </p:style>
        </p:cxnSp>
        <p:cxnSp>
          <p:nvCxnSpPr>
            <p:cNvPr id="10" name="Straight Connector 9">
              <a:extLst>
                <a:ext uri="{FF2B5EF4-FFF2-40B4-BE49-F238E27FC236}">
                  <a16:creationId xmlns:a16="http://schemas.microsoft.com/office/drawing/2014/main" id="{929FE15E-1BC4-43DF-92B5-5A76255C0B55}"/>
                </a:ext>
              </a:extLst>
            </p:cNvPr>
            <p:cNvCxnSpPr>
              <a:cxnSpLocks/>
            </p:cNvCxnSpPr>
            <p:nvPr userDrawn="1"/>
          </p:nvCxnSpPr>
          <p:spPr>
            <a:xfrm>
              <a:off x="11126286" y="6449327"/>
              <a:ext cx="0" cy="231087"/>
            </a:xfrm>
            <a:prstGeom prst="line">
              <a:avLst/>
            </a:prstGeom>
            <a:ln>
              <a:solidFill>
                <a:srgbClr val="006AB6"/>
              </a:solidFill>
            </a:ln>
          </p:spPr>
          <p:style>
            <a:lnRef idx="2">
              <a:schemeClr val="accent2"/>
            </a:lnRef>
            <a:fillRef idx="0">
              <a:schemeClr val="accent2"/>
            </a:fillRef>
            <a:effectRef idx="1">
              <a:schemeClr val="accent2"/>
            </a:effectRef>
            <a:fontRef idx="minor">
              <a:schemeClr val="tx1"/>
            </a:fontRef>
          </p:style>
        </p:cxnSp>
      </p:grpSp>
      <p:sp>
        <p:nvSpPr>
          <p:cNvPr id="11" name="Slide Number Placeholder 5">
            <a:extLst>
              <a:ext uri="{FF2B5EF4-FFF2-40B4-BE49-F238E27FC236}">
                <a16:creationId xmlns:a16="http://schemas.microsoft.com/office/drawing/2014/main" id="{044C2E6E-AEDB-4C9E-A5C1-3CD50DFE9997}"/>
              </a:ext>
            </a:extLst>
          </p:cNvPr>
          <p:cNvSpPr txBox="1">
            <a:spLocks/>
          </p:cNvSpPr>
          <p:nvPr userDrawn="1"/>
        </p:nvSpPr>
        <p:spPr>
          <a:xfrm>
            <a:off x="10852635" y="6495612"/>
            <a:ext cx="493283" cy="161975"/>
          </a:xfrm>
          <a:prstGeom prst="rect">
            <a:avLst/>
          </a:prstGeom>
        </p:spPr>
        <p:txBody>
          <a:bodyPr lIns="0" tIns="0" rIns="0" bIns="0" anchor="ctr"/>
          <a:lstStyle>
            <a:defPPr>
              <a:defRPr lang="en-US"/>
            </a:defPPr>
            <a:lvl1pPr marL="0" algn="r" defTabSz="914400" rtl="0" eaLnBrk="1" latinLnBrk="0" hangingPunct="1">
              <a:defRPr sz="1000" b="1"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E2FD75-36E0-AA46-8B0C-C51DE6FED517}" type="slidenum">
              <a:rPr lang="en-US" smtClean="0"/>
              <a:t>‹#›</a:t>
            </a:fld>
            <a:endParaRPr lang="en-US" dirty="0"/>
          </a:p>
        </p:txBody>
      </p:sp>
      <p:pic>
        <p:nvPicPr>
          <p:cNvPr id="12" name="Picture 11">
            <a:extLst>
              <a:ext uri="{FF2B5EF4-FFF2-40B4-BE49-F238E27FC236}">
                <a16:creationId xmlns:a16="http://schemas.microsoft.com/office/drawing/2014/main" id="{716F4E9C-4CD9-45A0-868C-BBE606308531}"/>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t="1" b="22130"/>
          <a:stretch/>
        </p:blipFill>
        <p:spPr>
          <a:xfrm>
            <a:off x="483382" y="6358713"/>
            <a:ext cx="843462" cy="296882"/>
          </a:xfrm>
          <a:prstGeom prst="rect">
            <a:avLst/>
          </a:prstGeom>
        </p:spPr>
      </p:pic>
    </p:spTree>
    <p:extLst>
      <p:ext uri="{BB962C8B-B14F-4D97-AF65-F5344CB8AC3E}">
        <p14:creationId xmlns:p14="http://schemas.microsoft.com/office/powerpoint/2010/main" val="2546205109"/>
      </p:ext>
    </p:extLst>
  </p:cSld>
  <p:clrMapOvr>
    <a:masterClrMapping/>
  </p:clrMapOvr>
  <p:extLst mod="1">
    <p:ext uri="{DCECCB84-F9BA-43D5-87BE-67443E8EF086}">
      <p15:sldGuideLst xmlns:p15="http://schemas.microsoft.com/office/powerpoint/2012/main">
        <p15:guide id="1" orient="horz" pos="4164">
          <p15:clr>
            <a:srgbClr val="FBAE40"/>
          </p15:clr>
        </p15:guide>
        <p15:guide id="2" pos="3840">
          <p15:clr>
            <a:srgbClr val="FBAE40"/>
          </p15:clr>
        </p15:guide>
        <p15:guide id="3" orient="horz" pos="213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4" name="Rectangle 3"/>
          <p:cNvSpPr/>
          <p:nvPr userDrawn="1"/>
        </p:nvSpPr>
        <p:spPr>
          <a:xfrm>
            <a:off x="6378641" y="6524187"/>
            <a:ext cx="6096000" cy="123111"/>
          </a:xfrm>
          <a:prstGeom prst="rect">
            <a:avLst/>
          </a:prstGeom>
        </p:spPr>
        <p:txBody>
          <a:bodyPr lIns="0" tIns="0" rIns="0" bIns="0" anchor="t">
            <a:spAutoFit/>
          </a:bodyPr>
          <a:lstStyle/>
          <a:p>
            <a:pPr algn="ctr"/>
            <a:r>
              <a:rPr lang="en-US" sz="800" b="0" i="0" dirty="0">
                <a:solidFill>
                  <a:schemeClr val="bg2">
                    <a:lumMod val="75000"/>
                  </a:schemeClr>
                </a:solidFill>
                <a:latin typeface="+mj-lt"/>
                <a:ea typeface="Trebuchet MS" charset="0"/>
                <a:cs typeface="Trebuchet MS" charset="0"/>
              </a:rPr>
              <a:t>Confidential</a:t>
            </a:r>
            <a:r>
              <a:rPr lang="en-US" sz="800" b="0" i="0" baseline="0" dirty="0">
                <a:solidFill>
                  <a:schemeClr val="bg2">
                    <a:lumMod val="75000"/>
                  </a:schemeClr>
                </a:solidFill>
                <a:latin typeface="+mj-lt"/>
                <a:ea typeface="Trebuchet MS" charset="0"/>
                <a:cs typeface="Trebuchet MS" charset="0"/>
              </a:rPr>
              <a:t> – Not for Redistribution – Copyright © 2018 Axioma, Inc. </a:t>
            </a:r>
            <a:endParaRPr lang="en-US" sz="800" b="0" i="0" dirty="0">
              <a:solidFill>
                <a:schemeClr val="bg2">
                  <a:lumMod val="75000"/>
                </a:schemeClr>
              </a:solidFill>
              <a:latin typeface="+mj-lt"/>
              <a:ea typeface="Trebuchet MS" charset="0"/>
              <a:cs typeface="Trebuchet MS" charset="0"/>
            </a:endParaRPr>
          </a:p>
        </p:txBody>
      </p:sp>
      <p:sp>
        <p:nvSpPr>
          <p:cNvPr id="17" name="Text Placeholder 16"/>
          <p:cNvSpPr>
            <a:spLocks noGrp="1"/>
          </p:cNvSpPr>
          <p:nvPr>
            <p:ph type="body" sz="quarter" idx="12"/>
          </p:nvPr>
        </p:nvSpPr>
        <p:spPr>
          <a:xfrm>
            <a:off x="576072" y="500723"/>
            <a:ext cx="8794750" cy="356527"/>
          </a:xfrm>
          <a:prstGeom prst="rect">
            <a:avLst/>
          </a:prstGeom>
        </p:spPr>
        <p:txBody>
          <a:bodyPr lIns="0" tIns="0" rIns="0" bIns="0"/>
          <a:lstStyle>
            <a:lvl1pPr marL="0" indent="0">
              <a:buNone/>
              <a:defRPr sz="1800" cap="none" spc="50" baseline="0">
                <a:latin typeface="+mj-lt"/>
              </a:defRPr>
            </a:lvl1pPr>
          </a:lstStyle>
          <a:p>
            <a:pPr lvl="0"/>
            <a:r>
              <a:rPr lang="en-US" dirty="0"/>
              <a:t>Click to edit Master text styles</a:t>
            </a:r>
          </a:p>
        </p:txBody>
      </p:sp>
      <p:sp>
        <p:nvSpPr>
          <p:cNvPr id="27" name="Text Placeholder 9"/>
          <p:cNvSpPr>
            <a:spLocks noGrp="1"/>
          </p:cNvSpPr>
          <p:nvPr>
            <p:ph type="body" sz="quarter" idx="14"/>
          </p:nvPr>
        </p:nvSpPr>
        <p:spPr>
          <a:xfrm>
            <a:off x="576072" y="1351026"/>
            <a:ext cx="5324166" cy="4932828"/>
          </a:xfrm>
          <a:prstGeom prst="rect">
            <a:avLst/>
          </a:prstGeom>
        </p:spPr>
        <p:txBody>
          <a:bodyPr lIns="0" tIns="0" rIns="0" bIns="0"/>
          <a:lstStyle>
            <a:lvl1pPr marL="0" indent="0">
              <a:lnSpc>
                <a:spcPts val="2160"/>
              </a:lnSpc>
              <a:spcBef>
                <a:spcPts val="0"/>
              </a:spcBef>
              <a:spcAft>
                <a:spcPts val="0"/>
              </a:spcAft>
              <a:buFont typeface="Arial" panose="020B0604020202020204" pitchFamily="34" charset="0"/>
              <a:buNone/>
              <a:defRPr sz="1800" b="0">
                <a:solidFill>
                  <a:schemeClr val="accent1">
                    <a:lumMod val="50000"/>
                  </a:schemeClr>
                </a:solidFill>
                <a:latin typeface="+mj-lt"/>
              </a:defRPr>
            </a:lvl1pPr>
            <a:lvl2pPr marL="571500" indent="-173038">
              <a:lnSpc>
                <a:spcPts val="2160"/>
              </a:lnSpc>
              <a:spcBef>
                <a:spcPts val="0"/>
              </a:spcBef>
              <a:spcAft>
                <a:spcPts val="0"/>
              </a:spcAft>
              <a:buFont typeface="Arial" charset="0"/>
              <a:buChar char="•"/>
              <a:tabLst/>
              <a:defRPr sz="1600" baseline="0">
                <a:solidFill>
                  <a:schemeClr val="accent1">
                    <a:lumMod val="50000"/>
                  </a:schemeClr>
                </a:solidFill>
                <a:latin typeface="+mj-lt"/>
              </a:defRPr>
            </a:lvl2pPr>
            <a:lvl3pPr marL="858838" indent="-231775">
              <a:lnSpc>
                <a:spcPts val="2160"/>
              </a:lnSpc>
              <a:spcBef>
                <a:spcPts val="0"/>
              </a:spcBef>
              <a:spcAft>
                <a:spcPts val="0"/>
              </a:spcAft>
              <a:tabLst/>
              <a:defRPr sz="1400">
                <a:solidFill>
                  <a:schemeClr val="accent1">
                    <a:lumMod val="50000"/>
                  </a:schemeClr>
                </a:solidFill>
                <a:latin typeface="+mj-lt"/>
              </a:defRPr>
            </a:lvl3pPr>
            <a:lvl4pPr marL="1085850" indent="-171450">
              <a:lnSpc>
                <a:spcPts val="2160"/>
              </a:lnSpc>
              <a:spcBef>
                <a:spcPts val="0"/>
              </a:spcBef>
              <a:spcAft>
                <a:spcPts val="0"/>
              </a:spcAft>
              <a:defRPr sz="1200" b="0">
                <a:solidFill>
                  <a:schemeClr val="accent1">
                    <a:lumMod val="50000"/>
                  </a:schemeClr>
                </a:solidFill>
                <a:latin typeface="+mj-lt"/>
              </a:defRPr>
            </a:lvl4pPr>
            <a:lvl5pPr>
              <a:lnSpc>
                <a:spcPts val="2160"/>
              </a:lnSpc>
              <a:spcBef>
                <a:spcPts val="0"/>
              </a:spcBef>
              <a:spcAft>
                <a:spcPts val="0"/>
              </a:spcAft>
              <a:defRPr>
                <a:solidFill>
                  <a:schemeClr val="accent1">
                    <a:lumMod val="50000"/>
                  </a:schemeClr>
                </a:solidFill>
                <a:latin typeface="+mj-lt"/>
              </a:defRPr>
            </a:lvl5pPr>
          </a:lstStyle>
          <a:p>
            <a:pPr lvl="0"/>
            <a:r>
              <a:rPr lang="en-US" dirty="0"/>
              <a:t>Click to edit Master text styles</a:t>
            </a:r>
          </a:p>
        </p:txBody>
      </p:sp>
      <p:grpSp>
        <p:nvGrpSpPr>
          <p:cNvPr id="7" name="Group 6">
            <a:extLst>
              <a:ext uri="{FF2B5EF4-FFF2-40B4-BE49-F238E27FC236}">
                <a16:creationId xmlns:a16="http://schemas.microsoft.com/office/drawing/2014/main" id="{4800A329-E3D4-4EE8-8D44-3806883A71C5}"/>
              </a:ext>
            </a:extLst>
          </p:cNvPr>
          <p:cNvGrpSpPr/>
          <p:nvPr userDrawn="1"/>
        </p:nvGrpSpPr>
        <p:grpSpPr>
          <a:xfrm>
            <a:off x="1447922" y="6449327"/>
            <a:ext cx="10066169" cy="231087"/>
            <a:chOff x="3360206" y="6449327"/>
            <a:chExt cx="8153885" cy="231087"/>
          </a:xfrm>
        </p:grpSpPr>
        <p:cxnSp>
          <p:nvCxnSpPr>
            <p:cNvPr id="8" name="Straight Connector 7">
              <a:extLst>
                <a:ext uri="{FF2B5EF4-FFF2-40B4-BE49-F238E27FC236}">
                  <a16:creationId xmlns:a16="http://schemas.microsoft.com/office/drawing/2014/main" id="{E40D29D3-1EF0-431E-BA16-EBE4DB71B447}"/>
                </a:ext>
              </a:extLst>
            </p:cNvPr>
            <p:cNvCxnSpPr>
              <a:cxnSpLocks/>
            </p:cNvCxnSpPr>
            <p:nvPr userDrawn="1"/>
          </p:nvCxnSpPr>
          <p:spPr>
            <a:xfrm flipV="1">
              <a:off x="3360206" y="6449328"/>
              <a:ext cx="8153885" cy="46284"/>
            </a:xfrm>
            <a:prstGeom prst="line">
              <a:avLst/>
            </a:prstGeom>
            <a:ln w="9525">
              <a:solidFill>
                <a:srgbClr val="006AB6"/>
              </a:solidFill>
            </a:ln>
          </p:spPr>
          <p:style>
            <a:lnRef idx="1">
              <a:schemeClr val="accent2"/>
            </a:lnRef>
            <a:fillRef idx="0">
              <a:schemeClr val="accent2"/>
            </a:fillRef>
            <a:effectRef idx="0">
              <a:schemeClr val="accent2"/>
            </a:effectRef>
            <a:fontRef idx="minor">
              <a:schemeClr val="tx1"/>
            </a:fontRef>
          </p:style>
        </p:cxnSp>
        <p:cxnSp>
          <p:nvCxnSpPr>
            <p:cNvPr id="10" name="Straight Connector 9">
              <a:extLst>
                <a:ext uri="{FF2B5EF4-FFF2-40B4-BE49-F238E27FC236}">
                  <a16:creationId xmlns:a16="http://schemas.microsoft.com/office/drawing/2014/main" id="{929FE15E-1BC4-43DF-92B5-5A76255C0B55}"/>
                </a:ext>
              </a:extLst>
            </p:cNvPr>
            <p:cNvCxnSpPr>
              <a:cxnSpLocks/>
            </p:cNvCxnSpPr>
            <p:nvPr userDrawn="1"/>
          </p:nvCxnSpPr>
          <p:spPr>
            <a:xfrm>
              <a:off x="11126286" y="6449327"/>
              <a:ext cx="0" cy="231087"/>
            </a:xfrm>
            <a:prstGeom prst="line">
              <a:avLst/>
            </a:prstGeom>
            <a:ln>
              <a:solidFill>
                <a:srgbClr val="006AB6"/>
              </a:solidFill>
            </a:ln>
          </p:spPr>
          <p:style>
            <a:lnRef idx="2">
              <a:schemeClr val="accent2"/>
            </a:lnRef>
            <a:fillRef idx="0">
              <a:schemeClr val="accent2"/>
            </a:fillRef>
            <a:effectRef idx="1">
              <a:schemeClr val="accent2"/>
            </a:effectRef>
            <a:fontRef idx="minor">
              <a:schemeClr val="tx1"/>
            </a:fontRef>
          </p:style>
        </p:cxnSp>
      </p:grpSp>
      <p:sp>
        <p:nvSpPr>
          <p:cNvPr id="11" name="Slide Number Placeholder 5">
            <a:extLst>
              <a:ext uri="{FF2B5EF4-FFF2-40B4-BE49-F238E27FC236}">
                <a16:creationId xmlns:a16="http://schemas.microsoft.com/office/drawing/2014/main" id="{044C2E6E-AEDB-4C9E-A5C1-3CD50DFE9997}"/>
              </a:ext>
            </a:extLst>
          </p:cNvPr>
          <p:cNvSpPr txBox="1">
            <a:spLocks/>
          </p:cNvSpPr>
          <p:nvPr userDrawn="1"/>
        </p:nvSpPr>
        <p:spPr>
          <a:xfrm>
            <a:off x="10852635" y="6495612"/>
            <a:ext cx="493283" cy="161975"/>
          </a:xfrm>
          <a:prstGeom prst="rect">
            <a:avLst/>
          </a:prstGeom>
        </p:spPr>
        <p:txBody>
          <a:bodyPr lIns="0" tIns="0" rIns="0" bIns="0" anchor="ctr"/>
          <a:lstStyle>
            <a:defPPr>
              <a:defRPr lang="en-US"/>
            </a:defPPr>
            <a:lvl1pPr marL="0" algn="r" defTabSz="914400" rtl="0" eaLnBrk="1" latinLnBrk="0" hangingPunct="1">
              <a:defRPr sz="1000" b="1"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E2FD75-36E0-AA46-8B0C-C51DE6FED517}" type="slidenum">
              <a:rPr lang="en-US" smtClean="0"/>
              <a:t>‹#›</a:t>
            </a:fld>
            <a:endParaRPr lang="en-US" dirty="0"/>
          </a:p>
        </p:txBody>
      </p:sp>
      <p:pic>
        <p:nvPicPr>
          <p:cNvPr id="12" name="Picture 11">
            <a:extLst>
              <a:ext uri="{FF2B5EF4-FFF2-40B4-BE49-F238E27FC236}">
                <a16:creationId xmlns:a16="http://schemas.microsoft.com/office/drawing/2014/main" id="{716F4E9C-4CD9-45A0-868C-BBE606308531}"/>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t="1" b="22130"/>
          <a:stretch/>
        </p:blipFill>
        <p:spPr>
          <a:xfrm>
            <a:off x="483382" y="6358713"/>
            <a:ext cx="843462" cy="296882"/>
          </a:xfrm>
          <a:prstGeom prst="rect">
            <a:avLst/>
          </a:prstGeom>
        </p:spPr>
      </p:pic>
      <p:sp>
        <p:nvSpPr>
          <p:cNvPr id="13" name="Text Placeholder 9">
            <a:extLst>
              <a:ext uri="{FF2B5EF4-FFF2-40B4-BE49-F238E27FC236}">
                <a16:creationId xmlns:a16="http://schemas.microsoft.com/office/drawing/2014/main" id="{6920493E-5F8B-4B38-BD3F-E8ACC3DDC8AC}"/>
              </a:ext>
            </a:extLst>
          </p:cNvPr>
          <p:cNvSpPr>
            <a:spLocks noGrp="1"/>
          </p:cNvSpPr>
          <p:nvPr>
            <p:ph type="body" sz="quarter" idx="15"/>
          </p:nvPr>
        </p:nvSpPr>
        <p:spPr>
          <a:xfrm>
            <a:off x="6189925" y="1351026"/>
            <a:ext cx="5324166" cy="4932828"/>
          </a:xfrm>
          <a:prstGeom prst="rect">
            <a:avLst/>
          </a:prstGeom>
        </p:spPr>
        <p:txBody>
          <a:bodyPr lIns="0" tIns="0" rIns="0" bIns="0"/>
          <a:lstStyle>
            <a:lvl1pPr marL="0" indent="0">
              <a:lnSpc>
                <a:spcPts val="2160"/>
              </a:lnSpc>
              <a:spcBef>
                <a:spcPts val="0"/>
              </a:spcBef>
              <a:spcAft>
                <a:spcPts val="0"/>
              </a:spcAft>
              <a:buFont typeface="Arial" panose="020B0604020202020204" pitchFamily="34" charset="0"/>
              <a:buNone/>
              <a:defRPr sz="1800" b="0">
                <a:solidFill>
                  <a:schemeClr val="accent1">
                    <a:lumMod val="50000"/>
                  </a:schemeClr>
                </a:solidFill>
                <a:latin typeface="+mj-lt"/>
              </a:defRPr>
            </a:lvl1pPr>
            <a:lvl2pPr marL="571500" indent="-173038">
              <a:lnSpc>
                <a:spcPts val="2160"/>
              </a:lnSpc>
              <a:spcBef>
                <a:spcPts val="0"/>
              </a:spcBef>
              <a:spcAft>
                <a:spcPts val="0"/>
              </a:spcAft>
              <a:buFont typeface="Arial" charset="0"/>
              <a:buChar char="•"/>
              <a:tabLst/>
              <a:defRPr sz="1600" baseline="0">
                <a:solidFill>
                  <a:schemeClr val="accent1">
                    <a:lumMod val="50000"/>
                  </a:schemeClr>
                </a:solidFill>
                <a:latin typeface="+mj-lt"/>
              </a:defRPr>
            </a:lvl2pPr>
            <a:lvl3pPr marL="858838" indent="-231775">
              <a:lnSpc>
                <a:spcPts val="2160"/>
              </a:lnSpc>
              <a:spcBef>
                <a:spcPts val="0"/>
              </a:spcBef>
              <a:spcAft>
                <a:spcPts val="0"/>
              </a:spcAft>
              <a:tabLst/>
              <a:defRPr sz="1400">
                <a:solidFill>
                  <a:schemeClr val="accent1">
                    <a:lumMod val="50000"/>
                  </a:schemeClr>
                </a:solidFill>
                <a:latin typeface="+mj-lt"/>
              </a:defRPr>
            </a:lvl3pPr>
            <a:lvl4pPr marL="1085850" indent="-171450">
              <a:lnSpc>
                <a:spcPts val="2160"/>
              </a:lnSpc>
              <a:spcBef>
                <a:spcPts val="0"/>
              </a:spcBef>
              <a:spcAft>
                <a:spcPts val="0"/>
              </a:spcAft>
              <a:defRPr sz="1200" b="0">
                <a:solidFill>
                  <a:schemeClr val="accent1">
                    <a:lumMod val="50000"/>
                  </a:schemeClr>
                </a:solidFill>
                <a:latin typeface="+mj-lt"/>
              </a:defRPr>
            </a:lvl4pPr>
            <a:lvl5pPr>
              <a:lnSpc>
                <a:spcPts val="2160"/>
              </a:lnSpc>
              <a:spcBef>
                <a:spcPts val="0"/>
              </a:spcBef>
              <a:spcAft>
                <a:spcPts val="0"/>
              </a:spcAft>
              <a:defRPr>
                <a:solidFill>
                  <a:schemeClr val="accent1">
                    <a:lumMod val="50000"/>
                  </a:schemeClr>
                </a:solidFill>
                <a:latin typeface="+mj-lt"/>
              </a:defRPr>
            </a:lvl5pPr>
          </a:lstStyle>
          <a:p>
            <a:pPr lvl="0"/>
            <a:r>
              <a:rPr lang="en-US" dirty="0"/>
              <a:t>Click to edit Master text styles</a:t>
            </a:r>
          </a:p>
        </p:txBody>
      </p:sp>
    </p:spTree>
    <p:extLst>
      <p:ext uri="{BB962C8B-B14F-4D97-AF65-F5344CB8AC3E}">
        <p14:creationId xmlns:p14="http://schemas.microsoft.com/office/powerpoint/2010/main" val="1143775638"/>
      </p:ext>
    </p:extLst>
  </p:cSld>
  <p:clrMapOvr>
    <a:masterClrMapping/>
  </p:clrMapOvr>
  <p:extLst mod="1">
    <p:ext uri="{DCECCB84-F9BA-43D5-87BE-67443E8EF086}">
      <p15:sldGuideLst xmlns:p15="http://schemas.microsoft.com/office/powerpoint/2012/main">
        <p15:guide id="1" orient="horz" pos="4164">
          <p15:clr>
            <a:srgbClr val="FBAE40"/>
          </p15:clr>
        </p15:guide>
        <p15:guide id="2" pos="3840">
          <p15:clr>
            <a:srgbClr val="FBAE40"/>
          </p15:clr>
        </p15:guide>
        <p15:guide id="3" orient="horz" pos="213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21E3EFB-BF98-4DD2-8006-07900F7E758C}"/>
              </a:ext>
            </a:extLst>
          </p:cNvPr>
          <p:cNvSpPr/>
          <p:nvPr userDrawn="1"/>
        </p:nvSpPr>
        <p:spPr>
          <a:xfrm>
            <a:off x="0" y="0"/>
            <a:ext cx="12192000" cy="6858000"/>
          </a:xfrm>
          <a:prstGeom prst="rect">
            <a:avLst/>
          </a:prstGeom>
          <a:solidFill>
            <a:srgbClr val="006AB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13"/>
          <p:cNvSpPr>
            <a:spLocks noGrp="1"/>
          </p:cNvSpPr>
          <p:nvPr>
            <p:ph type="body" sz="quarter" idx="10" hasCustomPrompt="1"/>
          </p:nvPr>
        </p:nvSpPr>
        <p:spPr>
          <a:xfrm>
            <a:off x="867835" y="1980148"/>
            <a:ext cx="10524065" cy="2223553"/>
          </a:xfrm>
          <a:prstGeom prst="rect">
            <a:avLst/>
          </a:prstGeom>
        </p:spPr>
        <p:txBody>
          <a:bodyPr wrap="square" lIns="0" tIns="0" rIns="0" bIns="0" anchor="t" anchorCtr="0"/>
          <a:lstStyle>
            <a:lvl1pPr marL="0" indent="0">
              <a:buNone/>
              <a:defRPr sz="3200" b="0" i="0" cap="none" spc="50" baseline="0">
                <a:solidFill>
                  <a:schemeClr val="bg1"/>
                </a:solidFill>
                <a:latin typeface="+mj-lt"/>
                <a:ea typeface="Raleway" charset="0"/>
                <a:cs typeface="Raleway" charset="0"/>
              </a:defRPr>
            </a:lvl1pPr>
            <a:lvl2pPr marL="457200" indent="0">
              <a:buNone/>
              <a:defRPr sz="4800" b="1" i="0">
                <a:latin typeface="Source Sans Pro" charset="0"/>
                <a:ea typeface="Source Sans Pro" charset="0"/>
                <a:cs typeface="Source Sans Pro" charset="0"/>
              </a:defRPr>
            </a:lvl2pPr>
            <a:lvl3pPr marL="914400" indent="0">
              <a:buNone/>
              <a:defRPr sz="4800" b="1" i="0">
                <a:latin typeface="Source Sans Pro" charset="0"/>
                <a:ea typeface="Source Sans Pro" charset="0"/>
                <a:cs typeface="Source Sans Pro" charset="0"/>
              </a:defRPr>
            </a:lvl3pPr>
            <a:lvl4pPr marL="1371600" indent="0">
              <a:buNone/>
              <a:defRPr sz="4800" b="1" i="0">
                <a:latin typeface="Source Sans Pro" charset="0"/>
                <a:ea typeface="Source Sans Pro" charset="0"/>
                <a:cs typeface="Source Sans Pro" charset="0"/>
              </a:defRPr>
            </a:lvl4pPr>
            <a:lvl5pPr marL="1828800" indent="0">
              <a:buNone/>
              <a:defRPr sz="4800" b="1" i="0">
                <a:latin typeface="Source Sans Pro" charset="0"/>
                <a:ea typeface="Source Sans Pro" charset="0"/>
                <a:cs typeface="Source Sans Pro" charset="0"/>
              </a:defRPr>
            </a:lvl5pPr>
          </a:lstStyle>
          <a:p>
            <a:pPr lvl="0"/>
            <a:r>
              <a:rPr lang="en-US" dirty="0"/>
              <a:t>Click to edit master text styles</a:t>
            </a:r>
          </a:p>
          <a:p>
            <a:pPr lvl="0"/>
            <a:endParaRPr lang="en-US" dirty="0"/>
          </a:p>
        </p:txBody>
      </p:sp>
      <p:sp>
        <p:nvSpPr>
          <p:cNvPr id="4" name="Slide Number Placeholder 5">
            <a:extLst>
              <a:ext uri="{FF2B5EF4-FFF2-40B4-BE49-F238E27FC236}">
                <a16:creationId xmlns:a16="http://schemas.microsoft.com/office/drawing/2014/main" id="{DBFC8375-69F8-442F-BC6C-CBEC4373A61C}"/>
              </a:ext>
            </a:extLst>
          </p:cNvPr>
          <p:cNvSpPr txBox="1">
            <a:spLocks/>
          </p:cNvSpPr>
          <p:nvPr userDrawn="1"/>
        </p:nvSpPr>
        <p:spPr>
          <a:xfrm>
            <a:off x="10852635" y="6495612"/>
            <a:ext cx="493283" cy="161975"/>
          </a:xfrm>
          <a:prstGeom prst="rect">
            <a:avLst/>
          </a:prstGeom>
        </p:spPr>
        <p:txBody>
          <a:bodyPr lIns="0" tIns="0" rIns="0" bIns="0" anchor="ctr"/>
          <a:lstStyle>
            <a:defPPr>
              <a:defRPr lang="en-US"/>
            </a:defPPr>
            <a:lvl1pPr marL="0" algn="r" defTabSz="914400" rtl="0" eaLnBrk="1" latinLnBrk="0" hangingPunct="1">
              <a:defRPr sz="1000" b="1"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E2FD75-36E0-AA46-8B0C-C51DE6FED517}" type="slidenum">
              <a:rPr lang="en-US" smtClean="0">
                <a:solidFill>
                  <a:schemeClr val="bg1"/>
                </a:solidFill>
              </a:rPr>
              <a:t>‹#›</a:t>
            </a:fld>
            <a:endParaRPr lang="en-US" dirty="0">
              <a:solidFill>
                <a:schemeClr val="bg1"/>
              </a:solidFill>
            </a:endParaRPr>
          </a:p>
        </p:txBody>
      </p:sp>
    </p:spTree>
    <p:extLst>
      <p:ext uri="{BB962C8B-B14F-4D97-AF65-F5344CB8AC3E}">
        <p14:creationId xmlns:p14="http://schemas.microsoft.com/office/powerpoint/2010/main" val="1368013949"/>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guide id="3" orient="horz" pos="165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21E3EFB-BF98-4DD2-8006-07900F7E758C}"/>
              </a:ext>
            </a:extLst>
          </p:cNvPr>
          <p:cNvSpPr/>
          <p:nvPr userDrawn="1"/>
        </p:nvSpPr>
        <p:spPr>
          <a:xfrm>
            <a:off x="0" y="0"/>
            <a:ext cx="12192000" cy="6858000"/>
          </a:xfrm>
          <a:prstGeom prst="rect">
            <a:avLst/>
          </a:prstGeom>
          <a:solidFill>
            <a:srgbClr val="006AB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5">
            <a:extLst>
              <a:ext uri="{FF2B5EF4-FFF2-40B4-BE49-F238E27FC236}">
                <a16:creationId xmlns:a16="http://schemas.microsoft.com/office/drawing/2014/main" id="{DBFC8375-69F8-442F-BC6C-CBEC4373A61C}"/>
              </a:ext>
            </a:extLst>
          </p:cNvPr>
          <p:cNvSpPr txBox="1">
            <a:spLocks/>
          </p:cNvSpPr>
          <p:nvPr userDrawn="1"/>
        </p:nvSpPr>
        <p:spPr>
          <a:xfrm>
            <a:off x="10852635" y="6495612"/>
            <a:ext cx="493283" cy="161975"/>
          </a:xfrm>
          <a:prstGeom prst="rect">
            <a:avLst/>
          </a:prstGeom>
        </p:spPr>
        <p:txBody>
          <a:bodyPr lIns="0" tIns="0" rIns="0" bIns="0" anchor="ctr"/>
          <a:lstStyle>
            <a:defPPr>
              <a:defRPr lang="en-US"/>
            </a:defPPr>
            <a:lvl1pPr marL="0" algn="r" defTabSz="914400" rtl="0" eaLnBrk="1" latinLnBrk="0" hangingPunct="1">
              <a:defRPr sz="1000" b="1" kern="1200">
                <a:solidFill>
                  <a:schemeClr val="tx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7E2FD75-36E0-AA46-8B0C-C51DE6FED517}" type="slidenum">
              <a:rPr lang="en-US" smtClean="0">
                <a:solidFill>
                  <a:schemeClr val="bg1"/>
                </a:solidFill>
              </a:rPr>
              <a:t>‹#›</a:t>
            </a:fld>
            <a:endParaRPr lang="en-US" dirty="0">
              <a:solidFill>
                <a:schemeClr val="bg1"/>
              </a:solidFill>
            </a:endParaRPr>
          </a:p>
        </p:txBody>
      </p:sp>
      <p:pic>
        <p:nvPicPr>
          <p:cNvPr id="5" name="Picture 4">
            <a:extLst>
              <a:ext uri="{FF2B5EF4-FFF2-40B4-BE49-F238E27FC236}">
                <a16:creationId xmlns:a16="http://schemas.microsoft.com/office/drawing/2014/main" id="{6C259BCB-40B4-457E-9AC1-F324C10FF6A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60214" y="5377530"/>
            <a:ext cx="1965420" cy="888394"/>
          </a:xfrm>
          <a:prstGeom prst="rect">
            <a:avLst/>
          </a:prstGeom>
        </p:spPr>
      </p:pic>
      <p:sp>
        <p:nvSpPr>
          <p:cNvPr id="6" name="TextBox 5">
            <a:extLst>
              <a:ext uri="{FF2B5EF4-FFF2-40B4-BE49-F238E27FC236}">
                <a16:creationId xmlns:a16="http://schemas.microsoft.com/office/drawing/2014/main" id="{5A9B5BC2-BA02-41C5-8AFE-13D64C667583}"/>
              </a:ext>
            </a:extLst>
          </p:cNvPr>
          <p:cNvSpPr txBox="1"/>
          <p:nvPr userDrawn="1"/>
        </p:nvSpPr>
        <p:spPr>
          <a:xfrm>
            <a:off x="576072" y="1881052"/>
            <a:ext cx="8794750" cy="2031325"/>
          </a:xfrm>
          <a:prstGeom prst="rect">
            <a:avLst/>
          </a:prstGeom>
          <a:noFill/>
          <a:ln>
            <a:noFill/>
          </a:ln>
        </p:spPr>
        <p:txBody>
          <a:bodyPr wrap="square" rtlCol="0">
            <a:spAutoFit/>
          </a:bodyPr>
          <a:lstStyle/>
          <a:p>
            <a:r>
              <a:rPr lang="en-US" sz="1800" dirty="0">
                <a:solidFill>
                  <a:schemeClr val="bg1"/>
                </a:solidFill>
                <a:effectLst/>
                <a:latin typeface="Arial" panose="020B0604020202020204" pitchFamily="34" charset="0"/>
                <a:ea typeface="Yu Mincho" panose="02020400000000000000" pitchFamily="18" charset="-128"/>
                <a:cs typeface="Arial" panose="020B0604020202020204" pitchFamily="34" charset="0"/>
              </a:rPr>
              <a:t> </a:t>
            </a:r>
          </a:p>
          <a:p>
            <a:r>
              <a:rPr lang="en-US" sz="1800" dirty="0">
                <a:solidFill>
                  <a:schemeClr val="bg1"/>
                </a:solidFill>
                <a:effectLst/>
                <a:latin typeface="Arial" panose="020B0604020202020204" pitchFamily="34" charset="0"/>
                <a:ea typeface="Yu Mincho" panose="02020400000000000000" pitchFamily="18" charset="-128"/>
                <a:cs typeface="Arial" panose="020B0604020202020204" pitchFamily="34" charset="0"/>
              </a:rPr>
              <a:t>Copyright 2018. Axioma Inc. All rights reserved.  </a:t>
            </a:r>
          </a:p>
          <a:p>
            <a:endParaRPr lang="en-US" sz="1800" dirty="0">
              <a:solidFill>
                <a:schemeClr val="bg1"/>
              </a:solidFill>
              <a:effectLst/>
              <a:latin typeface="Arial" panose="020B0604020202020204" pitchFamily="34" charset="0"/>
              <a:ea typeface="Yu Mincho" panose="02020400000000000000" pitchFamily="18" charset="-128"/>
              <a:cs typeface="Arial" panose="020B0604020202020204" pitchFamily="34" charset="0"/>
            </a:endParaRPr>
          </a:p>
          <a:p>
            <a:r>
              <a:rPr lang="en-US" sz="1800" dirty="0">
                <a:solidFill>
                  <a:schemeClr val="bg1"/>
                </a:solidFill>
                <a:effectLst/>
                <a:latin typeface="Arial" panose="020B0604020202020204" pitchFamily="34" charset="0"/>
                <a:ea typeface="Yu Mincho" panose="02020400000000000000" pitchFamily="18" charset="-128"/>
                <a:cs typeface="Arial" panose="020B0604020202020204" pitchFamily="34" charset="0"/>
              </a:rPr>
              <a:t>CONFIDENTIALITY NOTICE: All materials contained in this document are confidential and proprietary to Axioma Inc. and its affiliates, are protected by copyright, and may not be reproduced, distributed, transmitted, displayed, published or broadcast without the prior written permission of Axioma Inc. </a:t>
            </a:r>
          </a:p>
        </p:txBody>
      </p:sp>
      <p:sp>
        <p:nvSpPr>
          <p:cNvPr id="7" name="Text Placeholder 16">
            <a:extLst>
              <a:ext uri="{FF2B5EF4-FFF2-40B4-BE49-F238E27FC236}">
                <a16:creationId xmlns:a16="http://schemas.microsoft.com/office/drawing/2014/main" id="{44C07A01-5203-4EC8-9D70-639B750321BA}"/>
              </a:ext>
            </a:extLst>
          </p:cNvPr>
          <p:cNvSpPr>
            <a:spLocks noGrp="1"/>
          </p:cNvSpPr>
          <p:nvPr>
            <p:ph type="body" sz="quarter" idx="12" hasCustomPrompt="1"/>
          </p:nvPr>
        </p:nvSpPr>
        <p:spPr>
          <a:xfrm>
            <a:off x="576072" y="786473"/>
            <a:ext cx="8794750" cy="356527"/>
          </a:xfrm>
          <a:prstGeom prst="rect">
            <a:avLst/>
          </a:prstGeom>
        </p:spPr>
        <p:txBody>
          <a:bodyPr lIns="0" tIns="0" rIns="0" bIns="0"/>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cap="none" spc="50" baseline="0">
                <a:solidFill>
                  <a:schemeClr val="bg1"/>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Disclaimer</a:t>
            </a:r>
          </a:p>
        </p:txBody>
      </p:sp>
    </p:spTree>
    <p:extLst>
      <p:ext uri="{BB962C8B-B14F-4D97-AF65-F5344CB8AC3E}">
        <p14:creationId xmlns:p14="http://schemas.microsoft.com/office/powerpoint/2010/main" val="1932596707"/>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guide id="3" orient="horz" pos="1656">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6607510"/>
      </p:ext>
    </p:extLst>
  </p:cSld>
  <p:clrMap bg1="lt1" tx1="dk1" bg2="lt2" tx2="dk2" accent1="accent1" accent2="accent2" accent3="accent3" accent4="accent4" accent5="accent5" accent6="accent6" hlink="hlink" folHlink="folHlink"/>
  <p:sldLayoutIdLst>
    <p:sldLayoutId id="2147483680" r:id="rId1"/>
    <p:sldLayoutId id="2147483688" r:id="rId2"/>
    <p:sldLayoutId id="2147483690" r:id="rId3"/>
    <p:sldLayoutId id="2147483689" r:id="rId4"/>
    <p:sldLayoutId id="2147483691" r:id="rId5"/>
    <p:sldLayoutId id="2147483692" r:id="rId6"/>
  </p:sldLayoutIdLst>
  <p:hf hdr="0" ftr="0" dt="0"/>
  <p:txStyles>
    <p:titleStyle>
      <a:lvl1pPr algn="l" defTabSz="914400" rtl="0" eaLnBrk="1" latinLnBrk="0" hangingPunct="1">
        <a:lnSpc>
          <a:spcPct val="90000"/>
        </a:lnSpc>
        <a:spcBef>
          <a:spcPct val="0"/>
        </a:spcBef>
        <a:buNone/>
        <a:defRPr sz="3600" b="1" i="0" kern="1200">
          <a:solidFill>
            <a:schemeClr val="tx1">
              <a:lumMod val="65000"/>
              <a:lumOff val="35000"/>
            </a:schemeClr>
          </a:solidFill>
          <a:latin typeface="Source Sans Pro"/>
          <a:ea typeface="Source Sans Pro"/>
          <a:cs typeface="Source Sans Pro"/>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b="1" i="0" kern="1200">
          <a:solidFill>
            <a:srgbClr val="0070C0"/>
          </a:solidFill>
          <a:latin typeface="Source Sans Pro"/>
          <a:ea typeface="Source Sans Pro"/>
          <a:cs typeface="Source Sans Pro"/>
        </a:defRPr>
      </a:lvl1pPr>
      <a:lvl2pPr marL="6858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65000"/>
              <a:lumOff val="35000"/>
            </a:schemeClr>
          </a:solidFill>
          <a:latin typeface="Source Sans Pro"/>
          <a:ea typeface="Source Sans Pro"/>
          <a:cs typeface="Source Sans Pro"/>
        </a:defRPr>
      </a:lvl2pPr>
      <a:lvl3pPr marL="11430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lumMod val="65000"/>
              <a:lumOff val="35000"/>
            </a:schemeClr>
          </a:solidFill>
          <a:latin typeface="Source Sans Pro"/>
          <a:ea typeface="Source Sans Pro"/>
          <a:cs typeface="Source Sans Pro"/>
        </a:defRPr>
      </a:lvl3pPr>
      <a:lvl4pPr marL="1600200" indent="-228600" algn="l" defTabSz="914400" rtl="0" eaLnBrk="1" latinLnBrk="0" hangingPunct="1">
        <a:lnSpc>
          <a:spcPct val="90000"/>
        </a:lnSpc>
        <a:spcBef>
          <a:spcPts val="500"/>
        </a:spcBef>
        <a:buFont typeface="Arial" panose="020B0604020202020204" pitchFamily="34" charset="0"/>
        <a:buChar char="•"/>
        <a:defRPr sz="1400" b="1" i="0" kern="1200">
          <a:solidFill>
            <a:schemeClr val="tx1"/>
          </a:solidFill>
          <a:latin typeface="Raleway" charset="0"/>
          <a:ea typeface="Raleway" charset="0"/>
          <a:cs typeface="Raleway"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b="1" i="0" kern="1200">
          <a:solidFill>
            <a:schemeClr val="tx1"/>
          </a:solidFill>
          <a:latin typeface="Raleway" charset="0"/>
          <a:ea typeface="Raleway" charset="0"/>
          <a:cs typeface="Raleway"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confluence:8090/pages/viewpage.action?pageId=22185044" TargetMode="External"/><Relationship Id="rId1" Type="http://schemas.openxmlformats.org/officeDocument/2006/relationships/slideLayout" Target="../slideLayouts/slideLayout2.xml"/><Relationship Id="rId6" Type="http://schemas.openxmlformats.org/officeDocument/2006/relationships/image" Target="../media/image8.jp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hyperlink" Target="http://confluence:8090/pages/viewpage.action?pageId=22185044" TargetMode="Externa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9456C63-F1A4-4C5F-A819-14E8CBD9A1C8}"/>
              </a:ext>
            </a:extLst>
          </p:cNvPr>
          <p:cNvSpPr>
            <a:spLocks noGrp="1"/>
          </p:cNvSpPr>
          <p:nvPr>
            <p:ph type="body" sz="quarter" idx="10"/>
          </p:nvPr>
        </p:nvSpPr>
        <p:spPr>
          <a:xfrm>
            <a:off x="822444" y="2916722"/>
            <a:ext cx="9610425" cy="541006"/>
          </a:xfrm>
        </p:spPr>
        <p:txBody>
          <a:bodyPr/>
          <a:lstStyle/>
          <a:p>
            <a:r>
              <a:rPr lang="en-US" noProof="0" dirty="0"/>
              <a:t>A research on generating IV and volatility surface</a:t>
            </a:r>
          </a:p>
        </p:txBody>
      </p:sp>
    </p:spTree>
    <p:extLst>
      <p:ext uri="{BB962C8B-B14F-4D97-AF65-F5344CB8AC3E}">
        <p14:creationId xmlns:p14="http://schemas.microsoft.com/office/powerpoint/2010/main" val="2530732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0F50589-D503-4C95-86A0-806F7FE1B4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7248088" y="0"/>
            <a:ext cx="4943912" cy="6858000"/>
          </a:xfrm>
          <a:prstGeom prst="rect">
            <a:avLst/>
          </a:prstGeom>
        </p:spPr>
      </p:pic>
      <p:sp>
        <p:nvSpPr>
          <p:cNvPr id="2" name="Text Placeholder 1">
            <a:extLst>
              <a:ext uri="{FF2B5EF4-FFF2-40B4-BE49-F238E27FC236}">
                <a16:creationId xmlns:a16="http://schemas.microsoft.com/office/drawing/2014/main" id="{09B022E2-B775-48BD-8082-C914C9CC7A8E}"/>
              </a:ext>
            </a:extLst>
          </p:cNvPr>
          <p:cNvSpPr>
            <a:spLocks noGrp="1"/>
          </p:cNvSpPr>
          <p:nvPr>
            <p:ph type="body" sz="quarter" idx="12"/>
          </p:nvPr>
        </p:nvSpPr>
        <p:spPr>
          <a:xfrm>
            <a:off x="576073" y="500723"/>
            <a:ext cx="6148578" cy="766015"/>
          </a:xfrm>
        </p:spPr>
        <p:txBody>
          <a:bodyPr/>
          <a:lstStyle/>
          <a:p>
            <a:pPr algn="ctr"/>
            <a:r>
              <a:rPr lang="en-US" spc="0" noProof="0" dirty="0">
                <a:latin typeface="Arial" charset="0"/>
                <a:ea typeface="Arial" charset="0"/>
                <a:cs typeface="Arial" charset="0"/>
              </a:rPr>
              <a:t>Question 1: Would it be possible to generate our IV surfaces from raw market data?</a:t>
            </a:r>
            <a:endParaRPr lang="en-US" noProof="0" dirty="0">
              <a:solidFill>
                <a:srgbClr val="006AB6"/>
              </a:solidFill>
              <a:latin typeface="Arial" panose="020B0604020202020204" pitchFamily="34" charset="0"/>
              <a:cs typeface="Arial" panose="020B0604020202020204" pitchFamily="34" charset="0"/>
            </a:endParaRPr>
          </a:p>
          <a:p>
            <a:endParaRPr lang="en-US" noProof="0" dirty="0"/>
          </a:p>
        </p:txBody>
      </p:sp>
      <p:sp>
        <p:nvSpPr>
          <p:cNvPr id="5" name="Text Placeholder 4">
            <a:extLst>
              <a:ext uri="{FF2B5EF4-FFF2-40B4-BE49-F238E27FC236}">
                <a16:creationId xmlns:a16="http://schemas.microsoft.com/office/drawing/2014/main" id="{33688DC4-DF60-4182-87F0-6926D0FCFE88}"/>
              </a:ext>
            </a:extLst>
          </p:cNvPr>
          <p:cNvSpPr>
            <a:spLocks noGrp="1"/>
          </p:cNvSpPr>
          <p:nvPr>
            <p:ph type="body" sz="quarter" idx="14"/>
          </p:nvPr>
        </p:nvSpPr>
        <p:spPr>
          <a:xfrm>
            <a:off x="576071" y="1023855"/>
            <a:ext cx="6672017" cy="1048226"/>
          </a:xfrm>
        </p:spPr>
        <p:txBody>
          <a:bodyPr/>
          <a:lstStyle/>
          <a:p>
            <a:pPr marL="0" indent="0">
              <a:lnSpc>
                <a:spcPts val="2700"/>
              </a:lnSpc>
              <a:buNone/>
            </a:pPr>
            <a:endParaRPr lang="en-US" sz="2000" noProof="0" dirty="0">
              <a:solidFill>
                <a:schemeClr val="bg1">
                  <a:lumMod val="50000"/>
                </a:schemeClr>
              </a:solidFill>
            </a:endParaRPr>
          </a:p>
          <a:p>
            <a:pPr marL="0" indent="0">
              <a:lnSpc>
                <a:spcPts val="2700"/>
              </a:lnSpc>
              <a:buNone/>
            </a:pPr>
            <a:r>
              <a:rPr lang="en-US" sz="2000" noProof="0" dirty="0">
                <a:solidFill>
                  <a:schemeClr val="bg1">
                    <a:lumMod val="50000"/>
                  </a:schemeClr>
                </a:solidFill>
              </a:rPr>
              <a:t>What have I done (</a:t>
            </a:r>
            <a:r>
              <a:rPr lang="en-US" sz="2000" noProof="0" dirty="0">
                <a:solidFill>
                  <a:srgbClr val="FFC000"/>
                </a:solidFill>
              </a:rPr>
              <a:t>in progress</a:t>
            </a:r>
            <a:r>
              <a:rPr lang="en-US" sz="2000" noProof="0" dirty="0">
                <a:solidFill>
                  <a:schemeClr val="bg1">
                    <a:lumMod val="50000"/>
                  </a:schemeClr>
                </a:solidFill>
              </a:rPr>
              <a:t>) up to now:</a:t>
            </a:r>
          </a:p>
          <a:p>
            <a:pPr marL="342900" indent="-342900">
              <a:lnSpc>
                <a:spcPts val="2700"/>
              </a:lnSpc>
              <a:buFont typeface="Arial" panose="020B0604020202020204" pitchFamily="34" charset="0"/>
              <a:buChar char="•"/>
            </a:pPr>
            <a:r>
              <a:rPr lang="en-US" sz="2000" noProof="0" dirty="0">
                <a:solidFill>
                  <a:schemeClr val="bg1">
                    <a:lumMod val="50000"/>
                  </a:schemeClr>
                </a:solidFill>
              </a:rPr>
              <a:t>Research </a:t>
            </a:r>
            <a:r>
              <a:rPr lang="en-US" sz="2000" dirty="0" err="1">
                <a:solidFill>
                  <a:schemeClr val="bg1">
                    <a:lumMod val="50000"/>
                  </a:schemeClr>
                </a:solidFill>
              </a:rPr>
              <a:t>marketdata</a:t>
            </a:r>
            <a:r>
              <a:rPr lang="en-US" sz="2000" dirty="0">
                <a:solidFill>
                  <a:schemeClr val="bg1">
                    <a:lumMod val="50000"/>
                  </a:schemeClr>
                </a:solidFill>
              </a:rPr>
              <a:t> </a:t>
            </a:r>
            <a:r>
              <a:rPr lang="en-US" sz="2000" noProof="0" dirty="0">
                <a:solidFill>
                  <a:schemeClr val="bg1">
                    <a:lumMod val="50000"/>
                  </a:schemeClr>
                </a:solidFill>
              </a:rPr>
              <a:t>database (SQL, pandas-python)</a:t>
            </a:r>
          </a:p>
          <a:p>
            <a:pPr marL="0" indent="0">
              <a:buNone/>
            </a:pPr>
            <a:endParaRPr lang="en-US" noProof="0" dirty="0"/>
          </a:p>
        </p:txBody>
      </p:sp>
      <p:sp>
        <p:nvSpPr>
          <p:cNvPr id="3" name="Rectangle 2">
            <a:extLst>
              <a:ext uri="{FF2B5EF4-FFF2-40B4-BE49-F238E27FC236}">
                <a16:creationId xmlns:a16="http://schemas.microsoft.com/office/drawing/2014/main" id="{F90B41E5-D2B7-4AEF-8886-ECD7B066A405}"/>
              </a:ext>
            </a:extLst>
          </p:cNvPr>
          <p:cNvSpPr/>
          <p:nvPr/>
        </p:nvSpPr>
        <p:spPr>
          <a:xfrm>
            <a:off x="506136" y="2143944"/>
            <a:ext cx="6096000" cy="1097095"/>
          </a:xfrm>
          <a:prstGeom prst="rect">
            <a:avLst/>
          </a:prstGeom>
        </p:spPr>
        <p:txBody>
          <a:bodyPr>
            <a:spAutoFit/>
          </a:bodyPr>
          <a:lstStyle/>
          <a:p>
            <a:pPr marL="342900" indent="-342900">
              <a:lnSpc>
                <a:spcPts val="2700"/>
              </a:lnSpc>
              <a:buFont typeface="Arial" panose="020B0604020202020204" pitchFamily="34" charset="0"/>
              <a:buChar char="•"/>
            </a:pPr>
            <a:r>
              <a:rPr lang="en-US" sz="2000" dirty="0">
                <a:solidFill>
                  <a:schemeClr val="bg1">
                    <a:lumMod val="50000"/>
                  </a:schemeClr>
                </a:solidFill>
              </a:rPr>
              <a:t>Research of models documentation:</a:t>
            </a:r>
          </a:p>
          <a:p>
            <a:pPr marL="914400" lvl="1" indent="-342900">
              <a:lnSpc>
                <a:spcPts val="2700"/>
              </a:lnSpc>
              <a:buFont typeface="Arial" panose="020B0604020202020204" pitchFamily="34" charset="0"/>
              <a:buChar char="•"/>
            </a:pPr>
            <a:r>
              <a:rPr lang="en-US" dirty="0">
                <a:solidFill>
                  <a:schemeClr val="bg1">
                    <a:lumMod val="50000"/>
                  </a:schemeClr>
                </a:solidFill>
              </a:rPr>
              <a:t>Raw data</a:t>
            </a:r>
          </a:p>
          <a:p>
            <a:pPr marL="914400" lvl="1" indent="-342900">
              <a:lnSpc>
                <a:spcPts val="2700"/>
              </a:lnSpc>
              <a:buFont typeface="Arial" panose="020B0604020202020204" pitchFamily="34" charset="0"/>
              <a:buChar char="•"/>
            </a:pPr>
            <a:r>
              <a:rPr lang="en-US" dirty="0">
                <a:solidFill>
                  <a:schemeClr val="bg1">
                    <a:lumMod val="50000"/>
                  </a:schemeClr>
                </a:solidFill>
              </a:rPr>
              <a:t>Derived/analytical data</a:t>
            </a:r>
          </a:p>
        </p:txBody>
      </p:sp>
      <p:sp>
        <p:nvSpPr>
          <p:cNvPr id="6" name="Rectangle 5">
            <a:extLst>
              <a:ext uri="{FF2B5EF4-FFF2-40B4-BE49-F238E27FC236}">
                <a16:creationId xmlns:a16="http://schemas.microsoft.com/office/drawing/2014/main" id="{CB24B54C-7D9A-44B6-B188-2E5DA813F864}"/>
              </a:ext>
            </a:extLst>
          </p:cNvPr>
          <p:cNvSpPr/>
          <p:nvPr/>
        </p:nvSpPr>
        <p:spPr>
          <a:xfrm>
            <a:off x="500807" y="3245557"/>
            <a:ext cx="6096000" cy="756682"/>
          </a:xfrm>
          <a:prstGeom prst="rect">
            <a:avLst/>
          </a:prstGeom>
        </p:spPr>
        <p:txBody>
          <a:bodyPr>
            <a:spAutoFit/>
          </a:bodyPr>
          <a:lstStyle/>
          <a:p>
            <a:pPr marL="342900" indent="-342900">
              <a:lnSpc>
                <a:spcPts val="2700"/>
              </a:lnSpc>
              <a:buFont typeface="Arial" panose="020B0604020202020204" pitchFamily="34" charset="0"/>
              <a:buChar char="•"/>
            </a:pPr>
            <a:r>
              <a:rPr lang="en-US" sz="2000" dirty="0">
                <a:solidFill>
                  <a:schemeClr val="bg1">
                    <a:lumMod val="50000"/>
                  </a:schemeClr>
                </a:solidFill>
              </a:rPr>
              <a:t>Research on how Axioma uses this data -and which particular data</a:t>
            </a:r>
          </a:p>
        </p:txBody>
      </p:sp>
      <p:sp>
        <p:nvSpPr>
          <p:cNvPr id="7" name="Rectangle 6">
            <a:extLst>
              <a:ext uri="{FF2B5EF4-FFF2-40B4-BE49-F238E27FC236}">
                <a16:creationId xmlns:a16="http://schemas.microsoft.com/office/drawing/2014/main" id="{9AFF4602-4D07-421A-BB67-10081BA0E6EB}"/>
              </a:ext>
            </a:extLst>
          </p:cNvPr>
          <p:cNvSpPr/>
          <p:nvPr/>
        </p:nvSpPr>
        <p:spPr>
          <a:xfrm>
            <a:off x="495478" y="3990212"/>
            <a:ext cx="6096000" cy="2482090"/>
          </a:xfrm>
          <a:prstGeom prst="rect">
            <a:avLst/>
          </a:prstGeom>
        </p:spPr>
        <p:txBody>
          <a:bodyPr>
            <a:spAutoFit/>
          </a:bodyPr>
          <a:lstStyle/>
          <a:p>
            <a:pPr marL="342900" indent="-342900">
              <a:lnSpc>
                <a:spcPts val="2700"/>
              </a:lnSpc>
              <a:buFont typeface="Arial" panose="020B0604020202020204" pitchFamily="34" charset="0"/>
              <a:buChar char="•"/>
            </a:pPr>
            <a:r>
              <a:rPr lang="en-US" sz="2000" dirty="0">
                <a:solidFill>
                  <a:schemeClr val="bg1">
                    <a:lumMod val="50000"/>
                  </a:schemeClr>
                </a:solidFill>
              </a:rPr>
              <a:t>Implementation in python of several modules:</a:t>
            </a:r>
          </a:p>
          <a:p>
            <a:pPr marL="914400" lvl="1" indent="-342900">
              <a:lnSpc>
                <a:spcPts val="2700"/>
              </a:lnSpc>
              <a:buFont typeface="Arial" panose="020B0604020202020204" pitchFamily="34" charset="0"/>
              <a:buChar char="•"/>
            </a:pPr>
            <a:r>
              <a:rPr lang="en-US" dirty="0">
                <a:solidFill>
                  <a:schemeClr val="bg1">
                    <a:lumMod val="50000"/>
                  </a:schemeClr>
                </a:solidFill>
              </a:rPr>
              <a:t>Data extraction</a:t>
            </a:r>
          </a:p>
          <a:p>
            <a:pPr marL="914400" lvl="1" indent="-342900">
              <a:lnSpc>
                <a:spcPts val="2700"/>
              </a:lnSpc>
              <a:buFont typeface="Arial" panose="020B0604020202020204" pitchFamily="34" charset="0"/>
              <a:buChar char="•"/>
            </a:pPr>
            <a:r>
              <a:rPr lang="en-US" dirty="0">
                <a:solidFill>
                  <a:schemeClr val="bg1">
                    <a:lumMod val="50000"/>
                  </a:schemeClr>
                </a:solidFill>
              </a:rPr>
              <a:t>Data cleanse</a:t>
            </a:r>
          </a:p>
          <a:p>
            <a:pPr marL="914400" lvl="1" indent="-342900">
              <a:lnSpc>
                <a:spcPts val="2700"/>
              </a:lnSpc>
              <a:buFont typeface="Arial" panose="020B0604020202020204" pitchFamily="34" charset="0"/>
              <a:buChar char="•"/>
            </a:pPr>
            <a:r>
              <a:rPr lang="en-US" dirty="0">
                <a:solidFill>
                  <a:schemeClr val="bg1">
                    <a:lumMod val="50000"/>
                  </a:schemeClr>
                </a:solidFill>
              </a:rPr>
              <a:t>Black Scholes / CRR models</a:t>
            </a:r>
          </a:p>
          <a:p>
            <a:pPr marL="914400" lvl="1" indent="-342900">
              <a:lnSpc>
                <a:spcPts val="2700"/>
              </a:lnSpc>
              <a:buFont typeface="Arial" panose="020B0604020202020204" pitchFamily="34" charset="0"/>
              <a:buChar char="•"/>
            </a:pPr>
            <a:r>
              <a:rPr lang="en-US" dirty="0">
                <a:solidFill>
                  <a:schemeClr val="bg1">
                    <a:lumMod val="50000"/>
                  </a:schemeClr>
                </a:solidFill>
              </a:rPr>
              <a:t>Methods to extract Implied volatility</a:t>
            </a:r>
          </a:p>
          <a:p>
            <a:pPr marL="914400" lvl="1" indent="-342900">
              <a:lnSpc>
                <a:spcPts val="2700"/>
              </a:lnSpc>
              <a:buFont typeface="Arial" panose="020B0604020202020204" pitchFamily="34" charset="0"/>
              <a:buChar char="•"/>
            </a:pPr>
            <a:r>
              <a:rPr lang="en-US" dirty="0">
                <a:solidFill>
                  <a:schemeClr val="bg1">
                    <a:lumMod val="50000"/>
                  </a:schemeClr>
                </a:solidFill>
              </a:rPr>
              <a:t>Volatility Surface</a:t>
            </a:r>
          </a:p>
          <a:p>
            <a:pPr marL="914400" lvl="1" indent="-342900">
              <a:lnSpc>
                <a:spcPts val="2700"/>
              </a:lnSpc>
              <a:buFont typeface="Arial" panose="020B0604020202020204" pitchFamily="34" charset="0"/>
              <a:buChar char="•"/>
            </a:pPr>
            <a:r>
              <a:rPr lang="en-US" dirty="0">
                <a:solidFill>
                  <a:srgbClr val="FFC000"/>
                </a:solidFill>
              </a:rPr>
              <a:t>Tests</a:t>
            </a:r>
          </a:p>
        </p:txBody>
      </p:sp>
    </p:spTree>
    <p:extLst>
      <p:ext uri="{BB962C8B-B14F-4D97-AF65-F5344CB8AC3E}">
        <p14:creationId xmlns:p14="http://schemas.microsoft.com/office/powerpoint/2010/main" val="850917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6EAD825E-D496-4AAC-8C93-AA4A0B126EF3}"/>
              </a:ext>
            </a:extLst>
          </p:cNvPr>
          <p:cNvSpPr txBox="1">
            <a:spLocks/>
          </p:cNvSpPr>
          <p:nvPr/>
        </p:nvSpPr>
        <p:spPr>
          <a:xfrm>
            <a:off x="593827" y="4030462"/>
            <a:ext cx="5824728" cy="2453186"/>
          </a:xfrm>
          <a:prstGeom prst="rect">
            <a:avLst/>
          </a:prstGeom>
        </p:spPr>
        <p:txBody>
          <a:bodyPr lIns="0" tIns="0" rIns="0" bIns="0"/>
          <a:lstStyle>
            <a:lvl1pPr marL="0" indent="0" algn="l" defTabSz="914400" rtl="0" eaLnBrk="1" latinLnBrk="0" hangingPunct="1">
              <a:lnSpc>
                <a:spcPts val="2160"/>
              </a:lnSpc>
              <a:spcBef>
                <a:spcPts val="0"/>
              </a:spcBef>
              <a:spcAft>
                <a:spcPts val="0"/>
              </a:spcAft>
              <a:buFont typeface="Arial" panose="020B0604020202020204" pitchFamily="34" charset="0"/>
              <a:buNone/>
              <a:defRPr sz="1800" b="0" i="0" kern="1200">
                <a:solidFill>
                  <a:schemeClr val="accent1">
                    <a:lumMod val="50000"/>
                  </a:schemeClr>
                </a:solidFill>
                <a:latin typeface="+mj-lt"/>
                <a:ea typeface="Source Sans Pro"/>
                <a:cs typeface="Source Sans Pro"/>
              </a:defRPr>
            </a:lvl1pPr>
            <a:lvl2pPr marL="571500" indent="-173038" algn="l" defTabSz="914400" rtl="0" eaLnBrk="1" latinLnBrk="0" hangingPunct="1">
              <a:lnSpc>
                <a:spcPts val="2160"/>
              </a:lnSpc>
              <a:spcBef>
                <a:spcPts val="0"/>
              </a:spcBef>
              <a:spcAft>
                <a:spcPts val="0"/>
              </a:spcAft>
              <a:buFont typeface="Arial" charset="0"/>
              <a:buChar char="•"/>
              <a:tabLst/>
              <a:defRPr sz="1600" b="0" i="0" kern="1200" baseline="0">
                <a:solidFill>
                  <a:schemeClr val="accent1">
                    <a:lumMod val="50000"/>
                  </a:schemeClr>
                </a:solidFill>
                <a:latin typeface="+mj-lt"/>
                <a:ea typeface="Source Sans Pro"/>
                <a:cs typeface="Source Sans Pro"/>
              </a:defRPr>
            </a:lvl2pPr>
            <a:lvl3pPr marL="858838" indent="-231775" algn="l" defTabSz="914400" rtl="0" eaLnBrk="1" latinLnBrk="0" hangingPunct="1">
              <a:lnSpc>
                <a:spcPts val="2160"/>
              </a:lnSpc>
              <a:spcBef>
                <a:spcPts val="0"/>
              </a:spcBef>
              <a:spcAft>
                <a:spcPts val="0"/>
              </a:spcAft>
              <a:buFont typeface="Arial" panose="020B0604020202020204" pitchFamily="34" charset="0"/>
              <a:buChar char="•"/>
              <a:tabLst/>
              <a:defRPr sz="1400" b="0" i="0" kern="1200">
                <a:solidFill>
                  <a:schemeClr val="accent1">
                    <a:lumMod val="50000"/>
                  </a:schemeClr>
                </a:solidFill>
                <a:latin typeface="+mj-lt"/>
                <a:ea typeface="Source Sans Pro"/>
                <a:cs typeface="Source Sans Pro"/>
              </a:defRPr>
            </a:lvl3pPr>
            <a:lvl4pPr marL="1085850" indent="-171450" algn="l" defTabSz="914400" rtl="0" eaLnBrk="1" latinLnBrk="0" hangingPunct="1">
              <a:lnSpc>
                <a:spcPts val="2160"/>
              </a:lnSpc>
              <a:spcBef>
                <a:spcPts val="0"/>
              </a:spcBef>
              <a:spcAft>
                <a:spcPts val="0"/>
              </a:spcAft>
              <a:buFont typeface="Arial" panose="020B0604020202020204" pitchFamily="34" charset="0"/>
              <a:buChar char="•"/>
              <a:defRPr sz="1200" b="0" i="0" kern="1200">
                <a:solidFill>
                  <a:schemeClr val="accent1">
                    <a:lumMod val="50000"/>
                  </a:schemeClr>
                </a:solidFill>
                <a:latin typeface="+mj-lt"/>
                <a:ea typeface="Raleway" charset="0"/>
                <a:cs typeface="Raleway" charset="0"/>
              </a:defRPr>
            </a:lvl4pPr>
            <a:lvl5pPr marL="2057400" indent="-228600" algn="l" defTabSz="914400" rtl="0" eaLnBrk="1" latinLnBrk="0" hangingPunct="1">
              <a:lnSpc>
                <a:spcPts val="2160"/>
              </a:lnSpc>
              <a:spcBef>
                <a:spcPts val="0"/>
              </a:spcBef>
              <a:spcAft>
                <a:spcPts val="0"/>
              </a:spcAft>
              <a:buFont typeface="Arial" panose="020B0604020202020204" pitchFamily="34" charset="0"/>
              <a:buChar char="•"/>
              <a:defRPr sz="1400" b="1" i="0" kern="1200">
                <a:solidFill>
                  <a:schemeClr val="accent1">
                    <a:lumMod val="50000"/>
                  </a:schemeClr>
                </a:solidFill>
                <a:latin typeface="+mj-lt"/>
                <a:ea typeface="Raleway" charset="0"/>
                <a:cs typeface="Raleway"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hlinkClick r:id="rId2"/>
            </a:endParaRPr>
          </a:p>
          <a:p>
            <a:endParaRPr lang="en-US" dirty="0"/>
          </a:p>
        </p:txBody>
      </p:sp>
      <p:sp>
        <p:nvSpPr>
          <p:cNvPr id="5" name="Text Placeholder 1">
            <a:extLst>
              <a:ext uri="{FF2B5EF4-FFF2-40B4-BE49-F238E27FC236}">
                <a16:creationId xmlns:a16="http://schemas.microsoft.com/office/drawing/2014/main" id="{B446D463-9164-4B88-B522-1821664122B0}"/>
              </a:ext>
            </a:extLst>
          </p:cNvPr>
          <p:cNvSpPr txBox="1">
            <a:spLocks/>
          </p:cNvSpPr>
          <p:nvPr/>
        </p:nvSpPr>
        <p:spPr>
          <a:xfrm>
            <a:off x="576072" y="501008"/>
            <a:ext cx="8794750" cy="356527"/>
          </a:xfrm>
          <a:prstGeom prst="rect">
            <a:avLst/>
          </a:prstGeom>
        </p:spPr>
        <p:txBody>
          <a:bodyPr lIns="0" tIns="0" rIns="0" bIns="0"/>
          <a:lstStyle>
            <a:lvl1pPr marL="0" indent="0" algn="l" defTabSz="914400" rtl="0" eaLnBrk="1" latinLnBrk="0" hangingPunct="1">
              <a:lnSpc>
                <a:spcPct val="90000"/>
              </a:lnSpc>
              <a:spcBef>
                <a:spcPts val="1000"/>
              </a:spcBef>
              <a:buFont typeface="Arial" panose="020B0604020202020204" pitchFamily="34" charset="0"/>
              <a:buNone/>
              <a:defRPr sz="1800" b="1" i="0" kern="1200" cap="none" spc="50" baseline="0">
                <a:solidFill>
                  <a:srgbClr val="0070C0"/>
                </a:solidFill>
                <a:latin typeface="+mj-lt"/>
                <a:ea typeface="Source Sans Pro"/>
                <a:cs typeface="Source Sans Pro"/>
              </a:defRPr>
            </a:lvl1pPr>
            <a:lvl2pPr marL="6858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65000"/>
                    <a:lumOff val="35000"/>
                  </a:schemeClr>
                </a:solidFill>
                <a:latin typeface="Source Sans Pro"/>
                <a:ea typeface="Source Sans Pro"/>
                <a:cs typeface="Source Sans Pro"/>
              </a:defRPr>
            </a:lvl2pPr>
            <a:lvl3pPr marL="11430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lumMod val="65000"/>
                    <a:lumOff val="35000"/>
                  </a:schemeClr>
                </a:solidFill>
                <a:latin typeface="Source Sans Pro"/>
                <a:ea typeface="Source Sans Pro"/>
                <a:cs typeface="Source Sans Pro"/>
              </a:defRPr>
            </a:lvl3pPr>
            <a:lvl4pPr marL="1600200" indent="-228600" algn="l" defTabSz="914400" rtl="0" eaLnBrk="1" latinLnBrk="0" hangingPunct="1">
              <a:lnSpc>
                <a:spcPct val="90000"/>
              </a:lnSpc>
              <a:spcBef>
                <a:spcPts val="500"/>
              </a:spcBef>
              <a:buFont typeface="Arial" panose="020B0604020202020204" pitchFamily="34" charset="0"/>
              <a:buChar char="•"/>
              <a:defRPr sz="1400" b="1" i="0" kern="1200">
                <a:solidFill>
                  <a:schemeClr val="tx1"/>
                </a:solidFill>
                <a:latin typeface="Raleway" charset="0"/>
                <a:ea typeface="Raleway" charset="0"/>
                <a:cs typeface="Raleway"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b="1" i="0" kern="1200">
                <a:solidFill>
                  <a:schemeClr val="tx1"/>
                </a:solidFill>
                <a:latin typeface="Raleway" charset="0"/>
                <a:ea typeface="Raleway" charset="0"/>
                <a:cs typeface="Raleway"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AR" dirty="0"/>
              <a:t>Raw Data (</a:t>
            </a:r>
            <a:r>
              <a:rPr lang="es-AR" dirty="0" err="1"/>
              <a:t>what</a:t>
            </a:r>
            <a:r>
              <a:rPr lang="es-AR" dirty="0"/>
              <a:t> </a:t>
            </a:r>
            <a:r>
              <a:rPr lang="es-AR" dirty="0" err="1"/>
              <a:t>kind</a:t>
            </a:r>
            <a:r>
              <a:rPr lang="es-AR" dirty="0"/>
              <a:t> </a:t>
            </a:r>
            <a:r>
              <a:rPr lang="es-AR" dirty="0" err="1"/>
              <a:t>of</a:t>
            </a:r>
            <a:r>
              <a:rPr lang="es-AR" dirty="0"/>
              <a:t> data)</a:t>
            </a:r>
            <a:endParaRPr lang="en-US" dirty="0"/>
          </a:p>
        </p:txBody>
      </p:sp>
      <p:sp>
        <p:nvSpPr>
          <p:cNvPr id="6" name="Text Placeholder 2">
            <a:extLst>
              <a:ext uri="{FF2B5EF4-FFF2-40B4-BE49-F238E27FC236}">
                <a16:creationId xmlns:a16="http://schemas.microsoft.com/office/drawing/2014/main" id="{0A14AB62-EBAF-4A2A-81F3-BBE8E33E351A}"/>
              </a:ext>
            </a:extLst>
          </p:cNvPr>
          <p:cNvSpPr txBox="1">
            <a:spLocks/>
          </p:cNvSpPr>
          <p:nvPr/>
        </p:nvSpPr>
        <p:spPr>
          <a:xfrm>
            <a:off x="593827" y="693427"/>
            <a:ext cx="5238803" cy="2500197"/>
          </a:xfrm>
          <a:prstGeom prst="rect">
            <a:avLst/>
          </a:prstGeom>
        </p:spPr>
        <p:txBody>
          <a:bodyPr lIns="0" tIns="0" rIns="0" bIns="0"/>
          <a:lstStyle>
            <a:lvl1pPr marL="0" indent="0" algn="l" defTabSz="914400" rtl="0" eaLnBrk="1" latinLnBrk="0" hangingPunct="1">
              <a:lnSpc>
                <a:spcPts val="2160"/>
              </a:lnSpc>
              <a:spcBef>
                <a:spcPts val="0"/>
              </a:spcBef>
              <a:spcAft>
                <a:spcPts val="0"/>
              </a:spcAft>
              <a:buFont typeface="Arial" panose="020B0604020202020204" pitchFamily="34" charset="0"/>
              <a:buNone/>
              <a:defRPr sz="1800" b="0" i="0" kern="1200">
                <a:solidFill>
                  <a:schemeClr val="accent1">
                    <a:lumMod val="50000"/>
                  </a:schemeClr>
                </a:solidFill>
                <a:latin typeface="+mj-lt"/>
                <a:ea typeface="Source Sans Pro"/>
                <a:cs typeface="Source Sans Pro"/>
              </a:defRPr>
            </a:lvl1pPr>
            <a:lvl2pPr marL="571500" indent="-173038" algn="l" defTabSz="914400" rtl="0" eaLnBrk="1" latinLnBrk="0" hangingPunct="1">
              <a:lnSpc>
                <a:spcPts val="2160"/>
              </a:lnSpc>
              <a:spcBef>
                <a:spcPts val="0"/>
              </a:spcBef>
              <a:spcAft>
                <a:spcPts val="0"/>
              </a:spcAft>
              <a:buFont typeface="Arial" charset="0"/>
              <a:buChar char="•"/>
              <a:tabLst/>
              <a:defRPr sz="1600" b="0" i="0" kern="1200" baseline="0">
                <a:solidFill>
                  <a:schemeClr val="accent1">
                    <a:lumMod val="50000"/>
                  </a:schemeClr>
                </a:solidFill>
                <a:latin typeface="+mj-lt"/>
                <a:ea typeface="Source Sans Pro"/>
                <a:cs typeface="Source Sans Pro"/>
              </a:defRPr>
            </a:lvl2pPr>
            <a:lvl3pPr marL="858838" indent="-231775" algn="l" defTabSz="914400" rtl="0" eaLnBrk="1" latinLnBrk="0" hangingPunct="1">
              <a:lnSpc>
                <a:spcPts val="2160"/>
              </a:lnSpc>
              <a:spcBef>
                <a:spcPts val="0"/>
              </a:spcBef>
              <a:spcAft>
                <a:spcPts val="0"/>
              </a:spcAft>
              <a:buFont typeface="Arial" panose="020B0604020202020204" pitchFamily="34" charset="0"/>
              <a:buChar char="•"/>
              <a:tabLst/>
              <a:defRPr sz="1400" b="0" i="0" kern="1200">
                <a:solidFill>
                  <a:schemeClr val="accent1">
                    <a:lumMod val="50000"/>
                  </a:schemeClr>
                </a:solidFill>
                <a:latin typeface="+mj-lt"/>
                <a:ea typeface="Source Sans Pro"/>
                <a:cs typeface="Source Sans Pro"/>
              </a:defRPr>
            </a:lvl3pPr>
            <a:lvl4pPr marL="1085850" indent="-171450" algn="l" defTabSz="914400" rtl="0" eaLnBrk="1" latinLnBrk="0" hangingPunct="1">
              <a:lnSpc>
                <a:spcPts val="2160"/>
              </a:lnSpc>
              <a:spcBef>
                <a:spcPts val="0"/>
              </a:spcBef>
              <a:spcAft>
                <a:spcPts val="0"/>
              </a:spcAft>
              <a:buFont typeface="Arial" panose="020B0604020202020204" pitchFamily="34" charset="0"/>
              <a:buChar char="•"/>
              <a:defRPr sz="1200" b="0" i="0" kern="1200">
                <a:solidFill>
                  <a:schemeClr val="accent1">
                    <a:lumMod val="50000"/>
                  </a:schemeClr>
                </a:solidFill>
                <a:latin typeface="+mj-lt"/>
                <a:ea typeface="Raleway" charset="0"/>
                <a:cs typeface="Raleway" charset="0"/>
              </a:defRPr>
            </a:lvl4pPr>
            <a:lvl5pPr marL="2057400" indent="-228600" algn="l" defTabSz="914400" rtl="0" eaLnBrk="1" latinLnBrk="0" hangingPunct="1">
              <a:lnSpc>
                <a:spcPts val="2160"/>
              </a:lnSpc>
              <a:spcBef>
                <a:spcPts val="0"/>
              </a:spcBef>
              <a:spcAft>
                <a:spcPts val="0"/>
              </a:spcAft>
              <a:buFont typeface="Arial" panose="020B0604020202020204" pitchFamily="34" charset="0"/>
              <a:buChar char="•"/>
              <a:defRPr sz="1400" b="1" i="0" kern="1200">
                <a:solidFill>
                  <a:schemeClr val="accent1">
                    <a:lumMod val="50000"/>
                  </a:schemeClr>
                </a:solidFill>
                <a:latin typeface="+mj-lt"/>
                <a:ea typeface="Raleway" charset="0"/>
                <a:cs typeface="Raleway"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hlinkClick r:id="rId2"/>
            </a:endParaRPr>
          </a:p>
          <a:p>
            <a:r>
              <a:rPr lang="en-US" dirty="0"/>
              <a:t>1. Historical option prices: For EACH valuation date, for each available option (strike-maturity) and type P/C:</a:t>
            </a:r>
          </a:p>
          <a:p>
            <a:pPr marL="285750" indent="-285750">
              <a:buFont typeface="Arial" panose="020B0604020202020204" pitchFamily="34" charset="0"/>
              <a:buChar char="•"/>
            </a:pPr>
            <a:r>
              <a:rPr lang="en-US" dirty="0"/>
              <a:t>LAST Bid-Ask prices</a:t>
            </a:r>
          </a:p>
          <a:p>
            <a:pPr marL="285750" indent="-285750">
              <a:buFont typeface="Arial" panose="020B0604020202020204" pitchFamily="34" charset="0"/>
              <a:buChar char="•"/>
            </a:pPr>
            <a:r>
              <a:rPr lang="en-US" dirty="0"/>
              <a:t>Volume, </a:t>
            </a:r>
            <a:r>
              <a:rPr lang="en-US" dirty="0" err="1"/>
              <a:t>OpenInterest</a:t>
            </a:r>
            <a:r>
              <a:rPr lang="en-US" dirty="0"/>
              <a:t>, additional mkt data</a:t>
            </a:r>
          </a:p>
          <a:p>
            <a:pPr marL="285750" indent="-285750">
              <a:buFont typeface="Arial" panose="020B0604020202020204" pitchFamily="34" charset="0"/>
              <a:buChar char="•"/>
            </a:pPr>
            <a:r>
              <a:rPr lang="en-US" dirty="0">
                <a:solidFill>
                  <a:schemeClr val="accent6"/>
                </a:solidFill>
              </a:rPr>
              <a:t>Implied Vol</a:t>
            </a:r>
          </a:p>
          <a:p>
            <a:pPr marL="285750" indent="-285750">
              <a:buFont typeface="Arial" panose="020B0604020202020204" pitchFamily="34" charset="0"/>
              <a:buChar char="•"/>
            </a:pPr>
            <a:r>
              <a:rPr lang="en-US" dirty="0">
                <a:solidFill>
                  <a:schemeClr val="accent6"/>
                </a:solidFill>
              </a:rPr>
              <a:t>Delta, Gamma, Vega, Theta</a:t>
            </a:r>
            <a:r>
              <a:rPr lang="en-US" dirty="0"/>
              <a:t>			</a:t>
            </a:r>
          </a:p>
          <a:p>
            <a:pPr marL="285750" indent="-285750"/>
            <a:endParaRPr lang="en-US" dirty="0"/>
          </a:p>
          <a:p>
            <a:pPr marL="285750" indent="-285750"/>
            <a:endParaRPr lang="en-US" dirty="0"/>
          </a:p>
        </p:txBody>
      </p:sp>
      <p:sp>
        <p:nvSpPr>
          <p:cNvPr id="7" name="Text Placeholder 2">
            <a:extLst>
              <a:ext uri="{FF2B5EF4-FFF2-40B4-BE49-F238E27FC236}">
                <a16:creationId xmlns:a16="http://schemas.microsoft.com/office/drawing/2014/main" id="{17401571-DE6B-4476-A7FC-07853E00F41D}"/>
              </a:ext>
            </a:extLst>
          </p:cNvPr>
          <p:cNvSpPr txBox="1">
            <a:spLocks/>
          </p:cNvSpPr>
          <p:nvPr/>
        </p:nvSpPr>
        <p:spPr>
          <a:xfrm>
            <a:off x="593827" y="3289538"/>
            <a:ext cx="5597381" cy="1936803"/>
          </a:xfrm>
          <a:prstGeom prst="rect">
            <a:avLst/>
          </a:prstGeom>
        </p:spPr>
        <p:txBody>
          <a:bodyPr lIns="0" tIns="0" rIns="0" bIns="0"/>
          <a:lstStyle>
            <a:lvl1pPr marL="0" indent="0" algn="l" defTabSz="914400" rtl="0" eaLnBrk="1" latinLnBrk="0" hangingPunct="1">
              <a:lnSpc>
                <a:spcPts val="2160"/>
              </a:lnSpc>
              <a:spcBef>
                <a:spcPts val="0"/>
              </a:spcBef>
              <a:spcAft>
                <a:spcPts val="0"/>
              </a:spcAft>
              <a:buFont typeface="Arial" panose="020B0604020202020204" pitchFamily="34" charset="0"/>
              <a:buNone/>
              <a:defRPr sz="1800" b="0" i="0" kern="1200">
                <a:solidFill>
                  <a:schemeClr val="accent1">
                    <a:lumMod val="50000"/>
                  </a:schemeClr>
                </a:solidFill>
                <a:latin typeface="+mj-lt"/>
                <a:ea typeface="Source Sans Pro"/>
                <a:cs typeface="Source Sans Pro"/>
              </a:defRPr>
            </a:lvl1pPr>
            <a:lvl2pPr marL="571500" indent="-173038" algn="l" defTabSz="914400" rtl="0" eaLnBrk="1" latinLnBrk="0" hangingPunct="1">
              <a:lnSpc>
                <a:spcPts val="2160"/>
              </a:lnSpc>
              <a:spcBef>
                <a:spcPts val="0"/>
              </a:spcBef>
              <a:spcAft>
                <a:spcPts val="0"/>
              </a:spcAft>
              <a:buFont typeface="Arial" charset="0"/>
              <a:buChar char="•"/>
              <a:tabLst/>
              <a:defRPr sz="1600" b="0" i="0" kern="1200" baseline="0">
                <a:solidFill>
                  <a:schemeClr val="accent1">
                    <a:lumMod val="50000"/>
                  </a:schemeClr>
                </a:solidFill>
                <a:latin typeface="+mj-lt"/>
                <a:ea typeface="Source Sans Pro"/>
                <a:cs typeface="Source Sans Pro"/>
              </a:defRPr>
            </a:lvl2pPr>
            <a:lvl3pPr marL="858838" indent="-231775" algn="l" defTabSz="914400" rtl="0" eaLnBrk="1" latinLnBrk="0" hangingPunct="1">
              <a:lnSpc>
                <a:spcPts val="2160"/>
              </a:lnSpc>
              <a:spcBef>
                <a:spcPts val="0"/>
              </a:spcBef>
              <a:spcAft>
                <a:spcPts val="0"/>
              </a:spcAft>
              <a:buFont typeface="Arial" panose="020B0604020202020204" pitchFamily="34" charset="0"/>
              <a:buChar char="•"/>
              <a:tabLst/>
              <a:defRPr sz="1400" b="0" i="0" kern="1200">
                <a:solidFill>
                  <a:schemeClr val="accent1">
                    <a:lumMod val="50000"/>
                  </a:schemeClr>
                </a:solidFill>
                <a:latin typeface="+mj-lt"/>
                <a:ea typeface="Source Sans Pro"/>
                <a:cs typeface="Source Sans Pro"/>
              </a:defRPr>
            </a:lvl3pPr>
            <a:lvl4pPr marL="1085850" indent="-171450" algn="l" defTabSz="914400" rtl="0" eaLnBrk="1" latinLnBrk="0" hangingPunct="1">
              <a:lnSpc>
                <a:spcPts val="2160"/>
              </a:lnSpc>
              <a:spcBef>
                <a:spcPts val="0"/>
              </a:spcBef>
              <a:spcAft>
                <a:spcPts val="0"/>
              </a:spcAft>
              <a:buFont typeface="Arial" panose="020B0604020202020204" pitchFamily="34" charset="0"/>
              <a:buChar char="•"/>
              <a:defRPr sz="1200" b="0" i="0" kern="1200">
                <a:solidFill>
                  <a:schemeClr val="accent1">
                    <a:lumMod val="50000"/>
                  </a:schemeClr>
                </a:solidFill>
                <a:latin typeface="+mj-lt"/>
                <a:ea typeface="Raleway" charset="0"/>
                <a:cs typeface="Raleway" charset="0"/>
              </a:defRPr>
            </a:lvl4pPr>
            <a:lvl5pPr marL="2057400" indent="-228600" algn="l" defTabSz="914400" rtl="0" eaLnBrk="1" latinLnBrk="0" hangingPunct="1">
              <a:lnSpc>
                <a:spcPts val="2160"/>
              </a:lnSpc>
              <a:spcBef>
                <a:spcPts val="0"/>
              </a:spcBef>
              <a:spcAft>
                <a:spcPts val="0"/>
              </a:spcAft>
              <a:buFont typeface="Arial" panose="020B0604020202020204" pitchFamily="34" charset="0"/>
              <a:buChar char="•"/>
              <a:defRPr sz="1400" b="1" i="0" kern="1200">
                <a:solidFill>
                  <a:schemeClr val="accent1">
                    <a:lumMod val="50000"/>
                  </a:schemeClr>
                </a:solidFill>
                <a:latin typeface="+mj-lt"/>
                <a:ea typeface="Raleway" charset="0"/>
                <a:cs typeface="Raleway"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hlinkClick r:id="rId2"/>
            </a:endParaRPr>
          </a:p>
          <a:p>
            <a:r>
              <a:rPr lang="en-US" dirty="0"/>
              <a:t>2.  Historical volatility surface info: For EACH valuation date:</a:t>
            </a:r>
          </a:p>
          <a:p>
            <a:pPr marL="285750" indent="-285750">
              <a:buFont typeface="Arial" panose="020B0604020202020204" pitchFamily="34" charset="0"/>
              <a:buChar char="•"/>
            </a:pPr>
            <a:r>
              <a:rPr lang="en-US" dirty="0">
                <a:solidFill>
                  <a:schemeClr val="accent6"/>
                </a:solidFill>
              </a:rPr>
              <a:t>A Delta/Maturity implied volatility surface with standard/fixed Deltas and standard Maturities</a:t>
            </a:r>
            <a:r>
              <a:rPr lang="en-US" dirty="0"/>
              <a:t>:</a:t>
            </a:r>
          </a:p>
          <a:p>
            <a:pPr marL="285750" indent="-285750">
              <a:buFont typeface="Arial" panose="020B0604020202020204" pitchFamily="34" charset="0"/>
              <a:buChar char="•"/>
            </a:pPr>
            <a:r>
              <a:rPr lang="en-US" dirty="0"/>
              <a:t>Deltas: 0.2, 0.25, …0.75, 0.8 (+negatives for Puts)</a:t>
            </a:r>
          </a:p>
          <a:p>
            <a:pPr marL="285750" indent="-285750">
              <a:buFont typeface="Arial" panose="020B0604020202020204" pitchFamily="34" charset="0"/>
              <a:buChar char="•"/>
            </a:pPr>
            <a:r>
              <a:rPr lang="en-US" dirty="0"/>
              <a:t>Maturities: 30, 91, 122, 152, 182, 273, 365, 547, 730</a:t>
            </a:r>
          </a:p>
          <a:p>
            <a:pPr marL="285750" indent="-285750"/>
            <a:endParaRPr lang="en-US" dirty="0"/>
          </a:p>
        </p:txBody>
      </p:sp>
      <p:pic>
        <p:nvPicPr>
          <p:cNvPr id="11" name="Picture 10">
            <a:extLst>
              <a:ext uri="{FF2B5EF4-FFF2-40B4-BE49-F238E27FC236}">
                <a16:creationId xmlns:a16="http://schemas.microsoft.com/office/drawing/2014/main" id="{8477072C-9C43-4B51-8AC4-F5683BB2AFBE}"/>
              </a:ext>
            </a:extLst>
          </p:cNvPr>
          <p:cNvPicPr>
            <a:picLocks noChangeAspect="1"/>
          </p:cNvPicPr>
          <p:nvPr/>
        </p:nvPicPr>
        <p:blipFill>
          <a:blip r:embed="rId3"/>
          <a:stretch>
            <a:fillRect/>
          </a:stretch>
        </p:blipFill>
        <p:spPr>
          <a:xfrm>
            <a:off x="5850385" y="603896"/>
            <a:ext cx="5847162" cy="2069571"/>
          </a:xfrm>
          <a:prstGeom prst="rect">
            <a:avLst/>
          </a:prstGeom>
        </p:spPr>
      </p:pic>
      <p:pic>
        <p:nvPicPr>
          <p:cNvPr id="13" name="Picture 12">
            <a:extLst>
              <a:ext uri="{FF2B5EF4-FFF2-40B4-BE49-F238E27FC236}">
                <a16:creationId xmlns:a16="http://schemas.microsoft.com/office/drawing/2014/main" id="{A339B8E1-CF4B-43E3-BE8E-03F006A6056C}"/>
              </a:ext>
            </a:extLst>
          </p:cNvPr>
          <p:cNvPicPr>
            <a:picLocks noChangeAspect="1"/>
          </p:cNvPicPr>
          <p:nvPr/>
        </p:nvPicPr>
        <p:blipFill>
          <a:blip r:embed="rId4"/>
          <a:stretch>
            <a:fillRect/>
          </a:stretch>
        </p:blipFill>
        <p:spPr>
          <a:xfrm>
            <a:off x="6390448" y="2776369"/>
            <a:ext cx="3147089" cy="2940847"/>
          </a:xfrm>
          <a:prstGeom prst="rect">
            <a:avLst/>
          </a:prstGeom>
        </p:spPr>
      </p:pic>
      <p:pic>
        <p:nvPicPr>
          <p:cNvPr id="15" name="Picture 14">
            <a:extLst>
              <a:ext uri="{FF2B5EF4-FFF2-40B4-BE49-F238E27FC236}">
                <a16:creationId xmlns:a16="http://schemas.microsoft.com/office/drawing/2014/main" id="{9BD24F55-AD1F-4F0D-8859-9D672728186A}"/>
              </a:ext>
            </a:extLst>
          </p:cNvPr>
          <p:cNvPicPr>
            <a:picLocks noChangeAspect="1"/>
          </p:cNvPicPr>
          <p:nvPr/>
        </p:nvPicPr>
        <p:blipFill>
          <a:blip r:embed="rId5"/>
          <a:stretch>
            <a:fillRect/>
          </a:stretch>
        </p:blipFill>
        <p:spPr>
          <a:xfrm>
            <a:off x="9871175" y="4692155"/>
            <a:ext cx="2116654" cy="1490928"/>
          </a:xfrm>
          <a:prstGeom prst="rect">
            <a:avLst/>
          </a:prstGeom>
        </p:spPr>
      </p:pic>
      <p:cxnSp>
        <p:nvCxnSpPr>
          <p:cNvPr id="17" name="Straight Arrow Connector 16">
            <a:extLst>
              <a:ext uri="{FF2B5EF4-FFF2-40B4-BE49-F238E27FC236}">
                <a16:creationId xmlns:a16="http://schemas.microsoft.com/office/drawing/2014/main" id="{006AE3E7-6A2B-4D40-86FD-134A08673093}"/>
              </a:ext>
            </a:extLst>
          </p:cNvPr>
          <p:cNvCxnSpPr>
            <a:cxnSpLocks/>
          </p:cNvCxnSpPr>
          <p:nvPr/>
        </p:nvCxnSpPr>
        <p:spPr>
          <a:xfrm flipV="1">
            <a:off x="4696287" y="1943525"/>
            <a:ext cx="1154098" cy="151605"/>
          </a:xfrm>
          <a:prstGeom prst="straightConnector1">
            <a:avLst/>
          </a:prstGeom>
          <a:ln w="76200">
            <a:tailEnd type="triangle"/>
          </a:ln>
        </p:spPr>
        <p:style>
          <a:lnRef idx="3">
            <a:schemeClr val="accent6"/>
          </a:lnRef>
          <a:fillRef idx="0">
            <a:schemeClr val="accent6"/>
          </a:fillRef>
          <a:effectRef idx="2">
            <a:schemeClr val="accent6"/>
          </a:effectRef>
          <a:fontRef idx="minor">
            <a:schemeClr val="tx1"/>
          </a:fontRef>
        </p:style>
      </p:cxnSp>
      <p:cxnSp>
        <p:nvCxnSpPr>
          <p:cNvPr id="20" name="Straight Arrow Connector 19">
            <a:extLst>
              <a:ext uri="{FF2B5EF4-FFF2-40B4-BE49-F238E27FC236}">
                <a16:creationId xmlns:a16="http://schemas.microsoft.com/office/drawing/2014/main" id="{7DF5310D-A8F6-4518-8750-994EB18D00F2}"/>
              </a:ext>
            </a:extLst>
          </p:cNvPr>
          <p:cNvCxnSpPr>
            <a:cxnSpLocks/>
          </p:cNvCxnSpPr>
          <p:nvPr/>
        </p:nvCxnSpPr>
        <p:spPr>
          <a:xfrm flipV="1">
            <a:off x="5624976" y="4090141"/>
            <a:ext cx="660414" cy="327482"/>
          </a:xfrm>
          <a:prstGeom prst="straightConnector1">
            <a:avLst/>
          </a:prstGeom>
          <a:ln w="76200">
            <a:tailEnd type="triangle"/>
          </a:ln>
        </p:spPr>
        <p:style>
          <a:lnRef idx="3">
            <a:schemeClr val="accent6"/>
          </a:lnRef>
          <a:fillRef idx="0">
            <a:schemeClr val="accent6"/>
          </a:fillRef>
          <a:effectRef idx="2">
            <a:schemeClr val="accent6"/>
          </a:effectRef>
          <a:fontRef idx="minor">
            <a:schemeClr val="tx1"/>
          </a:fontRef>
        </p:style>
      </p:cxnSp>
      <p:cxnSp>
        <p:nvCxnSpPr>
          <p:cNvPr id="22" name="Straight Arrow Connector 21">
            <a:extLst>
              <a:ext uri="{FF2B5EF4-FFF2-40B4-BE49-F238E27FC236}">
                <a16:creationId xmlns:a16="http://schemas.microsoft.com/office/drawing/2014/main" id="{3E34C624-1105-4525-9E5A-55B566A4F979}"/>
              </a:ext>
            </a:extLst>
          </p:cNvPr>
          <p:cNvCxnSpPr>
            <a:cxnSpLocks/>
          </p:cNvCxnSpPr>
          <p:nvPr/>
        </p:nvCxnSpPr>
        <p:spPr>
          <a:xfrm flipV="1">
            <a:off x="6002785" y="5906073"/>
            <a:ext cx="3868390" cy="118557"/>
          </a:xfrm>
          <a:prstGeom prst="straightConnector1">
            <a:avLst/>
          </a:prstGeom>
          <a:ln w="76200">
            <a:tailEnd type="triangle"/>
          </a:ln>
        </p:spPr>
        <p:style>
          <a:lnRef idx="3">
            <a:schemeClr val="accent6"/>
          </a:lnRef>
          <a:fillRef idx="0">
            <a:schemeClr val="accent6"/>
          </a:fillRef>
          <a:effectRef idx="2">
            <a:schemeClr val="accent6"/>
          </a:effectRef>
          <a:fontRef idx="minor">
            <a:schemeClr val="tx1"/>
          </a:fontRef>
        </p:style>
      </p:cxnSp>
      <p:sp>
        <p:nvSpPr>
          <p:cNvPr id="25" name="Oval 24">
            <a:extLst>
              <a:ext uri="{FF2B5EF4-FFF2-40B4-BE49-F238E27FC236}">
                <a16:creationId xmlns:a16="http://schemas.microsoft.com/office/drawing/2014/main" id="{63F433E3-0029-49E7-ADB4-DEF507D5EBAF}"/>
              </a:ext>
            </a:extLst>
          </p:cNvPr>
          <p:cNvSpPr/>
          <p:nvPr/>
        </p:nvSpPr>
        <p:spPr>
          <a:xfrm>
            <a:off x="10738331" y="492330"/>
            <a:ext cx="1388565" cy="2284039"/>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530C4535-FA04-4233-9649-F2BF9D8A2C50}"/>
              </a:ext>
            </a:extLst>
          </p:cNvPr>
          <p:cNvSpPr/>
          <p:nvPr/>
        </p:nvSpPr>
        <p:spPr>
          <a:xfrm>
            <a:off x="8423441" y="2624311"/>
            <a:ext cx="1388565" cy="3281762"/>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F72D480B-436F-4E7B-A02C-6C255EFBABE1}"/>
              </a:ext>
            </a:extLst>
          </p:cNvPr>
          <p:cNvSpPr/>
          <p:nvPr/>
        </p:nvSpPr>
        <p:spPr>
          <a:xfrm>
            <a:off x="11208575" y="4661887"/>
            <a:ext cx="857628" cy="1668271"/>
          </a:xfrm>
          <a:prstGeom prst="ellipse">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a:extLst>
              <a:ext uri="{FF2B5EF4-FFF2-40B4-BE49-F238E27FC236}">
                <a16:creationId xmlns:a16="http://schemas.microsoft.com/office/drawing/2014/main" id="{FB76BC44-DC23-46CF-875B-4F7C982AE0B6}"/>
              </a:ext>
            </a:extLst>
          </p:cNvPr>
          <p:cNvPicPr>
            <a:picLocks noChangeAspect="1"/>
          </p:cNvPicPr>
          <p:nvPr/>
        </p:nvPicPr>
        <p:blipFill>
          <a:blip r:embed="rId6"/>
          <a:stretch>
            <a:fillRect/>
          </a:stretch>
        </p:blipFill>
        <p:spPr>
          <a:xfrm>
            <a:off x="10175113" y="3043150"/>
            <a:ext cx="1873335" cy="1246619"/>
          </a:xfrm>
          <a:prstGeom prst="rect">
            <a:avLst/>
          </a:prstGeom>
        </p:spPr>
      </p:pic>
      <p:sp>
        <p:nvSpPr>
          <p:cNvPr id="2" name="Rectangle 1">
            <a:extLst>
              <a:ext uri="{FF2B5EF4-FFF2-40B4-BE49-F238E27FC236}">
                <a16:creationId xmlns:a16="http://schemas.microsoft.com/office/drawing/2014/main" id="{CFABD5B4-9AB2-460B-B806-ED328080432C}"/>
              </a:ext>
            </a:extLst>
          </p:cNvPr>
          <p:cNvSpPr/>
          <p:nvPr/>
        </p:nvSpPr>
        <p:spPr>
          <a:xfrm>
            <a:off x="486772" y="5813751"/>
            <a:ext cx="5609228" cy="369332"/>
          </a:xfrm>
          <a:prstGeom prst="rect">
            <a:avLst/>
          </a:prstGeom>
        </p:spPr>
        <p:txBody>
          <a:bodyPr wrap="none">
            <a:spAutoFit/>
          </a:bodyPr>
          <a:lstStyle/>
          <a:p>
            <a:r>
              <a:rPr lang="en-US" dirty="0"/>
              <a:t>3. </a:t>
            </a:r>
            <a:r>
              <a:rPr lang="en-US" dirty="0">
                <a:solidFill>
                  <a:schemeClr val="accent6"/>
                </a:solidFill>
              </a:rPr>
              <a:t>Interest rate curve (Swap ZC) – ticker independent</a:t>
            </a:r>
          </a:p>
        </p:txBody>
      </p:sp>
    </p:spTree>
    <p:extLst>
      <p:ext uri="{BB962C8B-B14F-4D97-AF65-F5344CB8AC3E}">
        <p14:creationId xmlns:p14="http://schemas.microsoft.com/office/powerpoint/2010/main" val="2865844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0"/>
                                        </p:tgtEl>
                                        <p:attrNameLst>
                                          <p:attrName>style.visibility</p:attrName>
                                        </p:attrNameLst>
                                      </p:cBhvr>
                                      <p:to>
                                        <p:strVal val="visible"/>
                                      </p:to>
                                    </p:set>
                                    <p:anim calcmode="lin" valueType="num">
                                      <p:cBhvr additive="base">
                                        <p:cTn id="29" dur="500" fill="hold"/>
                                        <p:tgtEl>
                                          <p:spTgt spid="20"/>
                                        </p:tgtEl>
                                        <p:attrNameLst>
                                          <p:attrName>ppt_x</p:attrName>
                                        </p:attrNameLst>
                                      </p:cBhvr>
                                      <p:tavLst>
                                        <p:tav tm="0">
                                          <p:val>
                                            <p:strVal val="#ppt_x"/>
                                          </p:val>
                                        </p:tav>
                                        <p:tav tm="100000">
                                          <p:val>
                                            <p:strVal val="#ppt_x"/>
                                          </p:val>
                                        </p:tav>
                                      </p:tavLst>
                                    </p:anim>
                                    <p:anim calcmode="lin" valueType="num">
                                      <p:cBhvr additive="base">
                                        <p:cTn id="3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anim calcmode="lin" valueType="num">
                                      <p:cBhvr additive="base">
                                        <p:cTn id="39" dur="500" fill="hold"/>
                                        <p:tgtEl>
                                          <p:spTgt spid="22"/>
                                        </p:tgtEl>
                                        <p:attrNameLst>
                                          <p:attrName>ppt_x</p:attrName>
                                        </p:attrNameLst>
                                      </p:cBhvr>
                                      <p:tavLst>
                                        <p:tav tm="0">
                                          <p:val>
                                            <p:strVal val="#ppt_x"/>
                                          </p:val>
                                        </p:tav>
                                        <p:tav tm="100000">
                                          <p:val>
                                            <p:strVal val="#ppt_x"/>
                                          </p:val>
                                        </p:tav>
                                      </p:tavLst>
                                    </p:anim>
                                    <p:anim calcmode="lin" valueType="num">
                                      <p:cBhvr additive="base">
                                        <p:cTn id="40" dur="500" fill="hold"/>
                                        <p:tgtEl>
                                          <p:spTgt spid="22"/>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ppt_x"/>
                                          </p:val>
                                        </p:tav>
                                        <p:tav tm="100000">
                                          <p:val>
                                            <p:strVal val="#ppt_x"/>
                                          </p:val>
                                        </p:tav>
                                      </p:tavLst>
                                    </p:anim>
                                    <p:anim calcmode="lin" valueType="num">
                                      <p:cBhvr additive="base">
                                        <p:cTn id="4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500"/>
                                        <p:tgtEl>
                                          <p:spTgt spid="29"/>
                                        </p:tgtEl>
                                      </p:cBhvr>
                                    </p:animEffect>
                                  </p:childTnLst>
                                </p:cTn>
                              </p:par>
                            </p:childTnLst>
                          </p:cTn>
                        </p:par>
                      </p:childTnLst>
                    </p:cTn>
                  </p:par>
                  <p:par>
                    <p:cTn id="50" fill="hold">
                      <p:stCondLst>
                        <p:cond delay="indefinite"/>
                      </p:stCondLst>
                      <p:childTnLst>
                        <p:par>
                          <p:cTn id="51" fill="hold">
                            <p:stCondLst>
                              <p:cond delay="0"/>
                            </p:stCondLst>
                            <p:childTnLst>
                              <p:par>
                                <p:cTn id="52" presetID="53" presetClass="entr" presetSubtype="16" fill="hold" grpId="0" nodeType="clickEffect">
                                  <p:stCondLst>
                                    <p:cond delay="0"/>
                                  </p:stCondLst>
                                  <p:childTnLst>
                                    <p:set>
                                      <p:cBhvr>
                                        <p:cTn id="53" dur="1" fill="hold">
                                          <p:stCondLst>
                                            <p:cond delay="0"/>
                                          </p:stCondLst>
                                        </p:cTn>
                                        <p:tgtEl>
                                          <p:spTgt spid="26"/>
                                        </p:tgtEl>
                                        <p:attrNameLst>
                                          <p:attrName>style.visibility</p:attrName>
                                        </p:attrNameLst>
                                      </p:cBhvr>
                                      <p:to>
                                        <p:strVal val="visible"/>
                                      </p:to>
                                    </p:set>
                                    <p:anim calcmode="lin" valueType="num">
                                      <p:cBhvr>
                                        <p:cTn id="54" dur="500" fill="hold"/>
                                        <p:tgtEl>
                                          <p:spTgt spid="26"/>
                                        </p:tgtEl>
                                        <p:attrNameLst>
                                          <p:attrName>ppt_w</p:attrName>
                                        </p:attrNameLst>
                                      </p:cBhvr>
                                      <p:tavLst>
                                        <p:tav tm="0">
                                          <p:val>
                                            <p:fltVal val="0"/>
                                          </p:val>
                                        </p:tav>
                                        <p:tav tm="100000">
                                          <p:val>
                                            <p:strVal val="#ppt_w"/>
                                          </p:val>
                                        </p:tav>
                                      </p:tavLst>
                                    </p:anim>
                                    <p:anim calcmode="lin" valueType="num">
                                      <p:cBhvr>
                                        <p:cTn id="55" dur="500" fill="hold"/>
                                        <p:tgtEl>
                                          <p:spTgt spid="26"/>
                                        </p:tgtEl>
                                        <p:attrNameLst>
                                          <p:attrName>ppt_h</p:attrName>
                                        </p:attrNameLst>
                                      </p:cBhvr>
                                      <p:tavLst>
                                        <p:tav tm="0">
                                          <p:val>
                                            <p:fltVal val="0"/>
                                          </p:val>
                                        </p:tav>
                                        <p:tav tm="100000">
                                          <p:val>
                                            <p:strVal val="#ppt_h"/>
                                          </p:val>
                                        </p:tav>
                                      </p:tavLst>
                                    </p:anim>
                                    <p:animEffect transition="in" filter="fade">
                                      <p:cBhvr>
                                        <p:cTn id="56" dur="500"/>
                                        <p:tgtEl>
                                          <p:spTgt spid="26"/>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anim calcmode="lin" valueType="num">
                                      <p:cBhvr>
                                        <p:cTn id="59" dur="500" fill="hold"/>
                                        <p:tgtEl>
                                          <p:spTgt spid="25"/>
                                        </p:tgtEl>
                                        <p:attrNameLst>
                                          <p:attrName>ppt_w</p:attrName>
                                        </p:attrNameLst>
                                      </p:cBhvr>
                                      <p:tavLst>
                                        <p:tav tm="0">
                                          <p:val>
                                            <p:fltVal val="0"/>
                                          </p:val>
                                        </p:tav>
                                        <p:tav tm="100000">
                                          <p:val>
                                            <p:strVal val="#ppt_w"/>
                                          </p:val>
                                        </p:tav>
                                      </p:tavLst>
                                    </p:anim>
                                    <p:anim calcmode="lin" valueType="num">
                                      <p:cBhvr>
                                        <p:cTn id="60" dur="500" fill="hold"/>
                                        <p:tgtEl>
                                          <p:spTgt spid="25"/>
                                        </p:tgtEl>
                                        <p:attrNameLst>
                                          <p:attrName>ppt_h</p:attrName>
                                        </p:attrNameLst>
                                      </p:cBhvr>
                                      <p:tavLst>
                                        <p:tav tm="0">
                                          <p:val>
                                            <p:fltVal val="0"/>
                                          </p:val>
                                        </p:tav>
                                        <p:tav tm="100000">
                                          <p:val>
                                            <p:strVal val="#ppt_h"/>
                                          </p:val>
                                        </p:tav>
                                      </p:tavLst>
                                    </p:anim>
                                    <p:animEffect transition="in" filter="fade">
                                      <p:cBhvr>
                                        <p:cTn id="61" dur="500"/>
                                        <p:tgtEl>
                                          <p:spTgt spid="25"/>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27"/>
                                        </p:tgtEl>
                                        <p:attrNameLst>
                                          <p:attrName>style.visibility</p:attrName>
                                        </p:attrNameLst>
                                      </p:cBhvr>
                                      <p:to>
                                        <p:strVal val="visible"/>
                                      </p:to>
                                    </p:set>
                                    <p:anim calcmode="lin" valueType="num">
                                      <p:cBhvr>
                                        <p:cTn id="64" dur="500" fill="hold"/>
                                        <p:tgtEl>
                                          <p:spTgt spid="27"/>
                                        </p:tgtEl>
                                        <p:attrNameLst>
                                          <p:attrName>ppt_w</p:attrName>
                                        </p:attrNameLst>
                                      </p:cBhvr>
                                      <p:tavLst>
                                        <p:tav tm="0">
                                          <p:val>
                                            <p:fltVal val="0"/>
                                          </p:val>
                                        </p:tav>
                                        <p:tav tm="100000">
                                          <p:val>
                                            <p:strVal val="#ppt_w"/>
                                          </p:val>
                                        </p:tav>
                                      </p:tavLst>
                                    </p:anim>
                                    <p:anim calcmode="lin" valueType="num">
                                      <p:cBhvr>
                                        <p:cTn id="65" dur="500" fill="hold"/>
                                        <p:tgtEl>
                                          <p:spTgt spid="27"/>
                                        </p:tgtEl>
                                        <p:attrNameLst>
                                          <p:attrName>ppt_h</p:attrName>
                                        </p:attrNameLst>
                                      </p:cBhvr>
                                      <p:tavLst>
                                        <p:tav tm="0">
                                          <p:val>
                                            <p:fltVal val="0"/>
                                          </p:val>
                                        </p:tav>
                                        <p:tav tm="100000">
                                          <p:val>
                                            <p:strVal val="#ppt_h"/>
                                          </p:val>
                                        </p:tav>
                                      </p:tavLst>
                                    </p:anim>
                                    <p:animEffect transition="in" filter="fade">
                                      <p:cBhvr>
                                        <p:cTn id="6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25" grpId="0" animBg="1"/>
      <p:bldP spid="26" grpId="0" animBg="1"/>
      <p:bldP spid="27" grpId="0" animBg="1"/>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1">
            <a:extLst>
              <a:ext uri="{FF2B5EF4-FFF2-40B4-BE49-F238E27FC236}">
                <a16:creationId xmlns:a16="http://schemas.microsoft.com/office/drawing/2014/main" id="{B446D463-9164-4B88-B522-1821664122B0}"/>
              </a:ext>
            </a:extLst>
          </p:cNvPr>
          <p:cNvSpPr txBox="1">
            <a:spLocks/>
          </p:cNvSpPr>
          <p:nvPr/>
        </p:nvSpPr>
        <p:spPr>
          <a:xfrm>
            <a:off x="576072" y="501008"/>
            <a:ext cx="8794750" cy="356527"/>
          </a:xfrm>
          <a:prstGeom prst="rect">
            <a:avLst/>
          </a:prstGeom>
        </p:spPr>
        <p:txBody>
          <a:bodyPr lIns="0" tIns="0" rIns="0" bIns="0"/>
          <a:lstStyle>
            <a:lvl1pPr marL="0" indent="0" algn="l" defTabSz="914400" rtl="0" eaLnBrk="1" latinLnBrk="0" hangingPunct="1">
              <a:lnSpc>
                <a:spcPct val="90000"/>
              </a:lnSpc>
              <a:spcBef>
                <a:spcPts val="1000"/>
              </a:spcBef>
              <a:buFont typeface="Arial" panose="020B0604020202020204" pitchFamily="34" charset="0"/>
              <a:buNone/>
              <a:defRPr sz="1800" b="1" i="0" kern="1200" cap="none" spc="50" baseline="0">
                <a:solidFill>
                  <a:srgbClr val="0070C0"/>
                </a:solidFill>
                <a:latin typeface="+mj-lt"/>
                <a:ea typeface="Source Sans Pro"/>
                <a:cs typeface="Source Sans Pro"/>
              </a:defRPr>
            </a:lvl1pPr>
            <a:lvl2pPr marL="6858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65000"/>
                    <a:lumOff val="35000"/>
                  </a:schemeClr>
                </a:solidFill>
                <a:latin typeface="Source Sans Pro"/>
                <a:ea typeface="Source Sans Pro"/>
                <a:cs typeface="Source Sans Pro"/>
              </a:defRPr>
            </a:lvl2pPr>
            <a:lvl3pPr marL="11430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lumMod val="65000"/>
                    <a:lumOff val="35000"/>
                  </a:schemeClr>
                </a:solidFill>
                <a:latin typeface="Source Sans Pro"/>
                <a:ea typeface="Source Sans Pro"/>
                <a:cs typeface="Source Sans Pro"/>
              </a:defRPr>
            </a:lvl3pPr>
            <a:lvl4pPr marL="1600200" indent="-228600" algn="l" defTabSz="914400" rtl="0" eaLnBrk="1" latinLnBrk="0" hangingPunct="1">
              <a:lnSpc>
                <a:spcPct val="90000"/>
              </a:lnSpc>
              <a:spcBef>
                <a:spcPts val="500"/>
              </a:spcBef>
              <a:buFont typeface="Arial" panose="020B0604020202020204" pitchFamily="34" charset="0"/>
              <a:buChar char="•"/>
              <a:defRPr sz="1400" b="1" i="0" kern="1200">
                <a:solidFill>
                  <a:schemeClr val="tx1"/>
                </a:solidFill>
                <a:latin typeface="Raleway" charset="0"/>
                <a:ea typeface="Raleway" charset="0"/>
                <a:cs typeface="Raleway"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b="1" i="0" kern="1200">
                <a:solidFill>
                  <a:schemeClr val="tx1"/>
                </a:solidFill>
                <a:latin typeface="Raleway" charset="0"/>
                <a:ea typeface="Raleway" charset="0"/>
                <a:cs typeface="Raleway"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AR" dirty="0" err="1"/>
              <a:t>Implied</a:t>
            </a:r>
            <a:r>
              <a:rPr lang="es-AR" dirty="0"/>
              <a:t> </a:t>
            </a:r>
            <a:r>
              <a:rPr lang="es-AR" dirty="0" err="1"/>
              <a:t>Volatility</a:t>
            </a:r>
            <a:r>
              <a:rPr lang="es-AR" dirty="0"/>
              <a:t> </a:t>
            </a:r>
            <a:r>
              <a:rPr lang="es-AR" dirty="0" err="1"/>
              <a:t>Problem</a:t>
            </a:r>
            <a:r>
              <a:rPr lang="es-AR" dirty="0"/>
              <a:t>, in a </a:t>
            </a:r>
            <a:r>
              <a:rPr lang="es-AR" dirty="0" err="1"/>
              <a:t>nutshell</a:t>
            </a:r>
            <a:r>
              <a:rPr lang="es-AR" dirty="0"/>
              <a:t> 1/2</a:t>
            </a:r>
            <a:endParaRPr lang="en-US" dirty="0"/>
          </a:p>
        </p:txBody>
      </p:sp>
      <p:sp>
        <p:nvSpPr>
          <p:cNvPr id="3" name="Rectangle 2">
            <a:extLst>
              <a:ext uri="{FF2B5EF4-FFF2-40B4-BE49-F238E27FC236}">
                <a16:creationId xmlns:a16="http://schemas.microsoft.com/office/drawing/2014/main" id="{75413105-1867-4799-8083-E753D18F0F68}"/>
              </a:ext>
            </a:extLst>
          </p:cNvPr>
          <p:cNvSpPr/>
          <p:nvPr/>
        </p:nvSpPr>
        <p:spPr>
          <a:xfrm>
            <a:off x="458191" y="1141722"/>
            <a:ext cx="11269618" cy="4493538"/>
          </a:xfrm>
          <a:prstGeom prst="rect">
            <a:avLst/>
          </a:prstGeom>
        </p:spPr>
        <p:txBody>
          <a:bodyPr wrap="square">
            <a:spAutoFit/>
          </a:bodyPr>
          <a:lstStyle/>
          <a:p>
            <a:pPr marL="285750" indent="-285750">
              <a:buFont typeface="Arial" panose="020B0604020202020204" pitchFamily="34" charset="0"/>
              <a:buChar char="•"/>
            </a:pPr>
            <a:r>
              <a:rPr lang="en-US" sz="2200" dirty="0">
                <a:solidFill>
                  <a:srgbClr val="111111"/>
                </a:solidFill>
                <a:latin typeface="SourceSansPro"/>
              </a:rPr>
              <a:t>The market's view of what will happen to a given security's price in the future. </a:t>
            </a:r>
          </a:p>
          <a:p>
            <a:pPr marL="285750" indent="-285750">
              <a:buFont typeface="Arial" panose="020B0604020202020204" pitchFamily="34" charset="0"/>
              <a:buChar char="•"/>
            </a:pPr>
            <a:endParaRPr lang="en-US" sz="2200" dirty="0">
              <a:solidFill>
                <a:srgbClr val="111111"/>
              </a:solidFill>
              <a:latin typeface="SourceSansPro"/>
            </a:endParaRPr>
          </a:p>
          <a:p>
            <a:pPr marL="285750" indent="-285750">
              <a:buFont typeface="Arial" panose="020B0604020202020204" pitchFamily="34" charset="0"/>
              <a:buChar char="•"/>
            </a:pPr>
            <a:r>
              <a:rPr lang="en-US" sz="2200" dirty="0">
                <a:solidFill>
                  <a:srgbClr val="111111"/>
                </a:solidFill>
                <a:latin typeface="SourceSansPro"/>
              </a:rPr>
              <a:t>A metric used by investors to estimate future fluctuations (volatility) of a security's price</a:t>
            </a:r>
          </a:p>
          <a:p>
            <a:pPr marL="285750" indent="-285750">
              <a:buFont typeface="Arial" panose="020B0604020202020204" pitchFamily="34" charset="0"/>
              <a:buChar char="•"/>
            </a:pPr>
            <a:endParaRPr lang="en-US" sz="2200" dirty="0">
              <a:solidFill>
                <a:srgbClr val="111111"/>
              </a:solidFill>
              <a:latin typeface="SourceSansPro"/>
            </a:endParaRPr>
          </a:p>
          <a:p>
            <a:pPr marL="285750" indent="-285750">
              <a:buFont typeface="Arial" panose="020B0604020202020204" pitchFamily="34" charset="0"/>
              <a:buChar char="•"/>
            </a:pPr>
            <a:r>
              <a:rPr lang="en-US" sz="2200" dirty="0">
                <a:solidFill>
                  <a:srgbClr val="111111"/>
                </a:solidFill>
                <a:latin typeface="SourceSansPro"/>
              </a:rPr>
              <a:t>Denoted by the symbol σ (sigma), can often be thought to be a proxy of market risk. </a:t>
            </a:r>
          </a:p>
          <a:p>
            <a:pPr marL="285750" indent="-285750">
              <a:buFont typeface="Arial" panose="020B0604020202020204" pitchFamily="34" charset="0"/>
              <a:buChar char="•"/>
            </a:pPr>
            <a:endParaRPr lang="en-US" sz="2200" dirty="0">
              <a:solidFill>
                <a:srgbClr val="111111"/>
              </a:solidFill>
              <a:latin typeface="SourceSansPro"/>
            </a:endParaRPr>
          </a:p>
          <a:p>
            <a:pPr marL="285750" indent="-285750">
              <a:buFont typeface="Arial" panose="020B0604020202020204" pitchFamily="34" charset="0"/>
              <a:buChar char="•"/>
            </a:pPr>
            <a:r>
              <a:rPr lang="en-US" sz="2200" dirty="0">
                <a:solidFill>
                  <a:srgbClr val="111111"/>
                </a:solidFill>
                <a:latin typeface="SourceSansPro"/>
              </a:rPr>
              <a:t>Commonly expressed using percentages and standard deviations over a specified time horizon.</a:t>
            </a:r>
          </a:p>
          <a:p>
            <a:pPr marL="285750" indent="-285750">
              <a:buFont typeface="Arial" panose="020B0604020202020204" pitchFamily="34" charset="0"/>
              <a:buChar char="•"/>
            </a:pPr>
            <a:endParaRPr lang="en-US" sz="2200" dirty="0">
              <a:solidFill>
                <a:srgbClr val="111111"/>
              </a:solidFill>
              <a:latin typeface="SourceSansPro"/>
            </a:endParaRPr>
          </a:p>
          <a:p>
            <a:pPr marL="285750" indent="-285750">
              <a:buFont typeface="Arial" panose="020B0604020202020204" pitchFamily="34" charset="0"/>
              <a:buChar char="•"/>
            </a:pPr>
            <a:r>
              <a:rPr lang="en-US" sz="2200" dirty="0">
                <a:solidFill>
                  <a:srgbClr val="111111"/>
                </a:solidFill>
                <a:latin typeface="SourceSansPro"/>
              </a:rPr>
              <a:t>It is one of the deciding factors in the pricing of options. </a:t>
            </a:r>
          </a:p>
          <a:p>
            <a:pPr marL="285750" indent="-285750">
              <a:buFont typeface="Arial" panose="020B0604020202020204" pitchFamily="34" charset="0"/>
              <a:buChar char="•"/>
            </a:pPr>
            <a:endParaRPr lang="en-US" sz="2200" dirty="0">
              <a:solidFill>
                <a:srgbClr val="111111"/>
              </a:solidFill>
              <a:latin typeface="SourceSansPro"/>
            </a:endParaRPr>
          </a:p>
          <a:p>
            <a:pPr marL="285750" indent="-285750">
              <a:buFont typeface="Arial" panose="020B0604020202020204" pitchFamily="34" charset="0"/>
              <a:buChar char="•"/>
            </a:pPr>
            <a:r>
              <a:rPr lang="en-US" sz="2200" dirty="0">
                <a:solidFill>
                  <a:srgbClr val="111111"/>
                </a:solidFill>
                <a:latin typeface="SourceSansPro"/>
              </a:rPr>
              <a:t>It is not the same as historical volatility -also known as realized volatility or statistical volatility.</a:t>
            </a:r>
          </a:p>
          <a:p>
            <a:pPr marL="285750" indent="-285750">
              <a:buFont typeface="Arial" panose="020B0604020202020204" pitchFamily="34" charset="0"/>
              <a:buChar char="•"/>
            </a:pPr>
            <a:endParaRPr lang="en-US" sz="2200" dirty="0">
              <a:solidFill>
                <a:srgbClr val="111111"/>
              </a:solidFill>
              <a:latin typeface="SourceSansPro"/>
            </a:endParaRPr>
          </a:p>
          <a:p>
            <a:r>
              <a:rPr lang="en-US" sz="2200" dirty="0">
                <a:solidFill>
                  <a:srgbClr val="111111"/>
                </a:solidFill>
                <a:latin typeface="SourceSansPro"/>
              </a:rPr>
              <a:t>	[Historical volatility measures past market changes and their actual results]</a:t>
            </a:r>
          </a:p>
        </p:txBody>
      </p:sp>
      <p:sp>
        <p:nvSpPr>
          <p:cNvPr id="18" name="Text Placeholder 1">
            <a:extLst>
              <a:ext uri="{FF2B5EF4-FFF2-40B4-BE49-F238E27FC236}">
                <a16:creationId xmlns:a16="http://schemas.microsoft.com/office/drawing/2014/main" id="{65103F39-1608-46E4-8872-F8314991FFE7}"/>
              </a:ext>
            </a:extLst>
          </p:cNvPr>
          <p:cNvSpPr txBox="1">
            <a:spLocks/>
          </p:cNvSpPr>
          <p:nvPr/>
        </p:nvSpPr>
        <p:spPr>
          <a:xfrm>
            <a:off x="576072" y="808941"/>
            <a:ext cx="8794750" cy="356527"/>
          </a:xfrm>
          <a:prstGeom prst="rect">
            <a:avLst/>
          </a:prstGeom>
        </p:spPr>
        <p:txBody>
          <a:bodyPr lIns="0" tIns="0" rIns="0" bIns="0"/>
          <a:lstStyle>
            <a:lvl1pPr marL="0" indent="0" algn="l" defTabSz="914400" rtl="0" eaLnBrk="1" latinLnBrk="0" hangingPunct="1">
              <a:lnSpc>
                <a:spcPct val="90000"/>
              </a:lnSpc>
              <a:spcBef>
                <a:spcPts val="1000"/>
              </a:spcBef>
              <a:buFont typeface="Arial" panose="020B0604020202020204" pitchFamily="34" charset="0"/>
              <a:buNone/>
              <a:defRPr sz="1800" b="1" i="0" kern="1200" cap="none" spc="50" baseline="0">
                <a:solidFill>
                  <a:srgbClr val="0070C0"/>
                </a:solidFill>
                <a:latin typeface="+mj-lt"/>
                <a:ea typeface="Source Sans Pro"/>
                <a:cs typeface="Source Sans Pro"/>
              </a:defRPr>
            </a:lvl1pPr>
            <a:lvl2pPr marL="6858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65000"/>
                    <a:lumOff val="35000"/>
                  </a:schemeClr>
                </a:solidFill>
                <a:latin typeface="Source Sans Pro"/>
                <a:ea typeface="Source Sans Pro"/>
                <a:cs typeface="Source Sans Pro"/>
              </a:defRPr>
            </a:lvl2pPr>
            <a:lvl3pPr marL="11430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lumMod val="65000"/>
                    <a:lumOff val="35000"/>
                  </a:schemeClr>
                </a:solidFill>
                <a:latin typeface="Source Sans Pro"/>
                <a:ea typeface="Source Sans Pro"/>
                <a:cs typeface="Source Sans Pro"/>
              </a:defRPr>
            </a:lvl3pPr>
            <a:lvl4pPr marL="1600200" indent="-228600" algn="l" defTabSz="914400" rtl="0" eaLnBrk="1" latinLnBrk="0" hangingPunct="1">
              <a:lnSpc>
                <a:spcPct val="90000"/>
              </a:lnSpc>
              <a:spcBef>
                <a:spcPts val="500"/>
              </a:spcBef>
              <a:buFont typeface="Arial" panose="020B0604020202020204" pitchFamily="34" charset="0"/>
              <a:buChar char="•"/>
              <a:defRPr sz="1400" b="1" i="0" kern="1200">
                <a:solidFill>
                  <a:schemeClr val="tx1"/>
                </a:solidFill>
                <a:latin typeface="Raleway" charset="0"/>
                <a:ea typeface="Raleway" charset="0"/>
                <a:cs typeface="Raleway"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b="1" i="0" kern="1200">
                <a:solidFill>
                  <a:schemeClr val="tx1"/>
                </a:solidFill>
                <a:latin typeface="Raleway" charset="0"/>
                <a:ea typeface="Raleway" charset="0"/>
                <a:cs typeface="Raleway"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AR" dirty="0" err="1"/>
              <a:t>Definition</a:t>
            </a:r>
            <a:r>
              <a:rPr lang="es-AR" dirty="0"/>
              <a:t> (</a:t>
            </a:r>
            <a:r>
              <a:rPr lang="es-AR" dirty="0" err="1"/>
              <a:t>brief</a:t>
            </a:r>
            <a:r>
              <a:rPr lang="es-AR" dirty="0"/>
              <a:t> </a:t>
            </a:r>
            <a:r>
              <a:rPr lang="es-AR" dirty="0" err="1"/>
              <a:t>facts</a:t>
            </a:r>
            <a:r>
              <a:rPr lang="es-AR" dirty="0"/>
              <a:t>)</a:t>
            </a:r>
            <a:endParaRPr lang="en-US" dirty="0"/>
          </a:p>
        </p:txBody>
      </p:sp>
    </p:spTree>
    <p:extLst>
      <p:ext uri="{BB962C8B-B14F-4D97-AF65-F5344CB8AC3E}">
        <p14:creationId xmlns:p14="http://schemas.microsoft.com/office/powerpoint/2010/main" val="1763180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2">
            <a:extLst>
              <a:ext uri="{FF2B5EF4-FFF2-40B4-BE49-F238E27FC236}">
                <a16:creationId xmlns:a16="http://schemas.microsoft.com/office/drawing/2014/main" id="{6EAD825E-D496-4AAC-8C93-AA4A0B126EF3}"/>
              </a:ext>
            </a:extLst>
          </p:cNvPr>
          <p:cNvSpPr txBox="1">
            <a:spLocks/>
          </p:cNvSpPr>
          <p:nvPr/>
        </p:nvSpPr>
        <p:spPr>
          <a:xfrm>
            <a:off x="593826" y="5195376"/>
            <a:ext cx="7518328" cy="1288272"/>
          </a:xfrm>
          <a:prstGeom prst="rect">
            <a:avLst/>
          </a:prstGeom>
        </p:spPr>
        <p:txBody>
          <a:bodyPr lIns="0" tIns="0" rIns="0" bIns="0"/>
          <a:lstStyle>
            <a:lvl1pPr marL="0" indent="0" algn="l" defTabSz="914400" rtl="0" eaLnBrk="1" latinLnBrk="0" hangingPunct="1">
              <a:lnSpc>
                <a:spcPts val="2160"/>
              </a:lnSpc>
              <a:spcBef>
                <a:spcPts val="0"/>
              </a:spcBef>
              <a:spcAft>
                <a:spcPts val="0"/>
              </a:spcAft>
              <a:buFont typeface="Arial" panose="020B0604020202020204" pitchFamily="34" charset="0"/>
              <a:buNone/>
              <a:defRPr sz="1800" b="0" i="0" kern="1200">
                <a:solidFill>
                  <a:schemeClr val="accent1">
                    <a:lumMod val="50000"/>
                  </a:schemeClr>
                </a:solidFill>
                <a:latin typeface="+mj-lt"/>
                <a:ea typeface="Source Sans Pro"/>
                <a:cs typeface="Source Sans Pro"/>
              </a:defRPr>
            </a:lvl1pPr>
            <a:lvl2pPr marL="571500" indent="-173038" algn="l" defTabSz="914400" rtl="0" eaLnBrk="1" latinLnBrk="0" hangingPunct="1">
              <a:lnSpc>
                <a:spcPts val="2160"/>
              </a:lnSpc>
              <a:spcBef>
                <a:spcPts val="0"/>
              </a:spcBef>
              <a:spcAft>
                <a:spcPts val="0"/>
              </a:spcAft>
              <a:buFont typeface="Arial" charset="0"/>
              <a:buChar char="•"/>
              <a:tabLst/>
              <a:defRPr sz="1600" b="0" i="0" kern="1200" baseline="0">
                <a:solidFill>
                  <a:schemeClr val="accent1">
                    <a:lumMod val="50000"/>
                  </a:schemeClr>
                </a:solidFill>
                <a:latin typeface="+mj-lt"/>
                <a:ea typeface="Source Sans Pro"/>
                <a:cs typeface="Source Sans Pro"/>
              </a:defRPr>
            </a:lvl2pPr>
            <a:lvl3pPr marL="858838" indent="-231775" algn="l" defTabSz="914400" rtl="0" eaLnBrk="1" latinLnBrk="0" hangingPunct="1">
              <a:lnSpc>
                <a:spcPts val="2160"/>
              </a:lnSpc>
              <a:spcBef>
                <a:spcPts val="0"/>
              </a:spcBef>
              <a:spcAft>
                <a:spcPts val="0"/>
              </a:spcAft>
              <a:buFont typeface="Arial" panose="020B0604020202020204" pitchFamily="34" charset="0"/>
              <a:buChar char="•"/>
              <a:tabLst/>
              <a:defRPr sz="1400" b="0" i="0" kern="1200">
                <a:solidFill>
                  <a:schemeClr val="accent1">
                    <a:lumMod val="50000"/>
                  </a:schemeClr>
                </a:solidFill>
                <a:latin typeface="+mj-lt"/>
                <a:ea typeface="Source Sans Pro"/>
                <a:cs typeface="Source Sans Pro"/>
              </a:defRPr>
            </a:lvl3pPr>
            <a:lvl4pPr marL="1085850" indent="-171450" algn="l" defTabSz="914400" rtl="0" eaLnBrk="1" latinLnBrk="0" hangingPunct="1">
              <a:lnSpc>
                <a:spcPts val="2160"/>
              </a:lnSpc>
              <a:spcBef>
                <a:spcPts val="0"/>
              </a:spcBef>
              <a:spcAft>
                <a:spcPts val="0"/>
              </a:spcAft>
              <a:buFont typeface="Arial" panose="020B0604020202020204" pitchFamily="34" charset="0"/>
              <a:buChar char="•"/>
              <a:defRPr sz="1200" b="0" i="0" kern="1200">
                <a:solidFill>
                  <a:schemeClr val="accent1">
                    <a:lumMod val="50000"/>
                  </a:schemeClr>
                </a:solidFill>
                <a:latin typeface="+mj-lt"/>
                <a:ea typeface="Raleway" charset="0"/>
                <a:cs typeface="Raleway" charset="0"/>
              </a:defRPr>
            </a:lvl4pPr>
            <a:lvl5pPr marL="2057400" indent="-228600" algn="l" defTabSz="914400" rtl="0" eaLnBrk="1" latinLnBrk="0" hangingPunct="1">
              <a:lnSpc>
                <a:spcPts val="2160"/>
              </a:lnSpc>
              <a:spcBef>
                <a:spcPts val="0"/>
              </a:spcBef>
              <a:spcAft>
                <a:spcPts val="0"/>
              </a:spcAft>
              <a:buFont typeface="Arial" panose="020B0604020202020204" pitchFamily="34" charset="0"/>
              <a:buChar char="•"/>
              <a:defRPr sz="1400" b="1" i="0" kern="1200">
                <a:solidFill>
                  <a:schemeClr val="accent1">
                    <a:lumMod val="50000"/>
                  </a:schemeClr>
                </a:solidFill>
                <a:latin typeface="+mj-lt"/>
                <a:ea typeface="Raleway" charset="0"/>
                <a:cs typeface="Raleway"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hlinkClick r:id="rId2"/>
            </a:endParaRPr>
          </a:p>
          <a:p>
            <a:endParaRPr lang="en-US" dirty="0"/>
          </a:p>
        </p:txBody>
      </p:sp>
      <p:sp>
        <p:nvSpPr>
          <p:cNvPr id="5" name="Text Placeholder 1">
            <a:extLst>
              <a:ext uri="{FF2B5EF4-FFF2-40B4-BE49-F238E27FC236}">
                <a16:creationId xmlns:a16="http://schemas.microsoft.com/office/drawing/2014/main" id="{B446D463-9164-4B88-B522-1821664122B0}"/>
              </a:ext>
            </a:extLst>
          </p:cNvPr>
          <p:cNvSpPr txBox="1">
            <a:spLocks/>
          </p:cNvSpPr>
          <p:nvPr/>
        </p:nvSpPr>
        <p:spPr>
          <a:xfrm>
            <a:off x="576072" y="501008"/>
            <a:ext cx="8794750" cy="356527"/>
          </a:xfrm>
          <a:prstGeom prst="rect">
            <a:avLst/>
          </a:prstGeom>
        </p:spPr>
        <p:txBody>
          <a:bodyPr lIns="0" tIns="0" rIns="0" bIns="0"/>
          <a:lstStyle>
            <a:lvl1pPr marL="0" indent="0" algn="l" defTabSz="914400" rtl="0" eaLnBrk="1" latinLnBrk="0" hangingPunct="1">
              <a:lnSpc>
                <a:spcPct val="90000"/>
              </a:lnSpc>
              <a:spcBef>
                <a:spcPts val="1000"/>
              </a:spcBef>
              <a:buFont typeface="Arial" panose="020B0604020202020204" pitchFamily="34" charset="0"/>
              <a:buNone/>
              <a:defRPr sz="1800" b="1" i="0" kern="1200" cap="none" spc="50" baseline="0">
                <a:solidFill>
                  <a:srgbClr val="0070C0"/>
                </a:solidFill>
                <a:latin typeface="+mj-lt"/>
                <a:ea typeface="Source Sans Pro"/>
                <a:cs typeface="Source Sans Pro"/>
              </a:defRPr>
            </a:lvl1pPr>
            <a:lvl2pPr marL="6858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65000"/>
                    <a:lumOff val="35000"/>
                  </a:schemeClr>
                </a:solidFill>
                <a:latin typeface="Source Sans Pro"/>
                <a:ea typeface="Source Sans Pro"/>
                <a:cs typeface="Source Sans Pro"/>
              </a:defRPr>
            </a:lvl2pPr>
            <a:lvl3pPr marL="11430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lumMod val="65000"/>
                    <a:lumOff val="35000"/>
                  </a:schemeClr>
                </a:solidFill>
                <a:latin typeface="Source Sans Pro"/>
                <a:ea typeface="Source Sans Pro"/>
                <a:cs typeface="Source Sans Pro"/>
              </a:defRPr>
            </a:lvl3pPr>
            <a:lvl4pPr marL="1600200" indent="-228600" algn="l" defTabSz="914400" rtl="0" eaLnBrk="1" latinLnBrk="0" hangingPunct="1">
              <a:lnSpc>
                <a:spcPct val="90000"/>
              </a:lnSpc>
              <a:spcBef>
                <a:spcPts val="500"/>
              </a:spcBef>
              <a:buFont typeface="Arial" panose="020B0604020202020204" pitchFamily="34" charset="0"/>
              <a:buChar char="•"/>
              <a:defRPr sz="1400" b="1" i="0" kern="1200">
                <a:solidFill>
                  <a:schemeClr val="tx1"/>
                </a:solidFill>
                <a:latin typeface="Raleway" charset="0"/>
                <a:ea typeface="Raleway" charset="0"/>
                <a:cs typeface="Raleway"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b="1" i="0" kern="1200">
                <a:solidFill>
                  <a:schemeClr val="tx1"/>
                </a:solidFill>
                <a:latin typeface="Raleway" charset="0"/>
                <a:ea typeface="Raleway" charset="0"/>
                <a:cs typeface="Raleway"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AR" dirty="0" err="1"/>
              <a:t>Implied</a:t>
            </a:r>
            <a:r>
              <a:rPr lang="es-AR" dirty="0"/>
              <a:t> </a:t>
            </a:r>
            <a:r>
              <a:rPr lang="es-AR" dirty="0" err="1"/>
              <a:t>Volatility</a:t>
            </a:r>
            <a:r>
              <a:rPr lang="es-AR" dirty="0"/>
              <a:t> </a:t>
            </a:r>
            <a:r>
              <a:rPr lang="es-AR" dirty="0" err="1"/>
              <a:t>Problem</a:t>
            </a:r>
            <a:r>
              <a:rPr lang="es-AR" dirty="0"/>
              <a:t>, in a </a:t>
            </a:r>
            <a:r>
              <a:rPr lang="es-AR" dirty="0" err="1"/>
              <a:t>nutshell</a:t>
            </a:r>
            <a:r>
              <a:rPr lang="es-AR" dirty="0"/>
              <a:t> 2/2</a:t>
            </a:r>
            <a:endParaRPr lang="en-US" dirty="0"/>
          </a:p>
        </p:txBody>
      </p:sp>
      <p:sp>
        <p:nvSpPr>
          <p:cNvPr id="19" name="Text Placeholder 1">
            <a:extLst>
              <a:ext uri="{FF2B5EF4-FFF2-40B4-BE49-F238E27FC236}">
                <a16:creationId xmlns:a16="http://schemas.microsoft.com/office/drawing/2014/main" id="{DC3C47A7-78AF-4902-9EC8-435FC457C3C5}"/>
              </a:ext>
            </a:extLst>
          </p:cNvPr>
          <p:cNvSpPr txBox="1">
            <a:spLocks/>
          </p:cNvSpPr>
          <p:nvPr/>
        </p:nvSpPr>
        <p:spPr>
          <a:xfrm>
            <a:off x="576072" y="923673"/>
            <a:ext cx="8794750" cy="356527"/>
          </a:xfrm>
          <a:prstGeom prst="rect">
            <a:avLst/>
          </a:prstGeom>
        </p:spPr>
        <p:txBody>
          <a:bodyPr lIns="0" tIns="0" rIns="0" bIns="0"/>
          <a:lstStyle>
            <a:lvl1pPr marL="0" indent="0" algn="l" defTabSz="914400" rtl="0" eaLnBrk="1" latinLnBrk="0" hangingPunct="1">
              <a:lnSpc>
                <a:spcPct val="90000"/>
              </a:lnSpc>
              <a:spcBef>
                <a:spcPts val="1000"/>
              </a:spcBef>
              <a:buFont typeface="Arial" panose="020B0604020202020204" pitchFamily="34" charset="0"/>
              <a:buNone/>
              <a:defRPr sz="1800" b="1" i="0" kern="1200" cap="none" spc="50" baseline="0">
                <a:solidFill>
                  <a:srgbClr val="0070C0"/>
                </a:solidFill>
                <a:latin typeface="+mj-lt"/>
                <a:ea typeface="Source Sans Pro"/>
                <a:cs typeface="Source Sans Pro"/>
              </a:defRPr>
            </a:lvl1pPr>
            <a:lvl2pPr marL="6858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65000"/>
                    <a:lumOff val="35000"/>
                  </a:schemeClr>
                </a:solidFill>
                <a:latin typeface="Source Sans Pro"/>
                <a:ea typeface="Source Sans Pro"/>
                <a:cs typeface="Source Sans Pro"/>
              </a:defRPr>
            </a:lvl2pPr>
            <a:lvl3pPr marL="11430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lumMod val="65000"/>
                    <a:lumOff val="35000"/>
                  </a:schemeClr>
                </a:solidFill>
                <a:latin typeface="Source Sans Pro"/>
                <a:ea typeface="Source Sans Pro"/>
                <a:cs typeface="Source Sans Pro"/>
              </a:defRPr>
            </a:lvl3pPr>
            <a:lvl4pPr marL="1600200" indent="-228600" algn="l" defTabSz="914400" rtl="0" eaLnBrk="1" latinLnBrk="0" hangingPunct="1">
              <a:lnSpc>
                <a:spcPct val="90000"/>
              </a:lnSpc>
              <a:spcBef>
                <a:spcPts val="500"/>
              </a:spcBef>
              <a:buFont typeface="Arial" panose="020B0604020202020204" pitchFamily="34" charset="0"/>
              <a:buChar char="•"/>
              <a:defRPr sz="1400" b="1" i="0" kern="1200">
                <a:solidFill>
                  <a:schemeClr val="tx1"/>
                </a:solidFill>
                <a:latin typeface="Raleway" charset="0"/>
                <a:ea typeface="Raleway" charset="0"/>
                <a:cs typeface="Raleway"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b="1" i="0" kern="1200">
                <a:solidFill>
                  <a:schemeClr val="tx1"/>
                </a:solidFill>
                <a:latin typeface="Raleway" charset="0"/>
                <a:ea typeface="Raleway" charset="0"/>
                <a:cs typeface="Raleway"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AR" dirty="0" err="1"/>
              <a:t>How</a:t>
            </a:r>
            <a:r>
              <a:rPr lang="es-AR" dirty="0"/>
              <a:t> </a:t>
            </a:r>
            <a:r>
              <a:rPr lang="es-AR" dirty="0" err="1"/>
              <a:t>to</a:t>
            </a:r>
            <a:r>
              <a:rPr lang="es-AR" dirty="0"/>
              <a:t> </a:t>
            </a:r>
            <a:r>
              <a:rPr lang="es-AR" i="1" dirty="0" err="1"/>
              <a:t>imply</a:t>
            </a:r>
            <a:r>
              <a:rPr lang="es-AR" dirty="0"/>
              <a:t> </a:t>
            </a:r>
            <a:r>
              <a:rPr lang="es-AR" dirty="0" err="1"/>
              <a:t>it</a:t>
            </a:r>
            <a:endParaRPr lang="en-US" dirty="0"/>
          </a:p>
        </p:txBody>
      </p:sp>
      <p:sp>
        <p:nvSpPr>
          <p:cNvPr id="21" name="Rectangle 20">
            <a:extLst>
              <a:ext uri="{FF2B5EF4-FFF2-40B4-BE49-F238E27FC236}">
                <a16:creationId xmlns:a16="http://schemas.microsoft.com/office/drawing/2014/main" id="{E402572D-BB51-4C7F-8B5F-9EBBECBB3F74}"/>
              </a:ext>
            </a:extLst>
          </p:cNvPr>
          <p:cNvSpPr/>
          <p:nvPr/>
        </p:nvSpPr>
        <p:spPr>
          <a:xfrm>
            <a:off x="551882" y="1181634"/>
            <a:ext cx="9927380" cy="400110"/>
          </a:xfrm>
          <a:prstGeom prst="rect">
            <a:avLst/>
          </a:prstGeom>
        </p:spPr>
        <p:txBody>
          <a:bodyPr wrap="square">
            <a:spAutoFit/>
          </a:bodyPr>
          <a:lstStyle/>
          <a:p>
            <a:pPr marL="285750" indent="-285750">
              <a:buFont typeface="Arial" panose="020B0604020202020204" pitchFamily="34" charset="0"/>
              <a:buChar char="•"/>
            </a:pPr>
            <a:r>
              <a:rPr lang="en-US" sz="2000" dirty="0">
                <a:solidFill>
                  <a:srgbClr val="111111"/>
                </a:solidFill>
                <a:latin typeface="SourceSansPro"/>
              </a:rPr>
              <a:t>As σ is an input in option pricing models</a:t>
            </a:r>
            <a:r>
              <a:rPr lang="en-US" dirty="0">
                <a:solidFill>
                  <a:srgbClr val="111111"/>
                </a:solidFill>
                <a:latin typeface="SourceSansPro"/>
              </a:rPr>
              <a:t>:</a:t>
            </a:r>
          </a:p>
        </p:txBody>
      </p:sp>
      <mc:AlternateContent xmlns:mc="http://schemas.openxmlformats.org/markup-compatibility/2006">
        <mc:Choice xmlns:a14="http://schemas.microsoft.com/office/drawing/2010/main" Requires="a14">
          <p:sp>
            <p:nvSpPr>
              <p:cNvPr id="8" name="Rectangle 7">
                <a:extLst>
                  <a:ext uri="{FF2B5EF4-FFF2-40B4-BE49-F238E27FC236}">
                    <a16:creationId xmlns:a16="http://schemas.microsoft.com/office/drawing/2014/main" id="{3F2C4B47-B03E-408F-8B07-AA3C0EE07B92}"/>
                  </a:ext>
                </a:extLst>
              </p:cNvPr>
              <p:cNvSpPr/>
              <p:nvPr/>
            </p:nvSpPr>
            <p:spPr>
              <a:xfrm>
                <a:off x="517407" y="1692337"/>
                <a:ext cx="6519586" cy="1015663"/>
              </a:xfrm>
              <a:prstGeom prst="rect">
                <a:avLst/>
              </a:prstGeom>
            </p:spPr>
            <p:txBody>
              <a:bodyPr wrap="square">
                <a:spAutoFit/>
              </a:bodyPr>
              <a:lstStyle/>
              <a:p>
                <a:pPr marL="285750" indent="-285750">
                  <a:buFont typeface="Arial" panose="020B0604020202020204" pitchFamily="34" charset="0"/>
                  <a:buChar char="•"/>
                </a:pPr>
                <a:r>
                  <a:rPr lang="en-US" sz="2000" dirty="0">
                    <a:solidFill>
                      <a:srgbClr val="111111"/>
                    </a:solidFill>
                    <a:latin typeface="SourceSansPro"/>
                  </a:rPr>
                  <a:t>A way to obtain implied volatility from the market is by solving the inverse problem: E.g. </a:t>
                </a:r>
                <a14:m>
                  <m:oMath xmlns:m="http://schemas.openxmlformats.org/officeDocument/2006/math">
                    <m:sSup>
                      <m:sSupPr>
                        <m:ctrlPr>
                          <a:rPr lang="es-AR" sz="2000" i="1">
                            <a:solidFill>
                              <a:srgbClr val="111111"/>
                            </a:solidFill>
                            <a:latin typeface="Cambria Math" panose="02040503050406030204" pitchFamily="18" charset="0"/>
                          </a:rPr>
                        </m:ctrlPr>
                      </m:sSupPr>
                      <m:e>
                        <m:r>
                          <a:rPr lang="es-AR" sz="2000" b="0" i="1" smtClean="0">
                            <a:solidFill>
                              <a:srgbClr val="111111"/>
                            </a:solidFill>
                            <a:latin typeface="Cambria Math" panose="02040503050406030204" pitchFamily="18" charset="0"/>
                          </a:rPr>
                          <m:t>𝐶</m:t>
                        </m:r>
                      </m:e>
                      <m:sup>
                        <m:r>
                          <a:rPr lang="es-AR" sz="2000" b="0" i="1" smtClean="0">
                            <a:solidFill>
                              <a:srgbClr val="111111"/>
                            </a:solidFill>
                            <a:latin typeface="Cambria Math" panose="02040503050406030204" pitchFamily="18" charset="0"/>
                          </a:rPr>
                          <m:t>−1</m:t>
                        </m:r>
                      </m:sup>
                    </m:sSup>
                    <m:d>
                      <m:dPr>
                        <m:ctrlPr>
                          <a:rPr lang="es-AR" sz="2000" b="0" i="1" smtClean="0">
                            <a:solidFill>
                              <a:srgbClr val="111111"/>
                            </a:solidFill>
                            <a:latin typeface="Cambria Math" panose="02040503050406030204" pitchFamily="18" charset="0"/>
                          </a:rPr>
                        </m:ctrlPr>
                      </m:dPr>
                      <m:e>
                        <m:r>
                          <a:rPr lang="es-AR" sz="2000" b="0" i="1" smtClean="0">
                            <a:solidFill>
                              <a:srgbClr val="111111"/>
                            </a:solidFill>
                            <a:latin typeface="Cambria Math" panose="02040503050406030204" pitchFamily="18" charset="0"/>
                          </a:rPr>
                          <m:t>𝜎</m:t>
                        </m:r>
                      </m:e>
                    </m:d>
                    <m:r>
                      <a:rPr lang="es-AR" sz="2000" b="0" i="1" smtClean="0">
                        <a:solidFill>
                          <a:srgbClr val="111111"/>
                        </a:solidFill>
                        <a:latin typeface="Cambria Math" panose="02040503050406030204" pitchFamily="18" charset="0"/>
                      </a:rPr>
                      <m:t>, </m:t>
                    </m:r>
                  </m:oMath>
                </a14:m>
                <a:r>
                  <a:rPr lang="es-AR" sz="2000" dirty="0" err="1">
                    <a:solidFill>
                      <a:srgbClr val="111111"/>
                    </a:solidFill>
                    <a:latin typeface="SourceSansPro"/>
                  </a:rPr>
                  <a:t>knowing</a:t>
                </a:r>
                <a:r>
                  <a:rPr lang="es-AR" sz="2000" dirty="0">
                    <a:solidFill>
                      <a:srgbClr val="111111"/>
                    </a:solidFill>
                    <a:latin typeface="SourceSansPro"/>
                  </a:rPr>
                  <a:t> </a:t>
                </a:r>
                <a:r>
                  <a:rPr lang="es-AR" sz="2000" dirty="0" err="1">
                    <a:solidFill>
                      <a:srgbClr val="111111"/>
                    </a:solidFill>
                    <a:latin typeface="SourceSansPro"/>
                  </a:rPr>
                  <a:t>the</a:t>
                </a:r>
                <a:r>
                  <a:rPr lang="es-AR" sz="2000" dirty="0">
                    <a:solidFill>
                      <a:srgbClr val="111111"/>
                    </a:solidFill>
                    <a:latin typeface="SourceSansPro"/>
                  </a:rPr>
                  <a:t> </a:t>
                </a:r>
                <a:r>
                  <a:rPr lang="es-AR" sz="2000" dirty="0" err="1">
                    <a:solidFill>
                      <a:srgbClr val="111111"/>
                    </a:solidFill>
                    <a:latin typeface="SourceSansPro"/>
                  </a:rPr>
                  <a:t>market</a:t>
                </a:r>
                <a:r>
                  <a:rPr lang="es-AR" sz="2000" dirty="0">
                    <a:solidFill>
                      <a:srgbClr val="111111"/>
                    </a:solidFill>
                    <a:latin typeface="SourceSansPro"/>
                  </a:rPr>
                  <a:t> </a:t>
                </a:r>
                <a:r>
                  <a:rPr lang="es-AR" sz="2000" dirty="0" err="1">
                    <a:solidFill>
                      <a:srgbClr val="111111"/>
                    </a:solidFill>
                    <a:latin typeface="SourceSansPro"/>
                  </a:rPr>
                  <a:t>price</a:t>
                </a:r>
                <a:r>
                  <a:rPr lang="es-AR" sz="2000" b="0" i="0" dirty="0">
                    <a:solidFill>
                      <a:srgbClr val="111111"/>
                    </a:solidFill>
                    <a:latin typeface="+mj-lt"/>
                  </a:rPr>
                  <a:t> </a:t>
                </a:r>
                <a14:m>
                  <m:oMath xmlns:m="http://schemas.openxmlformats.org/officeDocument/2006/math">
                    <m:sSub>
                      <m:sSubPr>
                        <m:ctrlPr>
                          <a:rPr lang="es-AR" sz="2000" b="0" i="1" smtClean="0">
                            <a:solidFill>
                              <a:srgbClr val="111111"/>
                            </a:solidFill>
                            <a:latin typeface="Cambria Math" panose="02040503050406030204" pitchFamily="18" charset="0"/>
                          </a:rPr>
                        </m:ctrlPr>
                      </m:sSubPr>
                      <m:e>
                        <m:r>
                          <a:rPr lang="es-AR" sz="2000" b="0" i="1" smtClean="0">
                            <a:solidFill>
                              <a:srgbClr val="111111"/>
                            </a:solidFill>
                            <a:latin typeface="Cambria Math" panose="02040503050406030204" pitchFamily="18" charset="0"/>
                          </a:rPr>
                          <m:t>𝐶</m:t>
                        </m:r>
                      </m:e>
                      <m:sub>
                        <m:r>
                          <a:rPr lang="es-AR" sz="2000" b="0" i="1" smtClean="0">
                            <a:solidFill>
                              <a:srgbClr val="111111"/>
                            </a:solidFill>
                            <a:latin typeface="Cambria Math" panose="02040503050406030204" pitchFamily="18" charset="0"/>
                          </a:rPr>
                          <m:t>𝑀</m:t>
                        </m:r>
                      </m:sub>
                    </m:sSub>
                  </m:oMath>
                </a14:m>
                <a:endParaRPr lang="en-US" sz="2000" dirty="0">
                  <a:solidFill>
                    <a:srgbClr val="111111"/>
                  </a:solidFill>
                  <a:latin typeface="SourceSansPro"/>
                </a:endParaRPr>
              </a:p>
            </p:txBody>
          </p:sp>
        </mc:Choice>
        <mc:Fallback>
          <p:sp>
            <p:nvSpPr>
              <p:cNvPr id="8" name="Rectangle 7">
                <a:extLst>
                  <a:ext uri="{FF2B5EF4-FFF2-40B4-BE49-F238E27FC236}">
                    <a16:creationId xmlns:a16="http://schemas.microsoft.com/office/drawing/2014/main" id="{3F2C4B47-B03E-408F-8B07-AA3C0EE07B92}"/>
                  </a:ext>
                </a:extLst>
              </p:cNvPr>
              <p:cNvSpPr>
                <a:spLocks noRot="1" noChangeAspect="1" noMove="1" noResize="1" noEditPoints="1" noAdjustHandles="1" noChangeArrowheads="1" noChangeShapeType="1" noTextEdit="1"/>
              </p:cNvSpPr>
              <p:nvPr/>
            </p:nvSpPr>
            <p:spPr>
              <a:xfrm>
                <a:off x="517407" y="1692337"/>
                <a:ext cx="6519586" cy="1015663"/>
              </a:xfrm>
              <a:prstGeom prst="rect">
                <a:avLst/>
              </a:prstGeom>
              <a:blipFill>
                <a:blip r:embed="rId3"/>
                <a:stretch>
                  <a:fillRect l="-842" t="-3614" b="-10241"/>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02401552-4ED0-485C-9E6D-1FBC9746A5AB}"/>
              </a:ext>
            </a:extLst>
          </p:cNvPr>
          <p:cNvPicPr>
            <a:picLocks noChangeAspect="1"/>
          </p:cNvPicPr>
          <p:nvPr/>
        </p:nvPicPr>
        <p:blipFill>
          <a:blip r:embed="rId4"/>
          <a:stretch>
            <a:fillRect/>
          </a:stretch>
        </p:blipFill>
        <p:spPr>
          <a:xfrm>
            <a:off x="7095657" y="960414"/>
            <a:ext cx="4814698" cy="1871756"/>
          </a:xfrm>
          <a:prstGeom prst="rect">
            <a:avLst/>
          </a:prstGeom>
        </p:spPr>
      </p:pic>
      <p:sp>
        <p:nvSpPr>
          <p:cNvPr id="14" name="Oval 13">
            <a:extLst>
              <a:ext uri="{FF2B5EF4-FFF2-40B4-BE49-F238E27FC236}">
                <a16:creationId xmlns:a16="http://schemas.microsoft.com/office/drawing/2014/main" id="{19840E90-E46E-48BC-80E9-72D4EDEB18A1}"/>
              </a:ext>
            </a:extLst>
          </p:cNvPr>
          <p:cNvSpPr/>
          <p:nvPr/>
        </p:nvSpPr>
        <p:spPr>
          <a:xfrm>
            <a:off x="10649761" y="1249822"/>
            <a:ext cx="360726" cy="369333"/>
          </a:xfrm>
          <a:prstGeom prst="ellipse">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a:ln w="22225">
                <a:solidFill>
                  <a:schemeClr val="accent2"/>
                </a:solidFill>
                <a:prstDash val="solid"/>
              </a:ln>
              <a:solidFill>
                <a:schemeClr val="accent2">
                  <a:lumMod val="40000"/>
                  <a:lumOff val="60000"/>
                </a:schemeClr>
              </a:solidFill>
            </a:endParaRPr>
          </a:p>
        </p:txBody>
      </p:sp>
      <p:sp>
        <p:nvSpPr>
          <p:cNvPr id="28" name="Oval 27">
            <a:extLst>
              <a:ext uri="{FF2B5EF4-FFF2-40B4-BE49-F238E27FC236}">
                <a16:creationId xmlns:a16="http://schemas.microsoft.com/office/drawing/2014/main" id="{A56E5695-D022-4AF2-909C-A25315E202C9}"/>
              </a:ext>
            </a:extLst>
          </p:cNvPr>
          <p:cNvSpPr/>
          <p:nvPr/>
        </p:nvSpPr>
        <p:spPr>
          <a:xfrm>
            <a:off x="10662581" y="1878269"/>
            <a:ext cx="360726" cy="369333"/>
          </a:xfrm>
          <a:prstGeom prst="ellipse">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a:ln w="22225">
                <a:solidFill>
                  <a:schemeClr val="accent2"/>
                </a:solidFill>
                <a:prstDash val="solid"/>
              </a:ln>
              <a:solidFill>
                <a:schemeClr val="accent2">
                  <a:lumMod val="40000"/>
                  <a:lumOff val="60000"/>
                </a:schemeClr>
              </a:solidFill>
            </a:endParaRPr>
          </a:p>
        </p:txBody>
      </p:sp>
      <p:sp>
        <p:nvSpPr>
          <p:cNvPr id="30" name="Oval 29">
            <a:extLst>
              <a:ext uri="{FF2B5EF4-FFF2-40B4-BE49-F238E27FC236}">
                <a16:creationId xmlns:a16="http://schemas.microsoft.com/office/drawing/2014/main" id="{E41C63DB-8B20-43B0-8271-BEDA789E4280}"/>
              </a:ext>
            </a:extLst>
          </p:cNvPr>
          <p:cNvSpPr/>
          <p:nvPr/>
        </p:nvSpPr>
        <p:spPr>
          <a:xfrm>
            <a:off x="7906939" y="1644359"/>
            <a:ext cx="360726" cy="369333"/>
          </a:xfrm>
          <a:prstGeom prst="ellipse">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a:ln w="22225">
                <a:solidFill>
                  <a:schemeClr val="accent2"/>
                </a:solidFill>
                <a:prstDash val="solid"/>
              </a:ln>
              <a:solidFill>
                <a:schemeClr val="accent2">
                  <a:lumMod val="40000"/>
                  <a:lumOff val="60000"/>
                </a:schemeClr>
              </a:solidFill>
            </a:endParaRPr>
          </a:p>
        </p:txBody>
      </p:sp>
      <p:sp>
        <p:nvSpPr>
          <p:cNvPr id="31" name="Oval 30">
            <a:extLst>
              <a:ext uri="{FF2B5EF4-FFF2-40B4-BE49-F238E27FC236}">
                <a16:creationId xmlns:a16="http://schemas.microsoft.com/office/drawing/2014/main" id="{EF2033F1-F654-46D9-8774-0EB92A799ADD}"/>
              </a:ext>
            </a:extLst>
          </p:cNvPr>
          <p:cNvSpPr/>
          <p:nvPr/>
        </p:nvSpPr>
        <p:spPr>
          <a:xfrm>
            <a:off x="7931791" y="2212340"/>
            <a:ext cx="360726" cy="369333"/>
          </a:xfrm>
          <a:prstGeom prst="ellipse">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1">
              <a:ln w="22225">
                <a:solidFill>
                  <a:schemeClr val="accent2"/>
                </a:solidFill>
                <a:prstDash val="solid"/>
              </a:ln>
              <a:solidFill>
                <a:schemeClr val="accent2">
                  <a:lumMod val="40000"/>
                  <a:lumOff val="60000"/>
                </a:schemeClr>
              </a:solidFill>
            </a:endParaRPr>
          </a:p>
        </p:txBody>
      </p:sp>
      <p:sp>
        <p:nvSpPr>
          <p:cNvPr id="33" name="Text Placeholder 1">
            <a:extLst>
              <a:ext uri="{FF2B5EF4-FFF2-40B4-BE49-F238E27FC236}">
                <a16:creationId xmlns:a16="http://schemas.microsoft.com/office/drawing/2014/main" id="{8C77A764-67BC-450A-97DF-A37171849A76}"/>
              </a:ext>
            </a:extLst>
          </p:cNvPr>
          <p:cNvSpPr txBox="1">
            <a:spLocks/>
          </p:cNvSpPr>
          <p:nvPr/>
        </p:nvSpPr>
        <p:spPr>
          <a:xfrm>
            <a:off x="595980" y="2855742"/>
            <a:ext cx="8794750" cy="356527"/>
          </a:xfrm>
          <a:prstGeom prst="rect">
            <a:avLst/>
          </a:prstGeom>
        </p:spPr>
        <p:txBody>
          <a:bodyPr lIns="0" tIns="0" rIns="0" bIns="0"/>
          <a:lstStyle>
            <a:lvl1pPr marL="0" indent="0" algn="l" defTabSz="914400" rtl="0" eaLnBrk="1" latinLnBrk="0" hangingPunct="1">
              <a:lnSpc>
                <a:spcPct val="90000"/>
              </a:lnSpc>
              <a:spcBef>
                <a:spcPts val="1000"/>
              </a:spcBef>
              <a:buFont typeface="Arial" panose="020B0604020202020204" pitchFamily="34" charset="0"/>
              <a:buNone/>
              <a:defRPr sz="1800" b="1" i="0" kern="1200" cap="none" spc="50" baseline="0">
                <a:solidFill>
                  <a:srgbClr val="0070C0"/>
                </a:solidFill>
                <a:latin typeface="+mj-lt"/>
                <a:ea typeface="Source Sans Pro"/>
                <a:cs typeface="Source Sans Pro"/>
              </a:defRPr>
            </a:lvl1pPr>
            <a:lvl2pPr marL="685800" indent="-228600" algn="l" defTabSz="914400" rtl="0" eaLnBrk="1" latinLnBrk="0" hangingPunct="1">
              <a:lnSpc>
                <a:spcPct val="90000"/>
              </a:lnSpc>
              <a:spcBef>
                <a:spcPts val="500"/>
              </a:spcBef>
              <a:buFont typeface="Arial" panose="020B0604020202020204" pitchFamily="34" charset="0"/>
              <a:buChar char="•"/>
              <a:defRPr sz="1600" b="0" i="0" kern="1200">
                <a:solidFill>
                  <a:schemeClr val="tx1">
                    <a:lumMod val="65000"/>
                    <a:lumOff val="35000"/>
                  </a:schemeClr>
                </a:solidFill>
                <a:latin typeface="Source Sans Pro"/>
                <a:ea typeface="Source Sans Pro"/>
                <a:cs typeface="Source Sans Pro"/>
              </a:defRPr>
            </a:lvl2pPr>
            <a:lvl3pPr marL="1143000" indent="-228600" algn="l" defTabSz="914400" rtl="0" eaLnBrk="1" latinLnBrk="0" hangingPunct="1">
              <a:lnSpc>
                <a:spcPct val="90000"/>
              </a:lnSpc>
              <a:spcBef>
                <a:spcPts val="500"/>
              </a:spcBef>
              <a:buFont typeface="Arial" panose="020B0604020202020204" pitchFamily="34" charset="0"/>
              <a:buChar char="•"/>
              <a:defRPr sz="1400" b="0" i="0" kern="1200">
                <a:solidFill>
                  <a:schemeClr val="tx1">
                    <a:lumMod val="65000"/>
                    <a:lumOff val="35000"/>
                  </a:schemeClr>
                </a:solidFill>
                <a:latin typeface="Source Sans Pro"/>
                <a:ea typeface="Source Sans Pro"/>
                <a:cs typeface="Source Sans Pro"/>
              </a:defRPr>
            </a:lvl3pPr>
            <a:lvl4pPr marL="1600200" indent="-228600" algn="l" defTabSz="914400" rtl="0" eaLnBrk="1" latinLnBrk="0" hangingPunct="1">
              <a:lnSpc>
                <a:spcPct val="90000"/>
              </a:lnSpc>
              <a:spcBef>
                <a:spcPts val="500"/>
              </a:spcBef>
              <a:buFont typeface="Arial" panose="020B0604020202020204" pitchFamily="34" charset="0"/>
              <a:buChar char="•"/>
              <a:defRPr sz="1400" b="1" i="0" kern="1200">
                <a:solidFill>
                  <a:schemeClr val="tx1"/>
                </a:solidFill>
                <a:latin typeface="Raleway" charset="0"/>
                <a:ea typeface="Raleway" charset="0"/>
                <a:cs typeface="Raleway"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b="1" i="0" kern="1200">
                <a:solidFill>
                  <a:schemeClr val="tx1"/>
                </a:solidFill>
                <a:latin typeface="Raleway" charset="0"/>
                <a:ea typeface="Raleway" charset="0"/>
                <a:cs typeface="Raleway"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AR" dirty="0" err="1"/>
              <a:t>What</a:t>
            </a:r>
            <a:r>
              <a:rPr lang="es-AR" dirty="0"/>
              <a:t> </a:t>
            </a:r>
            <a:r>
              <a:rPr lang="es-AR" dirty="0" err="1"/>
              <a:t>we</a:t>
            </a:r>
            <a:r>
              <a:rPr lang="es-AR" dirty="0"/>
              <a:t> </a:t>
            </a:r>
            <a:r>
              <a:rPr lang="es-AR" dirty="0" err="1"/>
              <a:t>really</a:t>
            </a:r>
            <a:r>
              <a:rPr lang="es-AR" dirty="0"/>
              <a:t> </a:t>
            </a:r>
            <a:r>
              <a:rPr lang="es-AR" dirty="0" err="1"/>
              <a:t>need</a:t>
            </a:r>
            <a:r>
              <a:rPr lang="es-AR" dirty="0"/>
              <a:t> </a:t>
            </a:r>
            <a:r>
              <a:rPr lang="es-AR" dirty="0" err="1"/>
              <a:t>to</a:t>
            </a:r>
            <a:r>
              <a:rPr lang="es-AR" dirty="0"/>
              <a:t> do:</a:t>
            </a:r>
            <a:endParaRPr lang="en-US" dirty="0"/>
          </a:p>
        </p:txBody>
      </p:sp>
      <mc:AlternateContent xmlns:mc="http://schemas.openxmlformats.org/markup-compatibility/2006">
        <mc:Choice xmlns:a14="http://schemas.microsoft.com/office/drawing/2010/main" Requires="a14">
          <p:sp>
            <p:nvSpPr>
              <p:cNvPr id="34" name="Rectangle 33">
                <a:extLst>
                  <a:ext uri="{FF2B5EF4-FFF2-40B4-BE49-F238E27FC236}">
                    <a16:creationId xmlns:a16="http://schemas.microsoft.com/office/drawing/2014/main" id="{776C13FC-43A1-4FB7-B229-11FCF3EE0B01}"/>
                  </a:ext>
                </a:extLst>
              </p:cNvPr>
              <p:cNvSpPr/>
              <p:nvPr/>
            </p:nvSpPr>
            <p:spPr>
              <a:xfrm>
                <a:off x="366898" y="3169568"/>
                <a:ext cx="9927380" cy="3311291"/>
              </a:xfrm>
              <a:prstGeom prst="rect">
                <a:avLst/>
              </a:prstGeom>
            </p:spPr>
            <p:txBody>
              <a:bodyPr wrap="square">
                <a:spAutoFit/>
              </a:bodyPr>
              <a:lstStyle/>
              <a:p>
                <a:pPr marL="285750" indent="-285750">
                  <a:buFont typeface="Arial" panose="020B0604020202020204" pitchFamily="34" charset="0"/>
                  <a:buChar char="•"/>
                </a:pPr>
                <a:r>
                  <a:rPr lang="en-US" sz="2000" dirty="0">
                    <a:solidFill>
                      <a:srgbClr val="111111"/>
                    </a:solidFill>
                    <a:latin typeface="SourceSansPro"/>
                  </a:rPr>
                  <a:t>Root-finding problem: </a:t>
                </a:r>
                <a14:m>
                  <m:oMath xmlns:m="http://schemas.openxmlformats.org/officeDocument/2006/math">
                    <m:r>
                      <a:rPr lang="en-US" sz="2000" i="1" dirty="0" smtClean="0">
                        <a:solidFill>
                          <a:schemeClr val="accent6"/>
                        </a:solidFill>
                        <a:latin typeface="Cambria Math" panose="02040503050406030204" pitchFamily="18" charset="0"/>
                      </a:rPr>
                      <m:t>𝐹𝑖𝑛𝑑</m:t>
                    </m:r>
                    <m:r>
                      <a:rPr lang="en-US" sz="2000" i="1" dirty="0" smtClean="0">
                        <a:solidFill>
                          <a:schemeClr val="accent6"/>
                        </a:solidFill>
                        <a:latin typeface="Cambria Math" panose="02040503050406030204" pitchFamily="18" charset="0"/>
                      </a:rPr>
                      <m:t> </m:t>
                    </m:r>
                    <m:r>
                      <a:rPr lang="en-US" sz="2000" i="1" dirty="0" smtClean="0">
                        <a:solidFill>
                          <a:schemeClr val="accent6"/>
                        </a:solidFill>
                        <a:latin typeface="Cambria Math" panose="02040503050406030204" pitchFamily="18" charset="0"/>
                      </a:rPr>
                      <m:t>𝜎</m:t>
                    </m:r>
                    <m:r>
                      <a:rPr lang="es-AR" sz="2000" b="0" i="1" dirty="0" smtClean="0">
                        <a:solidFill>
                          <a:schemeClr val="accent6"/>
                        </a:solidFill>
                        <a:latin typeface="Cambria Math" panose="02040503050406030204" pitchFamily="18" charset="0"/>
                      </a:rPr>
                      <m:t> </m:t>
                    </m:r>
                    <m:r>
                      <a:rPr lang="en-US" sz="2000" i="1" dirty="0" err="1" smtClean="0">
                        <a:solidFill>
                          <a:schemeClr val="accent6"/>
                        </a:solidFill>
                        <a:latin typeface="Cambria Math" panose="02040503050406030204" pitchFamily="18" charset="0"/>
                      </a:rPr>
                      <m:t>𝑠</m:t>
                    </m:r>
                    <m:r>
                      <a:rPr lang="en-US" sz="2000" i="1" dirty="0" err="1" smtClean="0">
                        <a:solidFill>
                          <a:schemeClr val="accent6"/>
                        </a:solidFill>
                        <a:latin typeface="Cambria Math" panose="02040503050406030204" pitchFamily="18" charset="0"/>
                      </a:rPr>
                      <m:t>.</m:t>
                    </m:r>
                    <m:r>
                      <a:rPr lang="en-US" sz="2000" i="1" dirty="0" err="1" smtClean="0">
                        <a:solidFill>
                          <a:schemeClr val="accent6"/>
                        </a:solidFill>
                        <a:latin typeface="Cambria Math" panose="02040503050406030204" pitchFamily="18" charset="0"/>
                      </a:rPr>
                      <m:t>𝑡</m:t>
                    </m:r>
                    <m:r>
                      <a:rPr lang="en-US" sz="2000" i="1" dirty="0" err="1" smtClean="0">
                        <a:solidFill>
                          <a:schemeClr val="accent6"/>
                        </a:solidFill>
                        <a:latin typeface="Cambria Math" panose="02040503050406030204" pitchFamily="18" charset="0"/>
                      </a:rPr>
                      <m:t>.      </m:t>
                    </m:r>
                    <m:r>
                      <a:rPr lang="en-US" sz="2000" i="1" dirty="0" smtClean="0">
                        <a:solidFill>
                          <a:schemeClr val="accent6"/>
                        </a:solidFill>
                        <a:latin typeface="Cambria Math" panose="02040503050406030204" pitchFamily="18" charset="0"/>
                      </a:rPr>
                      <m:t>𝐶</m:t>
                    </m:r>
                    <m:d>
                      <m:dPr>
                        <m:ctrlPr>
                          <a:rPr lang="en-US" sz="2000" i="1" dirty="0" smtClean="0">
                            <a:solidFill>
                              <a:schemeClr val="accent6"/>
                            </a:solidFill>
                            <a:latin typeface="Cambria Math" panose="02040503050406030204" pitchFamily="18" charset="0"/>
                          </a:rPr>
                        </m:ctrlPr>
                      </m:dPr>
                      <m:e>
                        <m:r>
                          <a:rPr lang="en-US" sz="2000" i="1" dirty="0" smtClean="0">
                            <a:solidFill>
                              <a:schemeClr val="accent6"/>
                            </a:solidFill>
                            <a:latin typeface="Cambria Math" panose="02040503050406030204" pitchFamily="18" charset="0"/>
                          </a:rPr>
                          <m:t>𝜎</m:t>
                        </m:r>
                      </m:e>
                    </m:d>
                    <m:r>
                      <a:rPr lang="en-US" sz="2000" i="1" dirty="0" smtClean="0">
                        <a:solidFill>
                          <a:schemeClr val="accent6"/>
                        </a:solidFill>
                        <a:latin typeface="Cambria Math" panose="02040503050406030204" pitchFamily="18" charset="0"/>
                      </a:rPr>
                      <m:t>–</m:t>
                    </m:r>
                    <m:sSub>
                      <m:sSubPr>
                        <m:ctrlPr>
                          <a:rPr lang="es-AR" sz="2000" i="1" dirty="0">
                            <a:solidFill>
                              <a:schemeClr val="accent6"/>
                            </a:solidFill>
                            <a:latin typeface="Cambria Math" panose="02040503050406030204" pitchFamily="18" charset="0"/>
                          </a:rPr>
                        </m:ctrlPr>
                      </m:sSubPr>
                      <m:e>
                        <m:r>
                          <a:rPr lang="es-AR" sz="2000" i="1" dirty="0">
                            <a:solidFill>
                              <a:schemeClr val="accent6"/>
                            </a:solidFill>
                            <a:latin typeface="Cambria Math" panose="02040503050406030204" pitchFamily="18" charset="0"/>
                          </a:rPr>
                          <m:t>𝐶</m:t>
                        </m:r>
                      </m:e>
                      <m:sub>
                        <m:r>
                          <a:rPr lang="es-AR" sz="2000" i="1" dirty="0">
                            <a:solidFill>
                              <a:schemeClr val="accent6"/>
                            </a:solidFill>
                            <a:latin typeface="Cambria Math" panose="02040503050406030204" pitchFamily="18" charset="0"/>
                          </a:rPr>
                          <m:t>𝑀</m:t>
                        </m:r>
                      </m:sub>
                    </m:sSub>
                    <m:r>
                      <a:rPr lang="en-US" sz="2000" i="1" dirty="0" smtClean="0">
                        <a:solidFill>
                          <a:schemeClr val="accent6"/>
                        </a:solidFill>
                        <a:latin typeface="Cambria Math" panose="02040503050406030204" pitchFamily="18" charset="0"/>
                      </a:rPr>
                      <m:t>= 0</m:t>
                    </m:r>
                    <m:r>
                      <a:rPr lang="es-AR" sz="2000" b="0" i="1" dirty="0" smtClean="0">
                        <a:solidFill>
                          <a:schemeClr val="accent6"/>
                        </a:solidFill>
                        <a:latin typeface="Cambria Math" panose="02040503050406030204" pitchFamily="18" charset="0"/>
                      </a:rPr>
                      <m:t>      … </m:t>
                    </m:r>
                    <m:r>
                      <a:rPr lang="en-US" sz="2000" i="1" dirty="0">
                        <a:solidFill>
                          <a:schemeClr val="accent6"/>
                        </a:solidFill>
                        <a:latin typeface="Cambria Math" panose="02040503050406030204" pitchFamily="18" charset="0"/>
                      </a:rPr>
                      <m:t>𝐶</m:t>
                    </m:r>
                    <m:d>
                      <m:dPr>
                        <m:ctrlPr>
                          <a:rPr lang="en-US" sz="2000" i="1" dirty="0">
                            <a:solidFill>
                              <a:schemeClr val="accent6"/>
                            </a:solidFill>
                            <a:latin typeface="Cambria Math" panose="02040503050406030204" pitchFamily="18" charset="0"/>
                          </a:rPr>
                        </m:ctrlPr>
                      </m:dPr>
                      <m:e>
                        <m:r>
                          <a:rPr lang="en-US" sz="2000" i="1" dirty="0">
                            <a:solidFill>
                              <a:schemeClr val="accent6"/>
                            </a:solidFill>
                            <a:latin typeface="Cambria Math" panose="02040503050406030204" pitchFamily="18" charset="0"/>
                          </a:rPr>
                          <m:t>𝜎</m:t>
                        </m:r>
                      </m:e>
                    </m:d>
                    <m:r>
                      <a:rPr lang="en-US" sz="2000" i="1" dirty="0">
                        <a:solidFill>
                          <a:schemeClr val="accent6"/>
                        </a:solidFill>
                        <a:latin typeface="Cambria Math" panose="02040503050406030204" pitchFamily="18" charset="0"/>
                      </a:rPr>
                      <m:t>–</m:t>
                    </m:r>
                    <m:f>
                      <m:fPr>
                        <m:ctrlPr>
                          <a:rPr lang="es-AR" sz="2000" i="1" dirty="0">
                            <a:solidFill>
                              <a:schemeClr val="accent6"/>
                            </a:solidFill>
                            <a:latin typeface="Cambria Math" panose="02040503050406030204" pitchFamily="18" charset="0"/>
                          </a:rPr>
                        </m:ctrlPr>
                      </m:fPr>
                      <m:num>
                        <m:sSub>
                          <m:sSubPr>
                            <m:ctrlPr>
                              <a:rPr lang="es-AR" sz="2000" i="1" dirty="0">
                                <a:solidFill>
                                  <a:schemeClr val="accent6"/>
                                </a:solidFill>
                                <a:latin typeface="Cambria Math" panose="02040503050406030204" pitchFamily="18" charset="0"/>
                              </a:rPr>
                            </m:ctrlPr>
                          </m:sSubPr>
                          <m:e>
                            <m:r>
                              <a:rPr lang="es-AR" sz="2000" i="1" dirty="0">
                                <a:solidFill>
                                  <a:schemeClr val="accent6"/>
                                </a:solidFill>
                                <a:latin typeface="Cambria Math" panose="02040503050406030204" pitchFamily="18" charset="0"/>
                              </a:rPr>
                              <m:t>(</m:t>
                            </m:r>
                            <m:r>
                              <a:rPr lang="en-US" sz="2000" i="1" dirty="0">
                                <a:solidFill>
                                  <a:schemeClr val="accent6"/>
                                </a:solidFill>
                                <a:latin typeface="Cambria Math" panose="02040503050406030204" pitchFamily="18" charset="0"/>
                              </a:rPr>
                              <m:t>𝐶</m:t>
                            </m:r>
                          </m:e>
                          <m:sub>
                            <m:r>
                              <a:rPr lang="es-AR" sz="2000" i="1" dirty="0">
                                <a:solidFill>
                                  <a:schemeClr val="accent6"/>
                                </a:solidFill>
                                <a:latin typeface="Cambria Math" panose="02040503050406030204" pitchFamily="18" charset="0"/>
                              </a:rPr>
                              <m:t>𝐵</m:t>
                            </m:r>
                          </m:sub>
                        </m:sSub>
                        <m:r>
                          <a:rPr lang="es-AR" sz="2000" i="1" dirty="0">
                            <a:solidFill>
                              <a:schemeClr val="accent6"/>
                            </a:solidFill>
                            <a:latin typeface="Cambria Math" panose="02040503050406030204" pitchFamily="18" charset="0"/>
                          </a:rPr>
                          <m:t>+</m:t>
                        </m:r>
                        <m:sSub>
                          <m:sSubPr>
                            <m:ctrlPr>
                              <a:rPr lang="es-AR" sz="2000" i="1" dirty="0">
                                <a:solidFill>
                                  <a:schemeClr val="accent6"/>
                                </a:solidFill>
                                <a:latin typeface="Cambria Math" panose="02040503050406030204" pitchFamily="18" charset="0"/>
                              </a:rPr>
                            </m:ctrlPr>
                          </m:sSubPr>
                          <m:e>
                            <m:r>
                              <a:rPr lang="es-AR" sz="2000" i="1" dirty="0">
                                <a:solidFill>
                                  <a:schemeClr val="accent6"/>
                                </a:solidFill>
                                <a:latin typeface="Cambria Math" panose="02040503050406030204" pitchFamily="18" charset="0"/>
                              </a:rPr>
                              <m:t>𝐶</m:t>
                            </m:r>
                          </m:e>
                          <m:sub>
                            <m:r>
                              <a:rPr lang="es-AR" sz="2000" i="1" dirty="0">
                                <a:solidFill>
                                  <a:schemeClr val="accent6"/>
                                </a:solidFill>
                                <a:latin typeface="Cambria Math" panose="02040503050406030204" pitchFamily="18" charset="0"/>
                              </a:rPr>
                              <m:t>𝐴</m:t>
                            </m:r>
                          </m:sub>
                        </m:sSub>
                        <m:r>
                          <a:rPr lang="es-AR" sz="2000" i="1" dirty="0">
                            <a:solidFill>
                              <a:schemeClr val="accent6"/>
                            </a:solidFill>
                            <a:latin typeface="Cambria Math" panose="02040503050406030204" pitchFamily="18" charset="0"/>
                          </a:rPr>
                          <m:t>)</m:t>
                        </m:r>
                      </m:num>
                      <m:den>
                        <m:r>
                          <a:rPr lang="es-AR" sz="2000" i="1" dirty="0">
                            <a:solidFill>
                              <a:schemeClr val="accent6"/>
                            </a:solidFill>
                            <a:latin typeface="Cambria Math" panose="02040503050406030204" pitchFamily="18" charset="0"/>
                          </a:rPr>
                          <m:t>2</m:t>
                        </m:r>
                      </m:den>
                    </m:f>
                    <m:r>
                      <a:rPr lang="en-US" sz="2000" i="1" dirty="0">
                        <a:solidFill>
                          <a:schemeClr val="accent6"/>
                        </a:solidFill>
                        <a:latin typeface="Cambria Math" panose="02040503050406030204" pitchFamily="18" charset="0"/>
                      </a:rPr>
                      <m:t>= 0</m:t>
                    </m:r>
                  </m:oMath>
                </a14:m>
                <a:endParaRPr lang="es-AR" sz="2000" dirty="0">
                  <a:solidFill>
                    <a:schemeClr val="accent6"/>
                  </a:solidFill>
                  <a:latin typeface="SourceSansPro"/>
                </a:endParaRPr>
              </a:p>
              <a:p>
                <a:pPr marL="1200150" lvl="2" indent="-285750">
                  <a:buFont typeface="Arial" panose="020B0604020202020204" pitchFamily="34" charset="0"/>
                  <a:buChar char="•"/>
                </a:pPr>
                <a:r>
                  <a:rPr lang="en-US" sz="2000" i="1" dirty="0">
                    <a:solidFill>
                      <a:srgbClr val="111111"/>
                    </a:solidFill>
                    <a:latin typeface="SourceSansPro"/>
                  </a:rPr>
                  <a:t>Good old </a:t>
                </a:r>
                <a:r>
                  <a:rPr lang="en-US" sz="2000" dirty="0">
                    <a:solidFill>
                      <a:srgbClr val="111111"/>
                    </a:solidFill>
                    <a:latin typeface="SourceSansPro"/>
                  </a:rPr>
                  <a:t>Bisection</a:t>
                </a:r>
              </a:p>
              <a:p>
                <a:pPr lvl="2"/>
                <a:r>
                  <a:rPr lang="en-US" sz="2000" dirty="0">
                    <a:solidFill>
                      <a:srgbClr val="00B050"/>
                    </a:solidFill>
                    <a:latin typeface="SourceSansPro"/>
                  </a:rPr>
                  <a:t>PROS: simple to implement, no </a:t>
                </a:r>
                <a:r>
                  <a:rPr lang="en-US" sz="2000" i="1" dirty="0" err="1">
                    <a:solidFill>
                      <a:srgbClr val="00B050"/>
                    </a:solidFill>
                    <a:latin typeface="SourceSansPro"/>
                  </a:rPr>
                  <a:t>vega</a:t>
                </a:r>
                <a:r>
                  <a:rPr lang="en-US" sz="2000" dirty="0">
                    <a:solidFill>
                      <a:srgbClr val="00B050"/>
                    </a:solidFill>
                    <a:latin typeface="SourceSansPro"/>
                  </a:rPr>
                  <a:t> needed</a:t>
                </a:r>
              </a:p>
              <a:p>
                <a:pPr lvl="2"/>
                <a:r>
                  <a:rPr lang="en-US" sz="2000" dirty="0">
                    <a:solidFill>
                      <a:srgbClr val="FF0000"/>
                    </a:solidFill>
                    <a:latin typeface="SourceSansPro"/>
                  </a:rPr>
                  <a:t>CONS: slow and need </a:t>
                </a:r>
                <a:r>
                  <a:rPr lang="en-US" sz="2000" i="1" dirty="0">
                    <a:solidFill>
                      <a:srgbClr val="FF0000"/>
                    </a:solidFill>
                    <a:latin typeface="SourceSansPro"/>
                  </a:rPr>
                  <a:t>bound for sign change</a:t>
                </a:r>
              </a:p>
              <a:p>
                <a:pPr marL="1200150" lvl="2" indent="-285750">
                  <a:buFont typeface="Arial" panose="020B0604020202020204" pitchFamily="34" charset="0"/>
                  <a:buChar char="•"/>
                </a:pPr>
                <a:endParaRPr lang="en-US" sz="2000" dirty="0">
                  <a:solidFill>
                    <a:srgbClr val="111111"/>
                  </a:solidFill>
                  <a:latin typeface="SourceSansPro"/>
                </a:endParaRPr>
              </a:p>
              <a:p>
                <a:pPr marL="1200150" lvl="2" indent="-285750">
                  <a:buFont typeface="Arial" panose="020B0604020202020204" pitchFamily="34" charset="0"/>
                  <a:buChar char="•"/>
                </a:pPr>
                <a:r>
                  <a:rPr lang="en-US" sz="2000" dirty="0">
                    <a:solidFill>
                      <a:srgbClr val="111111"/>
                    </a:solidFill>
                    <a:latin typeface="SourceSansPro"/>
                  </a:rPr>
                  <a:t>Newton-Raphson                                                      with f=price and f’=</a:t>
                </a:r>
                <a:r>
                  <a:rPr lang="en-US" sz="2000" dirty="0" err="1">
                    <a:solidFill>
                      <a:srgbClr val="111111"/>
                    </a:solidFill>
                    <a:latin typeface="SourceSansPro"/>
                  </a:rPr>
                  <a:t>vega</a:t>
                </a:r>
                <a:endParaRPr lang="en-US" sz="2000" dirty="0">
                  <a:solidFill>
                    <a:srgbClr val="111111"/>
                  </a:solidFill>
                  <a:latin typeface="SourceSansPro"/>
                </a:endParaRPr>
              </a:p>
              <a:p>
                <a:pPr marL="1200150" lvl="2" indent="-285750">
                  <a:buFont typeface="Arial" panose="020B0604020202020204" pitchFamily="34" charset="0"/>
                  <a:buChar char="•"/>
                </a:pPr>
                <a:endParaRPr lang="en-US" sz="2000" dirty="0">
                  <a:solidFill>
                    <a:srgbClr val="111111"/>
                  </a:solidFill>
                  <a:latin typeface="SourceSansPro"/>
                </a:endParaRPr>
              </a:p>
              <a:p>
                <a:pPr lvl="2"/>
                <a:r>
                  <a:rPr lang="en-US" sz="2000" dirty="0">
                    <a:solidFill>
                      <a:srgbClr val="00B050"/>
                    </a:solidFill>
                    <a:latin typeface="SourceSansPro"/>
                  </a:rPr>
                  <a:t>PROS: fast, elegant</a:t>
                </a:r>
              </a:p>
              <a:p>
                <a:pPr lvl="2"/>
                <a:r>
                  <a:rPr lang="en-US" sz="2000" dirty="0">
                    <a:solidFill>
                      <a:srgbClr val="FF0000"/>
                    </a:solidFill>
                    <a:latin typeface="SourceSansPro"/>
                  </a:rPr>
                  <a:t>CONS: need </a:t>
                </a:r>
                <a:r>
                  <a:rPr lang="en-US" sz="2000" i="1" dirty="0" err="1">
                    <a:solidFill>
                      <a:srgbClr val="FF0000"/>
                    </a:solidFill>
                    <a:latin typeface="SourceSansPro"/>
                  </a:rPr>
                  <a:t>vega</a:t>
                </a:r>
                <a:r>
                  <a:rPr lang="en-US" sz="2000" dirty="0">
                    <a:solidFill>
                      <a:srgbClr val="FF0000"/>
                    </a:solidFill>
                    <a:latin typeface="SourceSansPro"/>
                  </a:rPr>
                  <a:t>, need convexity</a:t>
                </a:r>
              </a:p>
              <a:p>
                <a:pPr marL="1257300" lvl="2" indent="-342900">
                  <a:buFont typeface="Arial" panose="020B0604020202020204" pitchFamily="34" charset="0"/>
                  <a:buChar char="•"/>
                </a:pPr>
                <a:r>
                  <a:rPr lang="en-US" sz="2000" dirty="0">
                    <a:latin typeface="SourceSansPro"/>
                  </a:rPr>
                  <a:t>OTHERS…</a:t>
                </a:r>
              </a:p>
            </p:txBody>
          </p:sp>
        </mc:Choice>
        <mc:Fallback>
          <p:sp>
            <p:nvSpPr>
              <p:cNvPr id="34" name="Rectangle 33">
                <a:extLst>
                  <a:ext uri="{FF2B5EF4-FFF2-40B4-BE49-F238E27FC236}">
                    <a16:creationId xmlns:a16="http://schemas.microsoft.com/office/drawing/2014/main" id="{776C13FC-43A1-4FB7-B229-11FCF3EE0B01}"/>
                  </a:ext>
                </a:extLst>
              </p:cNvPr>
              <p:cNvSpPr>
                <a:spLocks noRot="1" noChangeAspect="1" noMove="1" noResize="1" noEditPoints="1" noAdjustHandles="1" noChangeArrowheads="1" noChangeShapeType="1" noTextEdit="1"/>
              </p:cNvSpPr>
              <p:nvPr/>
            </p:nvSpPr>
            <p:spPr>
              <a:xfrm>
                <a:off x="366898" y="3169568"/>
                <a:ext cx="9927380" cy="3311291"/>
              </a:xfrm>
              <a:prstGeom prst="rect">
                <a:avLst/>
              </a:prstGeom>
              <a:blipFill>
                <a:blip r:embed="rId5"/>
                <a:stretch>
                  <a:fillRect l="-552" b="-2394"/>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9853C895-7CA1-47AA-B3F2-3F53C1776F69}"/>
              </a:ext>
            </a:extLst>
          </p:cNvPr>
          <p:cNvPicPr>
            <a:picLocks noChangeAspect="1"/>
          </p:cNvPicPr>
          <p:nvPr/>
        </p:nvPicPr>
        <p:blipFill>
          <a:blip r:embed="rId6"/>
          <a:stretch>
            <a:fillRect/>
          </a:stretch>
        </p:blipFill>
        <p:spPr>
          <a:xfrm>
            <a:off x="8960551" y="3090131"/>
            <a:ext cx="2864551" cy="3334336"/>
          </a:xfrm>
          <a:prstGeom prst="rect">
            <a:avLst/>
          </a:prstGeom>
        </p:spPr>
      </p:pic>
      <p:pic>
        <p:nvPicPr>
          <p:cNvPr id="9" name="Graphic 8">
            <a:extLst>
              <a:ext uri="{FF2B5EF4-FFF2-40B4-BE49-F238E27FC236}">
                <a16:creationId xmlns:a16="http://schemas.microsoft.com/office/drawing/2014/main" id="{2A5C5C91-4D7B-4C43-9F2E-EC577444974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609188" y="4690598"/>
            <a:ext cx="2864550" cy="900947"/>
          </a:xfrm>
          <a:prstGeom prst="rect">
            <a:avLst/>
          </a:prstGeom>
        </p:spPr>
      </p:pic>
      <p:cxnSp>
        <p:nvCxnSpPr>
          <p:cNvPr id="12" name="Straight Arrow Connector 11">
            <a:extLst>
              <a:ext uri="{FF2B5EF4-FFF2-40B4-BE49-F238E27FC236}">
                <a16:creationId xmlns:a16="http://schemas.microsoft.com/office/drawing/2014/main" id="{1D539EAE-CE81-4B14-BAF8-D8D2E80935CB}"/>
              </a:ext>
            </a:extLst>
          </p:cNvPr>
          <p:cNvCxnSpPr/>
          <p:nvPr/>
        </p:nvCxnSpPr>
        <p:spPr>
          <a:xfrm>
            <a:off x="3986925" y="3821115"/>
            <a:ext cx="5183351" cy="109057"/>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824231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anim calcmode="lin" valueType="num">
                                      <p:cBhvr>
                                        <p:cTn id="15" dur="500" fill="hold"/>
                                        <p:tgtEl>
                                          <p:spTgt spid="30"/>
                                        </p:tgtEl>
                                        <p:attrNameLst>
                                          <p:attrName>ppt_w</p:attrName>
                                        </p:attrNameLst>
                                      </p:cBhvr>
                                      <p:tavLst>
                                        <p:tav tm="0">
                                          <p:val>
                                            <p:fltVal val="0"/>
                                          </p:val>
                                        </p:tav>
                                        <p:tav tm="100000">
                                          <p:val>
                                            <p:strVal val="#ppt_w"/>
                                          </p:val>
                                        </p:tav>
                                      </p:tavLst>
                                    </p:anim>
                                    <p:anim calcmode="lin" valueType="num">
                                      <p:cBhvr>
                                        <p:cTn id="16" dur="500" fill="hold"/>
                                        <p:tgtEl>
                                          <p:spTgt spid="30"/>
                                        </p:tgtEl>
                                        <p:attrNameLst>
                                          <p:attrName>ppt_h</p:attrName>
                                        </p:attrNameLst>
                                      </p:cBhvr>
                                      <p:tavLst>
                                        <p:tav tm="0">
                                          <p:val>
                                            <p:fltVal val="0"/>
                                          </p:val>
                                        </p:tav>
                                        <p:tav tm="100000">
                                          <p:val>
                                            <p:strVal val="#ppt_h"/>
                                          </p:val>
                                        </p:tav>
                                      </p:tavLst>
                                    </p:anim>
                                    <p:animEffect transition="in" filter="fade">
                                      <p:cBhvr>
                                        <p:cTn id="17" dur="500"/>
                                        <p:tgtEl>
                                          <p:spTgt spid="30"/>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par>
                                <p:cTn id="23" presetID="53" presetClass="entr" presetSubtype="16"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 calcmode="lin" valueType="num">
                                      <p:cBhvr>
                                        <p:cTn id="25" dur="500" fill="hold"/>
                                        <p:tgtEl>
                                          <p:spTgt spid="28"/>
                                        </p:tgtEl>
                                        <p:attrNameLst>
                                          <p:attrName>ppt_w</p:attrName>
                                        </p:attrNameLst>
                                      </p:cBhvr>
                                      <p:tavLst>
                                        <p:tav tm="0">
                                          <p:val>
                                            <p:fltVal val="0"/>
                                          </p:val>
                                        </p:tav>
                                        <p:tav tm="100000">
                                          <p:val>
                                            <p:strVal val="#ppt_w"/>
                                          </p:val>
                                        </p:tav>
                                      </p:tavLst>
                                    </p:anim>
                                    <p:anim calcmode="lin" valueType="num">
                                      <p:cBhvr>
                                        <p:cTn id="26" dur="500" fill="hold"/>
                                        <p:tgtEl>
                                          <p:spTgt spid="28"/>
                                        </p:tgtEl>
                                        <p:attrNameLst>
                                          <p:attrName>ppt_h</p:attrName>
                                        </p:attrNameLst>
                                      </p:cBhvr>
                                      <p:tavLst>
                                        <p:tav tm="0">
                                          <p:val>
                                            <p:fltVal val="0"/>
                                          </p:val>
                                        </p:tav>
                                        <p:tav tm="100000">
                                          <p:val>
                                            <p:strVal val="#ppt_h"/>
                                          </p:val>
                                        </p:tav>
                                      </p:tavLst>
                                    </p:anim>
                                    <p:animEffect transition="in" filter="fade">
                                      <p:cBhvr>
                                        <p:cTn id="27" dur="500"/>
                                        <p:tgtEl>
                                          <p:spTgt spid="28"/>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31"/>
                                        </p:tgtEl>
                                        <p:attrNameLst>
                                          <p:attrName>style.visibility</p:attrName>
                                        </p:attrNameLst>
                                      </p:cBhvr>
                                      <p:to>
                                        <p:strVal val="visible"/>
                                      </p:to>
                                    </p:set>
                                    <p:anim calcmode="lin" valueType="num">
                                      <p:cBhvr>
                                        <p:cTn id="30" dur="500" fill="hold"/>
                                        <p:tgtEl>
                                          <p:spTgt spid="31"/>
                                        </p:tgtEl>
                                        <p:attrNameLst>
                                          <p:attrName>ppt_w</p:attrName>
                                        </p:attrNameLst>
                                      </p:cBhvr>
                                      <p:tavLst>
                                        <p:tav tm="0">
                                          <p:val>
                                            <p:fltVal val="0"/>
                                          </p:val>
                                        </p:tav>
                                        <p:tav tm="100000">
                                          <p:val>
                                            <p:strVal val="#ppt_w"/>
                                          </p:val>
                                        </p:tav>
                                      </p:tavLst>
                                    </p:anim>
                                    <p:anim calcmode="lin" valueType="num">
                                      <p:cBhvr>
                                        <p:cTn id="31" dur="500" fill="hold"/>
                                        <p:tgtEl>
                                          <p:spTgt spid="31"/>
                                        </p:tgtEl>
                                        <p:attrNameLst>
                                          <p:attrName>ppt_h</p:attrName>
                                        </p:attrNameLst>
                                      </p:cBhvr>
                                      <p:tavLst>
                                        <p:tav tm="0">
                                          <p:val>
                                            <p:fltVal val="0"/>
                                          </p:val>
                                        </p:tav>
                                        <p:tav tm="100000">
                                          <p:val>
                                            <p:strVal val="#ppt_h"/>
                                          </p:val>
                                        </p:tav>
                                      </p:tavLst>
                                    </p:anim>
                                    <p:animEffect transition="in" filter="fade">
                                      <p:cBhvr>
                                        <p:cTn id="32" dur="500"/>
                                        <p:tgtEl>
                                          <p:spTgt spid="31"/>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4">
                                            <p:txEl>
                                              <p:pRg st="0" end="0"/>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4">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6"/>
                                        </p:tgtEl>
                                        <p:attrNameLst>
                                          <p:attrName>style.visibility</p:attrName>
                                        </p:attrNameLst>
                                      </p:cBhvr>
                                      <p:to>
                                        <p:strVal val="visible"/>
                                      </p:to>
                                    </p:set>
                                    <p:animEffect transition="in" filter="fade">
                                      <p:cBhvr>
                                        <p:cTn id="51" dur="500"/>
                                        <p:tgtEl>
                                          <p:spTgt spid="6"/>
                                        </p:tgtEl>
                                      </p:cBhvr>
                                    </p:animEffect>
                                  </p:childTnLst>
                                </p:cTn>
                              </p:par>
                              <p:par>
                                <p:cTn id="52" presetID="10" presetClass="entr" presetSubtype="0" fill="hold" nodeType="with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500"/>
                                        <p:tgtEl>
                                          <p:spTgt spid="12"/>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4">
                                            <p:txEl>
                                              <p:pRg st="2" end="2"/>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4">
                                            <p:txEl>
                                              <p:pRg st="3" end="3"/>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34">
                                            <p:txEl>
                                              <p:pRg st="5" end="5"/>
                                            </p:txEl>
                                          </p:spTgt>
                                        </p:tgtEl>
                                        <p:attrNameLst>
                                          <p:attrName>style.visibility</p:attrName>
                                        </p:attrNameLst>
                                      </p:cBhvr>
                                      <p:to>
                                        <p:strVal val="visible"/>
                                      </p:to>
                                    </p:set>
                                    <p:animEffect transition="in" filter="fade">
                                      <p:cBhvr>
                                        <p:cTn id="65" dur="500"/>
                                        <p:tgtEl>
                                          <p:spTgt spid="34">
                                            <p:txEl>
                                              <p:pRg st="5" end="5"/>
                                            </p:txEl>
                                          </p:spTgt>
                                        </p:tgtEl>
                                      </p:cBhvr>
                                    </p:animEffect>
                                  </p:childTnLst>
                                </p:cTn>
                              </p:par>
                              <p:par>
                                <p:cTn id="66" presetID="10" presetClass="entr" presetSubtype="0" fill="hold" nodeType="withEffect">
                                  <p:stCondLst>
                                    <p:cond delay="0"/>
                                  </p:stCondLst>
                                  <p:childTnLst>
                                    <p:set>
                                      <p:cBhvr>
                                        <p:cTn id="67" dur="1" fill="hold">
                                          <p:stCondLst>
                                            <p:cond delay="0"/>
                                          </p:stCondLst>
                                        </p:cTn>
                                        <p:tgtEl>
                                          <p:spTgt spid="9"/>
                                        </p:tgtEl>
                                        <p:attrNameLst>
                                          <p:attrName>style.visibility</p:attrName>
                                        </p:attrNameLst>
                                      </p:cBhvr>
                                      <p:to>
                                        <p:strVal val="visible"/>
                                      </p:to>
                                    </p:set>
                                    <p:animEffect transition="in" filter="fade">
                                      <p:cBhvr>
                                        <p:cTn id="68" dur="500"/>
                                        <p:tgtEl>
                                          <p:spTgt spid="9"/>
                                        </p:tgtEl>
                                      </p:cBhvr>
                                    </p:animEffec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4">
                                            <p:txEl>
                                              <p:pRg st="7" end="7"/>
                                            </p:txEl>
                                          </p:spTgt>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34">
                                            <p:txEl>
                                              <p:pRg st="8" end="8"/>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4" grpId="0" animBg="1"/>
      <p:bldP spid="28" grpId="0" animBg="1"/>
      <p:bldP spid="30" grpId="0" animBg="1"/>
      <p:bldP spid="31" grpId="0" animBg="1"/>
      <p:bldP spid="3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382962-7DA7-4001-82BD-F82D2BAF09BA}"/>
              </a:ext>
            </a:extLst>
          </p:cNvPr>
          <p:cNvSpPr>
            <a:spLocks noGrp="1"/>
          </p:cNvSpPr>
          <p:nvPr>
            <p:ph type="body" sz="quarter" idx="12"/>
          </p:nvPr>
        </p:nvSpPr>
        <p:spPr>
          <a:xfrm>
            <a:off x="441849" y="441278"/>
            <a:ext cx="8794750" cy="356527"/>
          </a:xfrm>
        </p:spPr>
        <p:txBody>
          <a:bodyPr/>
          <a:lstStyle/>
          <a:p>
            <a:r>
              <a:rPr lang="en-US" noProof="0" dirty="0"/>
              <a:t>What have I done up to now (1/4)</a:t>
            </a:r>
          </a:p>
        </p:txBody>
      </p:sp>
      <p:sp>
        <p:nvSpPr>
          <p:cNvPr id="3" name="Text Placeholder 2">
            <a:extLst>
              <a:ext uri="{FF2B5EF4-FFF2-40B4-BE49-F238E27FC236}">
                <a16:creationId xmlns:a16="http://schemas.microsoft.com/office/drawing/2014/main" id="{E3EAD1F7-A4C4-4087-B6E1-BC8AD27D999C}"/>
              </a:ext>
            </a:extLst>
          </p:cNvPr>
          <p:cNvSpPr>
            <a:spLocks noGrp="1"/>
          </p:cNvSpPr>
          <p:nvPr>
            <p:ph type="body" sz="quarter" idx="14"/>
          </p:nvPr>
        </p:nvSpPr>
        <p:spPr>
          <a:xfrm>
            <a:off x="416568" y="622119"/>
            <a:ext cx="11763890" cy="540469"/>
          </a:xfrm>
        </p:spPr>
        <p:txBody>
          <a:bodyPr/>
          <a:lstStyle/>
          <a:p>
            <a:r>
              <a:rPr lang="en-US" sz="1400" noProof="0" dirty="0">
                <a:solidFill>
                  <a:srgbClr val="000000"/>
                </a:solidFill>
                <a:highlight>
                  <a:srgbClr val="FFFFFF"/>
                </a:highlight>
                <a:latin typeface="Consolas" panose="020B0609020204030204" pitchFamily="49" charset="0"/>
                <a:ea typeface="Calibri" panose="020F0502020204030204" pitchFamily="34" charset="0"/>
              </a:rPr>
              <a:t>  </a:t>
            </a:r>
            <a:endParaRPr lang="en-US" noProof="0" dirty="0">
              <a:latin typeface="Calibri" panose="020F0502020204030204" pitchFamily="34" charset="0"/>
              <a:ea typeface="Calibri" panose="020F0502020204030204" pitchFamily="34" charset="0"/>
            </a:endParaRPr>
          </a:p>
          <a:p>
            <a:pPr lvl="0"/>
            <a:r>
              <a:rPr lang="en-US" noProof="0" dirty="0">
                <a:latin typeface="Calibri" panose="020F0502020204030204" pitchFamily="34" charset="0"/>
                <a:ea typeface="Times New Roman" panose="02020603050405020304" pitchFamily="18" charset="0"/>
                <a:cs typeface="Times New Roman" panose="02020603050405020304" pitchFamily="18" charset="0"/>
              </a:rPr>
              <a:t>Accessed database through </a:t>
            </a:r>
            <a:r>
              <a:rPr lang="en-US" noProof="0" dirty="0" err="1">
                <a:latin typeface="Calibri" panose="020F0502020204030204" pitchFamily="34" charset="0"/>
                <a:ea typeface="Times New Roman" panose="02020603050405020304" pitchFamily="18" charset="0"/>
                <a:cs typeface="Times New Roman" panose="02020603050405020304" pitchFamily="18" charset="0"/>
              </a:rPr>
              <a:t>pyhton</a:t>
            </a:r>
            <a:r>
              <a:rPr lang="en-US" noProof="0" dirty="0">
                <a:latin typeface="Calibri" panose="020F0502020204030204" pitchFamily="34" charset="0"/>
                <a:ea typeface="Times New Roman" panose="02020603050405020304" pitchFamily="18" charset="0"/>
                <a:cs typeface="Times New Roman" panose="02020603050405020304" pitchFamily="18" charset="0"/>
              </a:rPr>
              <a:t> (</a:t>
            </a:r>
            <a:r>
              <a:rPr lang="en-US" noProof="0" dirty="0" err="1">
                <a:solidFill>
                  <a:schemeClr val="accent6"/>
                </a:solidFill>
                <a:latin typeface="Calibri" panose="020F0502020204030204" pitchFamily="34" charset="0"/>
                <a:ea typeface="Times New Roman" panose="02020603050405020304" pitchFamily="18" charset="0"/>
                <a:cs typeface="Times New Roman" panose="02020603050405020304" pitchFamily="18" charset="0"/>
              </a:rPr>
              <a:t>pyodbc</a:t>
            </a:r>
            <a:r>
              <a:rPr lang="en-US" noProof="0" dirty="0">
                <a:solidFill>
                  <a:schemeClr val="accent6"/>
                </a:solidFill>
                <a:latin typeface="Calibri" panose="020F0502020204030204" pitchFamily="34" charset="0"/>
                <a:ea typeface="Times New Roman" panose="02020603050405020304" pitchFamily="18" charset="0"/>
                <a:cs typeface="Times New Roman" panose="02020603050405020304" pitchFamily="18" charset="0"/>
              </a:rPr>
              <a:t> + pandas</a:t>
            </a:r>
            <a:r>
              <a:rPr lang="en-US" noProof="0" dirty="0">
                <a:latin typeface="Calibri" panose="020F0502020204030204" pitchFamily="34" charset="0"/>
                <a:ea typeface="Times New Roman" panose="02020603050405020304" pitchFamily="18" charset="0"/>
                <a:cs typeface="Times New Roman" panose="02020603050405020304" pitchFamily="18" charset="0"/>
              </a:rPr>
              <a:t>), pull the data with a SQL query</a:t>
            </a:r>
          </a:p>
          <a:p>
            <a:pPr lvl="0"/>
            <a:endParaRPr lang="en-US" noProof="0" dirty="0">
              <a:latin typeface="Calibri" panose="020F0502020204030204" pitchFamily="34" charset="0"/>
              <a:ea typeface="Calibri" panose="020F0502020204030204" pitchFamily="34" charset="0"/>
            </a:endParaRPr>
          </a:p>
          <a:p>
            <a:r>
              <a:rPr lang="en-US" noProof="0" dirty="0">
                <a:latin typeface="Calibri" panose="020F0502020204030204" pitchFamily="34" charset="0"/>
                <a:ea typeface="Calibri" panose="020F0502020204030204" pitchFamily="34" charset="0"/>
              </a:rPr>
              <a:t> </a:t>
            </a:r>
          </a:p>
          <a:p>
            <a:r>
              <a:rPr lang="en-US" sz="1400" noProof="0" dirty="0">
                <a:solidFill>
                  <a:srgbClr val="000000"/>
                </a:solidFill>
                <a:highlight>
                  <a:srgbClr val="FFFFFF"/>
                </a:highlight>
                <a:latin typeface="Consolas" panose="020B0609020204030204" pitchFamily="49" charset="0"/>
                <a:ea typeface="Calibri" panose="020F0502020204030204" pitchFamily="34" charset="0"/>
              </a:rPr>
              <a:t> </a:t>
            </a:r>
            <a:endParaRPr lang="en-US" noProof="0" dirty="0">
              <a:latin typeface="Calibri" panose="020F0502020204030204" pitchFamily="34" charset="0"/>
              <a:ea typeface="Calibri" panose="020F0502020204030204" pitchFamily="34" charset="0"/>
            </a:endParaRPr>
          </a:p>
          <a:p>
            <a:r>
              <a:rPr lang="en-US" sz="1400" noProof="0" dirty="0">
                <a:solidFill>
                  <a:srgbClr val="000000"/>
                </a:solidFill>
                <a:highlight>
                  <a:srgbClr val="FFFFFF"/>
                </a:highlight>
                <a:latin typeface="Consolas" panose="020B0609020204030204" pitchFamily="49" charset="0"/>
                <a:ea typeface="Calibri" panose="020F0502020204030204" pitchFamily="34" charset="0"/>
              </a:rPr>
              <a:t> </a:t>
            </a:r>
            <a:endParaRPr lang="en-US" noProof="0" dirty="0">
              <a:latin typeface="Calibri" panose="020F0502020204030204" pitchFamily="34" charset="0"/>
              <a:ea typeface="Calibri" panose="020F0502020204030204" pitchFamily="34" charset="0"/>
            </a:endParaRPr>
          </a:p>
          <a:p>
            <a:endParaRPr lang="en-US" noProof="0" dirty="0"/>
          </a:p>
        </p:txBody>
      </p:sp>
      <p:pic>
        <p:nvPicPr>
          <p:cNvPr id="8" name="Picture 7">
            <a:extLst>
              <a:ext uri="{FF2B5EF4-FFF2-40B4-BE49-F238E27FC236}">
                <a16:creationId xmlns:a16="http://schemas.microsoft.com/office/drawing/2014/main" id="{24E774E4-2F88-4ACA-B3C7-2F206A3B9658}"/>
              </a:ext>
            </a:extLst>
          </p:cNvPr>
          <p:cNvPicPr>
            <a:picLocks noChangeAspect="1"/>
          </p:cNvPicPr>
          <p:nvPr/>
        </p:nvPicPr>
        <p:blipFill>
          <a:blip r:embed="rId2"/>
          <a:stretch>
            <a:fillRect/>
          </a:stretch>
        </p:blipFill>
        <p:spPr>
          <a:xfrm>
            <a:off x="2502386" y="1174576"/>
            <a:ext cx="5540783" cy="1967796"/>
          </a:xfrm>
          <a:prstGeom prst="rect">
            <a:avLst/>
          </a:prstGeom>
        </p:spPr>
      </p:pic>
      <p:sp>
        <p:nvSpPr>
          <p:cNvPr id="9" name="Rectangle 8">
            <a:extLst>
              <a:ext uri="{FF2B5EF4-FFF2-40B4-BE49-F238E27FC236}">
                <a16:creationId xmlns:a16="http://schemas.microsoft.com/office/drawing/2014/main" id="{495AC339-ACCB-48D3-9918-96599B0FA68D}"/>
              </a:ext>
            </a:extLst>
          </p:cNvPr>
          <p:cNvSpPr/>
          <p:nvPr/>
        </p:nvSpPr>
        <p:spPr>
          <a:xfrm>
            <a:off x="291986" y="3223801"/>
            <a:ext cx="11488681" cy="646331"/>
          </a:xfrm>
          <a:prstGeom prst="rect">
            <a:avLst/>
          </a:prstGeom>
        </p:spPr>
        <p:txBody>
          <a:bodyPr wrap="square">
            <a:spAutoFit/>
          </a:bodyPr>
          <a:lstStyle/>
          <a:p>
            <a:r>
              <a:rPr lang="en-US" dirty="0">
                <a:latin typeface="Calibri" panose="020F0502020204030204" pitchFamily="34" charset="0"/>
                <a:ea typeface="Times New Roman" panose="02020603050405020304" pitchFamily="18" charset="0"/>
                <a:cs typeface="Times New Roman" panose="02020603050405020304" pitchFamily="18" charset="0"/>
              </a:rPr>
              <a:t>Cleaned the </a:t>
            </a:r>
            <a:r>
              <a:rPr lang="en-US" dirty="0" err="1">
                <a:latin typeface="Calibri" panose="020F0502020204030204" pitchFamily="34" charset="0"/>
                <a:ea typeface="Times New Roman" panose="02020603050405020304" pitchFamily="18" charset="0"/>
                <a:cs typeface="Times New Roman" panose="02020603050405020304" pitchFamily="18" charset="0"/>
              </a:rPr>
              <a:t>dataframe</a:t>
            </a:r>
            <a:r>
              <a:rPr lang="en-US" dirty="0">
                <a:latin typeface="Calibri" panose="020F0502020204030204" pitchFamily="34" charset="0"/>
                <a:ea typeface="Times New Roman" panose="02020603050405020304" pitchFamily="18" charset="0"/>
                <a:cs typeface="Times New Roman" panose="02020603050405020304" pitchFamily="18" charset="0"/>
              </a:rPr>
              <a:t> (database has some “-99.9999” elements) and Retrieve relevant info from raw data option table: Spot, </a:t>
            </a:r>
            <a:r>
              <a:rPr lang="en-US" dirty="0">
                <a:latin typeface="Calibri" panose="020F0502020204030204" pitchFamily="34" charset="0"/>
                <a:ea typeface="Calibri" panose="020F0502020204030204" pitchFamily="34" charset="0"/>
              </a:rPr>
              <a:t>Strike, TTM, </a:t>
            </a:r>
            <a:r>
              <a:rPr lang="en-US" dirty="0" err="1">
                <a:latin typeface="Calibri" panose="020F0502020204030204" pitchFamily="34" charset="0"/>
                <a:ea typeface="Calibri" panose="020F0502020204030204" pitchFamily="34" charset="0"/>
              </a:rPr>
              <a:t>CallPut</a:t>
            </a:r>
            <a:r>
              <a:rPr lang="en-US" dirty="0">
                <a:latin typeface="Calibri" panose="020F0502020204030204" pitchFamily="34" charset="0"/>
                <a:ea typeface="Calibri" panose="020F0502020204030204" pitchFamily="34" charset="0"/>
              </a:rPr>
              <a:t>, Bid, Ask, </a:t>
            </a:r>
            <a:r>
              <a:rPr lang="en-US" dirty="0" err="1">
                <a:latin typeface="Calibri" panose="020F0502020204030204" pitchFamily="34" charset="0"/>
                <a:ea typeface="Calibri" panose="020F0502020204030204" pitchFamily="34" charset="0"/>
              </a:rPr>
              <a:t>ivol</a:t>
            </a:r>
            <a:r>
              <a:rPr lang="en-US" dirty="0">
                <a:latin typeface="Calibri" panose="020F0502020204030204" pitchFamily="34" charset="0"/>
                <a:ea typeface="Calibri" panose="020F0502020204030204" pitchFamily="34" charset="0"/>
              </a:rPr>
              <a:t> (for comparison reasons)</a:t>
            </a:r>
            <a:endParaRPr lang="en-US" dirty="0"/>
          </a:p>
        </p:txBody>
      </p:sp>
      <p:pic>
        <p:nvPicPr>
          <p:cNvPr id="5" name="Picture 4">
            <a:extLst>
              <a:ext uri="{FF2B5EF4-FFF2-40B4-BE49-F238E27FC236}">
                <a16:creationId xmlns:a16="http://schemas.microsoft.com/office/drawing/2014/main" id="{3D6C17C9-6567-4F42-9C9A-32E027AFB54A}"/>
              </a:ext>
            </a:extLst>
          </p:cNvPr>
          <p:cNvPicPr>
            <a:picLocks noChangeAspect="1"/>
          </p:cNvPicPr>
          <p:nvPr/>
        </p:nvPicPr>
        <p:blipFill>
          <a:blip r:embed="rId3"/>
          <a:stretch>
            <a:fillRect/>
          </a:stretch>
        </p:blipFill>
        <p:spPr>
          <a:xfrm>
            <a:off x="2694469" y="4025522"/>
            <a:ext cx="5435786" cy="2356126"/>
          </a:xfrm>
          <a:prstGeom prst="rect">
            <a:avLst/>
          </a:prstGeom>
        </p:spPr>
      </p:pic>
    </p:spTree>
    <p:extLst>
      <p:ext uri="{BB962C8B-B14F-4D97-AF65-F5344CB8AC3E}">
        <p14:creationId xmlns:p14="http://schemas.microsoft.com/office/powerpoint/2010/main" val="2758840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382962-7DA7-4001-82BD-F82D2BAF09BA}"/>
              </a:ext>
            </a:extLst>
          </p:cNvPr>
          <p:cNvSpPr>
            <a:spLocks noGrp="1"/>
          </p:cNvSpPr>
          <p:nvPr>
            <p:ph type="body" sz="quarter" idx="12"/>
          </p:nvPr>
        </p:nvSpPr>
        <p:spPr>
          <a:xfrm>
            <a:off x="441849" y="441278"/>
            <a:ext cx="8794750" cy="356527"/>
          </a:xfrm>
        </p:spPr>
        <p:txBody>
          <a:bodyPr/>
          <a:lstStyle/>
          <a:p>
            <a:r>
              <a:rPr lang="en-US" noProof="0" dirty="0"/>
              <a:t>What have I done up to now (2/4)</a:t>
            </a:r>
          </a:p>
        </p:txBody>
      </p:sp>
      <p:sp>
        <p:nvSpPr>
          <p:cNvPr id="3" name="Text Placeholder 2">
            <a:extLst>
              <a:ext uri="{FF2B5EF4-FFF2-40B4-BE49-F238E27FC236}">
                <a16:creationId xmlns:a16="http://schemas.microsoft.com/office/drawing/2014/main" id="{E3EAD1F7-A4C4-4087-B6E1-BC8AD27D999C}"/>
              </a:ext>
            </a:extLst>
          </p:cNvPr>
          <p:cNvSpPr>
            <a:spLocks noGrp="1"/>
          </p:cNvSpPr>
          <p:nvPr>
            <p:ph type="body" sz="quarter" idx="14"/>
          </p:nvPr>
        </p:nvSpPr>
        <p:spPr>
          <a:xfrm>
            <a:off x="416568" y="797805"/>
            <a:ext cx="11763890" cy="3203744"/>
          </a:xfrm>
        </p:spPr>
        <p:txBody>
          <a:bodyPr/>
          <a:lstStyle/>
          <a:p>
            <a:pPr marL="342900" indent="-342900">
              <a:buFont typeface="+mj-lt"/>
              <a:buAutoNum type="arabicPeriod"/>
            </a:pPr>
            <a:r>
              <a:rPr lang="en-US" sz="1600" noProof="0" dirty="0">
                <a:solidFill>
                  <a:schemeClr val="accent6"/>
                </a:solidFill>
                <a:latin typeface="Consolas" panose="020B0609020204030204" pitchFamily="49" charset="0"/>
                <a:ea typeface="Calibri" panose="020F0502020204030204" pitchFamily="34" charset="0"/>
              </a:rPr>
              <a:t>DATABASE METHODS</a:t>
            </a:r>
            <a:r>
              <a:rPr lang="en-US" sz="1600" noProof="0" dirty="0">
                <a:solidFill>
                  <a:srgbClr val="000000"/>
                </a:solidFill>
                <a:highlight>
                  <a:srgbClr val="FFFFFF"/>
                </a:highlight>
                <a:latin typeface="Consolas" panose="020B0609020204030204" pitchFamily="49" charset="0"/>
                <a:ea typeface="Calibri" panose="020F0502020204030204" pitchFamily="34" charset="0"/>
              </a:rPr>
              <a:t> </a:t>
            </a:r>
          </a:p>
          <a:p>
            <a:pPr marL="914400" lvl="1" indent="-342900">
              <a:buFont typeface="+mj-lt"/>
              <a:buAutoNum type="arabicPeriod"/>
            </a:pPr>
            <a:r>
              <a:rPr lang="en-US" noProof="0" dirty="0" err="1">
                <a:latin typeface="Calibri" panose="020F0502020204030204" pitchFamily="34" charset="0"/>
                <a:ea typeface="Calibri" panose="020F0502020204030204" pitchFamily="34" charset="0"/>
              </a:rPr>
              <a:t>pull_optionprice_database</a:t>
            </a:r>
            <a:r>
              <a:rPr lang="en-US" noProof="0" dirty="0">
                <a:latin typeface="Calibri" panose="020F0502020204030204" pitchFamily="34" charset="0"/>
                <a:ea typeface="Calibri" panose="020F0502020204030204" pitchFamily="34" charset="0"/>
              </a:rPr>
              <a:t>(</a:t>
            </a:r>
            <a:r>
              <a:rPr lang="en-US" noProof="0" dirty="0" err="1">
                <a:latin typeface="Calibri" panose="020F0502020204030204" pitchFamily="34" charset="0"/>
                <a:ea typeface="Calibri" panose="020F0502020204030204" pitchFamily="34" charset="0"/>
              </a:rPr>
              <a:t>securityID</a:t>
            </a:r>
            <a:r>
              <a:rPr lang="en-US" noProof="0" dirty="0">
                <a:latin typeface="Calibri" panose="020F0502020204030204" pitchFamily="34" charset="0"/>
                <a:ea typeface="Calibri" panose="020F0502020204030204" pitchFamily="34" charset="0"/>
              </a:rPr>
              <a:t>, date)</a:t>
            </a:r>
          </a:p>
          <a:p>
            <a:pPr marL="914400" lvl="1" indent="-342900">
              <a:buFont typeface="+mj-lt"/>
              <a:buAutoNum type="arabicPeriod"/>
            </a:pPr>
            <a:r>
              <a:rPr lang="en-US" noProof="0" dirty="0" err="1">
                <a:latin typeface="Calibri" panose="020F0502020204030204" pitchFamily="34" charset="0"/>
                <a:ea typeface="Calibri" panose="020F0502020204030204" pitchFamily="34" charset="0"/>
              </a:rPr>
              <a:t>pull_ZCcurve_database</a:t>
            </a:r>
            <a:r>
              <a:rPr lang="en-US" noProof="0" dirty="0">
                <a:latin typeface="Calibri" panose="020F0502020204030204" pitchFamily="34" charset="0"/>
                <a:ea typeface="Calibri" panose="020F0502020204030204" pitchFamily="34" charset="0"/>
              </a:rPr>
              <a:t>(date)</a:t>
            </a:r>
          </a:p>
          <a:p>
            <a:pPr marL="914400" lvl="1" indent="-342900">
              <a:buFont typeface="+mj-lt"/>
              <a:buAutoNum type="arabicPeriod"/>
            </a:pPr>
            <a:r>
              <a:rPr lang="en-US" noProof="0" dirty="0" err="1">
                <a:latin typeface="Calibri" panose="020F0502020204030204" pitchFamily="34" charset="0"/>
                <a:ea typeface="Calibri" panose="020F0502020204030204" pitchFamily="34" charset="0"/>
              </a:rPr>
              <a:t>pull_volatilitysurface_database</a:t>
            </a:r>
            <a:r>
              <a:rPr lang="en-US" noProof="0" dirty="0">
                <a:latin typeface="Calibri" panose="020F0502020204030204" pitchFamily="34" charset="0"/>
                <a:ea typeface="Calibri" panose="020F0502020204030204" pitchFamily="34" charset="0"/>
              </a:rPr>
              <a:t>(</a:t>
            </a:r>
            <a:r>
              <a:rPr lang="en-US" noProof="0" dirty="0" err="1">
                <a:latin typeface="Calibri" panose="020F0502020204030204" pitchFamily="34" charset="0"/>
                <a:ea typeface="Calibri" panose="020F0502020204030204" pitchFamily="34" charset="0"/>
              </a:rPr>
              <a:t>securityID</a:t>
            </a:r>
            <a:r>
              <a:rPr lang="en-US" noProof="0" dirty="0">
                <a:latin typeface="Calibri" panose="020F0502020204030204" pitchFamily="34" charset="0"/>
                <a:ea typeface="Calibri" panose="020F0502020204030204" pitchFamily="34" charset="0"/>
              </a:rPr>
              <a:t>, date)</a:t>
            </a:r>
          </a:p>
          <a:p>
            <a:pPr marL="914400" lvl="1" indent="-342900">
              <a:buFont typeface="+mj-lt"/>
              <a:buAutoNum type="arabicPeriod"/>
            </a:pPr>
            <a:r>
              <a:rPr lang="en-US" noProof="0" dirty="0" err="1">
                <a:latin typeface="Calibri" panose="020F0502020204030204" pitchFamily="34" charset="0"/>
                <a:ea typeface="Calibri" panose="020F0502020204030204" pitchFamily="34" charset="0"/>
              </a:rPr>
              <a:t>get_securityid_from_ticker</a:t>
            </a:r>
            <a:r>
              <a:rPr lang="en-US" noProof="0" dirty="0">
                <a:latin typeface="Calibri" panose="020F0502020204030204" pitchFamily="34" charset="0"/>
                <a:ea typeface="Calibri" panose="020F0502020204030204" pitchFamily="34" charset="0"/>
              </a:rPr>
              <a:t>(ticker)</a:t>
            </a:r>
          </a:p>
          <a:p>
            <a:pPr marL="914400" lvl="1" indent="-342900">
              <a:buFont typeface="+mj-lt"/>
              <a:buAutoNum type="arabicPeriod"/>
            </a:pPr>
            <a:r>
              <a:rPr lang="en-US" noProof="0" dirty="0" err="1">
                <a:latin typeface="Calibri" panose="020F0502020204030204" pitchFamily="34" charset="0"/>
                <a:ea typeface="Calibri" panose="020F0502020204030204" pitchFamily="34" charset="0"/>
              </a:rPr>
              <a:t>get_securityid_from_CUSIP</a:t>
            </a:r>
            <a:r>
              <a:rPr lang="en-US" noProof="0" dirty="0">
                <a:latin typeface="Calibri" panose="020F0502020204030204" pitchFamily="34" charset="0"/>
                <a:ea typeface="Calibri" panose="020F0502020204030204" pitchFamily="34" charset="0"/>
              </a:rPr>
              <a:t>(</a:t>
            </a:r>
            <a:r>
              <a:rPr lang="en-US" noProof="0" dirty="0" err="1">
                <a:latin typeface="Calibri" panose="020F0502020204030204" pitchFamily="34" charset="0"/>
                <a:ea typeface="Calibri" panose="020F0502020204030204" pitchFamily="34" charset="0"/>
              </a:rPr>
              <a:t>cusip</a:t>
            </a:r>
            <a:r>
              <a:rPr lang="en-US" noProof="0" dirty="0">
                <a:latin typeface="Calibri" panose="020F0502020204030204" pitchFamily="34" charset="0"/>
                <a:ea typeface="Calibri" panose="020F0502020204030204" pitchFamily="34" charset="0"/>
              </a:rPr>
              <a:t>)</a:t>
            </a:r>
          </a:p>
          <a:p>
            <a:pPr marL="914400" lvl="1" indent="-342900">
              <a:buFont typeface="+mj-lt"/>
              <a:buAutoNum type="arabicPeriod"/>
            </a:pPr>
            <a:r>
              <a:rPr lang="en-US" noProof="0" dirty="0" err="1">
                <a:latin typeface="Calibri" panose="020F0502020204030204" pitchFamily="34" charset="0"/>
                <a:ea typeface="Calibri" panose="020F0502020204030204" pitchFamily="34" charset="0"/>
              </a:rPr>
              <a:t>get_option_info</a:t>
            </a:r>
            <a:r>
              <a:rPr lang="en-US" noProof="0" dirty="0">
                <a:latin typeface="Calibri" panose="020F0502020204030204" pitchFamily="34" charset="0"/>
                <a:ea typeface="Calibri" panose="020F0502020204030204" pitchFamily="34" charset="0"/>
              </a:rPr>
              <a:t>(</a:t>
            </a:r>
            <a:r>
              <a:rPr lang="en-US" noProof="0" dirty="0" err="1">
                <a:latin typeface="Calibri" panose="020F0502020204030204" pitchFamily="34" charset="0"/>
                <a:ea typeface="Calibri" panose="020F0502020204030204" pitchFamily="34" charset="0"/>
              </a:rPr>
              <a:t>securityID</a:t>
            </a:r>
            <a:r>
              <a:rPr lang="en-US" noProof="0" dirty="0">
                <a:latin typeface="Calibri" panose="020F0502020204030204" pitchFamily="34" charset="0"/>
                <a:ea typeface="Calibri" panose="020F0502020204030204" pitchFamily="34" charset="0"/>
              </a:rPr>
              <a:t>)</a:t>
            </a:r>
          </a:p>
          <a:p>
            <a:pPr marL="914400" lvl="1" indent="-342900">
              <a:buFont typeface="+mj-lt"/>
              <a:buAutoNum type="arabicPeriod"/>
            </a:pPr>
            <a:r>
              <a:rPr lang="en-US" noProof="0" dirty="0" err="1">
                <a:latin typeface="Calibri" panose="020F0502020204030204" pitchFamily="34" charset="0"/>
                <a:ea typeface="Calibri" panose="020F0502020204030204" pitchFamily="34" charset="0"/>
              </a:rPr>
              <a:t>get_spot_from_securityID_date</a:t>
            </a:r>
            <a:r>
              <a:rPr lang="en-US" noProof="0" dirty="0">
                <a:latin typeface="Calibri" panose="020F0502020204030204" pitchFamily="34" charset="0"/>
                <a:ea typeface="Calibri" panose="020F0502020204030204" pitchFamily="34" charset="0"/>
              </a:rPr>
              <a:t>(</a:t>
            </a:r>
            <a:r>
              <a:rPr lang="en-US" noProof="0" dirty="0" err="1">
                <a:latin typeface="Calibri" panose="020F0502020204030204" pitchFamily="34" charset="0"/>
                <a:ea typeface="Calibri" panose="020F0502020204030204" pitchFamily="34" charset="0"/>
              </a:rPr>
              <a:t>securityID,date</a:t>
            </a:r>
            <a:r>
              <a:rPr lang="en-US" noProof="0" dirty="0">
                <a:latin typeface="Calibri" panose="020F0502020204030204" pitchFamily="34" charset="0"/>
                <a:ea typeface="Calibri" panose="020F0502020204030204" pitchFamily="34" charset="0"/>
              </a:rPr>
              <a:t>)</a:t>
            </a:r>
          </a:p>
          <a:p>
            <a:pPr marL="914400" lvl="1" indent="-342900">
              <a:buFont typeface="+mj-lt"/>
              <a:buAutoNum type="arabicPeriod"/>
            </a:pPr>
            <a:r>
              <a:rPr lang="en-US" noProof="0" dirty="0" err="1">
                <a:latin typeface="Calibri" panose="020F0502020204030204" pitchFamily="34" charset="0"/>
                <a:ea typeface="Calibri" panose="020F0502020204030204" pitchFamily="34" charset="0"/>
              </a:rPr>
              <a:t>is_index</a:t>
            </a:r>
            <a:r>
              <a:rPr lang="en-US" noProof="0" dirty="0">
                <a:latin typeface="Calibri" panose="020F0502020204030204" pitchFamily="34" charset="0"/>
                <a:ea typeface="Calibri" panose="020F0502020204030204" pitchFamily="34" charset="0"/>
              </a:rPr>
              <a:t>(</a:t>
            </a:r>
            <a:r>
              <a:rPr lang="en-US" noProof="0" dirty="0" err="1">
                <a:latin typeface="Calibri" panose="020F0502020204030204" pitchFamily="34" charset="0"/>
                <a:ea typeface="Calibri" panose="020F0502020204030204" pitchFamily="34" charset="0"/>
              </a:rPr>
              <a:t>securityID</a:t>
            </a:r>
            <a:r>
              <a:rPr lang="en-US" noProof="0" dirty="0">
                <a:latin typeface="Calibri" panose="020F0502020204030204" pitchFamily="34" charset="0"/>
                <a:ea typeface="Calibri" panose="020F0502020204030204" pitchFamily="34" charset="0"/>
              </a:rPr>
              <a:t>)</a:t>
            </a:r>
          </a:p>
          <a:p>
            <a:pPr marL="914400" lvl="1" indent="-342900">
              <a:buFont typeface="+mj-lt"/>
              <a:buAutoNum type="arabicPeriod"/>
            </a:pPr>
            <a:r>
              <a:rPr lang="en-US" noProof="0" dirty="0" err="1">
                <a:latin typeface="Calibri" panose="020F0502020204030204" pitchFamily="34" charset="0"/>
                <a:ea typeface="Calibri" panose="020F0502020204030204" pitchFamily="34" charset="0"/>
              </a:rPr>
              <a:t>get_dividendyield_for_securityID_date</a:t>
            </a:r>
            <a:r>
              <a:rPr lang="en-US" noProof="0" dirty="0">
                <a:latin typeface="Calibri" panose="020F0502020204030204" pitchFamily="34" charset="0"/>
                <a:ea typeface="Calibri" panose="020F0502020204030204" pitchFamily="34" charset="0"/>
              </a:rPr>
              <a:t>(</a:t>
            </a:r>
            <a:r>
              <a:rPr lang="en-US" noProof="0" dirty="0" err="1">
                <a:latin typeface="Calibri" panose="020F0502020204030204" pitchFamily="34" charset="0"/>
                <a:ea typeface="Calibri" panose="020F0502020204030204" pitchFamily="34" charset="0"/>
              </a:rPr>
              <a:t>securityID</a:t>
            </a:r>
            <a:r>
              <a:rPr lang="en-US" noProof="0" dirty="0">
                <a:latin typeface="Calibri" panose="020F0502020204030204" pitchFamily="34" charset="0"/>
                <a:ea typeface="Calibri" panose="020F0502020204030204" pitchFamily="34" charset="0"/>
              </a:rPr>
              <a:t>, date, </a:t>
            </a:r>
            <a:r>
              <a:rPr lang="en-US" noProof="0" dirty="0" err="1">
                <a:latin typeface="Calibri" panose="020F0502020204030204" pitchFamily="34" charset="0"/>
                <a:ea typeface="Calibri" panose="020F0502020204030204" pitchFamily="34" charset="0"/>
              </a:rPr>
              <a:t>freq</a:t>
            </a:r>
            <a:r>
              <a:rPr lang="en-US" noProof="0" dirty="0">
                <a:latin typeface="Calibri" panose="020F0502020204030204" pitchFamily="34" charset="0"/>
                <a:ea typeface="Calibri" panose="020F0502020204030204" pitchFamily="34" charset="0"/>
              </a:rPr>
              <a:t> = 4</a:t>
            </a:r>
          </a:p>
          <a:p>
            <a:pPr marL="914400" lvl="1" indent="-342900">
              <a:buFont typeface="+mj-lt"/>
              <a:buAutoNum type="arabicPeriod"/>
            </a:pPr>
            <a:r>
              <a:rPr lang="en-US" noProof="0" dirty="0">
                <a:latin typeface="Calibri" panose="020F0502020204030204" pitchFamily="34" charset="0"/>
                <a:ea typeface="Calibri" panose="020F0502020204030204" pitchFamily="34" charset="0"/>
              </a:rPr>
              <a:t>…</a:t>
            </a:r>
          </a:p>
          <a:p>
            <a:pPr marL="914400" lvl="1" indent="-342900">
              <a:buFont typeface="+mj-lt"/>
              <a:buAutoNum type="arabicPeriod"/>
            </a:pPr>
            <a:endParaRPr lang="en-US" noProof="0" dirty="0">
              <a:latin typeface="Calibri" panose="020F0502020204030204" pitchFamily="34" charset="0"/>
              <a:ea typeface="Calibri" panose="020F0502020204030204" pitchFamily="34" charset="0"/>
            </a:endParaRPr>
          </a:p>
          <a:p>
            <a:pPr marL="342900" indent="-342900">
              <a:buFont typeface="+mj-lt"/>
              <a:buAutoNum type="arabicPeriod"/>
            </a:pPr>
            <a:endParaRPr lang="en-US" noProof="0" dirty="0"/>
          </a:p>
        </p:txBody>
      </p:sp>
      <p:sp>
        <p:nvSpPr>
          <p:cNvPr id="7" name="Text Placeholder 2">
            <a:extLst>
              <a:ext uri="{FF2B5EF4-FFF2-40B4-BE49-F238E27FC236}">
                <a16:creationId xmlns:a16="http://schemas.microsoft.com/office/drawing/2014/main" id="{E69044D8-B94B-47A2-8181-012D63A776B3}"/>
              </a:ext>
            </a:extLst>
          </p:cNvPr>
          <p:cNvSpPr txBox="1">
            <a:spLocks/>
          </p:cNvSpPr>
          <p:nvPr/>
        </p:nvSpPr>
        <p:spPr>
          <a:xfrm>
            <a:off x="441849" y="4320330"/>
            <a:ext cx="11763890" cy="1333849"/>
          </a:xfrm>
          <a:prstGeom prst="rect">
            <a:avLst/>
          </a:prstGeom>
        </p:spPr>
        <p:txBody>
          <a:bodyPr lIns="0" tIns="0" rIns="0" bIns="0"/>
          <a:lstStyle>
            <a:lvl1pPr marL="0" indent="0" algn="l" defTabSz="914400" rtl="0" eaLnBrk="1" latinLnBrk="0" hangingPunct="1">
              <a:lnSpc>
                <a:spcPts val="2160"/>
              </a:lnSpc>
              <a:spcBef>
                <a:spcPts val="0"/>
              </a:spcBef>
              <a:spcAft>
                <a:spcPts val="0"/>
              </a:spcAft>
              <a:buFont typeface="Arial" panose="020B0604020202020204" pitchFamily="34" charset="0"/>
              <a:buNone/>
              <a:defRPr sz="1800" b="0" i="0" kern="1200">
                <a:solidFill>
                  <a:schemeClr val="accent1">
                    <a:lumMod val="50000"/>
                  </a:schemeClr>
                </a:solidFill>
                <a:latin typeface="+mj-lt"/>
                <a:ea typeface="Source Sans Pro"/>
                <a:cs typeface="Source Sans Pro"/>
              </a:defRPr>
            </a:lvl1pPr>
            <a:lvl2pPr marL="571500" indent="-173038" algn="l" defTabSz="914400" rtl="0" eaLnBrk="1" latinLnBrk="0" hangingPunct="1">
              <a:lnSpc>
                <a:spcPts val="2160"/>
              </a:lnSpc>
              <a:spcBef>
                <a:spcPts val="0"/>
              </a:spcBef>
              <a:spcAft>
                <a:spcPts val="0"/>
              </a:spcAft>
              <a:buFont typeface="Arial" charset="0"/>
              <a:buChar char="•"/>
              <a:tabLst/>
              <a:defRPr sz="1600" b="0" i="0" kern="1200" baseline="0">
                <a:solidFill>
                  <a:schemeClr val="accent1">
                    <a:lumMod val="50000"/>
                  </a:schemeClr>
                </a:solidFill>
                <a:latin typeface="+mj-lt"/>
                <a:ea typeface="Source Sans Pro"/>
                <a:cs typeface="Source Sans Pro"/>
              </a:defRPr>
            </a:lvl2pPr>
            <a:lvl3pPr marL="858838" indent="-231775" algn="l" defTabSz="914400" rtl="0" eaLnBrk="1" latinLnBrk="0" hangingPunct="1">
              <a:lnSpc>
                <a:spcPts val="2160"/>
              </a:lnSpc>
              <a:spcBef>
                <a:spcPts val="0"/>
              </a:spcBef>
              <a:spcAft>
                <a:spcPts val="0"/>
              </a:spcAft>
              <a:buFont typeface="Arial" panose="020B0604020202020204" pitchFamily="34" charset="0"/>
              <a:buChar char="•"/>
              <a:tabLst/>
              <a:defRPr sz="1400" b="0" i="0" kern="1200">
                <a:solidFill>
                  <a:schemeClr val="accent1">
                    <a:lumMod val="50000"/>
                  </a:schemeClr>
                </a:solidFill>
                <a:latin typeface="+mj-lt"/>
                <a:ea typeface="Source Sans Pro"/>
                <a:cs typeface="Source Sans Pro"/>
              </a:defRPr>
            </a:lvl3pPr>
            <a:lvl4pPr marL="1085850" indent="-171450" algn="l" defTabSz="914400" rtl="0" eaLnBrk="1" latinLnBrk="0" hangingPunct="1">
              <a:lnSpc>
                <a:spcPts val="2160"/>
              </a:lnSpc>
              <a:spcBef>
                <a:spcPts val="0"/>
              </a:spcBef>
              <a:spcAft>
                <a:spcPts val="0"/>
              </a:spcAft>
              <a:buFont typeface="Arial" panose="020B0604020202020204" pitchFamily="34" charset="0"/>
              <a:buChar char="•"/>
              <a:defRPr sz="1200" b="0" i="0" kern="1200">
                <a:solidFill>
                  <a:schemeClr val="accent1">
                    <a:lumMod val="50000"/>
                  </a:schemeClr>
                </a:solidFill>
                <a:latin typeface="+mj-lt"/>
                <a:ea typeface="Raleway" charset="0"/>
                <a:cs typeface="Raleway" charset="0"/>
              </a:defRPr>
            </a:lvl4pPr>
            <a:lvl5pPr marL="2057400" indent="-228600" algn="l" defTabSz="914400" rtl="0" eaLnBrk="1" latinLnBrk="0" hangingPunct="1">
              <a:lnSpc>
                <a:spcPts val="2160"/>
              </a:lnSpc>
              <a:spcBef>
                <a:spcPts val="0"/>
              </a:spcBef>
              <a:spcAft>
                <a:spcPts val="0"/>
              </a:spcAft>
              <a:buFont typeface="Arial" panose="020B0604020202020204" pitchFamily="34" charset="0"/>
              <a:buChar char="•"/>
              <a:defRPr sz="1400" b="1" i="0" kern="1200">
                <a:solidFill>
                  <a:schemeClr val="accent1">
                    <a:lumMod val="50000"/>
                  </a:schemeClr>
                </a:solidFill>
                <a:latin typeface="+mj-lt"/>
                <a:ea typeface="Raleway" charset="0"/>
                <a:cs typeface="Raleway"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solidFill>
                  <a:schemeClr val="accent6"/>
                </a:solidFill>
                <a:latin typeface="Consolas" panose="020B0609020204030204" pitchFamily="49" charset="0"/>
                <a:ea typeface="Calibri" panose="020F0502020204030204" pitchFamily="34" charset="0"/>
              </a:rPr>
              <a:t>2.  DATAFRAMES METHODS</a:t>
            </a:r>
            <a:r>
              <a:rPr lang="en-US" sz="1600" dirty="0">
                <a:solidFill>
                  <a:schemeClr val="accent6"/>
                </a:solidFill>
                <a:highlight>
                  <a:srgbClr val="FFFFFF"/>
                </a:highlight>
                <a:latin typeface="Consolas" panose="020B0609020204030204" pitchFamily="49" charset="0"/>
                <a:ea typeface="Calibri" panose="020F0502020204030204" pitchFamily="34" charset="0"/>
              </a:rPr>
              <a:t> </a:t>
            </a:r>
          </a:p>
          <a:p>
            <a:pPr marL="914400" lvl="1" indent="-342900">
              <a:buFont typeface="+mj-lt"/>
              <a:buAutoNum type="arabicPeriod"/>
            </a:pPr>
            <a:r>
              <a:rPr lang="en-US" dirty="0" err="1">
                <a:latin typeface="Calibri" panose="020F0502020204030204" pitchFamily="34" charset="0"/>
                <a:ea typeface="Calibri" panose="020F0502020204030204" pitchFamily="34" charset="0"/>
              </a:rPr>
              <a:t>clean_optionprice_database</a:t>
            </a:r>
            <a:r>
              <a:rPr lang="en-US" dirty="0">
                <a:latin typeface="Calibri" panose="020F0502020204030204" pitchFamily="34" charset="0"/>
                <a:ea typeface="Calibri" panose="020F0502020204030204" pitchFamily="34" charset="0"/>
              </a:rPr>
              <a:t>(</a:t>
            </a:r>
            <a:r>
              <a:rPr lang="en-US" dirty="0" err="1">
                <a:latin typeface="Calibri" panose="020F0502020204030204" pitchFamily="34" charset="0"/>
                <a:ea typeface="Calibri" panose="020F0502020204030204" pitchFamily="34" charset="0"/>
              </a:rPr>
              <a:t>df,df_ZC</a:t>
            </a:r>
            <a:r>
              <a:rPr lang="en-US" dirty="0">
                <a:latin typeface="Calibri" panose="020F0502020204030204" pitchFamily="34" charset="0"/>
                <a:ea typeface="Calibri" panose="020F0502020204030204" pitchFamily="34" charset="0"/>
              </a:rPr>
              <a:t>)</a:t>
            </a:r>
          </a:p>
          <a:p>
            <a:pPr marL="914400" lvl="1" indent="-342900">
              <a:buFont typeface="+mj-lt"/>
              <a:buAutoNum type="arabicPeriod"/>
            </a:pPr>
            <a:r>
              <a:rPr lang="en-US" dirty="0" err="1">
                <a:latin typeface="Calibri" panose="020F0502020204030204" pitchFamily="34" charset="0"/>
                <a:ea typeface="Calibri" panose="020F0502020204030204" pitchFamily="34" charset="0"/>
              </a:rPr>
              <a:t>get_type_from_clean_database</a:t>
            </a:r>
            <a:r>
              <a:rPr lang="en-US" dirty="0">
                <a:latin typeface="Calibri" panose="020F0502020204030204" pitchFamily="34" charset="0"/>
                <a:ea typeface="Calibri" panose="020F0502020204030204" pitchFamily="34" charset="0"/>
              </a:rPr>
              <a:t>(</a:t>
            </a:r>
            <a:r>
              <a:rPr lang="en-US" dirty="0" err="1">
                <a:latin typeface="Calibri" panose="020F0502020204030204" pitchFamily="34" charset="0"/>
                <a:ea typeface="Calibri" panose="020F0502020204030204" pitchFamily="34" charset="0"/>
              </a:rPr>
              <a:t>df_clean,CP</a:t>
            </a:r>
            <a:r>
              <a:rPr lang="en-US" dirty="0">
                <a:latin typeface="Calibri" panose="020F0502020204030204" pitchFamily="34" charset="0"/>
                <a:ea typeface="Calibri" panose="020F0502020204030204" pitchFamily="34" charset="0"/>
              </a:rPr>
              <a:t>)</a:t>
            </a:r>
          </a:p>
          <a:p>
            <a:pPr marL="914400" lvl="1" indent="-342900">
              <a:buFont typeface="+mj-lt"/>
              <a:buAutoNum type="arabicPeriod"/>
            </a:pPr>
            <a:r>
              <a:rPr lang="en-US" dirty="0">
                <a:latin typeface="Calibri" panose="020F0502020204030204" pitchFamily="34" charset="0"/>
                <a:ea typeface="Calibri" panose="020F0502020204030204" pitchFamily="34" charset="0"/>
              </a:rPr>
              <a:t>…</a:t>
            </a:r>
          </a:p>
          <a:p>
            <a:pPr marL="914400" lvl="1" indent="-342900">
              <a:buFont typeface="+mj-lt"/>
              <a:buAutoNum type="arabicPeriod"/>
            </a:pPr>
            <a:endParaRPr lang="en-US" dirty="0">
              <a:latin typeface="Calibri" panose="020F0502020204030204" pitchFamily="34" charset="0"/>
              <a:ea typeface="Calibri" panose="020F0502020204030204" pitchFamily="34" charset="0"/>
            </a:endParaRPr>
          </a:p>
          <a:p>
            <a:pPr marL="342900" indent="-342900">
              <a:buFont typeface="+mj-lt"/>
              <a:buAutoNum type="arabicPeriod"/>
            </a:pPr>
            <a:endParaRPr lang="en-US" dirty="0"/>
          </a:p>
        </p:txBody>
      </p:sp>
    </p:spTree>
    <p:extLst>
      <p:ext uri="{BB962C8B-B14F-4D97-AF65-F5344CB8AC3E}">
        <p14:creationId xmlns:p14="http://schemas.microsoft.com/office/powerpoint/2010/main" val="3796797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382962-7DA7-4001-82BD-F82D2BAF09BA}"/>
              </a:ext>
            </a:extLst>
          </p:cNvPr>
          <p:cNvSpPr>
            <a:spLocks noGrp="1"/>
          </p:cNvSpPr>
          <p:nvPr>
            <p:ph type="body" sz="quarter" idx="12"/>
          </p:nvPr>
        </p:nvSpPr>
        <p:spPr>
          <a:xfrm>
            <a:off x="441849" y="441278"/>
            <a:ext cx="8794750" cy="356527"/>
          </a:xfrm>
        </p:spPr>
        <p:txBody>
          <a:bodyPr/>
          <a:lstStyle/>
          <a:p>
            <a:r>
              <a:rPr lang="en-US" noProof="0" dirty="0"/>
              <a:t>What have I done up to now (3/4)</a:t>
            </a:r>
          </a:p>
        </p:txBody>
      </p:sp>
      <p:sp>
        <p:nvSpPr>
          <p:cNvPr id="4" name="Rectangle 3">
            <a:extLst>
              <a:ext uri="{FF2B5EF4-FFF2-40B4-BE49-F238E27FC236}">
                <a16:creationId xmlns:a16="http://schemas.microsoft.com/office/drawing/2014/main" id="{C13CFC1F-071B-4162-9CF9-C2C1AA3EDB49}"/>
              </a:ext>
            </a:extLst>
          </p:cNvPr>
          <p:cNvSpPr/>
          <p:nvPr/>
        </p:nvSpPr>
        <p:spPr>
          <a:xfrm>
            <a:off x="307511" y="3078164"/>
            <a:ext cx="6096000" cy="1600438"/>
          </a:xfrm>
          <a:prstGeom prst="rect">
            <a:avLst/>
          </a:prstGeom>
        </p:spPr>
        <p:txBody>
          <a:bodyPr>
            <a:spAutoFit/>
          </a:bodyPr>
          <a:lstStyle/>
          <a:p>
            <a:r>
              <a:rPr lang="en-US" sz="1600" dirty="0">
                <a:solidFill>
                  <a:schemeClr val="accent6"/>
                </a:solidFill>
                <a:latin typeface="Consolas" panose="020B0609020204030204" pitchFamily="49" charset="0"/>
                <a:ea typeface="Calibri" panose="020F0502020204030204" pitchFamily="34" charset="0"/>
              </a:rPr>
              <a:t>4.  ANALYTICS - DATAFRAME METHODS</a:t>
            </a:r>
            <a:r>
              <a:rPr lang="en-US" sz="1600" dirty="0">
                <a:solidFill>
                  <a:schemeClr val="accent6"/>
                </a:solidFill>
                <a:highlight>
                  <a:srgbClr val="FFFFFF"/>
                </a:highlight>
                <a:latin typeface="Consolas" panose="020B0609020204030204" pitchFamily="49" charset="0"/>
                <a:ea typeface="Calibri" panose="020F0502020204030204" pitchFamily="34" charset="0"/>
              </a:rPr>
              <a:t> </a:t>
            </a:r>
          </a:p>
          <a:p>
            <a:pPr marL="914400" lvl="1" indent="-342900">
              <a:buFont typeface="+mj-lt"/>
              <a:buAutoNum type="arabicPeriod"/>
            </a:pPr>
            <a:r>
              <a:rPr lang="en-US" sz="1600" dirty="0" err="1">
                <a:latin typeface="Calibri" panose="020F0502020204030204" pitchFamily="34" charset="0"/>
                <a:ea typeface="Calibri" panose="020F0502020204030204" pitchFamily="34" charset="0"/>
              </a:rPr>
              <a:t>generate_implied_volatilities</a:t>
            </a:r>
            <a:r>
              <a:rPr lang="en-US" sz="1600" dirty="0">
                <a:latin typeface="Calibri" panose="020F0502020204030204" pitchFamily="34" charset="0"/>
                <a:ea typeface="Calibri" panose="020F0502020204030204" pitchFamily="34" charset="0"/>
              </a:rPr>
              <a:t>(</a:t>
            </a:r>
            <a:r>
              <a:rPr lang="en-US" sz="1600" dirty="0" err="1">
                <a:latin typeface="Calibri" panose="020F0502020204030204" pitchFamily="34" charset="0"/>
                <a:ea typeface="Calibri" panose="020F0502020204030204" pitchFamily="34" charset="0"/>
              </a:rPr>
              <a:t>df_clean</a:t>
            </a:r>
            <a:r>
              <a:rPr lang="en-US" sz="1600" dirty="0">
                <a:latin typeface="Calibri" panose="020F0502020204030204" pitchFamily="34" charset="0"/>
                <a:ea typeface="Calibri" panose="020F0502020204030204" pitchFamily="34" charset="0"/>
              </a:rPr>
              <a:t>):</a:t>
            </a:r>
          </a:p>
          <a:p>
            <a:pPr marL="1371600" lvl="2" indent="-342900">
              <a:buFont typeface="+mj-lt"/>
              <a:buAutoNum type="arabicPeriod"/>
            </a:pPr>
            <a:r>
              <a:rPr lang="en-US" sz="1600" dirty="0">
                <a:latin typeface="Calibri" panose="020F0502020204030204" pitchFamily="34" charset="0"/>
                <a:ea typeface="Calibri" panose="020F0502020204030204" pitchFamily="34" charset="0"/>
              </a:rPr>
              <a:t>Bisection**</a:t>
            </a:r>
          </a:p>
          <a:p>
            <a:pPr marL="1371600" lvl="2" indent="-342900">
              <a:buFont typeface="+mj-lt"/>
              <a:buAutoNum type="arabicPeriod"/>
            </a:pPr>
            <a:r>
              <a:rPr lang="en-US" sz="1600" dirty="0">
                <a:latin typeface="Calibri" panose="020F0502020204030204" pitchFamily="34" charset="0"/>
                <a:ea typeface="Calibri" panose="020F0502020204030204" pitchFamily="34" charset="0"/>
              </a:rPr>
              <a:t>Newton-Raphson</a:t>
            </a:r>
          </a:p>
          <a:p>
            <a:pPr marL="914400" lvl="1" indent="-342900">
              <a:buFont typeface="+mj-lt"/>
              <a:buAutoNum type="arabicPeriod"/>
            </a:pPr>
            <a:r>
              <a:rPr lang="en-US" sz="1600" dirty="0" err="1">
                <a:latin typeface="Calibri" panose="020F0502020204030204" pitchFamily="34" charset="0"/>
                <a:ea typeface="Calibri" panose="020F0502020204030204" pitchFamily="34" charset="0"/>
              </a:rPr>
              <a:t>generate_model_outputs</a:t>
            </a:r>
            <a:r>
              <a:rPr lang="en-US" sz="1600" dirty="0">
                <a:latin typeface="Calibri" panose="020F0502020204030204" pitchFamily="34" charset="0"/>
                <a:ea typeface="Calibri" panose="020F0502020204030204" pitchFamily="34" charset="0"/>
              </a:rPr>
              <a:t>(</a:t>
            </a:r>
            <a:r>
              <a:rPr lang="en-US" sz="1600" dirty="0" err="1">
                <a:latin typeface="Calibri" panose="020F0502020204030204" pitchFamily="34" charset="0"/>
                <a:ea typeface="Calibri" panose="020F0502020204030204" pitchFamily="34" charset="0"/>
              </a:rPr>
              <a:t>df_clean</a:t>
            </a:r>
            <a:r>
              <a:rPr lang="en-US" sz="1600" dirty="0">
                <a:latin typeface="Calibri" panose="020F0502020204030204" pitchFamily="34" charset="0"/>
                <a:ea typeface="Calibri" panose="020F0502020204030204" pitchFamily="34" charset="0"/>
              </a:rPr>
              <a:t>, </a:t>
            </a:r>
            <a:r>
              <a:rPr lang="en-US" sz="1600" dirty="0" err="1">
                <a:latin typeface="Calibri" panose="020F0502020204030204" pitchFamily="34" charset="0"/>
                <a:ea typeface="Calibri" panose="020F0502020204030204" pitchFamily="34" charset="0"/>
              </a:rPr>
              <a:t>i_vols</a:t>
            </a:r>
            <a:r>
              <a:rPr lang="en-US" sz="1600" dirty="0">
                <a:latin typeface="Calibri" panose="020F0502020204030204" pitchFamily="34" charset="0"/>
                <a:ea typeface="Calibri" panose="020F0502020204030204" pitchFamily="34" charset="0"/>
              </a:rPr>
              <a:t>)</a:t>
            </a:r>
          </a:p>
          <a:p>
            <a:pPr marL="914400" lvl="1" indent="-342900">
              <a:buFont typeface="+mj-lt"/>
              <a:buAutoNum type="arabicPeriod"/>
            </a:pPr>
            <a:endParaRPr lang="en-US" dirty="0">
              <a:latin typeface="Calibri" panose="020F0502020204030204" pitchFamily="34" charset="0"/>
              <a:ea typeface="Calibri" panose="020F0502020204030204" pitchFamily="34" charset="0"/>
            </a:endParaRPr>
          </a:p>
        </p:txBody>
      </p:sp>
      <p:sp>
        <p:nvSpPr>
          <p:cNvPr id="10" name="Rectangle 9">
            <a:extLst>
              <a:ext uri="{FF2B5EF4-FFF2-40B4-BE49-F238E27FC236}">
                <a16:creationId xmlns:a16="http://schemas.microsoft.com/office/drawing/2014/main" id="{041472B7-730D-49E9-9C54-538396DA4064}"/>
              </a:ext>
            </a:extLst>
          </p:cNvPr>
          <p:cNvSpPr/>
          <p:nvPr/>
        </p:nvSpPr>
        <p:spPr>
          <a:xfrm>
            <a:off x="307512" y="4655533"/>
            <a:ext cx="5121796" cy="1323439"/>
          </a:xfrm>
          <a:prstGeom prst="rect">
            <a:avLst/>
          </a:prstGeom>
        </p:spPr>
        <p:txBody>
          <a:bodyPr wrap="square">
            <a:spAutoFit/>
          </a:bodyPr>
          <a:lstStyle/>
          <a:p>
            <a:r>
              <a:rPr lang="en-US" sz="1600" dirty="0">
                <a:solidFill>
                  <a:schemeClr val="accent6"/>
                </a:solidFill>
                <a:latin typeface="Consolas" panose="020B0609020204030204" pitchFamily="49" charset="0"/>
                <a:ea typeface="Calibri" panose="020F0502020204030204" pitchFamily="34" charset="0"/>
              </a:rPr>
              <a:t>5.  VOLSURFACE METHODS</a:t>
            </a:r>
            <a:r>
              <a:rPr lang="en-US" sz="1600" dirty="0">
                <a:solidFill>
                  <a:srgbClr val="000000"/>
                </a:solidFill>
                <a:highlight>
                  <a:srgbClr val="FFFFFF"/>
                </a:highlight>
                <a:latin typeface="Consolas" panose="020B0609020204030204" pitchFamily="49" charset="0"/>
                <a:ea typeface="Calibri" panose="020F0502020204030204" pitchFamily="34" charset="0"/>
              </a:rPr>
              <a:t> </a:t>
            </a:r>
          </a:p>
          <a:p>
            <a:pPr marL="914400" lvl="1" indent="-342900">
              <a:buFont typeface="+mj-lt"/>
              <a:buAutoNum type="arabicPeriod"/>
            </a:pPr>
            <a:r>
              <a:rPr lang="en-US" sz="1600" dirty="0" err="1">
                <a:latin typeface="Calibri" panose="020F0502020204030204" pitchFamily="34" charset="0"/>
                <a:ea typeface="Calibri" panose="020F0502020204030204" pitchFamily="34" charset="0"/>
              </a:rPr>
              <a:t>generate_standard_volatility_surface</a:t>
            </a:r>
            <a:r>
              <a:rPr lang="en-US" sz="1600" dirty="0">
                <a:latin typeface="Calibri" panose="020F0502020204030204" pitchFamily="34" charset="0"/>
                <a:ea typeface="Calibri" panose="020F0502020204030204" pitchFamily="34" charset="0"/>
              </a:rPr>
              <a:t>(</a:t>
            </a:r>
            <a:r>
              <a:rPr lang="en-US" sz="1600" dirty="0" err="1">
                <a:latin typeface="Calibri" panose="020F0502020204030204" pitchFamily="34" charset="0"/>
                <a:ea typeface="Calibri" panose="020F0502020204030204" pitchFamily="34" charset="0"/>
              </a:rPr>
              <a:t>df_model,df_ZC</a:t>
            </a:r>
            <a:r>
              <a:rPr lang="en-US" sz="1600" dirty="0">
                <a:latin typeface="Calibri" panose="020F0502020204030204" pitchFamily="34" charset="0"/>
                <a:ea typeface="Calibri" panose="020F0502020204030204" pitchFamily="34" charset="0"/>
              </a:rPr>
              <a:t>)</a:t>
            </a:r>
          </a:p>
          <a:p>
            <a:pPr marL="914400" lvl="1" indent="-342900">
              <a:buFont typeface="+mj-lt"/>
              <a:buAutoNum type="arabicPeriod"/>
            </a:pPr>
            <a:r>
              <a:rPr lang="en-US" sz="1600" dirty="0" err="1">
                <a:latin typeface="Calibri" panose="020F0502020204030204" pitchFamily="34" charset="0"/>
                <a:ea typeface="Calibri" panose="020F0502020204030204" pitchFamily="34" charset="0"/>
              </a:rPr>
              <a:t>implied_strike_from_delta</a:t>
            </a:r>
            <a:r>
              <a:rPr lang="en-US" sz="1600" dirty="0">
                <a:latin typeface="Calibri" panose="020F0502020204030204" pitchFamily="34" charset="0"/>
                <a:ea typeface="Calibri" panose="020F0502020204030204" pitchFamily="34" charset="0"/>
              </a:rPr>
              <a:t>(</a:t>
            </a:r>
            <a:r>
              <a:rPr lang="en-US" sz="1600" dirty="0" err="1">
                <a:latin typeface="Calibri" panose="020F0502020204030204" pitchFamily="34" charset="0"/>
                <a:ea typeface="Calibri" panose="020F0502020204030204" pitchFamily="34" charset="0"/>
              </a:rPr>
              <a:t>r,cp</a:t>
            </a:r>
            <a:r>
              <a:rPr lang="en-US" sz="1600" dirty="0">
                <a:latin typeface="Calibri" panose="020F0502020204030204" pitchFamily="34" charset="0"/>
                <a:ea typeface="Calibri" panose="020F0502020204030204" pitchFamily="34" charset="0"/>
              </a:rPr>
              <a:t>, delta, spot, </a:t>
            </a:r>
            <a:r>
              <a:rPr lang="en-US" sz="1600" dirty="0" err="1">
                <a:latin typeface="Calibri" panose="020F0502020204030204" pitchFamily="34" charset="0"/>
                <a:ea typeface="Calibri" panose="020F0502020204030204" pitchFamily="34" charset="0"/>
              </a:rPr>
              <a:t>ttm</a:t>
            </a:r>
            <a:r>
              <a:rPr lang="en-US" sz="1600" dirty="0">
                <a:latin typeface="Calibri" panose="020F0502020204030204" pitchFamily="34" charset="0"/>
                <a:ea typeface="Calibri" panose="020F0502020204030204" pitchFamily="34" charset="0"/>
              </a:rPr>
              <a:t>, </a:t>
            </a:r>
            <a:r>
              <a:rPr lang="en-US" sz="1600" dirty="0" err="1">
                <a:latin typeface="Calibri" panose="020F0502020204030204" pitchFamily="34" charset="0"/>
                <a:ea typeface="Calibri" panose="020F0502020204030204" pitchFamily="34" charset="0"/>
              </a:rPr>
              <a:t>ivol</a:t>
            </a:r>
            <a:r>
              <a:rPr lang="en-US" sz="1600" dirty="0">
                <a:latin typeface="Calibri" panose="020F0502020204030204" pitchFamily="34" charset="0"/>
                <a:ea typeface="Calibri" panose="020F0502020204030204" pitchFamily="34" charset="0"/>
              </a:rPr>
              <a:t>)* (for BSM)</a:t>
            </a:r>
          </a:p>
        </p:txBody>
      </p:sp>
      <p:sp>
        <p:nvSpPr>
          <p:cNvPr id="9" name="Rectangle 8">
            <a:extLst>
              <a:ext uri="{FF2B5EF4-FFF2-40B4-BE49-F238E27FC236}">
                <a16:creationId xmlns:a16="http://schemas.microsoft.com/office/drawing/2014/main" id="{4BEDF632-854B-4469-ADCA-1BAE1793647F}"/>
              </a:ext>
            </a:extLst>
          </p:cNvPr>
          <p:cNvSpPr/>
          <p:nvPr/>
        </p:nvSpPr>
        <p:spPr>
          <a:xfrm>
            <a:off x="307511" y="784522"/>
            <a:ext cx="6096000" cy="2308324"/>
          </a:xfrm>
          <a:prstGeom prst="rect">
            <a:avLst/>
          </a:prstGeom>
        </p:spPr>
        <p:txBody>
          <a:bodyPr>
            <a:spAutoFit/>
          </a:bodyPr>
          <a:lstStyle/>
          <a:p>
            <a:r>
              <a:rPr lang="en-US" sz="1600" dirty="0">
                <a:solidFill>
                  <a:schemeClr val="accent6"/>
                </a:solidFill>
                <a:latin typeface="Consolas" panose="020B0609020204030204" pitchFamily="49" charset="0"/>
                <a:ea typeface="Calibri" panose="020F0502020204030204" pitchFamily="34" charset="0"/>
              </a:rPr>
              <a:t>3.  ANALYTICS</a:t>
            </a:r>
            <a:endParaRPr lang="en-US" sz="1600" dirty="0">
              <a:solidFill>
                <a:schemeClr val="accent6"/>
              </a:solidFill>
              <a:highlight>
                <a:srgbClr val="FFFFFF"/>
              </a:highlight>
              <a:latin typeface="Consolas" panose="020B0609020204030204" pitchFamily="49" charset="0"/>
              <a:ea typeface="Calibri" panose="020F0502020204030204" pitchFamily="34" charset="0"/>
            </a:endParaRPr>
          </a:p>
          <a:p>
            <a:pPr marL="457200" indent="-342900">
              <a:buFont typeface="+mj-lt"/>
              <a:buAutoNum type="arabicPeriod"/>
            </a:pPr>
            <a:r>
              <a:rPr lang="en-US" sz="1600" dirty="0" err="1">
                <a:latin typeface="Calibri" panose="020F0502020204030204" pitchFamily="34" charset="0"/>
                <a:ea typeface="Calibri" panose="020F0502020204030204" pitchFamily="34" charset="0"/>
              </a:rPr>
              <a:t>BSMerton</a:t>
            </a:r>
            <a:r>
              <a:rPr lang="en-US" sz="1600" dirty="0">
                <a:latin typeface="Calibri" panose="020F0502020204030204" pitchFamily="34" charset="0"/>
                <a:ea typeface="Calibri" panose="020F0502020204030204" pitchFamily="34" charset="0"/>
              </a:rPr>
              <a:t> class – closed formula</a:t>
            </a:r>
          </a:p>
          <a:p>
            <a:pPr marL="457200" indent="-342900">
              <a:buFont typeface="+mj-lt"/>
              <a:buAutoNum type="arabicPeriod"/>
            </a:pPr>
            <a:r>
              <a:rPr lang="en-US" sz="1600" dirty="0">
                <a:latin typeface="Calibri" panose="020F0502020204030204" pitchFamily="34" charset="0"/>
                <a:ea typeface="Calibri" panose="020F0502020204030204" pitchFamily="34" charset="0"/>
              </a:rPr>
              <a:t>CRR – </a:t>
            </a:r>
            <a:r>
              <a:rPr lang="en-US" sz="1600" dirty="0" err="1">
                <a:latin typeface="Calibri" panose="020F0502020204030204" pitchFamily="34" charset="0"/>
                <a:ea typeface="Calibri" panose="020F0502020204030204" pitchFamily="34" charset="0"/>
              </a:rPr>
              <a:t>Binamial</a:t>
            </a:r>
            <a:r>
              <a:rPr lang="en-US" sz="1600" dirty="0">
                <a:latin typeface="Calibri" panose="020F0502020204030204" pitchFamily="34" charset="0"/>
                <a:ea typeface="Calibri" panose="020F0502020204030204" pitchFamily="34" charset="0"/>
              </a:rPr>
              <a:t> tree</a:t>
            </a:r>
          </a:p>
          <a:p>
            <a:pPr marL="457200" indent="-342900">
              <a:buFont typeface="+mj-lt"/>
              <a:buAutoNum type="arabicPeriod"/>
            </a:pPr>
            <a:r>
              <a:rPr lang="en-US" sz="1600" dirty="0" err="1">
                <a:latin typeface="Calibri" panose="020F0502020204030204" pitchFamily="34" charset="0"/>
              </a:rPr>
              <a:t>Leisen</a:t>
            </a:r>
            <a:r>
              <a:rPr lang="en-US" sz="1600" dirty="0">
                <a:latin typeface="Calibri" panose="020F0502020204030204" pitchFamily="34" charset="0"/>
              </a:rPr>
              <a:t>-Reimer – Improvement to binomial tree</a:t>
            </a:r>
          </a:p>
          <a:p>
            <a:pPr marL="571500" lvl="1"/>
            <a:r>
              <a:rPr lang="en-US" sz="1600" dirty="0">
                <a:latin typeface="Calibri" panose="020F0502020204030204" pitchFamily="34" charset="0"/>
              </a:rPr>
              <a:t>For all these:</a:t>
            </a:r>
          </a:p>
          <a:p>
            <a:pPr marL="1371600" lvl="2" indent="-342900">
              <a:buFont typeface="+mj-lt"/>
              <a:buAutoNum type="arabicPeriod"/>
            </a:pPr>
            <a:r>
              <a:rPr lang="en-US" sz="1600" dirty="0">
                <a:latin typeface="Calibri" panose="020F0502020204030204" pitchFamily="34" charset="0"/>
              </a:rPr>
              <a:t>Premium</a:t>
            </a:r>
          </a:p>
          <a:p>
            <a:pPr marL="1371600" lvl="2" indent="-342900">
              <a:buFont typeface="+mj-lt"/>
              <a:buAutoNum type="arabicPeriod"/>
            </a:pPr>
            <a:r>
              <a:rPr lang="en-US" sz="1600" dirty="0">
                <a:latin typeface="Calibri" panose="020F0502020204030204" pitchFamily="34" charset="0"/>
              </a:rPr>
              <a:t>Delta</a:t>
            </a:r>
          </a:p>
          <a:p>
            <a:pPr marL="1371600" lvl="2" indent="-342900">
              <a:buFont typeface="+mj-lt"/>
              <a:buAutoNum type="arabicPeriod"/>
            </a:pPr>
            <a:r>
              <a:rPr lang="en-US" sz="1600" dirty="0">
                <a:latin typeface="Calibri" panose="020F0502020204030204" pitchFamily="34" charset="0"/>
              </a:rPr>
              <a:t>Vega</a:t>
            </a:r>
          </a:p>
          <a:p>
            <a:pPr marL="1371600" lvl="2" indent="-342900">
              <a:buFont typeface="+mj-lt"/>
              <a:buAutoNum type="arabicPeriod"/>
            </a:pPr>
            <a:r>
              <a:rPr lang="en-US" sz="1600" dirty="0">
                <a:latin typeface="Calibri" panose="020F0502020204030204" pitchFamily="34" charset="0"/>
              </a:rPr>
              <a:t>More </a:t>
            </a:r>
            <a:r>
              <a:rPr lang="en-US" sz="1600" dirty="0" err="1">
                <a:latin typeface="Calibri" panose="020F0502020204030204" pitchFamily="34" charset="0"/>
              </a:rPr>
              <a:t>greeks</a:t>
            </a:r>
            <a:r>
              <a:rPr lang="en-US" sz="1600" dirty="0">
                <a:latin typeface="Calibri" panose="020F0502020204030204" pitchFamily="34" charset="0"/>
              </a:rPr>
              <a:t> in </a:t>
            </a:r>
            <a:r>
              <a:rPr lang="en-US" sz="1600" dirty="0" err="1">
                <a:latin typeface="Calibri" panose="020F0502020204030204" pitchFamily="34" charset="0"/>
              </a:rPr>
              <a:t>BSMerton</a:t>
            </a:r>
            <a:endParaRPr lang="en-US" sz="1600" dirty="0">
              <a:latin typeface="Calibri" panose="020F0502020204030204" pitchFamily="34" charset="0"/>
            </a:endParaRPr>
          </a:p>
        </p:txBody>
      </p:sp>
      <p:sp>
        <p:nvSpPr>
          <p:cNvPr id="15" name="Rectangle 14">
            <a:extLst>
              <a:ext uri="{FF2B5EF4-FFF2-40B4-BE49-F238E27FC236}">
                <a16:creationId xmlns:a16="http://schemas.microsoft.com/office/drawing/2014/main" id="{244B83D4-7507-4E08-BA57-C75847BB4F78}"/>
              </a:ext>
            </a:extLst>
          </p:cNvPr>
          <p:cNvSpPr/>
          <p:nvPr/>
        </p:nvSpPr>
        <p:spPr>
          <a:xfrm>
            <a:off x="6096000" y="2105561"/>
            <a:ext cx="5121796" cy="830997"/>
          </a:xfrm>
          <a:prstGeom prst="rect">
            <a:avLst/>
          </a:prstGeom>
        </p:spPr>
        <p:txBody>
          <a:bodyPr wrap="square">
            <a:spAutoFit/>
          </a:bodyPr>
          <a:lstStyle/>
          <a:p>
            <a:r>
              <a:rPr lang="en-US" sz="1600" dirty="0">
                <a:solidFill>
                  <a:schemeClr val="accent6"/>
                </a:solidFill>
                <a:latin typeface="Consolas" panose="020B0609020204030204" pitchFamily="49" charset="0"/>
                <a:ea typeface="Calibri" panose="020F0502020204030204" pitchFamily="34" charset="0"/>
              </a:rPr>
              <a:t>6.  PLOT METHODS (</a:t>
            </a:r>
            <a:r>
              <a:rPr lang="en-US" sz="1600" dirty="0" err="1">
                <a:solidFill>
                  <a:schemeClr val="accent6"/>
                </a:solidFill>
                <a:latin typeface="Consolas" panose="020B0609020204030204" pitchFamily="49" charset="0"/>
                <a:ea typeface="Calibri" panose="020F0502020204030204" pitchFamily="34" charset="0"/>
              </a:rPr>
              <a:t>misc</a:t>
            </a:r>
            <a:r>
              <a:rPr lang="en-US" sz="1600" dirty="0">
                <a:solidFill>
                  <a:schemeClr val="accent6"/>
                </a:solidFill>
                <a:latin typeface="Consolas" panose="020B0609020204030204" pitchFamily="49" charset="0"/>
                <a:ea typeface="Calibri" panose="020F0502020204030204" pitchFamily="34" charset="0"/>
              </a:rPr>
              <a:t>)</a:t>
            </a:r>
            <a:r>
              <a:rPr lang="en-US" sz="1600" dirty="0">
                <a:solidFill>
                  <a:srgbClr val="000000"/>
                </a:solidFill>
                <a:highlight>
                  <a:srgbClr val="FFFFFF"/>
                </a:highlight>
                <a:latin typeface="Consolas" panose="020B0609020204030204" pitchFamily="49" charset="0"/>
                <a:ea typeface="Calibri" panose="020F0502020204030204" pitchFamily="34" charset="0"/>
              </a:rPr>
              <a:t> </a:t>
            </a:r>
          </a:p>
          <a:p>
            <a:pPr marL="914400" lvl="1" indent="-342900">
              <a:buFont typeface="+mj-lt"/>
              <a:buAutoNum type="arabicPeriod"/>
            </a:pPr>
            <a:r>
              <a:rPr lang="nl-NL" sz="1600" dirty="0">
                <a:latin typeface="Calibri" panose="020F0502020204030204" pitchFamily="34" charset="0"/>
                <a:ea typeface="Calibri" panose="020F0502020204030204" pitchFamily="34" charset="0"/>
              </a:rPr>
              <a:t>plot_vol_surface(df_vol_surface)</a:t>
            </a:r>
          </a:p>
          <a:p>
            <a:pPr marL="914400" lvl="1" indent="-342900">
              <a:buFont typeface="+mj-lt"/>
              <a:buAutoNum type="arabicPeriod"/>
            </a:pPr>
            <a:r>
              <a:rPr lang="nl-NL" sz="1600" dirty="0">
                <a:latin typeface="Calibri" panose="020F0502020204030204" pitchFamily="34" charset="0"/>
                <a:ea typeface="Calibri" panose="020F0502020204030204" pitchFamily="34" charset="0"/>
              </a:rPr>
              <a:t>plot_vol_smiles(df_vol_surface)</a:t>
            </a:r>
            <a:endParaRPr lang="en-US" sz="1600" dirty="0">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824171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382962-7DA7-4001-82BD-F82D2BAF09BA}"/>
              </a:ext>
            </a:extLst>
          </p:cNvPr>
          <p:cNvSpPr>
            <a:spLocks noGrp="1"/>
          </p:cNvSpPr>
          <p:nvPr>
            <p:ph type="body" sz="quarter" idx="12"/>
          </p:nvPr>
        </p:nvSpPr>
        <p:spPr>
          <a:xfrm>
            <a:off x="441849" y="441278"/>
            <a:ext cx="8794750" cy="356527"/>
          </a:xfrm>
        </p:spPr>
        <p:txBody>
          <a:bodyPr/>
          <a:lstStyle/>
          <a:p>
            <a:r>
              <a:rPr lang="en-US" noProof="0" dirty="0"/>
              <a:t>What have I done up to now (3/4)</a:t>
            </a:r>
          </a:p>
        </p:txBody>
      </p:sp>
      <p:sp>
        <p:nvSpPr>
          <p:cNvPr id="6" name="Rectangle 5">
            <a:extLst>
              <a:ext uri="{FF2B5EF4-FFF2-40B4-BE49-F238E27FC236}">
                <a16:creationId xmlns:a16="http://schemas.microsoft.com/office/drawing/2014/main" id="{8EB9EF8F-4854-4283-B8A0-2AA6E28557E3}"/>
              </a:ext>
            </a:extLst>
          </p:cNvPr>
          <p:cNvSpPr/>
          <p:nvPr/>
        </p:nvSpPr>
        <p:spPr>
          <a:xfrm>
            <a:off x="195975" y="1703733"/>
            <a:ext cx="10907453" cy="2308324"/>
          </a:xfrm>
          <a:prstGeom prst="rect">
            <a:avLst/>
          </a:prstGeom>
        </p:spPr>
        <p:txBody>
          <a:bodyPr wrap="square">
            <a:spAutoFit/>
          </a:bodyPr>
          <a:lstStyle/>
          <a:p>
            <a:pPr marL="571500" lvl="1"/>
            <a:r>
              <a:rPr lang="en-US" sz="1600" b="1" dirty="0" err="1">
                <a:latin typeface="Calibri" panose="020F0502020204030204" pitchFamily="34" charset="0"/>
                <a:ea typeface="Calibri" panose="020F0502020204030204" pitchFamily="34" charset="0"/>
              </a:rPr>
              <a:t>generate_standard_volatility_surface</a:t>
            </a:r>
            <a:r>
              <a:rPr lang="en-US" sz="1600" b="1" dirty="0">
                <a:latin typeface="Calibri" panose="020F0502020204030204" pitchFamily="34" charset="0"/>
                <a:ea typeface="Calibri" panose="020F0502020204030204" pitchFamily="34" charset="0"/>
              </a:rPr>
              <a:t>(</a:t>
            </a:r>
            <a:r>
              <a:rPr lang="en-US" sz="1600" b="1" dirty="0" err="1">
                <a:latin typeface="Calibri" panose="020F0502020204030204" pitchFamily="34" charset="0"/>
                <a:ea typeface="Calibri" panose="020F0502020204030204" pitchFamily="34" charset="0"/>
              </a:rPr>
              <a:t>df_model,df_ZC</a:t>
            </a:r>
            <a:r>
              <a:rPr lang="en-US" sz="1600" b="1" dirty="0">
                <a:latin typeface="Calibri" panose="020F0502020204030204" pitchFamily="34" charset="0"/>
                <a:ea typeface="Calibri" panose="020F0502020204030204" pitchFamily="34" charset="0"/>
              </a:rPr>
              <a:t>)</a:t>
            </a:r>
          </a:p>
          <a:p>
            <a:pPr marL="571500" lvl="1"/>
            <a:endParaRPr lang="en-US" sz="1600" b="1" dirty="0">
              <a:latin typeface="Calibri" panose="020F0502020204030204" pitchFamily="34" charset="0"/>
              <a:ea typeface="Calibri" panose="020F0502020204030204" pitchFamily="34" charset="0"/>
            </a:endParaRPr>
          </a:p>
          <a:p>
            <a:pPr marL="914400" lvl="1" indent="-342900">
              <a:buFont typeface="+mj-lt"/>
              <a:buAutoNum type="arabicPeriod"/>
            </a:pPr>
            <a:r>
              <a:rPr lang="en-US" sz="1600" dirty="0">
                <a:latin typeface="Calibri" panose="020F0502020204030204" pitchFamily="34" charset="0"/>
                <a:ea typeface="Calibri" panose="020F0502020204030204" pitchFamily="34" charset="0"/>
              </a:rPr>
              <a:t>Define standard deltas and standard TTMs</a:t>
            </a:r>
          </a:p>
          <a:p>
            <a:pPr marL="1371600" lvl="2" indent="-342900">
              <a:buFont typeface="Arial" panose="020B0604020202020204" pitchFamily="34" charset="0"/>
              <a:buChar char="•"/>
            </a:pPr>
            <a:r>
              <a:rPr lang="en-US" sz="1600" dirty="0" err="1">
                <a:latin typeface="Calibri" panose="020F0502020204030204" pitchFamily="34" charset="0"/>
                <a:ea typeface="Calibri" panose="020F0502020204030204" pitchFamily="34" charset="0"/>
              </a:rPr>
              <a:t>std_ttms</a:t>
            </a:r>
            <a:r>
              <a:rPr lang="en-US" sz="1600" dirty="0">
                <a:latin typeface="Calibri" panose="020F0502020204030204" pitchFamily="34" charset="0"/>
                <a:ea typeface="Calibri" panose="020F0502020204030204" pitchFamily="34" charset="0"/>
              </a:rPr>
              <a:t> = </a:t>
            </a:r>
            <a:r>
              <a:rPr lang="en-US" sz="1600" dirty="0" err="1">
                <a:latin typeface="Calibri" panose="020F0502020204030204" pitchFamily="34" charset="0"/>
                <a:ea typeface="Calibri" panose="020F0502020204030204" pitchFamily="34" charset="0"/>
              </a:rPr>
              <a:t>np.array</a:t>
            </a:r>
            <a:r>
              <a:rPr lang="en-US" sz="1600" dirty="0">
                <a:latin typeface="Calibri" panose="020F0502020204030204" pitchFamily="34" charset="0"/>
                <a:ea typeface="Calibri" panose="020F0502020204030204" pitchFamily="34" charset="0"/>
              </a:rPr>
              <a:t>([30, 60, 91, 122, 152, 182, 273, 365, 547, 730])</a:t>
            </a:r>
          </a:p>
          <a:p>
            <a:pPr marL="1371600" lvl="2" indent="-342900">
              <a:buFont typeface="Arial" panose="020B0604020202020204" pitchFamily="34" charset="0"/>
              <a:buChar char="•"/>
            </a:pPr>
            <a:r>
              <a:rPr lang="en-US" sz="1600" dirty="0" err="1">
                <a:latin typeface="Calibri" panose="020F0502020204030204" pitchFamily="34" charset="0"/>
                <a:ea typeface="Calibri" panose="020F0502020204030204" pitchFamily="34" charset="0"/>
              </a:rPr>
              <a:t>std_deltas</a:t>
            </a:r>
            <a:r>
              <a:rPr lang="en-US" sz="1600" dirty="0">
                <a:latin typeface="Calibri" panose="020F0502020204030204" pitchFamily="34" charset="0"/>
                <a:ea typeface="Calibri" panose="020F0502020204030204" pitchFamily="34" charset="0"/>
              </a:rPr>
              <a:t>=</a:t>
            </a:r>
            <a:r>
              <a:rPr lang="en-US" sz="1600" dirty="0" err="1">
                <a:latin typeface="Calibri" panose="020F0502020204030204" pitchFamily="34" charset="0"/>
                <a:ea typeface="Calibri" panose="020F0502020204030204" pitchFamily="34" charset="0"/>
              </a:rPr>
              <a:t>np.arange</a:t>
            </a:r>
            <a:r>
              <a:rPr lang="en-US" sz="1600" dirty="0">
                <a:latin typeface="Calibri" panose="020F0502020204030204" pitchFamily="34" charset="0"/>
                <a:ea typeface="Calibri" panose="020F0502020204030204" pitchFamily="34" charset="0"/>
              </a:rPr>
              <a:t>(0.2,0.8,0.05)</a:t>
            </a:r>
          </a:p>
          <a:p>
            <a:pPr marL="1371600" lvl="2" indent="-342900">
              <a:buFont typeface="Arial" panose="020B0604020202020204" pitchFamily="34" charset="0"/>
              <a:buChar char="•"/>
            </a:pPr>
            <a:endParaRPr lang="en-US" sz="1600" dirty="0">
              <a:latin typeface="Calibri" panose="020F0502020204030204" pitchFamily="34" charset="0"/>
              <a:ea typeface="Calibri" panose="020F0502020204030204" pitchFamily="34" charset="0"/>
            </a:endParaRPr>
          </a:p>
          <a:p>
            <a:pPr marL="914400" lvl="1" indent="-342900">
              <a:buFont typeface="+mj-lt"/>
              <a:buAutoNum type="arabicPeriod"/>
            </a:pPr>
            <a:r>
              <a:rPr lang="en-US" sz="1600" dirty="0">
                <a:latin typeface="Calibri" panose="020F0502020204030204" pitchFamily="34" charset="0"/>
                <a:ea typeface="Calibri" panose="020F0502020204030204" pitchFamily="34" charset="0"/>
              </a:rPr>
              <a:t>Generate standard vol surface </a:t>
            </a:r>
            <a:r>
              <a:rPr lang="en-US" sz="1600" dirty="0" err="1">
                <a:latin typeface="Calibri" panose="020F0502020204030204" pitchFamily="34" charset="0"/>
                <a:ea typeface="Calibri" panose="020F0502020204030204" pitchFamily="34" charset="0"/>
              </a:rPr>
              <a:t>dataframe</a:t>
            </a:r>
            <a:r>
              <a:rPr lang="en-US" sz="1600" dirty="0">
                <a:latin typeface="Calibri" panose="020F0502020204030204" pitchFamily="34" charset="0"/>
                <a:ea typeface="Calibri" panose="020F0502020204030204" pitchFamily="34" charset="0"/>
              </a:rPr>
              <a:t> (empty)</a:t>
            </a:r>
          </a:p>
          <a:p>
            <a:pPr marL="914400" lvl="1" indent="-342900">
              <a:buFont typeface="+mj-lt"/>
              <a:buAutoNum type="arabicPeriod"/>
            </a:pPr>
            <a:endParaRPr lang="en-US" sz="1600" dirty="0">
              <a:latin typeface="Calibri" panose="020F0502020204030204" pitchFamily="34" charset="0"/>
              <a:ea typeface="Calibri" panose="020F0502020204030204" pitchFamily="34" charset="0"/>
            </a:endParaRPr>
          </a:p>
          <a:p>
            <a:pPr marL="914400" lvl="1" indent="-342900">
              <a:buFont typeface="+mj-lt"/>
              <a:buAutoNum type="arabicPeriod"/>
            </a:pPr>
            <a:r>
              <a:rPr lang="en-US" sz="1600" dirty="0">
                <a:latin typeface="Calibri" panose="020F0502020204030204" pitchFamily="34" charset="0"/>
                <a:ea typeface="Calibri" panose="020F0502020204030204" pitchFamily="34" charset="0"/>
              </a:rPr>
              <a:t>Populate implied volatilities using smoothing algorithm</a:t>
            </a:r>
          </a:p>
        </p:txBody>
      </p:sp>
    </p:spTree>
    <p:extLst>
      <p:ext uri="{BB962C8B-B14F-4D97-AF65-F5344CB8AC3E}">
        <p14:creationId xmlns:p14="http://schemas.microsoft.com/office/powerpoint/2010/main" val="3198978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382962-7DA7-4001-82BD-F82D2BAF09BA}"/>
              </a:ext>
            </a:extLst>
          </p:cNvPr>
          <p:cNvSpPr>
            <a:spLocks noGrp="1"/>
          </p:cNvSpPr>
          <p:nvPr>
            <p:ph type="body" sz="quarter" idx="12"/>
          </p:nvPr>
        </p:nvSpPr>
        <p:spPr>
          <a:xfrm>
            <a:off x="441849" y="441278"/>
            <a:ext cx="3677145" cy="356527"/>
          </a:xfrm>
        </p:spPr>
        <p:txBody>
          <a:bodyPr/>
          <a:lstStyle/>
          <a:p>
            <a:r>
              <a:rPr lang="en-US" noProof="0" dirty="0"/>
              <a:t>Testing Results</a:t>
            </a:r>
          </a:p>
        </p:txBody>
      </p:sp>
      <p:sp>
        <p:nvSpPr>
          <p:cNvPr id="3" name="TextBox 2">
            <a:extLst>
              <a:ext uri="{FF2B5EF4-FFF2-40B4-BE49-F238E27FC236}">
                <a16:creationId xmlns:a16="http://schemas.microsoft.com/office/drawing/2014/main" id="{9E34262F-5915-48BE-B899-13031D8A3514}"/>
              </a:ext>
            </a:extLst>
          </p:cNvPr>
          <p:cNvSpPr txBox="1"/>
          <p:nvPr/>
        </p:nvSpPr>
        <p:spPr>
          <a:xfrm>
            <a:off x="355881" y="963237"/>
            <a:ext cx="10398805" cy="1815882"/>
          </a:xfrm>
          <a:prstGeom prst="rect">
            <a:avLst/>
          </a:prstGeom>
          <a:noFill/>
          <a:ln>
            <a:noFill/>
          </a:ln>
        </p:spPr>
        <p:txBody>
          <a:bodyPr wrap="square" rtlCol="0">
            <a:spAutoFit/>
          </a:bodyPr>
          <a:lstStyle/>
          <a:p>
            <a:r>
              <a:rPr lang="es-AR" sz="1600" dirty="0" err="1">
                <a:solidFill>
                  <a:srgbClr val="1A427E"/>
                </a:solidFill>
              </a:rPr>
              <a:t>Testing</a:t>
            </a:r>
            <a:r>
              <a:rPr lang="es-AR" sz="1600" dirty="0">
                <a:solidFill>
                  <a:srgbClr val="1A427E"/>
                </a:solidFill>
              </a:rPr>
              <a:t> </a:t>
            </a:r>
            <a:r>
              <a:rPr lang="es-AR" sz="1600" dirty="0" err="1">
                <a:solidFill>
                  <a:srgbClr val="1A427E"/>
                </a:solidFill>
              </a:rPr>
              <a:t>ivol</a:t>
            </a:r>
            <a:r>
              <a:rPr lang="es-AR" sz="1600" dirty="0">
                <a:solidFill>
                  <a:srgbClr val="1A427E"/>
                </a:solidFill>
              </a:rPr>
              <a:t> </a:t>
            </a:r>
            <a:r>
              <a:rPr lang="es-AR" sz="1600" dirty="0" err="1">
                <a:solidFill>
                  <a:srgbClr val="1A427E"/>
                </a:solidFill>
              </a:rPr>
              <a:t>calculation</a:t>
            </a:r>
            <a:r>
              <a:rPr lang="es-AR" sz="1600" dirty="0">
                <a:solidFill>
                  <a:srgbClr val="1A427E"/>
                </a:solidFill>
              </a:rPr>
              <a:t> and </a:t>
            </a:r>
            <a:r>
              <a:rPr lang="es-AR" sz="1600" dirty="0" err="1">
                <a:solidFill>
                  <a:srgbClr val="1A427E"/>
                </a:solidFill>
              </a:rPr>
              <a:t>pricing</a:t>
            </a:r>
            <a:r>
              <a:rPr lang="es-AR" sz="1600" dirty="0">
                <a:solidFill>
                  <a:srgbClr val="1A427E"/>
                </a:solidFill>
              </a:rPr>
              <a:t> </a:t>
            </a:r>
            <a:r>
              <a:rPr lang="es-AR" sz="1600" dirty="0" err="1">
                <a:solidFill>
                  <a:srgbClr val="1A427E"/>
                </a:solidFill>
              </a:rPr>
              <a:t>helped</a:t>
            </a:r>
            <a:r>
              <a:rPr lang="es-AR" sz="1600" dirty="0">
                <a:solidFill>
                  <a:srgbClr val="1A427E"/>
                </a:solidFill>
              </a:rPr>
              <a:t> me </a:t>
            </a:r>
            <a:r>
              <a:rPr lang="es-AR" sz="1600" dirty="0" err="1">
                <a:solidFill>
                  <a:srgbClr val="1A427E"/>
                </a:solidFill>
              </a:rPr>
              <a:t>understand</a:t>
            </a:r>
            <a:r>
              <a:rPr lang="es-AR" sz="1600" dirty="0">
                <a:solidFill>
                  <a:srgbClr val="1A427E"/>
                </a:solidFill>
              </a:rPr>
              <a:t>:</a:t>
            </a:r>
          </a:p>
          <a:p>
            <a:pPr algn="ctr"/>
            <a:endParaRPr lang="es-AR" sz="1600" dirty="0">
              <a:solidFill>
                <a:srgbClr val="1A427E"/>
              </a:solidFill>
            </a:endParaRPr>
          </a:p>
          <a:p>
            <a:pPr marL="285750" indent="-285750">
              <a:buFont typeface="Arial" panose="020B0604020202020204" pitchFamily="34" charset="0"/>
              <a:buChar char="•"/>
            </a:pPr>
            <a:r>
              <a:rPr lang="en-US" sz="1600" dirty="0">
                <a:solidFill>
                  <a:srgbClr val="1A427E"/>
                </a:solidFill>
              </a:rPr>
              <a:t>Use of Rate curve data in </a:t>
            </a:r>
            <a:r>
              <a:rPr lang="en-US" sz="1600" dirty="0" err="1">
                <a:solidFill>
                  <a:srgbClr val="1A427E"/>
                </a:solidFill>
              </a:rPr>
              <a:t>pricer</a:t>
            </a:r>
            <a:r>
              <a:rPr lang="en-US" sz="1600" dirty="0">
                <a:solidFill>
                  <a:srgbClr val="1A427E"/>
                </a:solidFill>
              </a:rPr>
              <a:t> – I tested constant, piecewise constant, </a:t>
            </a:r>
            <a:r>
              <a:rPr lang="en-US" sz="1600" b="1" dirty="0">
                <a:solidFill>
                  <a:srgbClr val="1A427E"/>
                </a:solidFill>
              </a:rPr>
              <a:t>piecewise linear</a:t>
            </a:r>
          </a:p>
          <a:p>
            <a:pPr marL="285750" indent="-285750">
              <a:buFont typeface="Arial" panose="020B0604020202020204" pitchFamily="34" charset="0"/>
              <a:buChar char="•"/>
            </a:pPr>
            <a:r>
              <a:rPr lang="en-US" sz="1600" dirty="0">
                <a:solidFill>
                  <a:srgbClr val="1A427E"/>
                </a:solidFill>
              </a:rPr>
              <a:t>Use of Dividend data in </a:t>
            </a:r>
            <a:r>
              <a:rPr lang="en-US" sz="1600" dirty="0" err="1">
                <a:solidFill>
                  <a:srgbClr val="1A427E"/>
                </a:solidFill>
              </a:rPr>
              <a:t>pricer</a:t>
            </a:r>
            <a:r>
              <a:rPr lang="en-US" sz="1600" dirty="0">
                <a:solidFill>
                  <a:srgbClr val="1A427E"/>
                </a:solidFill>
              </a:rPr>
              <a:t> – I tested constant (from another data source) and constant from OM analytics</a:t>
            </a:r>
          </a:p>
          <a:p>
            <a:pPr marL="285750" indent="-285750">
              <a:buFont typeface="Arial" panose="020B0604020202020204" pitchFamily="34" charset="0"/>
              <a:buChar char="•"/>
            </a:pPr>
            <a:r>
              <a:rPr lang="en-US" sz="1600" dirty="0">
                <a:solidFill>
                  <a:srgbClr val="1A427E"/>
                </a:solidFill>
              </a:rPr>
              <a:t>CRR vs LR algorithms</a:t>
            </a:r>
          </a:p>
          <a:p>
            <a:pPr marL="285750" indent="-285750">
              <a:buFont typeface="Arial" panose="020B0604020202020204" pitchFamily="34" charset="0"/>
              <a:buChar char="•"/>
            </a:pPr>
            <a:r>
              <a:rPr lang="en-US" sz="1600" dirty="0" err="1">
                <a:solidFill>
                  <a:srgbClr val="1A427E"/>
                </a:solidFill>
              </a:rPr>
              <a:t>Convergenge</a:t>
            </a:r>
            <a:r>
              <a:rPr lang="en-US" sz="1600" dirty="0">
                <a:solidFill>
                  <a:srgbClr val="1A427E"/>
                </a:solidFill>
              </a:rPr>
              <a:t> of </a:t>
            </a:r>
            <a:r>
              <a:rPr lang="en-US" sz="1600" dirty="0" err="1">
                <a:solidFill>
                  <a:srgbClr val="1A427E"/>
                </a:solidFill>
              </a:rPr>
              <a:t>Leisen</a:t>
            </a:r>
            <a:r>
              <a:rPr lang="en-US" sz="1600" dirty="0">
                <a:solidFill>
                  <a:srgbClr val="1A427E"/>
                </a:solidFill>
              </a:rPr>
              <a:t>-Reimer algorithm</a:t>
            </a:r>
          </a:p>
          <a:p>
            <a:pPr marL="285750" indent="-285750">
              <a:buFont typeface="Arial" panose="020B0604020202020204" pitchFamily="34" charset="0"/>
              <a:buChar char="•"/>
            </a:pPr>
            <a:endParaRPr lang="en-US" sz="1600" dirty="0">
              <a:solidFill>
                <a:srgbClr val="1A427E"/>
              </a:solidFill>
            </a:endParaRPr>
          </a:p>
        </p:txBody>
      </p:sp>
      <p:sp>
        <p:nvSpPr>
          <p:cNvPr id="8" name="TextBox 7">
            <a:extLst>
              <a:ext uri="{FF2B5EF4-FFF2-40B4-BE49-F238E27FC236}">
                <a16:creationId xmlns:a16="http://schemas.microsoft.com/office/drawing/2014/main" id="{4063324E-C4E9-4094-9B79-0DCA3395E427}"/>
              </a:ext>
            </a:extLst>
          </p:cNvPr>
          <p:cNvSpPr txBox="1"/>
          <p:nvPr/>
        </p:nvSpPr>
        <p:spPr>
          <a:xfrm>
            <a:off x="355880" y="2657813"/>
            <a:ext cx="10398805" cy="4770537"/>
          </a:xfrm>
          <a:prstGeom prst="rect">
            <a:avLst/>
          </a:prstGeom>
          <a:noFill/>
          <a:ln>
            <a:noFill/>
          </a:ln>
        </p:spPr>
        <p:txBody>
          <a:bodyPr wrap="square" rtlCol="0">
            <a:spAutoFit/>
          </a:bodyPr>
          <a:lstStyle/>
          <a:p>
            <a:r>
              <a:rPr lang="es-AR" sz="1600" dirty="0" err="1">
                <a:solidFill>
                  <a:srgbClr val="1A427E"/>
                </a:solidFill>
              </a:rPr>
              <a:t>What</a:t>
            </a:r>
            <a:r>
              <a:rPr lang="es-AR" sz="1600" dirty="0">
                <a:solidFill>
                  <a:srgbClr val="1A427E"/>
                </a:solidFill>
              </a:rPr>
              <a:t> I </a:t>
            </a:r>
            <a:r>
              <a:rPr lang="es-AR" sz="1600" dirty="0" err="1">
                <a:solidFill>
                  <a:srgbClr val="1A427E"/>
                </a:solidFill>
              </a:rPr>
              <a:t>have</a:t>
            </a:r>
            <a:r>
              <a:rPr lang="es-AR" sz="1600" dirty="0">
                <a:solidFill>
                  <a:srgbClr val="1A427E"/>
                </a:solidFill>
              </a:rPr>
              <a:t> </a:t>
            </a:r>
            <a:r>
              <a:rPr lang="es-AR" sz="1600" dirty="0" err="1">
                <a:solidFill>
                  <a:srgbClr val="1A427E"/>
                </a:solidFill>
              </a:rPr>
              <a:t>tested</a:t>
            </a:r>
            <a:r>
              <a:rPr lang="es-AR" sz="1600" dirty="0">
                <a:solidFill>
                  <a:srgbClr val="1A427E"/>
                </a:solidFill>
              </a:rPr>
              <a:t>:</a:t>
            </a:r>
          </a:p>
          <a:p>
            <a:pPr algn="ctr"/>
            <a:endParaRPr lang="es-AR" sz="1600" dirty="0">
              <a:solidFill>
                <a:srgbClr val="1A427E"/>
              </a:solidFill>
            </a:endParaRPr>
          </a:p>
          <a:p>
            <a:pPr marL="285750" indent="-285750">
              <a:buFont typeface="Arial" panose="020B0604020202020204" pitchFamily="34" charset="0"/>
              <a:buChar char="•"/>
            </a:pPr>
            <a:r>
              <a:rPr lang="en-US" sz="1600" dirty="0">
                <a:solidFill>
                  <a:srgbClr val="1A427E"/>
                </a:solidFill>
              </a:rPr>
              <a:t>Tested AAPL, WFC and SPX options on a couple of business dates</a:t>
            </a:r>
          </a:p>
          <a:p>
            <a:pPr marL="285750" indent="-285750">
              <a:buFont typeface="Arial" panose="020B0604020202020204" pitchFamily="34" charset="0"/>
              <a:buChar char="•"/>
            </a:pPr>
            <a:endParaRPr lang="en-US" sz="1600" b="1" dirty="0">
              <a:solidFill>
                <a:srgbClr val="1A427E"/>
              </a:solidFill>
            </a:endParaRPr>
          </a:p>
          <a:p>
            <a:pPr marL="285750" indent="-285750">
              <a:buFont typeface="Arial" panose="020B0604020202020204" pitchFamily="34" charset="0"/>
              <a:buChar char="•"/>
            </a:pPr>
            <a:r>
              <a:rPr lang="en-US" sz="1600" dirty="0" err="1">
                <a:solidFill>
                  <a:srgbClr val="1A427E"/>
                </a:solidFill>
              </a:rPr>
              <a:t>Ivol</a:t>
            </a:r>
            <a:r>
              <a:rPr lang="en-US" sz="1600" dirty="0">
                <a:solidFill>
                  <a:srgbClr val="1A427E"/>
                </a:solidFill>
              </a:rPr>
              <a:t> from market data:</a:t>
            </a:r>
          </a:p>
          <a:p>
            <a:pPr marL="742950" lvl="1" indent="-285750">
              <a:buFont typeface="Arial" panose="020B0604020202020204" pitchFamily="34" charset="0"/>
              <a:buChar char="•"/>
            </a:pPr>
            <a:r>
              <a:rPr lang="en-US" sz="1600" dirty="0">
                <a:solidFill>
                  <a:srgbClr val="1A427E"/>
                </a:solidFill>
              </a:rPr>
              <a:t>average of 2-5% match – relative difference</a:t>
            </a:r>
          </a:p>
          <a:p>
            <a:pPr marL="742950" lvl="1" indent="-285750">
              <a:buFont typeface="Arial" panose="020B0604020202020204" pitchFamily="34" charset="0"/>
              <a:buChar char="•"/>
            </a:pPr>
            <a:r>
              <a:rPr lang="en-US" sz="1600" dirty="0" err="1">
                <a:solidFill>
                  <a:srgbClr val="1A427E"/>
                </a:solidFill>
              </a:rPr>
              <a:t>missmatch</a:t>
            </a:r>
            <a:r>
              <a:rPr lang="en-US" sz="1600" dirty="0">
                <a:solidFill>
                  <a:srgbClr val="1A427E"/>
                </a:solidFill>
              </a:rPr>
              <a:t> (&gt;25 %) in deep in the money options (CALLS Delta ~1, PUTS Delta ~ -1)</a:t>
            </a:r>
          </a:p>
          <a:p>
            <a:pPr marL="285750" indent="-285750">
              <a:buFont typeface="Arial" panose="020B0604020202020204" pitchFamily="34" charset="0"/>
              <a:buChar char="•"/>
            </a:pPr>
            <a:endParaRPr lang="en-US" sz="1600" dirty="0">
              <a:solidFill>
                <a:srgbClr val="1A427E"/>
              </a:solidFill>
            </a:endParaRPr>
          </a:p>
          <a:p>
            <a:pPr marL="285750" indent="-285750">
              <a:buFont typeface="Arial" panose="020B0604020202020204" pitchFamily="34" charset="0"/>
              <a:buChar char="•"/>
            </a:pPr>
            <a:r>
              <a:rPr lang="en-US" sz="1600" dirty="0">
                <a:solidFill>
                  <a:srgbClr val="1A427E"/>
                </a:solidFill>
              </a:rPr>
              <a:t>Perfect repricing (1e-8 </a:t>
            </a:r>
            <a:r>
              <a:rPr lang="en-US" sz="1600" dirty="0" err="1">
                <a:solidFill>
                  <a:srgbClr val="1A427E"/>
                </a:solidFill>
              </a:rPr>
              <a:t>rel</a:t>
            </a:r>
            <a:r>
              <a:rPr lang="en-US" sz="1600" dirty="0">
                <a:solidFill>
                  <a:srgbClr val="1A427E"/>
                </a:solidFill>
              </a:rPr>
              <a:t> error)</a:t>
            </a:r>
          </a:p>
          <a:p>
            <a:pPr marL="285750" indent="-285750">
              <a:buFont typeface="Arial" panose="020B0604020202020204" pitchFamily="34" charset="0"/>
              <a:buChar char="•"/>
            </a:pPr>
            <a:endParaRPr lang="en-US" sz="1600" dirty="0">
              <a:solidFill>
                <a:srgbClr val="1A427E"/>
              </a:solidFill>
            </a:endParaRPr>
          </a:p>
          <a:p>
            <a:pPr marL="285750" indent="-285750">
              <a:buFont typeface="Arial" panose="020B0604020202020204" pitchFamily="34" charset="0"/>
              <a:buChar char="•"/>
            </a:pPr>
            <a:r>
              <a:rPr lang="en-US" sz="1600" dirty="0">
                <a:solidFill>
                  <a:srgbClr val="1A427E"/>
                </a:solidFill>
              </a:rPr>
              <a:t>Good Greeks calculations</a:t>
            </a:r>
          </a:p>
          <a:p>
            <a:pPr marL="285750" indent="-285750">
              <a:buFont typeface="Arial" panose="020B0604020202020204" pitchFamily="34" charset="0"/>
              <a:buChar char="•"/>
            </a:pPr>
            <a:endParaRPr lang="en-US" sz="1600" dirty="0">
              <a:solidFill>
                <a:srgbClr val="1A427E"/>
              </a:solidFill>
            </a:endParaRPr>
          </a:p>
          <a:p>
            <a:pPr marL="285750" indent="-285750">
              <a:buFont typeface="Arial" panose="020B0604020202020204" pitchFamily="34" charset="0"/>
              <a:buChar char="•"/>
            </a:pPr>
            <a:r>
              <a:rPr lang="en-US" sz="1600" dirty="0" err="1">
                <a:solidFill>
                  <a:srgbClr val="1A427E"/>
                </a:solidFill>
              </a:rPr>
              <a:t>Ivol</a:t>
            </a:r>
            <a:r>
              <a:rPr lang="en-US" sz="1600" dirty="0">
                <a:solidFill>
                  <a:srgbClr val="1A427E"/>
                </a:solidFill>
              </a:rPr>
              <a:t> for standard options:</a:t>
            </a:r>
          </a:p>
          <a:p>
            <a:pPr marL="742950" lvl="1" indent="-285750">
              <a:buFont typeface="Arial" panose="020B0604020202020204" pitchFamily="34" charset="0"/>
              <a:buChar char="•"/>
            </a:pPr>
            <a:r>
              <a:rPr lang="en-US" sz="1600" dirty="0">
                <a:solidFill>
                  <a:srgbClr val="1A427E"/>
                </a:solidFill>
              </a:rPr>
              <a:t>average of 2-3% match – relative difference</a:t>
            </a:r>
          </a:p>
          <a:p>
            <a:pPr marL="742950" lvl="1" indent="-285750">
              <a:buFont typeface="Arial" panose="020B0604020202020204" pitchFamily="34" charset="0"/>
              <a:buChar char="•"/>
            </a:pPr>
            <a:r>
              <a:rPr lang="en-US" sz="1600" dirty="0" err="1">
                <a:solidFill>
                  <a:srgbClr val="1A427E"/>
                </a:solidFill>
              </a:rPr>
              <a:t>missmatch</a:t>
            </a:r>
            <a:r>
              <a:rPr lang="en-US" sz="1600" dirty="0">
                <a:solidFill>
                  <a:srgbClr val="1A427E"/>
                </a:solidFill>
              </a:rPr>
              <a:t> (5 (index)-15(stock) % MAX) in out of the money options (Delta +-20%)</a:t>
            </a:r>
          </a:p>
          <a:p>
            <a:pPr marL="285750" indent="-285750">
              <a:buFont typeface="Arial" panose="020B0604020202020204" pitchFamily="34" charset="0"/>
              <a:buChar char="•"/>
            </a:pPr>
            <a:endParaRPr lang="en-US" sz="1600" dirty="0">
              <a:solidFill>
                <a:srgbClr val="1A427E"/>
              </a:solidFill>
            </a:endParaRPr>
          </a:p>
          <a:p>
            <a:pPr marL="742950" lvl="1" indent="-285750">
              <a:buFont typeface="Arial" panose="020B0604020202020204" pitchFamily="34" charset="0"/>
              <a:buChar char="•"/>
            </a:pPr>
            <a:endParaRPr lang="en-US" sz="1600" dirty="0">
              <a:solidFill>
                <a:srgbClr val="1A427E"/>
              </a:solidFill>
            </a:endParaRPr>
          </a:p>
          <a:p>
            <a:pPr marL="285750" indent="-285750">
              <a:buFont typeface="Arial" panose="020B0604020202020204" pitchFamily="34" charset="0"/>
              <a:buChar char="•"/>
            </a:pPr>
            <a:endParaRPr lang="en-US" sz="1600" dirty="0">
              <a:solidFill>
                <a:srgbClr val="1A427E"/>
              </a:solidFill>
            </a:endParaRPr>
          </a:p>
          <a:p>
            <a:pPr marL="285750" indent="-285750">
              <a:buFont typeface="Arial" panose="020B0604020202020204" pitchFamily="34" charset="0"/>
              <a:buChar char="•"/>
            </a:pPr>
            <a:endParaRPr lang="en-US" sz="1600" dirty="0">
              <a:solidFill>
                <a:srgbClr val="1A427E"/>
              </a:solidFill>
            </a:endParaRPr>
          </a:p>
        </p:txBody>
      </p:sp>
    </p:spTree>
    <p:extLst>
      <p:ext uri="{BB962C8B-B14F-4D97-AF65-F5344CB8AC3E}">
        <p14:creationId xmlns:p14="http://schemas.microsoft.com/office/powerpoint/2010/main" val="2988917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10BBCD5-09B9-42EE-94E4-C2A955D7AF45}"/>
              </a:ext>
            </a:extLst>
          </p:cNvPr>
          <p:cNvSpPr>
            <a:spLocks noGrp="1"/>
          </p:cNvSpPr>
          <p:nvPr>
            <p:ph type="body" sz="quarter" idx="12"/>
          </p:nvPr>
        </p:nvSpPr>
        <p:spPr>
          <a:xfrm>
            <a:off x="576072" y="144196"/>
            <a:ext cx="11053676" cy="713054"/>
          </a:xfrm>
        </p:spPr>
        <p:txBody>
          <a:bodyPr/>
          <a:lstStyle/>
          <a:p>
            <a:r>
              <a:rPr lang="en-US" noProof="0" dirty="0"/>
              <a:t>Comparison 1 – AAPL 04/04/2019 - 1604 listed options P+C (1407 after cleanse)</a:t>
            </a:r>
          </a:p>
          <a:p>
            <a:r>
              <a:rPr lang="en-US" noProof="0" dirty="0"/>
              <a:t>             Data                                          CALLS                                   AXIOMA</a:t>
            </a:r>
          </a:p>
        </p:txBody>
      </p:sp>
      <p:pic>
        <p:nvPicPr>
          <p:cNvPr id="5" name="Picture 4">
            <a:extLst>
              <a:ext uri="{FF2B5EF4-FFF2-40B4-BE49-F238E27FC236}">
                <a16:creationId xmlns:a16="http://schemas.microsoft.com/office/drawing/2014/main" id="{E865D610-C111-4F50-931D-73E6F01E0C78}"/>
              </a:ext>
            </a:extLst>
          </p:cNvPr>
          <p:cNvPicPr>
            <a:picLocks noChangeAspect="1"/>
          </p:cNvPicPr>
          <p:nvPr/>
        </p:nvPicPr>
        <p:blipFill rotWithShape="1">
          <a:blip r:embed="rId2"/>
          <a:srcRect t="5639" r="50974" b="5484"/>
          <a:stretch/>
        </p:blipFill>
        <p:spPr>
          <a:xfrm>
            <a:off x="4444941" y="728253"/>
            <a:ext cx="6242634" cy="5593611"/>
          </a:xfrm>
          <a:prstGeom prst="rect">
            <a:avLst/>
          </a:prstGeom>
        </p:spPr>
      </p:pic>
      <p:pic>
        <p:nvPicPr>
          <p:cNvPr id="7" name="Picture 6">
            <a:extLst>
              <a:ext uri="{FF2B5EF4-FFF2-40B4-BE49-F238E27FC236}">
                <a16:creationId xmlns:a16="http://schemas.microsoft.com/office/drawing/2014/main" id="{C63B2C6B-AF81-4956-BB8A-6FDAB60B2169}"/>
              </a:ext>
            </a:extLst>
          </p:cNvPr>
          <p:cNvPicPr>
            <a:picLocks noChangeAspect="1"/>
          </p:cNvPicPr>
          <p:nvPr/>
        </p:nvPicPr>
        <p:blipFill rotWithShape="1">
          <a:blip r:embed="rId3"/>
          <a:srcRect l="8474" t="7216" r="50566" b="3908"/>
          <a:stretch/>
        </p:blipFill>
        <p:spPr>
          <a:xfrm>
            <a:off x="167182" y="792752"/>
            <a:ext cx="5033992" cy="5529112"/>
          </a:xfrm>
          <a:prstGeom prst="rect">
            <a:avLst/>
          </a:prstGeom>
        </p:spPr>
      </p:pic>
      <p:sp>
        <p:nvSpPr>
          <p:cNvPr id="12" name="Oval 11">
            <a:extLst>
              <a:ext uri="{FF2B5EF4-FFF2-40B4-BE49-F238E27FC236}">
                <a16:creationId xmlns:a16="http://schemas.microsoft.com/office/drawing/2014/main" id="{BFB40F0F-229C-48AF-8B5B-5DB8924FC5CD}"/>
              </a:ext>
            </a:extLst>
          </p:cNvPr>
          <p:cNvSpPr/>
          <p:nvPr/>
        </p:nvSpPr>
        <p:spPr>
          <a:xfrm>
            <a:off x="796954" y="4286774"/>
            <a:ext cx="1375795" cy="150163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F5BF2100-8ABC-4FE4-A035-D90AADB30108}"/>
              </a:ext>
            </a:extLst>
          </p:cNvPr>
          <p:cNvSpPr/>
          <p:nvPr/>
        </p:nvSpPr>
        <p:spPr>
          <a:xfrm>
            <a:off x="6302930" y="4439174"/>
            <a:ext cx="1375795" cy="150163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62394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p:cTn id="12" dur="500" fill="hold"/>
                                        <p:tgtEl>
                                          <p:spTgt spid="13"/>
                                        </p:tgtEl>
                                        <p:attrNameLst>
                                          <p:attrName>ppt_w</p:attrName>
                                        </p:attrNameLst>
                                      </p:cBhvr>
                                      <p:tavLst>
                                        <p:tav tm="0">
                                          <p:val>
                                            <p:fltVal val="0"/>
                                          </p:val>
                                        </p:tav>
                                        <p:tav tm="100000">
                                          <p:val>
                                            <p:strVal val="#ppt_w"/>
                                          </p:val>
                                        </p:tav>
                                      </p:tavLst>
                                    </p:anim>
                                    <p:anim calcmode="lin" valueType="num">
                                      <p:cBhvr>
                                        <p:cTn id="13" dur="500" fill="hold"/>
                                        <p:tgtEl>
                                          <p:spTgt spid="13"/>
                                        </p:tgtEl>
                                        <p:attrNameLst>
                                          <p:attrName>ppt_h</p:attrName>
                                        </p:attrNameLst>
                                      </p:cBhvr>
                                      <p:tavLst>
                                        <p:tav tm="0">
                                          <p:val>
                                            <p:fltVal val="0"/>
                                          </p:val>
                                        </p:tav>
                                        <p:tav tm="100000">
                                          <p:val>
                                            <p:strVal val="#ppt_h"/>
                                          </p:val>
                                        </p:tav>
                                      </p:tavLst>
                                    </p:anim>
                                    <p:animEffect transition="in" filter="fade">
                                      <p:cBhvr>
                                        <p:cTn id="1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10BBCD5-09B9-42EE-94E4-C2A955D7AF45}"/>
              </a:ext>
            </a:extLst>
          </p:cNvPr>
          <p:cNvSpPr>
            <a:spLocks noGrp="1"/>
          </p:cNvSpPr>
          <p:nvPr>
            <p:ph type="body" sz="quarter" idx="12"/>
          </p:nvPr>
        </p:nvSpPr>
        <p:spPr>
          <a:xfrm>
            <a:off x="576072" y="144196"/>
            <a:ext cx="8794750" cy="713054"/>
          </a:xfrm>
        </p:spPr>
        <p:txBody>
          <a:bodyPr/>
          <a:lstStyle/>
          <a:p>
            <a:r>
              <a:rPr lang="en-US" noProof="0" dirty="0"/>
              <a:t>Comparison 2 – AAPL 04/04/2019</a:t>
            </a:r>
          </a:p>
          <a:p>
            <a:r>
              <a:rPr lang="en-US" noProof="0" dirty="0"/>
              <a:t>             Data                                             PUTS                                   AXIOMA</a:t>
            </a:r>
          </a:p>
        </p:txBody>
      </p:sp>
      <p:pic>
        <p:nvPicPr>
          <p:cNvPr id="10" name="Picture 9">
            <a:extLst>
              <a:ext uri="{FF2B5EF4-FFF2-40B4-BE49-F238E27FC236}">
                <a16:creationId xmlns:a16="http://schemas.microsoft.com/office/drawing/2014/main" id="{B9C681F5-F4EC-40D3-B5B9-63E3C10A4709}"/>
              </a:ext>
            </a:extLst>
          </p:cNvPr>
          <p:cNvPicPr>
            <a:picLocks noChangeAspect="1"/>
          </p:cNvPicPr>
          <p:nvPr/>
        </p:nvPicPr>
        <p:blipFill rotWithShape="1">
          <a:blip r:embed="rId2"/>
          <a:srcRect l="50917" t="7323" r="9450" b="4305"/>
          <a:stretch/>
        </p:blipFill>
        <p:spPr>
          <a:xfrm>
            <a:off x="141388" y="857249"/>
            <a:ext cx="4832059" cy="5325437"/>
          </a:xfrm>
          <a:prstGeom prst="rect">
            <a:avLst/>
          </a:prstGeom>
        </p:spPr>
      </p:pic>
      <p:pic>
        <p:nvPicPr>
          <p:cNvPr id="12" name="Picture 11">
            <a:extLst>
              <a:ext uri="{FF2B5EF4-FFF2-40B4-BE49-F238E27FC236}">
                <a16:creationId xmlns:a16="http://schemas.microsoft.com/office/drawing/2014/main" id="{D11DF346-51D4-486C-8B28-4826D285DCDB}"/>
              </a:ext>
            </a:extLst>
          </p:cNvPr>
          <p:cNvPicPr>
            <a:picLocks noChangeAspect="1"/>
          </p:cNvPicPr>
          <p:nvPr/>
        </p:nvPicPr>
        <p:blipFill rotWithShape="1">
          <a:blip r:embed="rId3"/>
          <a:srcRect l="51537" t="9246" r="8831" b="5836"/>
          <a:stretch/>
        </p:blipFill>
        <p:spPr>
          <a:xfrm>
            <a:off x="6096000" y="870358"/>
            <a:ext cx="4832059" cy="5117284"/>
          </a:xfrm>
          <a:prstGeom prst="rect">
            <a:avLst/>
          </a:prstGeom>
        </p:spPr>
      </p:pic>
      <p:sp>
        <p:nvSpPr>
          <p:cNvPr id="13" name="Oval 12">
            <a:extLst>
              <a:ext uri="{FF2B5EF4-FFF2-40B4-BE49-F238E27FC236}">
                <a16:creationId xmlns:a16="http://schemas.microsoft.com/office/drawing/2014/main" id="{3969691D-F175-4AE4-AA15-365544170071}"/>
              </a:ext>
            </a:extLst>
          </p:cNvPr>
          <p:cNvSpPr/>
          <p:nvPr/>
        </p:nvSpPr>
        <p:spPr>
          <a:xfrm>
            <a:off x="6677636" y="4110605"/>
            <a:ext cx="1375795" cy="150163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E58352A4-D210-4DB4-98A8-066A784237D2}"/>
              </a:ext>
            </a:extLst>
          </p:cNvPr>
          <p:cNvSpPr/>
          <p:nvPr/>
        </p:nvSpPr>
        <p:spPr>
          <a:xfrm>
            <a:off x="690695" y="4254616"/>
            <a:ext cx="1375795" cy="150163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95693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p:cTn id="12" dur="500" fill="hold"/>
                                        <p:tgtEl>
                                          <p:spTgt spid="13"/>
                                        </p:tgtEl>
                                        <p:attrNameLst>
                                          <p:attrName>ppt_w</p:attrName>
                                        </p:attrNameLst>
                                      </p:cBhvr>
                                      <p:tavLst>
                                        <p:tav tm="0">
                                          <p:val>
                                            <p:fltVal val="0"/>
                                          </p:val>
                                        </p:tav>
                                        <p:tav tm="100000">
                                          <p:val>
                                            <p:strVal val="#ppt_w"/>
                                          </p:val>
                                        </p:tav>
                                      </p:tavLst>
                                    </p:anim>
                                    <p:anim calcmode="lin" valueType="num">
                                      <p:cBhvr>
                                        <p:cTn id="13" dur="500" fill="hold"/>
                                        <p:tgtEl>
                                          <p:spTgt spid="13"/>
                                        </p:tgtEl>
                                        <p:attrNameLst>
                                          <p:attrName>ppt_h</p:attrName>
                                        </p:attrNameLst>
                                      </p:cBhvr>
                                      <p:tavLst>
                                        <p:tav tm="0">
                                          <p:val>
                                            <p:fltVal val="0"/>
                                          </p:val>
                                        </p:tav>
                                        <p:tav tm="100000">
                                          <p:val>
                                            <p:strVal val="#ppt_h"/>
                                          </p:val>
                                        </p:tav>
                                      </p:tavLst>
                                    </p:anim>
                                    <p:animEffect transition="in" filter="fade">
                                      <p:cBhvr>
                                        <p:cTn id="1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10BBCD5-09B9-42EE-94E4-C2A955D7AF45}"/>
              </a:ext>
            </a:extLst>
          </p:cNvPr>
          <p:cNvSpPr>
            <a:spLocks noGrp="1"/>
          </p:cNvSpPr>
          <p:nvPr>
            <p:ph type="body" sz="quarter" idx="12"/>
          </p:nvPr>
        </p:nvSpPr>
        <p:spPr>
          <a:xfrm>
            <a:off x="576071" y="144196"/>
            <a:ext cx="10858367" cy="713054"/>
          </a:xfrm>
        </p:spPr>
        <p:txBody>
          <a:bodyPr/>
          <a:lstStyle/>
          <a:p>
            <a:r>
              <a:rPr lang="en-US" noProof="0" dirty="0"/>
              <a:t>Comparison 3 – SPX 04/04/2019 – 13473 listed options P+C (11465 after cleanse)</a:t>
            </a:r>
          </a:p>
          <a:p>
            <a:r>
              <a:rPr lang="en-US" noProof="0" dirty="0"/>
              <a:t>         Data                                                     CALLS                          AXIOMA</a:t>
            </a:r>
          </a:p>
        </p:txBody>
      </p:sp>
      <p:pic>
        <p:nvPicPr>
          <p:cNvPr id="4" name="Picture 3">
            <a:extLst>
              <a:ext uri="{FF2B5EF4-FFF2-40B4-BE49-F238E27FC236}">
                <a16:creationId xmlns:a16="http://schemas.microsoft.com/office/drawing/2014/main" id="{AB36AB54-98E7-489E-A7EA-23811B1C33B5}"/>
              </a:ext>
            </a:extLst>
          </p:cNvPr>
          <p:cNvPicPr>
            <a:picLocks noChangeAspect="1"/>
          </p:cNvPicPr>
          <p:nvPr/>
        </p:nvPicPr>
        <p:blipFill rotWithShape="1">
          <a:blip r:embed="rId2"/>
          <a:srcRect l="8601" t="7323" r="51422" b="6393"/>
          <a:stretch/>
        </p:blipFill>
        <p:spPr>
          <a:xfrm>
            <a:off x="587230" y="857250"/>
            <a:ext cx="4874004" cy="5199602"/>
          </a:xfrm>
          <a:prstGeom prst="rect">
            <a:avLst/>
          </a:prstGeom>
        </p:spPr>
      </p:pic>
      <p:pic>
        <p:nvPicPr>
          <p:cNvPr id="6" name="Picture 5">
            <a:extLst>
              <a:ext uri="{FF2B5EF4-FFF2-40B4-BE49-F238E27FC236}">
                <a16:creationId xmlns:a16="http://schemas.microsoft.com/office/drawing/2014/main" id="{EA846582-88D1-4017-9D1D-6EAEB9A1EB4D}"/>
              </a:ext>
            </a:extLst>
          </p:cNvPr>
          <p:cNvPicPr>
            <a:picLocks noChangeAspect="1"/>
          </p:cNvPicPr>
          <p:nvPr/>
        </p:nvPicPr>
        <p:blipFill rotWithShape="1">
          <a:blip r:embed="rId3"/>
          <a:srcRect l="8738" t="7323" r="51285" b="5140"/>
          <a:stretch/>
        </p:blipFill>
        <p:spPr>
          <a:xfrm>
            <a:off x="5813570" y="791448"/>
            <a:ext cx="4874005" cy="5275103"/>
          </a:xfrm>
          <a:prstGeom prst="rect">
            <a:avLst/>
          </a:prstGeom>
        </p:spPr>
      </p:pic>
    </p:spTree>
    <p:extLst>
      <p:ext uri="{BB962C8B-B14F-4D97-AF65-F5344CB8AC3E}">
        <p14:creationId xmlns:p14="http://schemas.microsoft.com/office/powerpoint/2010/main" val="20145703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10BBCD5-09B9-42EE-94E4-C2A955D7AF45}"/>
              </a:ext>
            </a:extLst>
          </p:cNvPr>
          <p:cNvSpPr>
            <a:spLocks noGrp="1"/>
          </p:cNvSpPr>
          <p:nvPr>
            <p:ph type="body" sz="quarter" idx="12"/>
          </p:nvPr>
        </p:nvSpPr>
        <p:spPr>
          <a:xfrm>
            <a:off x="576071" y="144196"/>
            <a:ext cx="10432239" cy="713054"/>
          </a:xfrm>
        </p:spPr>
        <p:txBody>
          <a:bodyPr/>
          <a:lstStyle/>
          <a:p>
            <a:r>
              <a:rPr lang="en-US" noProof="0" dirty="0"/>
              <a:t>Comparison 4 – SPX 04/04/2019 </a:t>
            </a:r>
          </a:p>
          <a:p>
            <a:r>
              <a:rPr lang="en-US" noProof="0" dirty="0"/>
              <a:t>           Data                                                     PUTS                                AXIOMA</a:t>
            </a:r>
          </a:p>
        </p:txBody>
      </p:sp>
      <p:pic>
        <p:nvPicPr>
          <p:cNvPr id="4" name="Picture 3">
            <a:extLst>
              <a:ext uri="{FF2B5EF4-FFF2-40B4-BE49-F238E27FC236}">
                <a16:creationId xmlns:a16="http://schemas.microsoft.com/office/drawing/2014/main" id="{5C855C3B-49C2-4FA4-BA83-6F152E50AD8E}"/>
              </a:ext>
            </a:extLst>
          </p:cNvPr>
          <p:cNvPicPr>
            <a:picLocks noChangeAspect="1"/>
          </p:cNvPicPr>
          <p:nvPr/>
        </p:nvPicPr>
        <p:blipFill rotWithShape="1">
          <a:blip r:embed="rId2"/>
          <a:srcRect l="50000" t="8689" r="7660" b="4443"/>
          <a:stretch/>
        </p:blipFill>
        <p:spPr>
          <a:xfrm>
            <a:off x="72705" y="939567"/>
            <a:ext cx="5162026" cy="5234730"/>
          </a:xfrm>
          <a:prstGeom prst="rect">
            <a:avLst/>
          </a:prstGeom>
        </p:spPr>
      </p:pic>
      <p:pic>
        <p:nvPicPr>
          <p:cNvPr id="6" name="Picture 5">
            <a:extLst>
              <a:ext uri="{FF2B5EF4-FFF2-40B4-BE49-F238E27FC236}">
                <a16:creationId xmlns:a16="http://schemas.microsoft.com/office/drawing/2014/main" id="{61C409CA-EB78-4089-8684-FB9D3FB488A2}"/>
              </a:ext>
            </a:extLst>
          </p:cNvPr>
          <p:cNvPicPr>
            <a:picLocks noChangeAspect="1"/>
          </p:cNvPicPr>
          <p:nvPr/>
        </p:nvPicPr>
        <p:blipFill rotWithShape="1">
          <a:blip r:embed="rId3"/>
          <a:srcRect l="50780" t="7323" r="6880" b="4443"/>
          <a:stretch/>
        </p:blipFill>
        <p:spPr>
          <a:xfrm>
            <a:off x="6191075" y="857250"/>
            <a:ext cx="5162026" cy="5317048"/>
          </a:xfrm>
          <a:prstGeom prst="rect">
            <a:avLst/>
          </a:prstGeom>
        </p:spPr>
      </p:pic>
    </p:spTree>
    <p:extLst>
      <p:ext uri="{BB962C8B-B14F-4D97-AF65-F5344CB8AC3E}">
        <p14:creationId xmlns:p14="http://schemas.microsoft.com/office/powerpoint/2010/main" val="26644169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382962-7DA7-4001-82BD-F82D2BAF09BA}"/>
              </a:ext>
            </a:extLst>
          </p:cNvPr>
          <p:cNvSpPr>
            <a:spLocks noGrp="1"/>
          </p:cNvSpPr>
          <p:nvPr>
            <p:ph type="body" sz="quarter" idx="12"/>
          </p:nvPr>
        </p:nvSpPr>
        <p:spPr/>
        <p:txBody>
          <a:bodyPr/>
          <a:lstStyle/>
          <a:p>
            <a:r>
              <a:rPr lang="en-US" noProof="0" dirty="0"/>
              <a:t>The devil is in the details</a:t>
            </a:r>
          </a:p>
        </p:txBody>
      </p:sp>
      <p:sp>
        <p:nvSpPr>
          <p:cNvPr id="3" name="Text Placeholder 2">
            <a:extLst>
              <a:ext uri="{FF2B5EF4-FFF2-40B4-BE49-F238E27FC236}">
                <a16:creationId xmlns:a16="http://schemas.microsoft.com/office/drawing/2014/main" id="{E3EAD1F7-A4C4-4087-B6E1-BC8AD27D999C}"/>
              </a:ext>
            </a:extLst>
          </p:cNvPr>
          <p:cNvSpPr>
            <a:spLocks noGrp="1"/>
          </p:cNvSpPr>
          <p:nvPr>
            <p:ph type="body" sz="quarter" idx="14"/>
          </p:nvPr>
        </p:nvSpPr>
        <p:spPr>
          <a:xfrm>
            <a:off x="576071" y="791727"/>
            <a:ext cx="11160209" cy="5651018"/>
          </a:xfrm>
        </p:spPr>
        <p:txBody>
          <a:bodyPr/>
          <a:lstStyle/>
          <a:p>
            <a:pPr marL="285750" indent="-285750">
              <a:buFont typeface="Arial" panose="020B0604020202020204" pitchFamily="34" charset="0"/>
              <a:buChar char="•"/>
            </a:pPr>
            <a:r>
              <a:rPr lang="en-US" i="1" noProof="0" dirty="0"/>
              <a:t>Risk-Free </a:t>
            </a:r>
            <a:r>
              <a:rPr lang="en-US" noProof="0" dirty="0"/>
              <a:t>interest rate for pricing formulas </a:t>
            </a:r>
            <a:r>
              <a:rPr lang="en-US" noProof="0" dirty="0">
                <a:solidFill>
                  <a:srgbClr val="FF0000"/>
                </a:solidFill>
              </a:rPr>
              <a:t>source of error </a:t>
            </a:r>
            <a:r>
              <a:rPr lang="en-US" noProof="0" dirty="0"/>
              <a:t>:</a:t>
            </a:r>
          </a:p>
          <a:p>
            <a:pPr marL="857250" lvl="1" indent="-285750">
              <a:buFont typeface="Arial" panose="020B0604020202020204" pitchFamily="34" charset="0"/>
              <a:buChar char="•"/>
            </a:pPr>
            <a:r>
              <a:rPr lang="en-US" noProof="0" dirty="0"/>
              <a:t>We follow what database is doing – by using their ZC SWAP curve and interpolating</a:t>
            </a:r>
          </a:p>
          <a:p>
            <a:pPr marL="857250" lvl="1" indent="-285750">
              <a:buFont typeface="Arial" panose="020B0604020202020204" pitchFamily="34" charset="0"/>
              <a:buChar char="•"/>
            </a:pPr>
            <a:r>
              <a:rPr lang="en-US" noProof="0" dirty="0"/>
              <a:t>We should be able to generate our own ZC SWAP curve (e.g. replicating what database does)</a:t>
            </a:r>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r>
              <a:rPr lang="en-US" noProof="0" dirty="0"/>
              <a:t>Dividend Yield</a:t>
            </a:r>
          </a:p>
          <a:p>
            <a:pPr marL="857250" lvl="1" indent="-285750">
              <a:buFont typeface="Arial" panose="020B0604020202020204" pitchFamily="34" charset="0"/>
              <a:buChar char="•"/>
            </a:pPr>
            <a:r>
              <a:rPr lang="en-US" noProof="0" dirty="0"/>
              <a:t>Tricky issue. Database provides some information though it is not entirely clear – </a:t>
            </a:r>
            <a:r>
              <a:rPr lang="en-US" noProof="0" dirty="0">
                <a:solidFill>
                  <a:srgbClr val="FF0000"/>
                </a:solidFill>
              </a:rPr>
              <a:t>source of error</a:t>
            </a:r>
          </a:p>
          <a:p>
            <a:pPr marL="857250" lvl="1" indent="-285750">
              <a:buFont typeface="Arial" panose="020B0604020202020204" pitchFamily="34" charset="0"/>
              <a:buChar char="•"/>
            </a:pPr>
            <a:r>
              <a:rPr lang="en-US" noProof="0" dirty="0"/>
              <a:t>Index has different dividend yield structure</a:t>
            </a:r>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r>
              <a:rPr lang="en-US" noProof="0" dirty="0"/>
              <a:t>Discrepancies in implied volatilities for options with Deltas\sim +-1 (Deep ITM) – up to 50%, though exact repricing.</a:t>
            </a:r>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r>
              <a:rPr lang="en-US" noProof="0" dirty="0"/>
              <a:t>Discrepancies in implied vol/dispersion for standard Call options low Deltas (20,25%) – up to 15%</a:t>
            </a:r>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r>
              <a:rPr lang="en-US" noProof="0" dirty="0"/>
              <a:t>CRR model slow (at least my implementation!) – When looking for implied vol using an iterative method, </a:t>
            </a:r>
            <a:r>
              <a:rPr lang="en-US" noProof="0" dirty="0" err="1"/>
              <a:t>pricer</a:t>
            </a:r>
            <a:r>
              <a:rPr lang="en-US" noProof="0" dirty="0"/>
              <a:t> needs to be called several times. Quite time consuming. So, reduced iterations (</a:t>
            </a:r>
            <a:r>
              <a:rPr lang="en-US" noProof="0" dirty="0">
                <a:solidFill>
                  <a:srgbClr val="FF0000"/>
                </a:solidFill>
              </a:rPr>
              <a:t>source of error</a:t>
            </a:r>
            <a:r>
              <a:rPr lang="en-US" noProof="0" dirty="0"/>
              <a:t>)</a:t>
            </a:r>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r>
              <a:rPr lang="en-US" noProof="0" dirty="0"/>
              <a:t>Greeks</a:t>
            </a:r>
          </a:p>
          <a:p>
            <a:pPr marL="857250" lvl="1" indent="-285750">
              <a:buFont typeface="Arial" panose="020B0604020202020204" pitchFamily="34" charset="0"/>
              <a:buChar char="•"/>
            </a:pPr>
            <a:r>
              <a:rPr lang="en-US" noProof="0" dirty="0"/>
              <a:t>Europeans: Standard analytical formulas</a:t>
            </a:r>
          </a:p>
          <a:p>
            <a:pPr marL="857250" lvl="1" indent="-285750">
              <a:buFont typeface="Arial" panose="020B0604020202020204" pitchFamily="34" charset="0"/>
              <a:buChar char="•"/>
            </a:pPr>
            <a:r>
              <a:rPr lang="en-US" noProof="0" dirty="0"/>
              <a:t>Americans: Finite Difference (</a:t>
            </a:r>
            <a:r>
              <a:rPr lang="en-US" noProof="0" dirty="0">
                <a:solidFill>
                  <a:srgbClr val="FF0000"/>
                </a:solidFill>
              </a:rPr>
              <a:t>source of error</a:t>
            </a:r>
            <a:r>
              <a:rPr lang="en-US" noProof="0" dirty="0"/>
              <a:t>)</a:t>
            </a:r>
          </a:p>
          <a:p>
            <a:pPr marL="285750" indent="-285750">
              <a:buFont typeface="Arial" panose="020B0604020202020204" pitchFamily="34" charset="0"/>
              <a:buChar char="•"/>
            </a:pPr>
            <a:endParaRPr lang="en-US" noProof="0" dirty="0"/>
          </a:p>
        </p:txBody>
      </p:sp>
    </p:spTree>
    <p:extLst>
      <p:ext uri="{BB962C8B-B14F-4D97-AF65-F5344CB8AC3E}">
        <p14:creationId xmlns:p14="http://schemas.microsoft.com/office/powerpoint/2010/main" val="429665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4" end="1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5" end="1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54ECC9C-469D-47D3-8142-14E47C2969AC}"/>
              </a:ext>
            </a:extLst>
          </p:cNvPr>
          <p:cNvSpPr>
            <a:spLocks noGrp="1"/>
          </p:cNvSpPr>
          <p:nvPr>
            <p:ph type="body" sz="quarter" idx="12"/>
          </p:nvPr>
        </p:nvSpPr>
        <p:spPr/>
        <p:txBody>
          <a:bodyPr/>
          <a:lstStyle/>
          <a:p>
            <a:r>
              <a:rPr lang="en-US" noProof="0" dirty="0"/>
              <a:t>Next steps?</a:t>
            </a:r>
          </a:p>
        </p:txBody>
      </p:sp>
      <p:sp>
        <p:nvSpPr>
          <p:cNvPr id="3" name="Text Placeholder 2">
            <a:extLst>
              <a:ext uri="{FF2B5EF4-FFF2-40B4-BE49-F238E27FC236}">
                <a16:creationId xmlns:a16="http://schemas.microsoft.com/office/drawing/2014/main" id="{8FF93E2A-3003-45E4-8F86-E6A91B96EFAB}"/>
              </a:ext>
            </a:extLst>
          </p:cNvPr>
          <p:cNvSpPr>
            <a:spLocks noGrp="1"/>
          </p:cNvSpPr>
          <p:nvPr>
            <p:ph type="body" sz="quarter" idx="14"/>
          </p:nvPr>
        </p:nvSpPr>
        <p:spPr>
          <a:xfrm>
            <a:off x="576072" y="1140148"/>
            <a:ext cx="4632721" cy="5795511"/>
          </a:xfrm>
        </p:spPr>
        <p:txBody>
          <a:bodyPr/>
          <a:lstStyle/>
          <a:p>
            <a:pPr marL="342900" lvl="0" indent="-342900">
              <a:buFont typeface="Symbol" panose="05050102010706020507" pitchFamily="18" charset="2"/>
              <a:buChar char=""/>
            </a:pPr>
            <a:endParaRPr lang="en-US" sz="1600" noProof="0" dirty="0">
              <a:latin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endParaRPr lang="en-US" sz="1600" noProof="0" dirty="0">
              <a:latin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US" sz="1600" noProof="0" dirty="0">
                <a:latin typeface="Calibri" panose="020F0502020204030204" pitchFamily="34" charset="0"/>
                <a:cs typeface="Times New Roman" panose="02020603050405020304" pitchFamily="18" charset="0"/>
              </a:rPr>
              <a:t>Implement the zero rate calculation (could be avoided if we get data from another source)</a:t>
            </a:r>
          </a:p>
          <a:p>
            <a:pPr lvl="0"/>
            <a:endParaRPr lang="en-US" sz="1600" noProof="0" dirty="0">
              <a:latin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US" sz="1600" noProof="0" dirty="0">
                <a:latin typeface="Calibri" panose="020F0502020204030204" pitchFamily="34" charset="0"/>
                <a:cs typeface="Times New Roman" panose="02020603050405020304" pitchFamily="18" charset="0"/>
              </a:rPr>
              <a:t>Replicate using </a:t>
            </a:r>
            <a:r>
              <a:rPr lang="en-US" sz="1600" noProof="0" dirty="0">
                <a:solidFill>
                  <a:schemeClr val="accent6"/>
                </a:solidFill>
                <a:latin typeface="Calibri" panose="020F0502020204030204" pitchFamily="34" charset="0"/>
                <a:cs typeface="Times New Roman" panose="02020603050405020304" pitchFamily="18" charset="0"/>
              </a:rPr>
              <a:t>NON database data</a:t>
            </a:r>
          </a:p>
          <a:p>
            <a:pPr marL="342900" lvl="0" indent="-342900">
              <a:buFont typeface="Symbol" panose="05050102010706020507" pitchFamily="18" charset="2"/>
              <a:buChar char=""/>
            </a:pPr>
            <a:endParaRPr lang="en-US" sz="1600" noProof="0" dirty="0">
              <a:solidFill>
                <a:schemeClr val="accent6"/>
              </a:solidFill>
              <a:latin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endParaRPr lang="en-US" sz="1600" noProof="0" dirty="0">
              <a:latin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US" sz="1600" noProof="0" dirty="0">
                <a:latin typeface="Calibri" panose="020F0502020204030204" pitchFamily="34" charset="0"/>
                <a:cs typeface="Times New Roman" panose="02020603050405020304" pitchFamily="18" charset="0"/>
              </a:rPr>
              <a:t>Investigate which components </a:t>
            </a:r>
            <a:r>
              <a:rPr lang="en-US" sz="1600" noProof="0" dirty="0" err="1">
                <a:solidFill>
                  <a:schemeClr val="accent6"/>
                </a:solidFill>
                <a:latin typeface="Calibri" panose="020F0502020204030204" pitchFamily="34" charset="0"/>
                <a:cs typeface="Times New Roman" panose="02020603050405020304" pitchFamily="18" charset="0"/>
              </a:rPr>
              <a:t>AxR</a:t>
            </a:r>
            <a:r>
              <a:rPr lang="en-US" sz="1600" noProof="0" dirty="0">
                <a:solidFill>
                  <a:schemeClr val="accent6"/>
                </a:solidFill>
                <a:latin typeface="Calibri" panose="020F0502020204030204" pitchFamily="34" charset="0"/>
                <a:cs typeface="Times New Roman" panose="02020603050405020304" pitchFamily="18" charset="0"/>
              </a:rPr>
              <a:t> actually uses</a:t>
            </a:r>
          </a:p>
          <a:p>
            <a:pPr marL="342900" lvl="0" indent="-342900">
              <a:buFont typeface="Symbol" panose="05050102010706020507" pitchFamily="18" charset="2"/>
              <a:buChar char=""/>
            </a:pPr>
            <a:endParaRPr lang="en-US" sz="1600" noProof="0" dirty="0">
              <a:solidFill>
                <a:schemeClr val="accent6"/>
              </a:solidFill>
              <a:latin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endParaRPr lang="en-US" sz="1600" noProof="0" dirty="0">
              <a:latin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US" sz="1600" noProof="0" dirty="0">
                <a:latin typeface="Calibri" panose="020F0502020204030204" pitchFamily="34" charset="0"/>
                <a:cs typeface="Times New Roman" panose="02020603050405020304" pitchFamily="18" charset="0"/>
              </a:rPr>
              <a:t>Generate a Proof of Concept document with results</a:t>
            </a:r>
            <a:endParaRPr lang="en-US" sz="1600" noProof="0" dirty="0"/>
          </a:p>
        </p:txBody>
      </p:sp>
      <p:pic>
        <p:nvPicPr>
          <p:cNvPr id="8" name="Picture 7">
            <a:extLst>
              <a:ext uri="{FF2B5EF4-FFF2-40B4-BE49-F238E27FC236}">
                <a16:creationId xmlns:a16="http://schemas.microsoft.com/office/drawing/2014/main" id="{E57F6513-5979-4877-8CDE-5D3993A15291}"/>
              </a:ext>
            </a:extLst>
          </p:cNvPr>
          <p:cNvPicPr>
            <a:picLocks noChangeAspect="1"/>
          </p:cNvPicPr>
          <p:nvPr/>
        </p:nvPicPr>
        <p:blipFill>
          <a:blip r:embed="rId2"/>
          <a:stretch>
            <a:fillRect/>
          </a:stretch>
        </p:blipFill>
        <p:spPr>
          <a:xfrm>
            <a:off x="5499886" y="410307"/>
            <a:ext cx="6464687" cy="5457814"/>
          </a:xfrm>
          <a:prstGeom prst="rect">
            <a:avLst/>
          </a:prstGeom>
        </p:spPr>
      </p:pic>
    </p:spTree>
    <p:extLst>
      <p:ext uri="{BB962C8B-B14F-4D97-AF65-F5344CB8AC3E}">
        <p14:creationId xmlns:p14="http://schemas.microsoft.com/office/powerpoint/2010/main" val="1230214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randombar(horizontal)">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382962-7DA7-4001-82BD-F82D2BAF09BA}"/>
              </a:ext>
            </a:extLst>
          </p:cNvPr>
          <p:cNvSpPr>
            <a:spLocks noGrp="1"/>
          </p:cNvSpPr>
          <p:nvPr>
            <p:ph type="body" sz="quarter" idx="12"/>
          </p:nvPr>
        </p:nvSpPr>
        <p:spPr/>
        <p:txBody>
          <a:bodyPr/>
          <a:lstStyle/>
          <a:p>
            <a:r>
              <a:rPr lang="en-US" noProof="0" dirty="0"/>
              <a:t>Comments / Tips?</a:t>
            </a:r>
          </a:p>
        </p:txBody>
      </p:sp>
      <p:sp>
        <p:nvSpPr>
          <p:cNvPr id="3" name="Text Placeholder 2">
            <a:extLst>
              <a:ext uri="{FF2B5EF4-FFF2-40B4-BE49-F238E27FC236}">
                <a16:creationId xmlns:a16="http://schemas.microsoft.com/office/drawing/2014/main" id="{E3EAD1F7-A4C4-4087-B6E1-BC8AD27D999C}"/>
              </a:ext>
            </a:extLst>
          </p:cNvPr>
          <p:cNvSpPr>
            <a:spLocks noGrp="1"/>
          </p:cNvSpPr>
          <p:nvPr>
            <p:ph type="body" sz="quarter" idx="14"/>
          </p:nvPr>
        </p:nvSpPr>
        <p:spPr>
          <a:xfrm>
            <a:off x="515895" y="2126641"/>
            <a:ext cx="11160209" cy="1313910"/>
          </a:xfrm>
        </p:spPr>
        <p:txBody>
          <a:bodyPr/>
          <a:lstStyle/>
          <a:p>
            <a:endParaRPr lang="en-US" noProof="0" dirty="0"/>
          </a:p>
          <a:p>
            <a:endParaRPr lang="en-US" noProof="0" dirty="0"/>
          </a:p>
          <a:p>
            <a:pPr algn="ctr"/>
            <a:r>
              <a:rPr lang="en-US" sz="4000" noProof="0" dirty="0"/>
              <a:t>Any Comment / tip would be greatly appreciated!</a:t>
            </a:r>
          </a:p>
        </p:txBody>
      </p:sp>
    </p:spTree>
    <p:extLst>
      <p:ext uri="{BB962C8B-B14F-4D97-AF65-F5344CB8AC3E}">
        <p14:creationId xmlns:p14="http://schemas.microsoft.com/office/powerpoint/2010/main" val="39615169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929D3C8-BB97-4214-BD6D-986D8EBD09B3}"/>
              </a:ext>
            </a:extLst>
          </p:cNvPr>
          <p:cNvSpPr>
            <a:spLocks noGrp="1"/>
          </p:cNvSpPr>
          <p:nvPr>
            <p:ph type="body" sz="quarter" idx="12"/>
          </p:nvPr>
        </p:nvSpPr>
        <p:spPr/>
        <p:txBody>
          <a:bodyPr/>
          <a:lstStyle/>
          <a:p>
            <a:endParaRPr lang="en-US" dirty="0"/>
          </a:p>
        </p:txBody>
      </p:sp>
    </p:spTree>
    <p:extLst>
      <p:ext uri="{BB962C8B-B14F-4D97-AF65-F5344CB8AC3E}">
        <p14:creationId xmlns:p14="http://schemas.microsoft.com/office/powerpoint/2010/main" val="1766319627"/>
      </p:ext>
    </p:extLst>
  </p:cSld>
  <p:clrMapOvr>
    <a:masterClrMapping/>
  </p:clrMapOvr>
</p:sld>
</file>

<file path=ppt/theme/theme1.xml><?xml version="1.0" encoding="utf-8"?>
<a:theme xmlns:a="http://schemas.openxmlformats.org/drawingml/2006/main" name="Office Theme">
  <a:themeElements>
    <a:clrScheme name="Axioma">
      <a:dk1>
        <a:sysClr val="windowText" lastClr="000000"/>
      </a:dk1>
      <a:lt1>
        <a:sysClr val="window" lastClr="FFFFFF"/>
      </a:lt1>
      <a:dk2>
        <a:srgbClr val="447499"/>
      </a:dk2>
      <a:lt2>
        <a:srgbClr val="A5B5AD"/>
      </a:lt2>
      <a:accent1>
        <a:srgbClr val="315A85"/>
      </a:accent1>
      <a:accent2>
        <a:srgbClr val="1896BF"/>
      </a:accent2>
      <a:accent3>
        <a:srgbClr val="32A8BF"/>
      </a:accent3>
      <a:accent4>
        <a:srgbClr val="6DCED1"/>
      </a:accent4>
      <a:accent5>
        <a:srgbClr val="799698"/>
      </a:accent5>
      <a:accent6>
        <a:srgbClr val="5C47A8"/>
      </a:accent6>
      <a:hlink>
        <a:srgbClr val="244363"/>
      </a:hlink>
      <a:folHlink>
        <a:srgbClr val="C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none" rtlCol="0">
        <a:spAutoFit/>
      </a:bodyPr>
      <a:lstStyle>
        <a:defPPr algn="ctr">
          <a:defRPr sz="1600" dirty="0" smtClean="0">
            <a:solidFill>
              <a:srgbClr val="1A427E"/>
            </a:solidFill>
          </a:defRPr>
        </a:defPPr>
      </a:lstStyle>
    </a:txDef>
  </a:objectDefaults>
  <a:extraClrSchemeLst/>
  <a:extLst>
    <a:ext uri="{05A4C25C-085E-4340-85A3-A5531E510DB2}">
      <thm15:themeFamily xmlns:thm15="http://schemas.microsoft.com/office/thememl/2012/main" name="UNTITLED" id="{C3C1AC03-CAC5-A841-B2CB-6C1CF1598D54}" vid="{C63A4B7C-72B5-064A-820C-65DC82BB233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Axioma_Template_2017</Template>
  <TotalTime>26251</TotalTime>
  <Words>1256</Words>
  <Application>Microsoft Office PowerPoint</Application>
  <PresentationFormat>Widescreen</PresentationFormat>
  <Paragraphs>180</Paragraphs>
  <Slides>18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Arial</vt:lpstr>
      <vt:lpstr>Calibri</vt:lpstr>
      <vt:lpstr>Cambria Math</vt:lpstr>
      <vt:lpstr>Consolas</vt:lpstr>
      <vt:lpstr>Raleway</vt:lpstr>
      <vt:lpstr>Source Sans Pro</vt:lpstr>
      <vt:lpstr>SourceSansPro</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Peter Franz</dc:creator>
  <cp:lastModifiedBy>Manuel Maurette</cp:lastModifiedBy>
  <cp:revision>128</cp:revision>
  <dcterms:created xsi:type="dcterms:W3CDTF">2018-02-22T19:29:44Z</dcterms:created>
  <dcterms:modified xsi:type="dcterms:W3CDTF">2019-05-08T14:23:55Z</dcterms:modified>
</cp:coreProperties>
</file>