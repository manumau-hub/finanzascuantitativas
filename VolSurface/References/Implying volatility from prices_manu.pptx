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61" r:id="rId3"/>
    <p:sldId id="257" r:id="rId4"/>
    <p:sldId id="258" r:id="rId5"/>
    <p:sldId id="259" r:id="rId6"/>
    <p:sldId id="260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69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8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FE483C-AE2C-4A9F-9974-004C792E95AC}" type="datetimeFigureOut">
              <a:rPr lang="en-US" smtClean="0"/>
              <a:t>5/7/2019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D96A16-1E13-4295-AB1F-71B227EC31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423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94FCB-D0BE-4D43-8015-78162E02E4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FD6A88-8679-43B4-BB1A-AC3931198C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809F81-E81B-4AA3-8096-940A0D4F7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F331D-293F-4EFF-8DB4-2B72863C63AB}" type="datetime1">
              <a:rPr lang="en-US" smtClean="0"/>
              <a:t>5/7/2019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C8A2A3-93E1-44E7-AE06-4998ECE3F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0DBAE9-D4F5-4C6A-A432-DB7D73166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1D13E-A035-4EA9-93C2-11AC861FB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9792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691E7-CDA6-40E5-B0DC-51CEA8BB3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5DA6B0-A90C-4941-B237-ACF0FA988A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821EBD-3C78-4E36-9DF7-936B23651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DF15A-665D-4F2C-A973-3F299F96DE4B}" type="datetime1">
              <a:rPr lang="en-US" smtClean="0"/>
              <a:t>5/7/2019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81A77-2168-4180-A666-64519B86B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273341-F102-40B3-8E73-5C4D44E95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1D13E-A035-4EA9-93C2-11AC861FB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236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2496C-2E60-4843-BE64-8C4BFC394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AB02F6-E697-4B36-A3DF-9F3F827E66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987A2A-36A3-4522-89BA-742C9DB71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46CFA-9A86-4F27-BCB1-12CEF8F72040}" type="datetime1">
              <a:rPr lang="en-US" smtClean="0"/>
              <a:t>5/7/2019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8839F2-039A-4A77-98EE-82061B0D5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0C4D83-8B21-4C72-88F2-2AB4C8154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1D13E-A035-4EA9-93C2-11AC861FB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937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06402-7C99-4D8C-B94D-903CBE6CC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00A75-52AB-4266-950C-EFC008F81D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D3A8D2-8F48-40EF-AC5F-538950ED4D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31DF4B-FD92-49B1-8DBA-3307FE274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DFA4F-231B-4D12-83A2-CB82009AD40F}" type="datetime1">
              <a:rPr lang="en-US" smtClean="0"/>
              <a:t>5/7/2019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B95906-E6B5-44E1-AB39-0BD4FA093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E1ED23-3E31-4C81-8617-F8D3270D4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1D13E-A035-4EA9-93C2-11AC861FB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081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3D442-153F-4A08-8D22-657523A4C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C57D31-33E1-4EA2-87B1-3DE5644987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05E2B1-2A4A-4646-8773-C8D50CB177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3B23F7-8034-4C42-820D-FB3647F6D0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F95DCD-13AC-40E1-BF1B-08CAC3B2F0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D0CC9F-C235-4BBA-B93A-6F85453B5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64CBE-D5E2-4269-A9E9-2D3387DAD7B7}" type="datetime1">
              <a:rPr lang="en-US" smtClean="0"/>
              <a:t>5/7/2019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FA078E-2C2C-4483-A869-34A4BFA9D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A801B4-3B36-4121-91C1-F8E318FD0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1D13E-A035-4EA9-93C2-11AC861FB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634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EFFF1-0756-413A-A0E7-2EB20E34A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16CF33-CDFF-439A-8606-17E5F7742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EC8F8-A79D-42AB-A8DB-552B47FC904D}" type="datetime1">
              <a:rPr lang="en-US" smtClean="0"/>
              <a:t>5/7/2019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533985-9E1B-4B8A-8E9F-291DCF52F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C0FC15-9CA2-4711-9DC6-0DB71E85C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1D13E-A035-4EA9-93C2-11AC861FB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913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B76916-55D8-4DC0-A14C-F32CCAFE9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C4AE7-11A2-460B-A262-139027589CB8}" type="datetime1">
              <a:rPr lang="en-US" smtClean="0"/>
              <a:t>5/7/2019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04BF97-C8FD-44C8-80C1-9A3602730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62B9D5-8426-44AF-BB7B-930F0A962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1D13E-A035-4EA9-93C2-11AC861FB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645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CA261-E128-4AB7-BCE9-F98B5537A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96597B-58CA-4FFB-AB04-F74A1CC27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DA4929-6AF4-47DD-996F-FF87969F94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F102EE-3F4D-4FC6-9C47-628A7EE55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74EC7-FBAB-4751-B2D5-7CC432C290CE}" type="datetime1">
              <a:rPr lang="en-US" smtClean="0"/>
              <a:t>5/7/2019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5FF4E7-D71E-4CFF-9891-5606E439B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E3E69B-467C-4491-9CCA-6D374E42F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1D13E-A035-4EA9-93C2-11AC861FB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146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7A891-BF54-4253-91E1-68583A270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BB4736-B41B-4684-B7D2-893DA7144F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0A8895-AB06-4D2B-B605-F6C1F4118C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55A821-54B4-4648-B833-775840572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9C8F4-1BD5-4E4F-BA9D-0DFDBCE7C227}" type="datetime1">
              <a:rPr lang="en-US" smtClean="0"/>
              <a:t>5/7/2019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C11871-0BFE-44C7-B10B-A4B80A279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40D996-DDEE-4D48-A372-534D20BFB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1D13E-A035-4EA9-93C2-11AC861FB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491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B95A6-37EC-4446-9E53-28A500314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B37C84-5D79-41A1-B48B-BA505F21C5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AA043-8A15-482A-9C93-86A3C98DF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DA297-E1E3-46AD-B1F4-F3D17106ADFF}" type="datetime1">
              <a:rPr lang="en-US" smtClean="0"/>
              <a:t>5/7/2019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0464B0-BB1F-48AD-B06B-A7ADC411F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5DC22B-06F6-426C-A313-77DC98ACB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1D13E-A035-4EA9-93C2-11AC861FB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790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E0ECE6-AED8-4092-91E6-4D5172E2E3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A055BA-4A6D-4EF4-BCCA-FEE544224B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70CB8A-9A73-4773-98B5-4AF22547A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4939F-7688-4E98-914A-A5A6E804CC4C}" type="datetime1">
              <a:rPr lang="en-US" smtClean="0"/>
              <a:t>5/7/2019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FE3420-64E0-4198-AA2E-3F7CA479D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AA4CE1-1B07-4B42-BB85-31CFFD0EF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1D13E-A035-4EA9-93C2-11AC861FB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1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3B75D5-3A01-42A4-A7F9-66EABA133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9C0684-00E8-4554-B332-869B714AEC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7F1320-33AB-4F21-B4DF-6B1C03DF9A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763305-8C29-43ED-87B7-A37C8D7A4BA5}" type="datetime1">
              <a:rPr lang="en-US" smtClean="0"/>
              <a:t>5/7/2019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9300A3-D87F-419D-AB2C-F41E4FEBBC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E8976C-4A99-4AA5-BFEC-50F72F4AEE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31D13E-A035-4EA9-93C2-11AC861FB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706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CA9BF-66CA-406A-BD12-F2D1AE5A79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Implying volatility from prices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3BAA75-EA99-46DB-8720-BC2C866C57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Emma Li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F5A888-6F39-4C41-9A93-1BC12FE08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1D13E-A035-4EA9-93C2-11AC861FBB9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542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D0F61-3081-4DB0-913B-16FD49F7B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input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49B8C1-22FC-460E-8FB0-79A6DC3A2A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dirty="0">
                    <a:solidFill>
                      <a:schemeClr val="accent6"/>
                    </a:solidFill>
                  </a:rPr>
                  <a:t>For each Strike, TTM, Type (C-P) available: </a:t>
                </a:r>
              </a:p>
              <a:p>
                <a:r>
                  <a:rPr lang="en-US" dirty="0"/>
                  <a:t>Prices (bid/ask), </a:t>
                </a:r>
              </a:p>
              <a:p>
                <a:pPr lvl="1"/>
                <a:r>
                  <a:rPr lang="en-US" dirty="0"/>
                  <a:t>volume, open interest (good to have to filter)</a:t>
                </a:r>
              </a:p>
              <a:p>
                <a:pPr lvl="1"/>
                <a:r>
                  <a:rPr lang="en-US" dirty="0">
                    <a:solidFill>
                      <a:schemeClr val="accent6"/>
                    </a:solidFill>
                  </a:rPr>
                  <a:t>Last traded date (also to filter if no movement </a:t>
                </a:r>
              </a:p>
              <a:p>
                <a:pPr marL="457200" lvl="1" indent="0">
                  <a:buNone/>
                </a:pPr>
                <a:r>
                  <a:rPr lang="en-US" dirty="0">
                    <a:solidFill>
                      <a:schemeClr val="accent6"/>
                    </a:solidFill>
                  </a:rPr>
                  <a:t>	for long time?)</a:t>
                </a:r>
              </a:p>
              <a:p>
                <a:r>
                  <a:rPr lang="en-US" dirty="0"/>
                  <a:t>Risk free or repo (which one does OM use?)</a:t>
                </a:r>
              </a:p>
              <a:p>
                <a:pPr lvl="1"/>
                <a:r>
                  <a:rPr lang="en-US" dirty="0">
                    <a:solidFill>
                      <a:schemeClr val="accent6"/>
                    </a:solidFill>
                  </a:rPr>
                  <a:t>OM uses ZC </a:t>
                </a:r>
                <a:r>
                  <a:rPr lang="en-US" dirty="0" err="1">
                    <a:solidFill>
                      <a:schemeClr val="accent6"/>
                    </a:solidFill>
                  </a:rPr>
                  <a:t>ir</a:t>
                </a:r>
                <a:r>
                  <a:rPr lang="en-US" dirty="0">
                    <a:solidFill>
                      <a:schemeClr val="accent6"/>
                    </a:solidFill>
                  </a:rPr>
                  <a:t> curve: </a:t>
                </a:r>
              </a:p>
              <a:p>
                <a:r>
                  <a:rPr lang="en-US" dirty="0"/>
                  <a:t>Dividend yield</a:t>
                </a:r>
              </a:p>
              <a:p>
                <a:pPr lvl="1"/>
                <a:r>
                  <a:rPr lang="en-US" dirty="0"/>
                  <a:t> Source and/or computation from discrete div,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𝑙𝑎𝑠𝑡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𝑑𝑖𝑣𝑖𝑑𝑒𝑛𝑑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𝑓𝑟𝑒𝑞𝑢𝑒𝑛𝑐𝑦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𝑠𝑡𝑜𝑐𝑘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𝑝𝑟𝑖𝑐𝑒</m:t>
                        </m:r>
                      </m:den>
                    </m:f>
                  </m:oMath>
                </a14:m>
                <a:r>
                  <a:rPr lang="en-US" dirty="0"/>
                  <a:t> ?</a:t>
                </a:r>
              </a:p>
              <a:p>
                <a:pPr lvl="1"/>
                <a:r>
                  <a:rPr lang="en-US" dirty="0">
                    <a:solidFill>
                      <a:schemeClr val="accent6"/>
                    </a:solidFill>
                  </a:rPr>
                  <a:t>OM: Different div structures: continuous, discrete, none</a:t>
                </a:r>
              </a:p>
              <a:p>
                <a:r>
                  <a:rPr lang="en-US" dirty="0"/>
                  <a:t>Data cleaning</a:t>
                </a:r>
              </a:p>
              <a:p>
                <a:pPr lvl="1"/>
                <a:r>
                  <a:rPr lang="en-US" dirty="0"/>
                  <a:t>Do we keep only liquid? Which ones?</a:t>
                </a:r>
              </a:p>
              <a:p>
                <a:pPr lvl="1"/>
                <a:r>
                  <a:rPr lang="en-US" dirty="0"/>
                  <a:t>Do we back/forward fill ?</a:t>
                </a:r>
              </a:p>
              <a:p>
                <a:pPr lvl="1"/>
                <a:r>
                  <a:rPr lang="en-US" dirty="0"/>
                  <a:t>Staggered grid in strike space =&gt; work in delta space?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49B8C1-22FC-460E-8FB0-79A6DC3A2A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2"/>
                <a:stretch>
                  <a:fillRect l="-928" t="-30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405135-65B1-4313-A6A6-B7D734BA0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1D13E-A035-4EA9-93C2-11AC861FBB94}" type="slidenum">
              <a:rPr lang="en-US" smtClean="0"/>
              <a:t>2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B0ADAD-EFD3-4B6B-9134-08F29C6CECD2}"/>
              </a:ext>
            </a:extLst>
          </p:cNvPr>
          <p:cNvSpPr txBox="1"/>
          <p:nvPr/>
        </p:nvSpPr>
        <p:spPr>
          <a:xfrm>
            <a:off x="7565366" y="2716649"/>
            <a:ext cx="391134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chemeClr val="accent6"/>
                </a:solidFill>
              </a:rPr>
              <a:t>From Doc: </a:t>
            </a:r>
            <a:r>
              <a:rPr lang="en-US" sz="1000" dirty="0">
                <a:solidFill>
                  <a:schemeClr val="accent6"/>
                </a:solidFill>
              </a:rPr>
              <a:t>Each of the option pricing models used by </a:t>
            </a:r>
            <a:r>
              <a:rPr lang="en-US" sz="1000" dirty="0" err="1">
                <a:solidFill>
                  <a:schemeClr val="accent6"/>
                </a:solidFill>
              </a:rPr>
              <a:t>IvyDB</a:t>
            </a:r>
            <a:r>
              <a:rPr lang="en-US" sz="1000" dirty="0">
                <a:solidFill>
                  <a:schemeClr val="accent6"/>
                </a:solidFill>
              </a:rPr>
              <a:t> requires a continuously-compounded interest rate as input. This interest rate is calculated from a collection of continuously-compounded zero-coupon interest rates at various maturities, collectively referred to as the </a:t>
            </a:r>
            <a:r>
              <a:rPr lang="en-US" sz="1000" i="1" dirty="0">
                <a:solidFill>
                  <a:schemeClr val="accent6"/>
                </a:solidFill>
              </a:rPr>
              <a:t>zero curve. </a:t>
            </a:r>
            <a:r>
              <a:rPr lang="en-US" sz="1000" dirty="0">
                <a:solidFill>
                  <a:schemeClr val="accent6"/>
                </a:solidFill>
              </a:rPr>
              <a:t>The zero curve used by the </a:t>
            </a:r>
            <a:r>
              <a:rPr lang="en-US" sz="1000" dirty="0" err="1">
                <a:solidFill>
                  <a:schemeClr val="accent6"/>
                </a:solidFill>
              </a:rPr>
              <a:t>IvyDB</a:t>
            </a:r>
            <a:r>
              <a:rPr lang="en-US" sz="1000" dirty="0">
                <a:solidFill>
                  <a:schemeClr val="accent6"/>
                </a:solidFill>
              </a:rPr>
              <a:t> option models is derived from ICE IBA LIBOR rates and settlement prices of CME Eurodollar futures. </a:t>
            </a:r>
            <a:r>
              <a:rPr lang="en-US" sz="1000" b="1" dirty="0">
                <a:solidFill>
                  <a:schemeClr val="accent6"/>
                </a:solidFill>
              </a:rPr>
              <a:t>Then, they describe the algorithm</a:t>
            </a:r>
          </a:p>
        </p:txBody>
      </p:sp>
    </p:spTree>
    <p:extLst>
      <p:ext uri="{BB962C8B-B14F-4D97-AF65-F5344CB8AC3E}">
        <p14:creationId xmlns:p14="http://schemas.microsoft.com/office/powerpoint/2010/main" val="3840380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0A536-2A3F-4F0C-B54A-FAEB5FBA7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European option Inversion (BSM case)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1F5630-CB87-47E6-AC3B-49E03016FA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Numerical errors in BSM formula (catastrophic cancellation,…)</a:t>
                </a:r>
              </a:p>
              <a:p>
                <a:pPr lvl="1"/>
                <a:r>
                  <a:rPr lang="en-US" dirty="0">
                    <a:solidFill>
                      <a:schemeClr val="accent6"/>
                    </a:solidFill>
                  </a:rPr>
                  <a:t>Deep ITM</a:t>
                </a:r>
              </a:p>
              <a:p>
                <a:r>
                  <a:rPr lang="en-US" dirty="0"/>
                  <a:t>Standardization of inputs</a:t>
                </a:r>
              </a:p>
              <a:p>
                <a:pPr lvl="1"/>
                <a:r>
                  <a:rPr lang="en-US" dirty="0" err="1"/>
                  <a:t>Jackel</a:t>
                </a:r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Fries (Normed Call Prices), to deal with negative forwards</a:t>
                </a:r>
              </a:p>
              <a:p>
                <a:r>
                  <a:rPr lang="en-US" dirty="0"/>
                  <a:t>Computation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𝐼𝑉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Naïve approach: Newton-Raphson </a:t>
                </a:r>
                <a:r>
                  <a:rPr lang="en-US" dirty="0">
                    <a:solidFill>
                      <a:schemeClr val="accent6"/>
                    </a:solidFill>
                  </a:rPr>
                  <a:t>(need Vega)</a:t>
                </a:r>
              </a:p>
              <a:p>
                <a:pPr lvl="1"/>
                <a:r>
                  <a:rPr lang="en-US" dirty="0">
                    <a:solidFill>
                      <a:schemeClr val="accent6"/>
                    </a:solidFill>
                  </a:rPr>
                  <a:t>More Naïve: Bisection</a:t>
                </a:r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Production approach: </a:t>
                </a:r>
                <a:r>
                  <a:rPr lang="en-US" dirty="0" err="1"/>
                  <a:t>Jackel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1F5630-CB87-47E6-AC3B-49E03016FA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FFFE2F-E587-4FBD-8DB5-ECF7E3611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1D13E-A035-4EA9-93C2-11AC861FBB9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1926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B8173-63BF-4E8E-9FFD-C37009A5F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American option Inversion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45F223-5025-4A7E-9A67-C8F1E2FE44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model to use?</a:t>
            </a:r>
          </a:p>
          <a:p>
            <a:pPr lvl="1"/>
            <a:r>
              <a:rPr lang="en-US" dirty="0"/>
              <a:t>Closed-form: BAW, </a:t>
            </a:r>
            <a:r>
              <a:rPr lang="en-US" dirty="0" err="1"/>
              <a:t>Bjerksund-Stensland</a:t>
            </a:r>
            <a:r>
              <a:rPr lang="en-US" dirty="0"/>
              <a:t>,… </a:t>
            </a:r>
          </a:p>
          <a:p>
            <a:pPr lvl="2"/>
            <a:r>
              <a:rPr lang="en-US" dirty="0"/>
              <a:t>Any numerical issues? Convergence ? Speed?</a:t>
            </a:r>
          </a:p>
          <a:p>
            <a:pPr lvl="1"/>
            <a:r>
              <a:rPr lang="en-US" dirty="0"/>
              <a:t>Trees (Chen-Joshi tree, Modified JZ,…?, </a:t>
            </a:r>
            <a:r>
              <a:rPr lang="en-US" dirty="0">
                <a:solidFill>
                  <a:schemeClr val="accent6"/>
                </a:solidFill>
              </a:rPr>
              <a:t>Leisner Reisner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PDEs</a:t>
            </a:r>
          </a:p>
          <a:p>
            <a:pPr lvl="1"/>
            <a:r>
              <a:rPr lang="en-US" dirty="0"/>
              <a:t>Monte-Carlo</a:t>
            </a:r>
          </a:p>
          <a:p>
            <a:pPr lvl="1"/>
            <a:r>
              <a:rPr lang="en-US" dirty="0"/>
              <a:t>Fast AO (Andersen): already implemented in </a:t>
            </a:r>
            <a:r>
              <a:rPr lang="en-US" dirty="0" err="1"/>
              <a:t>AxR</a:t>
            </a:r>
            <a:r>
              <a:rPr lang="en-US" dirty="0"/>
              <a:t> (Zheng)</a:t>
            </a:r>
          </a:p>
          <a:p>
            <a:pPr lvl="1"/>
            <a:r>
              <a:rPr lang="en-US" dirty="0"/>
              <a:t>Time critical AO Pricing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9A0C22-1FEE-49A3-A04A-2D8B118B2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1D13E-A035-4EA9-93C2-11AC861FBB9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6688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102D1-6EFB-4A0C-B220-52D5C468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Interpolation/Extrapolation of IVS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31663B-D7BD-4337-BA28-324FA966E8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Splines approach: </a:t>
            </a:r>
          </a:p>
          <a:p>
            <a:pPr lvl="1"/>
            <a:r>
              <a:rPr lang="en-US" dirty="0"/>
              <a:t>Local vs nonlocal: local better for stress testing and no propagation of errors</a:t>
            </a:r>
          </a:p>
          <a:p>
            <a:pPr lvl="1"/>
            <a:r>
              <a:rPr lang="en-US" dirty="0"/>
              <a:t>Shape-preserving: convexity, concavity</a:t>
            </a:r>
          </a:p>
          <a:p>
            <a:pPr lvl="1"/>
            <a:r>
              <a:rPr lang="en-US" dirty="0"/>
              <a:t>Arbitrage-free approaches</a:t>
            </a:r>
          </a:p>
          <a:p>
            <a:r>
              <a:rPr lang="en-US" dirty="0">
                <a:solidFill>
                  <a:schemeClr val="accent6"/>
                </a:solidFill>
              </a:rPr>
              <a:t>OM: Kernel Smoothing</a:t>
            </a:r>
          </a:p>
          <a:p>
            <a:r>
              <a:rPr lang="en-US" dirty="0"/>
              <a:t>(semi) Parametric approaches </a:t>
            </a:r>
          </a:p>
          <a:p>
            <a:pPr lvl="1"/>
            <a:r>
              <a:rPr lang="en-US" dirty="0"/>
              <a:t>SVI, polynomial in (K,T) used in risk</a:t>
            </a:r>
          </a:p>
          <a:p>
            <a:pPr lvl="1"/>
            <a:endParaRPr lang="en-US" dirty="0"/>
          </a:p>
          <a:p>
            <a:r>
              <a:rPr lang="en-US" dirty="0"/>
              <a:t>PDE approach (see work done by Zoe)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CD8E0F-C74D-4E93-B2E0-92F09E4A0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1D13E-A035-4EA9-93C2-11AC861FBB9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8138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84D6B-18A3-4A91-9318-3FC435708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Derived quantities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519D63-56F7-4898-8D18-5CE40C610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Should be generic to be used with any smile </a:t>
            </a:r>
          </a:p>
          <a:p>
            <a:pPr lvl="1"/>
            <a:r>
              <a:rPr lang="en-US" dirty="0"/>
              <a:t>Local volatility from Dupire equation	</a:t>
            </a:r>
          </a:p>
          <a:p>
            <a:pPr lvl="1"/>
            <a:r>
              <a:rPr lang="en-US" dirty="0"/>
              <a:t>PDFs from interpolated smile </a:t>
            </a:r>
          </a:p>
          <a:p>
            <a:pPr lvl="1"/>
            <a:r>
              <a:rPr lang="en-US" dirty="0"/>
              <a:t>Others ???</a:t>
            </a:r>
          </a:p>
          <a:p>
            <a:pPr lvl="1"/>
            <a:r>
              <a:rPr lang="en-US" dirty="0">
                <a:solidFill>
                  <a:schemeClr val="accent6"/>
                </a:solidFill>
              </a:rPr>
              <a:t>Greeks?</a:t>
            </a:r>
          </a:p>
          <a:p>
            <a:r>
              <a:rPr lang="en-US" dirty="0">
                <a:solidFill>
                  <a:schemeClr val="accent6"/>
                </a:solidFill>
              </a:rPr>
              <a:t>Tests:</a:t>
            </a:r>
          </a:p>
          <a:p>
            <a:pPr lvl="1"/>
            <a:r>
              <a:rPr lang="en-US" dirty="0">
                <a:solidFill>
                  <a:schemeClr val="accent6"/>
                </a:solidFill>
              </a:rPr>
              <a:t>Sanity checks</a:t>
            </a:r>
          </a:p>
          <a:p>
            <a:pPr lvl="1"/>
            <a:r>
              <a:rPr lang="en-US" dirty="0">
                <a:solidFill>
                  <a:schemeClr val="accent6"/>
                </a:solidFill>
              </a:rPr>
              <a:t>Put-Call Parity</a:t>
            </a:r>
          </a:p>
          <a:p>
            <a:pPr lvl="1"/>
            <a:r>
              <a:rPr lang="en-US" dirty="0">
                <a:solidFill>
                  <a:schemeClr val="accent6"/>
                </a:solidFill>
              </a:rPr>
              <a:t>Arbitrage free</a:t>
            </a:r>
          </a:p>
          <a:p>
            <a:pPr lvl="1"/>
            <a:r>
              <a:rPr lang="en-US">
                <a:solidFill>
                  <a:schemeClr val="accent6"/>
                </a:solidFill>
              </a:rPr>
              <a:t>Shape</a:t>
            </a:r>
            <a:endParaRPr lang="en-US" dirty="0">
              <a:solidFill>
                <a:schemeClr val="accent6"/>
              </a:solidFill>
            </a:endParaRPr>
          </a:p>
          <a:p>
            <a:pPr lvl="1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E429A1-01A7-4ABE-93F9-9B3713E5D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1D13E-A035-4EA9-93C2-11AC861FBB9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8537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EFBEC-803C-4CB7-A4EF-E33E03931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design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983110-BD15-4EDA-BB84-781A65E8B8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593" y="1416834"/>
            <a:ext cx="10515600" cy="3026074"/>
          </a:xfrm>
        </p:spPr>
        <p:txBody>
          <a:bodyPr>
            <a:normAutofit/>
          </a:bodyPr>
          <a:lstStyle/>
          <a:p>
            <a:r>
              <a:rPr lang="en-US" dirty="0"/>
              <a:t>Decoupled components/abstractions</a:t>
            </a:r>
          </a:p>
          <a:p>
            <a:pPr lvl="1"/>
            <a:r>
              <a:rPr lang="en-US" dirty="0"/>
              <a:t>Data cleaning</a:t>
            </a:r>
          </a:p>
          <a:p>
            <a:pPr lvl="1"/>
            <a:r>
              <a:rPr lang="en-US" dirty="0"/>
              <a:t>BSM computation avoiding numerical errors (</a:t>
            </a:r>
            <a:r>
              <a:rPr lang="en-US" dirty="0" err="1"/>
              <a:t>AxR</a:t>
            </a:r>
            <a:r>
              <a:rPr lang="en-US" dirty="0"/>
              <a:t> math layer)</a:t>
            </a:r>
          </a:p>
          <a:p>
            <a:pPr lvl="1"/>
            <a:r>
              <a:rPr lang="en-US" dirty="0"/>
              <a:t>Normal CDF inversion (</a:t>
            </a:r>
            <a:r>
              <a:rPr lang="en-US" dirty="0" err="1"/>
              <a:t>AxR</a:t>
            </a:r>
            <a:r>
              <a:rPr lang="en-US" dirty="0"/>
              <a:t> math layer)</a:t>
            </a:r>
          </a:p>
          <a:p>
            <a:pPr lvl="1"/>
            <a:r>
              <a:rPr lang="en-US" dirty="0"/>
              <a:t>IV implication (</a:t>
            </a:r>
            <a:r>
              <a:rPr lang="en-US" dirty="0" err="1"/>
              <a:t>AxR</a:t>
            </a:r>
            <a:r>
              <a:rPr lang="en-US" dirty="0"/>
              <a:t> math layer)</a:t>
            </a:r>
          </a:p>
          <a:p>
            <a:pPr lvl="1"/>
            <a:r>
              <a:rPr lang="en-US" dirty="0"/>
              <a:t>IVS interpolation (Can this be generic?) (</a:t>
            </a:r>
            <a:r>
              <a:rPr lang="en-US" dirty="0" err="1"/>
              <a:t>AxR</a:t>
            </a:r>
            <a:r>
              <a:rPr lang="en-US" dirty="0"/>
              <a:t> math layer?)</a:t>
            </a:r>
          </a:p>
          <a:p>
            <a:pPr lvl="1"/>
            <a:r>
              <a:rPr lang="en-US" dirty="0"/>
              <a:t>Derived quantities (local vol, PDF,…)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F1FEB8-31FB-45A5-BC09-1FC3359C4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1D13E-A035-4EA9-93C2-11AC861FBB9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8804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361</Words>
  <Application>Microsoft Office PowerPoint</Application>
  <PresentationFormat>Widescreen</PresentationFormat>
  <Paragraphs>74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Cambria Math</vt:lpstr>
      <vt:lpstr>Office Theme</vt:lpstr>
      <vt:lpstr>Implying volatility from prices</vt:lpstr>
      <vt:lpstr>Data input</vt:lpstr>
      <vt:lpstr>European option Inversion (BSM case)</vt:lpstr>
      <vt:lpstr>American option Inversion</vt:lpstr>
      <vt:lpstr>Interpolation/Extrapolation of IVS</vt:lpstr>
      <vt:lpstr>Derived quantities </vt:lpstr>
      <vt:lpstr>Code design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Implying volatility from prices</dc:title>
  <dc:creator>Iulian Cotoi</dc:creator>
  <cp:lastModifiedBy>Manuel Maurette</cp:lastModifiedBy>
  <cp:revision>14</cp:revision>
  <dcterms:created xsi:type="dcterms:W3CDTF">2019-05-06T20:34:12Z</dcterms:created>
  <dcterms:modified xsi:type="dcterms:W3CDTF">2019-05-07T15:56:19Z</dcterms:modified>
</cp:coreProperties>
</file>