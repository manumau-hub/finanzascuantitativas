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CD315-D464-4197-9E1B-5BA4019A5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05BAB7-F7AC-40DC-B270-AE3D1C64C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12253E-1F7A-4254-AEDB-DDEC558B2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F4BB85-4E0E-48E9-B193-C36061B72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44D49A-6598-43DC-836E-62BC4881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3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29251-3D63-44E2-A966-BAE7411D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86766C-6D55-4688-9D4C-7EF2E17BF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DC0D07-B0C2-4085-8E28-467775B9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480585-C25B-48FC-B1BB-4D3F110E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311D14-2DE9-4A5D-9AA6-EA65F580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03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83A21-112D-4AFC-9F71-E3325D46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38E245-D79B-40BE-845E-58C265457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37D21F-F847-4887-8738-B294BC83B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6DB97B-66FA-4819-ABBE-2102D529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1E15CE-ADAE-482A-AA89-FDECB9BC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3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9864C-7246-490D-A6F7-D911A675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FDB58C-B809-4B18-9556-7F264A446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7EEAC8-FCE4-4E7F-807C-0EC1E2277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E742C3-40CD-4A98-9512-2524C230D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B83EB7-FCE4-4B7B-A7FF-80B9AB34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219315-003D-47C9-8D95-C8EDB17B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76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12CD4-A08A-46E2-A268-988546B8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98F1EF-0122-4A84-AF7B-0AF89E19E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8D173E-4209-407F-AD2F-4BB8D205C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31E57F-5C77-4B66-B8AC-CF853F819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F75DB4F-988B-4E64-BA48-8841DD820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981A0A0-4CAF-49F8-B446-348E5743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98480AF-1013-447E-973F-42DFCE14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373DA8A-2895-4527-8CE4-5C9B958D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8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A5DD3-2E8B-4B27-96A2-A40ECBD8E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4EA840F-03E2-4C51-A5CF-A700A46C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0FCD96-D28D-4D7C-867E-A0C9D16B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2FAD6E0-E7C0-47F9-B740-096FF20E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6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D2D3AA8-D0A2-43FE-BF5A-0C152B86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2A45244-63BB-41E9-BE2D-5F87A1E4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5800AA-C089-4058-BE16-3D890865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1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3E220-7917-4727-B15D-09D8A0C80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38D268-8BFE-4F1C-9D12-60C5C49DF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01ACEB-0AE6-4A68-B626-4DFB6E269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ED51BB-17DF-426C-9841-74A1AECA8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588748-8455-4F73-8FD1-3187A7C1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A5B8A4-2C1E-44B3-922F-4B35B73F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5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7E1F8-1CBF-4733-96B1-D5BB31980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BEF6B6C-1319-4E76-9213-C0CBCAD59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DFDA9A-CF2A-4D93-B7C5-A53C3DDD8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DDDD07-49C1-42E2-8489-3EA046E44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27B2D7-D208-4D93-9046-5927C3865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8B2B81-731A-4E83-816D-F3006FFD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0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6AEEE-6014-4B31-A948-5E09F9AF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705AC1-0693-4F43-8B3F-B8C60744C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E2E9D0-F80E-4334-860B-B62E3705B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77AE7B-0AAB-48C4-9C3F-B0C40444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49F232-F9FE-4895-9C14-13040F63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02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27E0D0-6AD5-4ABB-BEF5-545F06432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45EF732-7BB4-43A4-B91A-3D22F57E3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58EB55-6A21-41F0-9775-BCB2CD44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D33626-6FAB-4436-8EB7-7517C2B8F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48A349-C28C-4F11-A3C0-50CA8E7F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0760634-93BA-4A95-BC94-AF32AE01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AC5ED8-6C3C-489C-AC08-C01575391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ECA60A-336A-446B-8176-4378830C0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5BD6A-9116-4FE4-99B1-A8A42D97CCA6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8228A0-F3DF-47DF-9370-C2B5E8C2C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1B5083-FFCD-4F4B-8153-57DA08257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11A39-5B74-4F2A-B0F4-AD64BAD7B5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18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E976F8A-7C7A-432F-B3D0-45222E6A3B55}"/>
              </a:ext>
            </a:extLst>
          </p:cNvPr>
          <p:cNvSpPr/>
          <p:nvPr/>
        </p:nvSpPr>
        <p:spPr>
          <a:xfrm>
            <a:off x="3076666" y="2165058"/>
            <a:ext cx="1140902" cy="8305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 access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D929A24-875F-4B5A-8A50-1DA7B7ACF4EB}"/>
              </a:ext>
            </a:extLst>
          </p:cNvPr>
          <p:cNvSpPr/>
          <p:nvPr/>
        </p:nvSpPr>
        <p:spPr>
          <a:xfrm>
            <a:off x="5391326" y="2818700"/>
            <a:ext cx="1140902" cy="83051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Axioma IV Surface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29837CE-E8BD-4B00-BF67-2E8D0F7B2823}"/>
              </a:ext>
            </a:extLst>
          </p:cNvPr>
          <p:cNvSpPr/>
          <p:nvPr/>
        </p:nvSpPr>
        <p:spPr>
          <a:xfrm>
            <a:off x="3626841" y="4271394"/>
            <a:ext cx="1339442" cy="8305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Dividend calculation methods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1777E73-CE61-48F4-9CD3-F85EA0980A88}"/>
              </a:ext>
            </a:extLst>
          </p:cNvPr>
          <p:cNvSpPr/>
          <p:nvPr/>
        </p:nvSpPr>
        <p:spPr>
          <a:xfrm>
            <a:off x="7738843" y="2165058"/>
            <a:ext cx="1140902" cy="8305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IV root finder methods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DF9A954-6D6B-46EA-8D18-B6591D6B2B68}"/>
              </a:ext>
            </a:extLst>
          </p:cNvPr>
          <p:cNvSpPr/>
          <p:nvPr/>
        </p:nvSpPr>
        <p:spPr>
          <a:xfrm>
            <a:off x="5391326" y="954946"/>
            <a:ext cx="1140902" cy="8305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IV fitting methods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C31A997-203C-41D9-B554-8B656610EB38}"/>
              </a:ext>
            </a:extLst>
          </p:cNvPr>
          <p:cNvSpPr/>
          <p:nvPr/>
        </p:nvSpPr>
        <p:spPr>
          <a:xfrm>
            <a:off x="6979638" y="4271394"/>
            <a:ext cx="1140902" cy="8305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Discount factor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2C447F7-4FCD-4260-9238-5D894B33C0C9}"/>
              </a:ext>
            </a:extLst>
          </p:cNvPr>
          <p:cNvSpPr/>
          <p:nvPr/>
        </p:nvSpPr>
        <p:spPr>
          <a:xfrm>
            <a:off x="2474752" y="2995569"/>
            <a:ext cx="1140902" cy="5361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Vendor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Pandora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. . 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BDD47B4-9F0D-4819-9383-7729EDD6F807}"/>
              </a:ext>
            </a:extLst>
          </p:cNvPr>
          <p:cNvSpPr/>
          <p:nvPr/>
        </p:nvSpPr>
        <p:spPr>
          <a:xfrm>
            <a:off x="2887210" y="5101206"/>
            <a:ext cx="1416341" cy="12765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Historical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Linear approx.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 linear approx.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. . 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31E90C2-F4F0-4B67-895D-F114555CF886}"/>
              </a:ext>
            </a:extLst>
          </p:cNvPr>
          <p:cNvSpPr/>
          <p:nvPr/>
        </p:nvSpPr>
        <p:spPr>
          <a:xfrm>
            <a:off x="6133748" y="5120081"/>
            <a:ext cx="1416341" cy="6347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Libor + futures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Libor + OIS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. . .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26F1BB-D14A-4B00-9564-A9567F202919}"/>
              </a:ext>
            </a:extLst>
          </p:cNvPr>
          <p:cNvSpPr/>
          <p:nvPr/>
        </p:nvSpPr>
        <p:spPr>
          <a:xfrm>
            <a:off x="8487558" y="2998365"/>
            <a:ext cx="1416341" cy="12765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Historical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Linear approx.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 linear approx.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. . 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A15CD8A-4138-4912-9D6F-A4535F9CD5C7}"/>
              </a:ext>
            </a:extLst>
          </p:cNvPr>
          <p:cNvSpPr/>
          <p:nvPr/>
        </p:nvSpPr>
        <p:spPr>
          <a:xfrm>
            <a:off x="6532228" y="419449"/>
            <a:ext cx="1416341" cy="1010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Gaussian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Cubic spline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. . .</a:t>
            </a:r>
          </a:p>
        </p:txBody>
      </p: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998F4D28-FC6C-422D-A597-D0539E8452CF}"/>
              </a:ext>
            </a:extLst>
          </p:cNvPr>
          <p:cNvCxnSpPr>
            <a:stCxn id="6" idx="2"/>
            <a:endCxn id="3" idx="0"/>
          </p:cNvCxnSpPr>
          <p:nvPr/>
        </p:nvCxnSpPr>
        <p:spPr>
          <a:xfrm rot="5400000">
            <a:off x="5445155" y="2302078"/>
            <a:ext cx="1033244" cy="1270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06A6DA63-768E-4C02-9118-860A4ED3E596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217568" y="2580313"/>
            <a:ext cx="1173758" cy="653642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AC440C0C-B157-4A4F-A2E3-E3BB27E54EE7}"/>
              </a:ext>
            </a:extLst>
          </p:cNvPr>
          <p:cNvCxnSpPr>
            <a:stCxn id="4" idx="0"/>
            <a:endCxn id="3" idx="1"/>
          </p:cNvCxnSpPr>
          <p:nvPr/>
        </p:nvCxnSpPr>
        <p:spPr>
          <a:xfrm rot="5400000" flipH="1" flipV="1">
            <a:off x="4325225" y="3205293"/>
            <a:ext cx="1037439" cy="109476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76F36475-5F56-4F03-BFF2-E7E700665AB0}"/>
              </a:ext>
            </a:extLst>
          </p:cNvPr>
          <p:cNvCxnSpPr>
            <a:stCxn id="7" idx="1"/>
            <a:endCxn id="3" idx="2"/>
          </p:cNvCxnSpPr>
          <p:nvPr/>
        </p:nvCxnSpPr>
        <p:spPr>
          <a:xfrm rot="10800000">
            <a:off x="5961778" y="3649211"/>
            <a:ext cx="1017861" cy="1037439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AD0DEDAC-B64E-434E-B39E-0AEC30930F74}"/>
              </a:ext>
            </a:extLst>
          </p:cNvPr>
          <p:cNvCxnSpPr>
            <a:stCxn id="5" idx="1"/>
            <a:endCxn id="3" idx="3"/>
          </p:cNvCxnSpPr>
          <p:nvPr/>
        </p:nvCxnSpPr>
        <p:spPr>
          <a:xfrm rot="10800000" flipV="1">
            <a:off x="6532229" y="2580313"/>
            <a:ext cx="1206615" cy="653642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3B30BAC-EA68-4D44-9884-F54F863DDA95}"/>
              </a:ext>
            </a:extLst>
          </p:cNvPr>
          <p:cNvSpPr txBox="1"/>
          <p:nvPr/>
        </p:nvSpPr>
        <p:spPr>
          <a:xfrm>
            <a:off x="318782" y="302004"/>
            <a:ext cx="4085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Current structure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B872026-356F-4EF1-ACBC-C3DECB1F3A22}"/>
              </a:ext>
            </a:extLst>
          </p:cNvPr>
          <p:cNvSpPr txBox="1"/>
          <p:nvPr/>
        </p:nvSpPr>
        <p:spPr>
          <a:xfrm>
            <a:off x="130029" y="1060290"/>
            <a:ext cx="22314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Completely independent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Easily extensible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1026" name="Picture 2" descr="Resultado de imagem para implied volatility surface">
            <a:extLst>
              <a:ext uri="{FF2B5EF4-FFF2-40B4-BE49-F238E27FC236}">
                <a16:creationId xmlns:a16="http://schemas.microsoft.com/office/drawing/2014/main" id="{60291057-BC85-48D2-8298-36AE1242A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588" y="3406103"/>
            <a:ext cx="866173" cy="65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29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ixaDeTexto 24">
            <a:extLst>
              <a:ext uri="{FF2B5EF4-FFF2-40B4-BE49-F238E27FC236}">
                <a16:creationId xmlns:a16="http://schemas.microsoft.com/office/drawing/2014/main" id="{33B30BAC-EA68-4D44-9884-F54F863DDA95}"/>
              </a:ext>
            </a:extLst>
          </p:cNvPr>
          <p:cNvSpPr txBox="1"/>
          <p:nvPr/>
        </p:nvSpPr>
        <p:spPr>
          <a:xfrm>
            <a:off x="318782" y="302004"/>
            <a:ext cx="4085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Show must go on…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8540DE4-A587-4197-B554-1F68F85EC8C1}"/>
              </a:ext>
            </a:extLst>
          </p:cNvPr>
          <p:cNvSpPr/>
          <p:nvPr/>
        </p:nvSpPr>
        <p:spPr>
          <a:xfrm>
            <a:off x="6238614" y="3068274"/>
            <a:ext cx="1140902" cy="83051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Arbitrage checking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CD817A3-BFE4-429F-AF53-34A66D4B20EA}"/>
              </a:ext>
            </a:extLst>
          </p:cNvPr>
          <p:cNvSpPr/>
          <p:nvPr/>
        </p:nvSpPr>
        <p:spPr>
          <a:xfrm>
            <a:off x="3696750" y="1207842"/>
            <a:ext cx="1140902" cy="83051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Axioma IV Surface</a:t>
            </a:r>
          </a:p>
        </p:txBody>
      </p:sp>
      <p:pic>
        <p:nvPicPr>
          <p:cNvPr id="28" name="Picture 2" descr="Resultado de imagem para implied volatility surface">
            <a:extLst>
              <a:ext uri="{FF2B5EF4-FFF2-40B4-BE49-F238E27FC236}">
                <a16:creationId xmlns:a16="http://schemas.microsoft.com/office/drawing/2014/main" id="{979F2A8A-3C95-4042-845F-2953336F2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012" y="1795245"/>
            <a:ext cx="866173" cy="65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986230B8-C817-4B2B-ACC3-66897167885B}"/>
              </a:ext>
            </a:extLst>
          </p:cNvPr>
          <p:cNvSpPr/>
          <p:nvPr/>
        </p:nvSpPr>
        <p:spPr>
          <a:xfrm>
            <a:off x="8128935" y="4473535"/>
            <a:ext cx="1140902" cy="83051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Option price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D5CFE939-623D-4BF0-BD45-52FCDF792D75}"/>
              </a:ext>
            </a:extLst>
          </p:cNvPr>
          <p:cNvSpPr/>
          <p:nvPr/>
        </p:nvSpPr>
        <p:spPr>
          <a:xfrm rot="2361158">
            <a:off x="5435508" y="2659346"/>
            <a:ext cx="866173" cy="243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BA7676DB-F637-47AD-9F12-CEB208729FAE}"/>
              </a:ext>
            </a:extLst>
          </p:cNvPr>
          <p:cNvSpPr/>
          <p:nvPr/>
        </p:nvSpPr>
        <p:spPr>
          <a:xfrm rot="2361158">
            <a:off x="7321139" y="4064606"/>
            <a:ext cx="866173" cy="243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5244AA2B-05C7-456E-9302-F2EB6E7EAEEC}"/>
              </a:ext>
            </a:extLst>
          </p:cNvPr>
          <p:cNvCxnSpPr>
            <a:stCxn id="27" idx="2"/>
            <a:endCxn id="29" idx="1"/>
          </p:cNvCxnSpPr>
          <p:nvPr/>
        </p:nvCxnSpPr>
        <p:spPr>
          <a:xfrm rot="16200000" flipH="1">
            <a:off x="4772849" y="1532704"/>
            <a:ext cx="2850438" cy="3861734"/>
          </a:xfrm>
          <a:prstGeom prst="bentConnector2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>
            <a:extLst>
              <a:ext uri="{FF2B5EF4-FFF2-40B4-BE49-F238E27FC236}">
                <a16:creationId xmlns:a16="http://schemas.microsoft.com/office/drawing/2014/main" id="{6FA192B8-CE3D-4AAE-B013-72BDDE844D9B}"/>
              </a:ext>
            </a:extLst>
          </p:cNvPr>
          <p:cNvSpPr/>
          <p:nvPr/>
        </p:nvSpPr>
        <p:spPr>
          <a:xfrm>
            <a:off x="2988579" y="4665783"/>
            <a:ext cx="1416341" cy="12765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Market data split in training and validation set</a:t>
            </a:r>
          </a:p>
        </p:txBody>
      </p:sp>
    </p:spTree>
    <p:extLst>
      <p:ext uri="{BB962C8B-B14F-4D97-AF65-F5344CB8AC3E}">
        <p14:creationId xmlns:p14="http://schemas.microsoft.com/office/powerpoint/2010/main" val="251445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93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Diogo de Moura Pedroso</dc:creator>
  <cp:lastModifiedBy>Diogo de Moura Pedroso</cp:lastModifiedBy>
  <cp:revision>5</cp:revision>
  <dcterms:created xsi:type="dcterms:W3CDTF">2019-07-22T12:06:00Z</dcterms:created>
  <dcterms:modified xsi:type="dcterms:W3CDTF">2019-07-22T12:52:26Z</dcterms:modified>
</cp:coreProperties>
</file>