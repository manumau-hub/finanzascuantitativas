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0"/>
  </p:notesMasterIdLst>
  <p:sldIdLst>
    <p:sldId id="261" r:id="rId2"/>
    <p:sldId id="264" r:id="rId3"/>
    <p:sldId id="286" r:id="rId4"/>
    <p:sldId id="260" r:id="rId5"/>
    <p:sldId id="271" r:id="rId6"/>
    <p:sldId id="289" r:id="rId7"/>
    <p:sldId id="290" r:id="rId8"/>
    <p:sldId id="287" r:id="rId9"/>
    <p:sldId id="272" r:id="rId10"/>
    <p:sldId id="257" r:id="rId11"/>
    <p:sldId id="279" r:id="rId12"/>
    <p:sldId id="282" r:id="rId13"/>
    <p:sldId id="283" r:id="rId14"/>
    <p:sldId id="284" r:id="rId15"/>
    <p:sldId id="285" r:id="rId16"/>
    <p:sldId id="274" r:id="rId17"/>
    <p:sldId id="275" r:id="rId18"/>
    <p:sldId id="27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08" userDrawn="1">
          <p15:clr>
            <a:srgbClr val="A4A3A4"/>
          </p15:clr>
        </p15:guide>
        <p15:guide id="2" pos="489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meson Spence" initials="J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AB6"/>
    <a:srgbClr val="FF6600"/>
    <a:srgbClr val="1B398B"/>
    <a:srgbClr val="C54F30"/>
    <a:srgbClr val="1A427E"/>
    <a:srgbClr val="0099CC"/>
    <a:srgbClr val="17E9C6"/>
    <a:srgbClr val="DBE1E1"/>
    <a:srgbClr val="E3F7FF"/>
    <a:srgbClr val="10378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504" autoAdjust="0"/>
    <p:restoredTop sz="96374" autoAdjust="0"/>
  </p:normalViewPr>
  <p:slideViewPr>
    <p:cSldViewPr snapToGrid="0" snapToObjects="1">
      <p:cViewPr varScale="1">
        <p:scale>
          <a:sx n="110" d="100"/>
          <a:sy n="110" d="100"/>
        </p:scale>
        <p:origin x="1002" y="96"/>
      </p:cViewPr>
      <p:guideLst>
        <p:guide orient="horz" pos="1008"/>
        <p:guide pos="4896"/>
      </p:guideLst>
    </p:cSldViewPr>
  </p:slideViewPr>
  <p:outlineViewPr>
    <p:cViewPr>
      <p:scale>
        <a:sx n="33" d="100"/>
        <a:sy n="33" d="100"/>
      </p:scale>
      <p:origin x="0" y="-8094"/>
    </p:cViewPr>
  </p:outlineViewPr>
  <p:notesTextViewPr>
    <p:cViewPr>
      <p:scale>
        <a:sx n="3" d="2"/>
        <a:sy n="3" d="2"/>
      </p:scale>
      <p:origin x="0" y="0"/>
    </p:cViewPr>
  </p:notesTextViewPr>
  <p:sorterViewPr>
    <p:cViewPr>
      <p:scale>
        <a:sx n="120" d="100"/>
        <a:sy n="12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Source Sans Pro"/>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Source Sans Pro"/>
              </a:defRPr>
            </a:lvl1pPr>
          </a:lstStyle>
          <a:p>
            <a:fld id="{F05AAA67-03B6-F84B-9760-3E700A9B8D1C}" type="datetimeFigureOut">
              <a:rPr lang="en-US" smtClean="0"/>
              <a:pPr/>
              <a:t>7/19/2019</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Source Sans Pro"/>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Source Sans Pro"/>
              </a:defRPr>
            </a:lvl1pPr>
          </a:lstStyle>
          <a:p>
            <a:fld id="{C48DCC56-E564-9646-8A93-B106C6D4033F}" type="slidenum">
              <a:rPr lang="en-US" smtClean="0"/>
              <a:pPr/>
              <a:t>‹#›</a:t>
            </a:fld>
            <a:endParaRPr lang="en-US" dirty="0"/>
          </a:p>
        </p:txBody>
      </p:sp>
    </p:spTree>
    <p:extLst>
      <p:ext uri="{BB962C8B-B14F-4D97-AF65-F5344CB8AC3E}">
        <p14:creationId xmlns:p14="http://schemas.microsoft.com/office/powerpoint/2010/main" val="9330042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Source Sans Pro"/>
        <a:ea typeface="+mn-ea"/>
        <a:cs typeface="+mn-cs"/>
      </a:defRPr>
    </a:lvl1pPr>
    <a:lvl2pPr marL="457200" algn="l" defTabSz="914400" rtl="0" eaLnBrk="1" latinLnBrk="0" hangingPunct="1">
      <a:defRPr sz="1200" kern="1200">
        <a:solidFill>
          <a:schemeClr val="tx1"/>
        </a:solidFill>
        <a:latin typeface="Source Sans Pro"/>
        <a:ea typeface="+mn-ea"/>
        <a:cs typeface="+mn-cs"/>
      </a:defRPr>
    </a:lvl2pPr>
    <a:lvl3pPr marL="914400" algn="l" defTabSz="914400" rtl="0" eaLnBrk="1" latinLnBrk="0" hangingPunct="1">
      <a:defRPr sz="1200" kern="1200">
        <a:solidFill>
          <a:schemeClr val="tx1"/>
        </a:solidFill>
        <a:latin typeface="Source Sans Pro"/>
        <a:ea typeface="+mn-ea"/>
        <a:cs typeface="+mn-cs"/>
      </a:defRPr>
    </a:lvl3pPr>
    <a:lvl4pPr marL="1371600" algn="l" defTabSz="914400" rtl="0" eaLnBrk="1" latinLnBrk="0" hangingPunct="1">
      <a:defRPr sz="1200" kern="1200">
        <a:solidFill>
          <a:schemeClr val="tx1"/>
        </a:solidFill>
        <a:latin typeface="Source Sans Pro"/>
        <a:ea typeface="+mn-ea"/>
        <a:cs typeface="+mn-cs"/>
      </a:defRPr>
    </a:lvl4pPr>
    <a:lvl5pPr marL="1828800" algn="l" defTabSz="914400" rtl="0" eaLnBrk="1" latinLnBrk="0" hangingPunct="1">
      <a:defRPr sz="1200" kern="1200">
        <a:solidFill>
          <a:schemeClr val="tx1"/>
        </a:solidFill>
        <a:latin typeface="Source Sans Pro"/>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75819"/>
            <a:ext cx="12192000" cy="7409637"/>
          </a:xfrm>
          <a:prstGeom prst="rect">
            <a:avLst/>
          </a:prstGeom>
        </p:spPr>
      </p:pic>
      <p:sp>
        <p:nvSpPr>
          <p:cNvPr id="14" name="Text Placeholder 13"/>
          <p:cNvSpPr>
            <a:spLocks noGrp="1"/>
          </p:cNvSpPr>
          <p:nvPr>
            <p:ph type="body" sz="quarter" idx="10" hasCustomPrompt="1"/>
          </p:nvPr>
        </p:nvSpPr>
        <p:spPr>
          <a:xfrm>
            <a:off x="2125135" y="2294473"/>
            <a:ext cx="5977467" cy="2223553"/>
          </a:xfrm>
          <a:prstGeom prst="rect">
            <a:avLst/>
          </a:prstGeom>
        </p:spPr>
        <p:txBody>
          <a:bodyPr wrap="square" lIns="0" tIns="0" rIns="0" bIns="0" anchor="t" anchorCtr="0"/>
          <a:lstStyle>
            <a:lvl1pPr marL="0" indent="0">
              <a:buNone/>
              <a:defRPr sz="3200" b="0" i="0" cap="none" spc="50" baseline="0">
                <a:solidFill>
                  <a:schemeClr val="bg1"/>
                </a:solidFill>
                <a:latin typeface="+mj-lt"/>
                <a:ea typeface="Raleway" charset="0"/>
                <a:cs typeface="Raleway" charset="0"/>
              </a:defRPr>
            </a:lvl1pPr>
            <a:lvl2pPr marL="457200" indent="0">
              <a:buNone/>
              <a:defRPr sz="4800" b="1" i="0">
                <a:latin typeface="Source Sans Pro" charset="0"/>
                <a:ea typeface="Source Sans Pro" charset="0"/>
                <a:cs typeface="Source Sans Pro" charset="0"/>
              </a:defRPr>
            </a:lvl2pPr>
            <a:lvl3pPr marL="914400" indent="0">
              <a:buNone/>
              <a:defRPr sz="4800" b="1" i="0">
                <a:latin typeface="Source Sans Pro" charset="0"/>
                <a:ea typeface="Source Sans Pro" charset="0"/>
                <a:cs typeface="Source Sans Pro" charset="0"/>
              </a:defRPr>
            </a:lvl3pPr>
            <a:lvl4pPr marL="1371600" indent="0">
              <a:buNone/>
              <a:defRPr sz="4800" b="1" i="0">
                <a:latin typeface="Source Sans Pro" charset="0"/>
                <a:ea typeface="Source Sans Pro" charset="0"/>
                <a:cs typeface="Source Sans Pro" charset="0"/>
              </a:defRPr>
            </a:lvl4pPr>
            <a:lvl5pPr marL="1828800" indent="0">
              <a:buNone/>
              <a:defRPr sz="4800" b="1" i="0">
                <a:latin typeface="Source Sans Pro" charset="0"/>
                <a:ea typeface="Source Sans Pro" charset="0"/>
                <a:cs typeface="Source Sans Pro" charset="0"/>
              </a:defRPr>
            </a:lvl5pPr>
          </a:lstStyle>
          <a:p>
            <a:pPr lvl="0"/>
            <a:r>
              <a:rPr lang="en-US" dirty="0"/>
              <a:t>Click to edit master text styles</a:t>
            </a:r>
          </a:p>
          <a:p>
            <a:pPr lvl="0"/>
            <a:endParaRPr lang="en-US" dirty="0"/>
          </a:p>
        </p:txBody>
      </p:sp>
      <p:sp>
        <p:nvSpPr>
          <p:cNvPr id="6" name="Text Placeholder 5"/>
          <p:cNvSpPr>
            <a:spLocks noGrp="1"/>
          </p:cNvSpPr>
          <p:nvPr>
            <p:ph type="body" sz="quarter" idx="11"/>
          </p:nvPr>
        </p:nvSpPr>
        <p:spPr>
          <a:xfrm>
            <a:off x="2125134" y="4518026"/>
            <a:ext cx="5977467" cy="1069982"/>
          </a:xfrm>
          <a:prstGeom prst="rect">
            <a:avLst/>
          </a:prstGeom>
        </p:spPr>
        <p:txBody>
          <a:bodyPr/>
          <a:lstStyle>
            <a:lvl1pPr marL="0" indent="0">
              <a:buNone/>
              <a:defRPr>
                <a:solidFill>
                  <a:srgbClr val="FF6600"/>
                </a:solidFill>
                <a:latin typeface="+mj-lt"/>
                <a:ea typeface="Raleway" charset="0"/>
                <a:cs typeface="Raleway" charset="0"/>
              </a:defRPr>
            </a:lvl1pPr>
            <a:lvl2pPr marL="457200" indent="0">
              <a:buNone/>
              <a:defRPr>
                <a:solidFill>
                  <a:schemeClr val="bg1"/>
                </a:solidFill>
                <a:latin typeface="Raleway" charset="0"/>
                <a:ea typeface="Raleway" charset="0"/>
                <a:cs typeface="Raleway" charset="0"/>
              </a:defRPr>
            </a:lvl2pPr>
            <a:lvl3pPr marL="914400" indent="0">
              <a:buNone/>
              <a:defRPr>
                <a:solidFill>
                  <a:schemeClr val="bg1"/>
                </a:solidFill>
                <a:latin typeface="Raleway" charset="0"/>
                <a:ea typeface="Raleway" charset="0"/>
                <a:cs typeface="Raleway" charset="0"/>
              </a:defRPr>
            </a:lvl3pPr>
            <a:lvl4pPr marL="1371600" indent="0">
              <a:buNone/>
              <a:defRPr>
                <a:solidFill>
                  <a:schemeClr val="bg1"/>
                </a:solidFill>
                <a:latin typeface="Raleway" charset="0"/>
                <a:ea typeface="Raleway" charset="0"/>
                <a:cs typeface="Raleway" charset="0"/>
              </a:defRPr>
            </a:lvl4pPr>
            <a:lvl5pPr marL="1828800" indent="0">
              <a:buNone/>
              <a:defRPr>
                <a:solidFill>
                  <a:schemeClr val="bg1"/>
                </a:solidFill>
                <a:latin typeface="Raleway" charset="0"/>
                <a:ea typeface="Raleway" charset="0"/>
                <a:cs typeface="Raleway" charset="0"/>
              </a:defRPr>
            </a:lvl5pPr>
          </a:lstStyle>
          <a:p>
            <a:pPr lvl="0"/>
            <a:r>
              <a:rPr lang="en-US" dirty="0"/>
              <a:t>Click to edit Master text styles</a:t>
            </a: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165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rimary Slide Master">
    <p:spTree>
      <p:nvGrpSpPr>
        <p:cNvPr id="1" name=""/>
        <p:cNvGrpSpPr/>
        <p:nvPr/>
      </p:nvGrpSpPr>
      <p:grpSpPr>
        <a:xfrm>
          <a:off x="0" y="0"/>
          <a:ext cx="0" cy="0"/>
          <a:chOff x="0" y="0"/>
          <a:chExt cx="0" cy="0"/>
        </a:xfrm>
      </p:grpSpPr>
      <p:sp>
        <p:nvSpPr>
          <p:cNvPr id="4" name="Rectangle 3"/>
          <p:cNvSpPr/>
          <p:nvPr userDrawn="1"/>
        </p:nvSpPr>
        <p:spPr>
          <a:xfrm>
            <a:off x="6378641" y="6524187"/>
            <a:ext cx="6096000" cy="123111"/>
          </a:xfrm>
          <a:prstGeom prst="rect">
            <a:avLst/>
          </a:prstGeom>
        </p:spPr>
        <p:txBody>
          <a:bodyPr lIns="0" tIns="0" rIns="0" bIns="0" anchor="t">
            <a:spAutoFit/>
          </a:bodyPr>
          <a:lstStyle/>
          <a:p>
            <a:pPr algn="ctr"/>
            <a:r>
              <a:rPr lang="en-US" sz="800" b="0" i="0" dirty="0">
                <a:solidFill>
                  <a:schemeClr val="bg2">
                    <a:lumMod val="75000"/>
                  </a:schemeClr>
                </a:solidFill>
                <a:latin typeface="+mj-lt"/>
                <a:ea typeface="Trebuchet MS" charset="0"/>
                <a:cs typeface="Trebuchet MS" charset="0"/>
              </a:rPr>
              <a:t>Confidential</a:t>
            </a:r>
            <a:r>
              <a:rPr lang="en-US" sz="800" b="0" i="0" baseline="0" dirty="0">
                <a:solidFill>
                  <a:schemeClr val="bg2">
                    <a:lumMod val="75000"/>
                  </a:schemeClr>
                </a:solidFill>
                <a:latin typeface="+mj-lt"/>
                <a:ea typeface="Trebuchet MS" charset="0"/>
                <a:cs typeface="Trebuchet MS" charset="0"/>
              </a:rPr>
              <a:t> – Not for Redistribution – Copyright © 2018 Axioma, Inc. </a:t>
            </a:r>
            <a:endParaRPr lang="en-US" sz="800" b="0" i="0" dirty="0">
              <a:solidFill>
                <a:schemeClr val="bg2">
                  <a:lumMod val="75000"/>
                </a:schemeClr>
              </a:solidFill>
              <a:latin typeface="+mj-lt"/>
              <a:ea typeface="Trebuchet MS" charset="0"/>
              <a:cs typeface="Trebuchet MS" charset="0"/>
            </a:endParaRPr>
          </a:p>
        </p:txBody>
      </p:sp>
      <p:sp>
        <p:nvSpPr>
          <p:cNvPr id="17" name="Text Placeholder 16"/>
          <p:cNvSpPr>
            <a:spLocks noGrp="1"/>
          </p:cNvSpPr>
          <p:nvPr>
            <p:ph type="body" sz="quarter" idx="12"/>
          </p:nvPr>
        </p:nvSpPr>
        <p:spPr>
          <a:xfrm>
            <a:off x="576072" y="500723"/>
            <a:ext cx="8794750" cy="356527"/>
          </a:xfrm>
          <a:prstGeom prst="rect">
            <a:avLst/>
          </a:prstGeom>
        </p:spPr>
        <p:txBody>
          <a:bodyPr lIns="0" tIns="0" rIns="0" bIns="0"/>
          <a:lstStyle>
            <a:lvl1pPr marL="0" indent="0">
              <a:buNone/>
              <a:defRPr sz="1800" cap="none" spc="50" baseline="0">
                <a:latin typeface="+mj-lt"/>
              </a:defRPr>
            </a:lvl1pPr>
          </a:lstStyle>
          <a:p>
            <a:pPr lvl="0"/>
            <a:r>
              <a:rPr lang="en-US" dirty="0"/>
              <a:t>Click to edit Master text styles</a:t>
            </a:r>
          </a:p>
        </p:txBody>
      </p:sp>
      <p:sp>
        <p:nvSpPr>
          <p:cNvPr id="27" name="Text Placeholder 9"/>
          <p:cNvSpPr>
            <a:spLocks noGrp="1"/>
          </p:cNvSpPr>
          <p:nvPr>
            <p:ph type="body" sz="quarter" idx="14" hasCustomPrompt="1"/>
          </p:nvPr>
        </p:nvSpPr>
        <p:spPr>
          <a:xfrm>
            <a:off x="576071" y="1351026"/>
            <a:ext cx="10938019" cy="4932828"/>
          </a:xfrm>
          <a:prstGeom prst="rect">
            <a:avLst/>
          </a:prstGeom>
        </p:spPr>
        <p:txBody>
          <a:bodyPr lIns="0" tIns="0" rIns="0" bIns="0"/>
          <a:lstStyle>
            <a:lvl1pPr marL="0" indent="0">
              <a:lnSpc>
                <a:spcPts val="2160"/>
              </a:lnSpc>
              <a:spcBef>
                <a:spcPts val="0"/>
              </a:spcBef>
              <a:spcAft>
                <a:spcPts val="0"/>
              </a:spcAft>
              <a:buFont typeface="Arial" panose="020B0604020202020204" pitchFamily="34" charset="0"/>
              <a:buNone/>
              <a:defRPr sz="1800" b="0">
                <a:solidFill>
                  <a:schemeClr val="accent1">
                    <a:lumMod val="50000"/>
                  </a:schemeClr>
                </a:solidFill>
                <a:latin typeface="+mj-lt"/>
              </a:defRPr>
            </a:lvl1pPr>
            <a:lvl2pPr marL="571500" indent="-173038">
              <a:lnSpc>
                <a:spcPts val="2160"/>
              </a:lnSpc>
              <a:spcBef>
                <a:spcPts val="0"/>
              </a:spcBef>
              <a:spcAft>
                <a:spcPts val="0"/>
              </a:spcAft>
              <a:buFont typeface="Arial" charset="0"/>
              <a:buChar char="•"/>
              <a:tabLst/>
              <a:defRPr sz="1600" baseline="0">
                <a:solidFill>
                  <a:schemeClr val="accent1">
                    <a:lumMod val="50000"/>
                  </a:schemeClr>
                </a:solidFill>
                <a:latin typeface="+mj-lt"/>
              </a:defRPr>
            </a:lvl2pPr>
            <a:lvl3pPr marL="858838" indent="-231775">
              <a:lnSpc>
                <a:spcPts val="2160"/>
              </a:lnSpc>
              <a:spcBef>
                <a:spcPts val="0"/>
              </a:spcBef>
              <a:spcAft>
                <a:spcPts val="0"/>
              </a:spcAft>
              <a:tabLst/>
              <a:defRPr sz="1400">
                <a:solidFill>
                  <a:schemeClr val="accent1">
                    <a:lumMod val="50000"/>
                  </a:schemeClr>
                </a:solidFill>
                <a:latin typeface="+mj-lt"/>
              </a:defRPr>
            </a:lvl3pPr>
            <a:lvl4pPr marL="1085850" indent="-171450">
              <a:lnSpc>
                <a:spcPts val="2160"/>
              </a:lnSpc>
              <a:spcBef>
                <a:spcPts val="0"/>
              </a:spcBef>
              <a:spcAft>
                <a:spcPts val="0"/>
              </a:spcAft>
              <a:defRPr sz="1200" b="0">
                <a:solidFill>
                  <a:schemeClr val="accent1">
                    <a:lumMod val="50000"/>
                  </a:schemeClr>
                </a:solidFill>
                <a:latin typeface="+mj-lt"/>
              </a:defRPr>
            </a:lvl4pPr>
            <a:lvl5pPr>
              <a:lnSpc>
                <a:spcPts val="2160"/>
              </a:lnSpc>
              <a:spcBef>
                <a:spcPts val="0"/>
              </a:spcBef>
              <a:spcAft>
                <a:spcPts val="0"/>
              </a:spcAft>
              <a:defRPr>
                <a:solidFill>
                  <a:schemeClr val="accent1">
                    <a:lumMod val="50000"/>
                  </a:schemeClr>
                </a:solidFill>
                <a:latin typeface="+mj-lt"/>
              </a:defRPr>
            </a:lvl5pPr>
          </a:lstStyle>
          <a:p>
            <a:pPr lvl="0"/>
            <a:r>
              <a:rPr lang="en-US" dirty="0"/>
              <a:t>Click to edit Master text styles</a:t>
            </a:r>
          </a:p>
          <a:p>
            <a:pPr lvl="0"/>
            <a:endParaRPr lang="en-US" dirty="0"/>
          </a:p>
        </p:txBody>
      </p:sp>
      <p:grpSp>
        <p:nvGrpSpPr>
          <p:cNvPr id="7" name="Group 6">
            <a:extLst>
              <a:ext uri="{FF2B5EF4-FFF2-40B4-BE49-F238E27FC236}">
                <a16:creationId xmlns:a16="http://schemas.microsoft.com/office/drawing/2014/main" id="{4800A329-E3D4-4EE8-8D44-3806883A71C5}"/>
              </a:ext>
            </a:extLst>
          </p:cNvPr>
          <p:cNvGrpSpPr/>
          <p:nvPr userDrawn="1"/>
        </p:nvGrpSpPr>
        <p:grpSpPr>
          <a:xfrm>
            <a:off x="1447922" y="6449327"/>
            <a:ext cx="10066169" cy="231087"/>
            <a:chOff x="3360206" y="6449327"/>
            <a:chExt cx="8153885" cy="231087"/>
          </a:xfrm>
        </p:grpSpPr>
        <p:cxnSp>
          <p:nvCxnSpPr>
            <p:cNvPr id="8" name="Straight Connector 7">
              <a:extLst>
                <a:ext uri="{FF2B5EF4-FFF2-40B4-BE49-F238E27FC236}">
                  <a16:creationId xmlns:a16="http://schemas.microsoft.com/office/drawing/2014/main" id="{E40D29D3-1EF0-431E-BA16-EBE4DB71B447}"/>
                </a:ext>
              </a:extLst>
            </p:cNvPr>
            <p:cNvCxnSpPr>
              <a:cxnSpLocks/>
            </p:cNvCxnSpPr>
            <p:nvPr userDrawn="1"/>
          </p:nvCxnSpPr>
          <p:spPr>
            <a:xfrm flipV="1">
              <a:off x="3360206" y="6449328"/>
              <a:ext cx="8153885" cy="46284"/>
            </a:xfrm>
            <a:prstGeom prst="line">
              <a:avLst/>
            </a:prstGeom>
            <a:ln w="9525">
              <a:solidFill>
                <a:srgbClr val="006AB6"/>
              </a:solidFill>
            </a:ln>
          </p:spPr>
          <p:style>
            <a:lnRef idx="1">
              <a:schemeClr val="accent2"/>
            </a:lnRef>
            <a:fillRef idx="0">
              <a:schemeClr val="accent2"/>
            </a:fillRef>
            <a:effectRef idx="0">
              <a:schemeClr val="accent2"/>
            </a:effectRef>
            <a:fontRef idx="minor">
              <a:schemeClr val="tx1"/>
            </a:fontRef>
          </p:style>
        </p:cxnSp>
        <p:cxnSp>
          <p:nvCxnSpPr>
            <p:cNvPr id="10" name="Straight Connector 9">
              <a:extLst>
                <a:ext uri="{FF2B5EF4-FFF2-40B4-BE49-F238E27FC236}">
                  <a16:creationId xmlns:a16="http://schemas.microsoft.com/office/drawing/2014/main" id="{929FE15E-1BC4-43DF-92B5-5A76255C0B55}"/>
                </a:ext>
              </a:extLst>
            </p:cNvPr>
            <p:cNvCxnSpPr>
              <a:cxnSpLocks/>
            </p:cNvCxnSpPr>
            <p:nvPr userDrawn="1"/>
          </p:nvCxnSpPr>
          <p:spPr>
            <a:xfrm>
              <a:off x="11126286" y="6449327"/>
              <a:ext cx="0" cy="231087"/>
            </a:xfrm>
            <a:prstGeom prst="line">
              <a:avLst/>
            </a:prstGeom>
            <a:ln>
              <a:solidFill>
                <a:srgbClr val="006AB6"/>
              </a:solidFill>
            </a:ln>
          </p:spPr>
          <p:style>
            <a:lnRef idx="2">
              <a:schemeClr val="accent2"/>
            </a:lnRef>
            <a:fillRef idx="0">
              <a:schemeClr val="accent2"/>
            </a:fillRef>
            <a:effectRef idx="1">
              <a:schemeClr val="accent2"/>
            </a:effectRef>
            <a:fontRef idx="minor">
              <a:schemeClr val="tx1"/>
            </a:fontRef>
          </p:style>
        </p:cxnSp>
      </p:grpSp>
      <p:sp>
        <p:nvSpPr>
          <p:cNvPr id="11" name="Slide Number Placeholder 5">
            <a:extLst>
              <a:ext uri="{FF2B5EF4-FFF2-40B4-BE49-F238E27FC236}">
                <a16:creationId xmlns:a16="http://schemas.microsoft.com/office/drawing/2014/main" id="{044C2E6E-AEDB-4C9E-A5C1-3CD50DFE9997}"/>
              </a:ext>
            </a:extLst>
          </p:cNvPr>
          <p:cNvSpPr txBox="1">
            <a:spLocks/>
          </p:cNvSpPr>
          <p:nvPr userDrawn="1"/>
        </p:nvSpPr>
        <p:spPr>
          <a:xfrm>
            <a:off x="10852635" y="6495612"/>
            <a:ext cx="493283" cy="161975"/>
          </a:xfrm>
          <a:prstGeom prst="rect">
            <a:avLst/>
          </a:prstGeom>
        </p:spPr>
        <p:txBody>
          <a:bodyPr lIns="0" tIns="0" rIns="0" bIns="0" anchor="ctr"/>
          <a:lstStyle>
            <a:defPPr>
              <a:defRPr lang="en-US"/>
            </a:defPPr>
            <a:lvl1pPr marL="0" algn="r" defTabSz="914400" rtl="0" eaLnBrk="1" latinLnBrk="0" hangingPunct="1">
              <a:defRPr sz="1000" b="1"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E2FD75-36E0-AA46-8B0C-C51DE6FED517}" type="slidenum">
              <a:rPr lang="en-US" smtClean="0"/>
              <a:t>‹#›</a:t>
            </a:fld>
            <a:endParaRPr lang="en-US" dirty="0"/>
          </a:p>
        </p:txBody>
      </p:sp>
      <p:pic>
        <p:nvPicPr>
          <p:cNvPr id="12" name="Picture 11">
            <a:extLst>
              <a:ext uri="{FF2B5EF4-FFF2-40B4-BE49-F238E27FC236}">
                <a16:creationId xmlns:a16="http://schemas.microsoft.com/office/drawing/2014/main" id="{716F4E9C-4CD9-45A0-868C-BBE606308531}"/>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t="1" b="22130"/>
          <a:stretch/>
        </p:blipFill>
        <p:spPr>
          <a:xfrm>
            <a:off x="483382" y="6358713"/>
            <a:ext cx="843462" cy="296882"/>
          </a:xfrm>
          <a:prstGeom prst="rect">
            <a:avLst/>
          </a:prstGeom>
        </p:spPr>
      </p:pic>
    </p:spTree>
  </p:cSld>
  <p:clrMapOvr>
    <a:masterClrMapping/>
  </p:clrMapOvr>
  <p:extLst>
    <p:ext uri="{DCECCB84-F9BA-43D5-87BE-67443E8EF086}">
      <p15:sldGuideLst xmlns:p15="http://schemas.microsoft.com/office/powerpoint/2012/main">
        <p15:guide id="1" orient="horz" pos="4164" userDrawn="1">
          <p15:clr>
            <a:srgbClr val="FBAE40"/>
          </p15:clr>
        </p15:guide>
        <p15:guide id="2" pos="3840" userDrawn="1">
          <p15:clr>
            <a:srgbClr val="FBAE40"/>
          </p15:clr>
        </p15:guide>
        <p15:guide id="3" orient="horz" pos="213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able / Graphics">
    <p:spTree>
      <p:nvGrpSpPr>
        <p:cNvPr id="1" name=""/>
        <p:cNvGrpSpPr/>
        <p:nvPr/>
      </p:nvGrpSpPr>
      <p:grpSpPr>
        <a:xfrm>
          <a:off x="0" y="0"/>
          <a:ext cx="0" cy="0"/>
          <a:chOff x="0" y="0"/>
          <a:chExt cx="0" cy="0"/>
        </a:xfrm>
      </p:grpSpPr>
      <p:sp>
        <p:nvSpPr>
          <p:cNvPr id="4" name="Rectangle 3"/>
          <p:cNvSpPr/>
          <p:nvPr userDrawn="1"/>
        </p:nvSpPr>
        <p:spPr>
          <a:xfrm>
            <a:off x="6378641" y="6524187"/>
            <a:ext cx="6096000" cy="123111"/>
          </a:xfrm>
          <a:prstGeom prst="rect">
            <a:avLst/>
          </a:prstGeom>
        </p:spPr>
        <p:txBody>
          <a:bodyPr lIns="0" tIns="0" rIns="0" bIns="0" anchor="t">
            <a:spAutoFit/>
          </a:bodyPr>
          <a:lstStyle/>
          <a:p>
            <a:pPr algn="ctr"/>
            <a:r>
              <a:rPr lang="en-US" sz="800" b="0" i="0" dirty="0">
                <a:solidFill>
                  <a:schemeClr val="bg2">
                    <a:lumMod val="75000"/>
                  </a:schemeClr>
                </a:solidFill>
                <a:latin typeface="+mj-lt"/>
                <a:ea typeface="Trebuchet MS" charset="0"/>
                <a:cs typeface="Trebuchet MS" charset="0"/>
              </a:rPr>
              <a:t>Confidential</a:t>
            </a:r>
            <a:r>
              <a:rPr lang="en-US" sz="800" b="0" i="0" baseline="0" dirty="0">
                <a:solidFill>
                  <a:schemeClr val="bg2">
                    <a:lumMod val="75000"/>
                  </a:schemeClr>
                </a:solidFill>
                <a:latin typeface="+mj-lt"/>
                <a:ea typeface="Trebuchet MS" charset="0"/>
                <a:cs typeface="Trebuchet MS" charset="0"/>
              </a:rPr>
              <a:t> – Not for Redistribution – Copyright © 2018 Axioma, Inc. </a:t>
            </a:r>
            <a:endParaRPr lang="en-US" sz="800" b="0" i="0" dirty="0">
              <a:solidFill>
                <a:schemeClr val="bg2">
                  <a:lumMod val="75000"/>
                </a:schemeClr>
              </a:solidFill>
              <a:latin typeface="+mj-lt"/>
              <a:ea typeface="Trebuchet MS" charset="0"/>
              <a:cs typeface="Trebuchet MS" charset="0"/>
            </a:endParaRPr>
          </a:p>
        </p:txBody>
      </p:sp>
      <p:sp>
        <p:nvSpPr>
          <p:cNvPr id="17" name="Text Placeholder 16"/>
          <p:cNvSpPr>
            <a:spLocks noGrp="1"/>
          </p:cNvSpPr>
          <p:nvPr>
            <p:ph type="body" sz="quarter" idx="12"/>
          </p:nvPr>
        </p:nvSpPr>
        <p:spPr>
          <a:xfrm>
            <a:off x="576072" y="515307"/>
            <a:ext cx="8794750" cy="356527"/>
          </a:xfrm>
          <a:prstGeom prst="rect">
            <a:avLst/>
          </a:prstGeom>
        </p:spPr>
        <p:txBody>
          <a:bodyPr lIns="0" tIns="0" rIns="0" bIns="0"/>
          <a:lstStyle>
            <a:lvl1pPr marL="0" indent="0">
              <a:buNone/>
              <a:defRPr sz="1800" cap="none" spc="50" baseline="0">
                <a:latin typeface="+mj-lt"/>
              </a:defRPr>
            </a:lvl1pPr>
          </a:lstStyle>
          <a:p>
            <a:pPr lvl="0"/>
            <a:r>
              <a:rPr lang="en-US" dirty="0"/>
              <a:t>Click to edit Master text styles</a:t>
            </a:r>
          </a:p>
        </p:txBody>
      </p:sp>
      <p:grpSp>
        <p:nvGrpSpPr>
          <p:cNvPr id="7" name="Group 6">
            <a:extLst>
              <a:ext uri="{FF2B5EF4-FFF2-40B4-BE49-F238E27FC236}">
                <a16:creationId xmlns:a16="http://schemas.microsoft.com/office/drawing/2014/main" id="{4800A329-E3D4-4EE8-8D44-3806883A71C5}"/>
              </a:ext>
            </a:extLst>
          </p:cNvPr>
          <p:cNvGrpSpPr/>
          <p:nvPr userDrawn="1"/>
        </p:nvGrpSpPr>
        <p:grpSpPr>
          <a:xfrm>
            <a:off x="1447922" y="6449327"/>
            <a:ext cx="10066169" cy="231087"/>
            <a:chOff x="3360206" y="6449327"/>
            <a:chExt cx="8153885" cy="231087"/>
          </a:xfrm>
        </p:grpSpPr>
        <p:cxnSp>
          <p:nvCxnSpPr>
            <p:cNvPr id="8" name="Straight Connector 7">
              <a:extLst>
                <a:ext uri="{FF2B5EF4-FFF2-40B4-BE49-F238E27FC236}">
                  <a16:creationId xmlns:a16="http://schemas.microsoft.com/office/drawing/2014/main" id="{E40D29D3-1EF0-431E-BA16-EBE4DB71B447}"/>
                </a:ext>
              </a:extLst>
            </p:cNvPr>
            <p:cNvCxnSpPr>
              <a:cxnSpLocks/>
            </p:cNvCxnSpPr>
            <p:nvPr userDrawn="1"/>
          </p:nvCxnSpPr>
          <p:spPr>
            <a:xfrm flipV="1">
              <a:off x="3360206" y="6449328"/>
              <a:ext cx="8153885" cy="46284"/>
            </a:xfrm>
            <a:prstGeom prst="line">
              <a:avLst/>
            </a:prstGeom>
            <a:ln w="9525">
              <a:solidFill>
                <a:srgbClr val="006AB6"/>
              </a:solidFill>
            </a:ln>
          </p:spPr>
          <p:style>
            <a:lnRef idx="1">
              <a:schemeClr val="accent2"/>
            </a:lnRef>
            <a:fillRef idx="0">
              <a:schemeClr val="accent2"/>
            </a:fillRef>
            <a:effectRef idx="0">
              <a:schemeClr val="accent2"/>
            </a:effectRef>
            <a:fontRef idx="minor">
              <a:schemeClr val="tx1"/>
            </a:fontRef>
          </p:style>
        </p:cxnSp>
        <p:cxnSp>
          <p:nvCxnSpPr>
            <p:cNvPr id="10" name="Straight Connector 9">
              <a:extLst>
                <a:ext uri="{FF2B5EF4-FFF2-40B4-BE49-F238E27FC236}">
                  <a16:creationId xmlns:a16="http://schemas.microsoft.com/office/drawing/2014/main" id="{929FE15E-1BC4-43DF-92B5-5A76255C0B55}"/>
                </a:ext>
              </a:extLst>
            </p:cNvPr>
            <p:cNvCxnSpPr>
              <a:cxnSpLocks/>
            </p:cNvCxnSpPr>
            <p:nvPr userDrawn="1"/>
          </p:nvCxnSpPr>
          <p:spPr>
            <a:xfrm>
              <a:off x="11126286" y="6449327"/>
              <a:ext cx="0" cy="231087"/>
            </a:xfrm>
            <a:prstGeom prst="line">
              <a:avLst/>
            </a:prstGeom>
            <a:ln>
              <a:solidFill>
                <a:srgbClr val="006AB6"/>
              </a:solidFill>
            </a:ln>
          </p:spPr>
          <p:style>
            <a:lnRef idx="2">
              <a:schemeClr val="accent2"/>
            </a:lnRef>
            <a:fillRef idx="0">
              <a:schemeClr val="accent2"/>
            </a:fillRef>
            <a:effectRef idx="1">
              <a:schemeClr val="accent2"/>
            </a:effectRef>
            <a:fontRef idx="minor">
              <a:schemeClr val="tx1"/>
            </a:fontRef>
          </p:style>
        </p:cxnSp>
      </p:grpSp>
      <p:sp>
        <p:nvSpPr>
          <p:cNvPr id="11" name="Slide Number Placeholder 5">
            <a:extLst>
              <a:ext uri="{FF2B5EF4-FFF2-40B4-BE49-F238E27FC236}">
                <a16:creationId xmlns:a16="http://schemas.microsoft.com/office/drawing/2014/main" id="{044C2E6E-AEDB-4C9E-A5C1-3CD50DFE9997}"/>
              </a:ext>
            </a:extLst>
          </p:cNvPr>
          <p:cNvSpPr txBox="1">
            <a:spLocks/>
          </p:cNvSpPr>
          <p:nvPr userDrawn="1"/>
        </p:nvSpPr>
        <p:spPr>
          <a:xfrm>
            <a:off x="10852635" y="6495612"/>
            <a:ext cx="493283" cy="161975"/>
          </a:xfrm>
          <a:prstGeom prst="rect">
            <a:avLst/>
          </a:prstGeom>
        </p:spPr>
        <p:txBody>
          <a:bodyPr lIns="0" tIns="0" rIns="0" bIns="0" anchor="ctr"/>
          <a:lstStyle>
            <a:defPPr>
              <a:defRPr lang="en-US"/>
            </a:defPPr>
            <a:lvl1pPr marL="0" algn="r" defTabSz="914400" rtl="0" eaLnBrk="1" latinLnBrk="0" hangingPunct="1">
              <a:defRPr sz="1000" b="1"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E2FD75-36E0-AA46-8B0C-C51DE6FED517}" type="slidenum">
              <a:rPr lang="en-US" smtClean="0"/>
              <a:t>‹#›</a:t>
            </a:fld>
            <a:endParaRPr lang="en-US" dirty="0"/>
          </a:p>
        </p:txBody>
      </p:sp>
      <p:pic>
        <p:nvPicPr>
          <p:cNvPr id="12" name="Picture 11">
            <a:extLst>
              <a:ext uri="{FF2B5EF4-FFF2-40B4-BE49-F238E27FC236}">
                <a16:creationId xmlns:a16="http://schemas.microsoft.com/office/drawing/2014/main" id="{716F4E9C-4CD9-45A0-868C-BBE606308531}"/>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t="1" b="22130"/>
          <a:stretch/>
        </p:blipFill>
        <p:spPr>
          <a:xfrm>
            <a:off x="483382" y="6358713"/>
            <a:ext cx="843462" cy="296882"/>
          </a:xfrm>
          <a:prstGeom prst="rect">
            <a:avLst/>
          </a:prstGeom>
        </p:spPr>
      </p:pic>
    </p:spTree>
    <p:extLst>
      <p:ext uri="{BB962C8B-B14F-4D97-AF65-F5344CB8AC3E}">
        <p14:creationId xmlns:p14="http://schemas.microsoft.com/office/powerpoint/2010/main" val="2546205109"/>
      </p:ext>
    </p:extLst>
  </p:cSld>
  <p:clrMapOvr>
    <a:masterClrMapping/>
  </p:clrMapOvr>
  <p:extLst>
    <p:ext uri="{DCECCB84-F9BA-43D5-87BE-67443E8EF086}">
      <p15:sldGuideLst xmlns:p15="http://schemas.microsoft.com/office/powerpoint/2012/main">
        <p15:guide id="1" orient="horz" pos="4164">
          <p15:clr>
            <a:srgbClr val="FBAE40"/>
          </p15:clr>
        </p15:guide>
        <p15:guide id="2" pos="3840">
          <p15:clr>
            <a:srgbClr val="FBAE40"/>
          </p15:clr>
        </p15:guide>
        <p15:guide id="3" orient="horz" pos="213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4" name="Rectangle 3"/>
          <p:cNvSpPr/>
          <p:nvPr userDrawn="1"/>
        </p:nvSpPr>
        <p:spPr>
          <a:xfrm>
            <a:off x="6378641" y="6524187"/>
            <a:ext cx="6096000" cy="123111"/>
          </a:xfrm>
          <a:prstGeom prst="rect">
            <a:avLst/>
          </a:prstGeom>
        </p:spPr>
        <p:txBody>
          <a:bodyPr lIns="0" tIns="0" rIns="0" bIns="0" anchor="t">
            <a:spAutoFit/>
          </a:bodyPr>
          <a:lstStyle/>
          <a:p>
            <a:pPr algn="ctr"/>
            <a:r>
              <a:rPr lang="en-US" sz="800" b="0" i="0" dirty="0">
                <a:solidFill>
                  <a:schemeClr val="bg2">
                    <a:lumMod val="75000"/>
                  </a:schemeClr>
                </a:solidFill>
                <a:latin typeface="+mj-lt"/>
                <a:ea typeface="Trebuchet MS" charset="0"/>
                <a:cs typeface="Trebuchet MS" charset="0"/>
              </a:rPr>
              <a:t>Confidential</a:t>
            </a:r>
            <a:r>
              <a:rPr lang="en-US" sz="800" b="0" i="0" baseline="0" dirty="0">
                <a:solidFill>
                  <a:schemeClr val="bg2">
                    <a:lumMod val="75000"/>
                  </a:schemeClr>
                </a:solidFill>
                <a:latin typeface="+mj-lt"/>
                <a:ea typeface="Trebuchet MS" charset="0"/>
                <a:cs typeface="Trebuchet MS" charset="0"/>
              </a:rPr>
              <a:t> – Not for Redistribution – Copyright © 2018 Axioma, Inc. </a:t>
            </a:r>
            <a:endParaRPr lang="en-US" sz="800" b="0" i="0" dirty="0">
              <a:solidFill>
                <a:schemeClr val="bg2">
                  <a:lumMod val="75000"/>
                </a:schemeClr>
              </a:solidFill>
              <a:latin typeface="+mj-lt"/>
              <a:ea typeface="Trebuchet MS" charset="0"/>
              <a:cs typeface="Trebuchet MS" charset="0"/>
            </a:endParaRPr>
          </a:p>
        </p:txBody>
      </p:sp>
      <p:sp>
        <p:nvSpPr>
          <p:cNvPr id="17" name="Text Placeholder 16"/>
          <p:cNvSpPr>
            <a:spLocks noGrp="1"/>
          </p:cNvSpPr>
          <p:nvPr>
            <p:ph type="body" sz="quarter" idx="12"/>
          </p:nvPr>
        </p:nvSpPr>
        <p:spPr>
          <a:xfrm>
            <a:off x="576072" y="500723"/>
            <a:ext cx="8794750" cy="356527"/>
          </a:xfrm>
          <a:prstGeom prst="rect">
            <a:avLst/>
          </a:prstGeom>
        </p:spPr>
        <p:txBody>
          <a:bodyPr lIns="0" tIns="0" rIns="0" bIns="0"/>
          <a:lstStyle>
            <a:lvl1pPr marL="0" indent="0">
              <a:buNone/>
              <a:defRPr sz="1800" cap="none" spc="50" baseline="0">
                <a:latin typeface="+mj-lt"/>
              </a:defRPr>
            </a:lvl1pPr>
          </a:lstStyle>
          <a:p>
            <a:pPr lvl="0"/>
            <a:r>
              <a:rPr lang="en-US" dirty="0"/>
              <a:t>Click to edit Master text styles</a:t>
            </a:r>
          </a:p>
        </p:txBody>
      </p:sp>
      <p:sp>
        <p:nvSpPr>
          <p:cNvPr id="27" name="Text Placeholder 9"/>
          <p:cNvSpPr>
            <a:spLocks noGrp="1"/>
          </p:cNvSpPr>
          <p:nvPr>
            <p:ph type="body" sz="quarter" idx="14"/>
          </p:nvPr>
        </p:nvSpPr>
        <p:spPr>
          <a:xfrm>
            <a:off x="576072" y="1351026"/>
            <a:ext cx="5324166" cy="4932828"/>
          </a:xfrm>
          <a:prstGeom prst="rect">
            <a:avLst/>
          </a:prstGeom>
        </p:spPr>
        <p:txBody>
          <a:bodyPr lIns="0" tIns="0" rIns="0" bIns="0"/>
          <a:lstStyle>
            <a:lvl1pPr marL="0" indent="0">
              <a:lnSpc>
                <a:spcPts val="2160"/>
              </a:lnSpc>
              <a:spcBef>
                <a:spcPts val="0"/>
              </a:spcBef>
              <a:spcAft>
                <a:spcPts val="0"/>
              </a:spcAft>
              <a:buFont typeface="Arial" panose="020B0604020202020204" pitchFamily="34" charset="0"/>
              <a:buNone/>
              <a:defRPr sz="1800" b="0">
                <a:solidFill>
                  <a:schemeClr val="accent1">
                    <a:lumMod val="50000"/>
                  </a:schemeClr>
                </a:solidFill>
                <a:latin typeface="+mj-lt"/>
              </a:defRPr>
            </a:lvl1pPr>
            <a:lvl2pPr marL="571500" indent="-173038">
              <a:lnSpc>
                <a:spcPts val="2160"/>
              </a:lnSpc>
              <a:spcBef>
                <a:spcPts val="0"/>
              </a:spcBef>
              <a:spcAft>
                <a:spcPts val="0"/>
              </a:spcAft>
              <a:buFont typeface="Arial" charset="0"/>
              <a:buChar char="•"/>
              <a:tabLst/>
              <a:defRPr sz="1600" baseline="0">
                <a:solidFill>
                  <a:schemeClr val="accent1">
                    <a:lumMod val="50000"/>
                  </a:schemeClr>
                </a:solidFill>
                <a:latin typeface="+mj-lt"/>
              </a:defRPr>
            </a:lvl2pPr>
            <a:lvl3pPr marL="858838" indent="-231775">
              <a:lnSpc>
                <a:spcPts val="2160"/>
              </a:lnSpc>
              <a:spcBef>
                <a:spcPts val="0"/>
              </a:spcBef>
              <a:spcAft>
                <a:spcPts val="0"/>
              </a:spcAft>
              <a:tabLst/>
              <a:defRPr sz="1400">
                <a:solidFill>
                  <a:schemeClr val="accent1">
                    <a:lumMod val="50000"/>
                  </a:schemeClr>
                </a:solidFill>
                <a:latin typeface="+mj-lt"/>
              </a:defRPr>
            </a:lvl3pPr>
            <a:lvl4pPr marL="1085850" indent="-171450">
              <a:lnSpc>
                <a:spcPts val="2160"/>
              </a:lnSpc>
              <a:spcBef>
                <a:spcPts val="0"/>
              </a:spcBef>
              <a:spcAft>
                <a:spcPts val="0"/>
              </a:spcAft>
              <a:defRPr sz="1200" b="0">
                <a:solidFill>
                  <a:schemeClr val="accent1">
                    <a:lumMod val="50000"/>
                  </a:schemeClr>
                </a:solidFill>
                <a:latin typeface="+mj-lt"/>
              </a:defRPr>
            </a:lvl4pPr>
            <a:lvl5pPr>
              <a:lnSpc>
                <a:spcPts val="2160"/>
              </a:lnSpc>
              <a:spcBef>
                <a:spcPts val="0"/>
              </a:spcBef>
              <a:spcAft>
                <a:spcPts val="0"/>
              </a:spcAft>
              <a:defRPr>
                <a:solidFill>
                  <a:schemeClr val="accent1">
                    <a:lumMod val="50000"/>
                  </a:schemeClr>
                </a:solidFill>
                <a:latin typeface="+mj-lt"/>
              </a:defRPr>
            </a:lvl5pPr>
          </a:lstStyle>
          <a:p>
            <a:pPr lvl="0"/>
            <a:r>
              <a:rPr lang="en-US" dirty="0"/>
              <a:t>Click to edit Master text styles</a:t>
            </a:r>
          </a:p>
        </p:txBody>
      </p:sp>
      <p:grpSp>
        <p:nvGrpSpPr>
          <p:cNvPr id="7" name="Group 6">
            <a:extLst>
              <a:ext uri="{FF2B5EF4-FFF2-40B4-BE49-F238E27FC236}">
                <a16:creationId xmlns:a16="http://schemas.microsoft.com/office/drawing/2014/main" id="{4800A329-E3D4-4EE8-8D44-3806883A71C5}"/>
              </a:ext>
            </a:extLst>
          </p:cNvPr>
          <p:cNvGrpSpPr/>
          <p:nvPr userDrawn="1"/>
        </p:nvGrpSpPr>
        <p:grpSpPr>
          <a:xfrm>
            <a:off x="1447922" y="6449327"/>
            <a:ext cx="10066169" cy="231087"/>
            <a:chOff x="3360206" y="6449327"/>
            <a:chExt cx="8153885" cy="231087"/>
          </a:xfrm>
        </p:grpSpPr>
        <p:cxnSp>
          <p:nvCxnSpPr>
            <p:cNvPr id="8" name="Straight Connector 7">
              <a:extLst>
                <a:ext uri="{FF2B5EF4-FFF2-40B4-BE49-F238E27FC236}">
                  <a16:creationId xmlns:a16="http://schemas.microsoft.com/office/drawing/2014/main" id="{E40D29D3-1EF0-431E-BA16-EBE4DB71B447}"/>
                </a:ext>
              </a:extLst>
            </p:cNvPr>
            <p:cNvCxnSpPr>
              <a:cxnSpLocks/>
            </p:cNvCxnSpPr>
            <p:nvPr userDrawn="1"/>
          </p:nvCxnSpPr>
          <p:spPr>
            <a:xfrm flipV="1">
              <a:off x="3360206" y="6449328"/>
              <a:ext cx="8153885" cy="46284"/>
            </a:xfrm>
            <a:prstGeom prst="line">
              <a:avLst/>
            </a:prstGeom>
            <a:ln w="9525">
              <a:solidFill>
                <a:srgbClr val="006AB6"/>
              </a:solidFill>
            </a:ln>
          </p:spPr>
          <p:style>
            <a:lnRef idx="1">
              <a:schemeClr val="accent2"/>
            </a:lnRef>
            <a:fillRef idx="0">
              <a:schemeClr val="accent2"/>
            </a:fillRef>
            <a:effectRef idx="0">
              <a:schemeClr val="accent2"/>
            </a:effectRef>
            <a:fontRef idx="minor">
              <a:schemeClr val="tx1"/>
            </a:fontRef>
          </p:style>
        </p:cxnSp>
        <p:cxnSp>
          <p:nvCxnSpPr>
            <p:cNvPr id="10" name="Straight Connector 9">
              <a:extLst>
                <a:ext uri="{FF2B5EF4-FFF2-40B4-BE49-F238E27FC236}">
                  <a16:creationId xmlns:a16="http://schemas.microsoft.com/office/drawing/2014/main" id="{929FE15E-1BC4-43DF-92B5-5A76255C0B55}"/>
                </a:ext>
              </a:extLst>
            </p:cNvPr>
            <p:cNvCxnSpPr>
              <a:cxnSpLocks/>
            </p:cNvCxnSpPr>
            <p:nvPr userDrawn="1"/>
          </p:nvCxnSpPr>
          <p:spPr>
            <a:xfrm>
              <a:off x="11126286" y="6449327"/>
              <a:ext cx="0" cy="231087"/>
            </a:xfrm>
            <a:prstGeom prst="line">
              <a:avLst/>
            </a:prstGeom>
            <a:ln>
              <a:solidFill>
                <a:srgbClr val="006AB6"/>
              </a:solidFill>
            </a:ln>
          </p:spPr>
          <p:style>
            <a:lnRef idx="2">
              <a:schemeClr val="accent2"/>
            </a:lnRef>
            <a:fillRef idx="0">
              <a:schemeClr val="accent2"/>
            </a:fillRef>
            <a:effectRef idx="1">
              <a:schemeClr val="accent2"/>
            </a:effectRef>
            <a:fontRef idx="minor">
              <a:schemeClr val="tx1"/>
            </a:fontRef>
          </p:style>
        </p:cxnSp>
      </p:grpSp>
      <p:sp>
        <p:nvSpPr>
          <p:cNvPr id="11" name="Slide Number Placeholder 5">
            <a:extLst>
              <a:ext uri="{FF2B5EF4-FFF2-40B4-BE49-F238E27FC236}">
                <a16:creationId xmlns:a16="http://schemas.microsoft.com/office/drawing/2014/main" id="{044C2E6E-AEDB-4C9E-A5C1-3CD50DFE9997}"/>
              </a:ext>
            </a:extLst>
          </p:cNvPr>
          <p:cNvSpPr txBox="1">
            <a:spLocks/>
          </p:cNvSpPr>
          <p:nvPr userDrawn="1"/>
        </p:nvSpPr>
        <p:spPr>
          <a:xfrm>
            <a:off x="10852635" y="6495612"/>
            <a:ext cx="493283" cy="161975"/>
          </a:xfrm>
          <a:prstGeom prst="rect">
            <a:avLst/>
          </a:prstGeom>
        </p:spPr>
        <p:txBody>
          <a:bodyPr lIns="0" tIns="0" rIns="0" bIns="0" anchor="ctr"/>
          <a:lstStyle>
            <a:defPPr>
              <a:defRPr lang="en-US"/>
            </a:defPPr>
            <a:lvl1pPr marL="0" algn="r" defTabSz="914400" rtl="0" eaLnBrk="1" latinLnBrk="0" hangingPunct="1">
              <a:defRPr sz="1000" b="1"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E2FD75-36E0-AA46-8B0C-C51DE6FED517}" type="slidenum">
              <a:rPr lang="en-US" smtClean="0"/>
              <a:t>‹#›</a:t>
            </a:fld>
            <a:endParaRPr lang="en-US" dirty="0"/>
          </a:p>
        </p:txBody>
      </p:sp>
      <p:pic>
        <p:nvPicPr>
          <p:cNvPr id="12" name="Picture 11">
            <a:extLst>
              <a:ext uri="{FF2B5EF4-FFF2-40B4-BE49-F238E27FC236}">
                <a16:creationId xmlns:a16="http://schemas.microsoft.com/office/drawing/2014/main" id="{716F4E9C-4CD9-45A0-868C-BBE606308531}"/>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t="1" b="22130"/>
          <a:stretch/>
        </p:blipFill>
        <p:spPr>
          <a:xfrm>
            <a:off x="483382" y="6358713"/>
            <a:ext cx="843462" cy="296882"/>
          </a:xfrm>
          <a:prstGeom prst="rect">
            <a:avLst/>
          </a:prstGeom>
        </p:spPr>
      </p:pic>
      <p:sp>
        <p:nvSpPr>
          <p:cNvPr id="13" name="Text Placeholder 9">
            <a:extLst>
              <a:ext uri="{FF2B5EF4-FFF2-40B4-BE49-F238E27FC236}">
                <a16:creationId xmlns:a16="http://schemas.microsoft.com/office/drawing/2014/main" id="{6920493E-5F8B-4B38-BD3F-E8ACC3DDC8AC}"/>
              </a:ext>
            </a:extLst>
          </p:cNvPr>
          <p:cNvSpPr>
            <a:spLocks noGrp="1"/>
          </p:cNvSpPr>
          <p:nvPr>
            <p:ph type="body" sz="quarter" idx="15"/>
          </p:nvPr>
        </p:nvSpPr>
        <p:spPr>
          <a:xfrm>
            <a:off x="6189925" y="1351026"/>
            <a:ext cx="5324166" cy="4932828"/>
          </a:xfrm>
          <a:prstGeom prst="rect">
            <a:avLst/>
          </a:prstGeom>
        </p:spPr>
        <p:txBody>
          <a:bodyPr lIns="0" tIns="0" rIns="0" bIns="0"/>
          <a:lstStyle>
            <a:lvl1pPr marL="0" indent="0">
              <a:lnSpc>
                <a:spcPts val="2160"/>
              </a:lnSpc>
              <a:spcBef>
                <a:spcPts val="0"/>
              </a:spcBef>
              <a:spcAft>
                <a:spcPts val="0"/>
              </a:spcAft>
              <a:buFont typeface="Arial" panose="020B0604020202020204" pitchFamily="34" charset="0"/>
              <a:buNone/>
              <a:defRPr sz="1800" b="0">
                <a:solidFill>
                  <a:schemeClr val="accent1">
                    <a:lumMod val="50000"/>
                  </a:schemeClr>
                </a:solidFill>
                <a:latin typeface="+mj-lt"/>
              </a:defRPr>
            </a:lvl1pPr>
            <a:lvl2pPr marL="571500" indent="-173038">
              <a:lnSpc>
                <a:spcPts val="2160"/>
              </a:lnSpc>
              <a:spcBef>
                <a:spcPts val="0"/>
              </a:spcBef>
              <a:spcAft>
                <a:spcPts val="0"/>
              </a:spcAft>
              <a:buFont typeface="Arial" charset="0"/>
              <a:buChar char="•"/>
              <a:tabLst/>
              <a:defRPr sz="1600" baseline="0">
                <a:solidFill>
                  <a:schemeClr val="accent1">
                    <a:lumMod val="50000"/>
                  </a:schemeClr>
                </a:solidFill>
                <a:latin typeface="+mj-lt"/>
              </a:defRPr>
            </a:lvl2pPr>
            <a:lvl3pPr marL="858838" indent="-231775">
              <a:lnSpc>
                <a:spcPts val="2160"/>
              </a:lnSpc>
              <a:spcBef>
                <a:spcPts val="0"/>
              </a:spcBef>
              <a:spcAft>
                <a:spcPts val="0"/>
              </a:spcAft>
              <a:tabLst/>
              <a:defRPr sz="1400">
                <a:solidFill>
                  <a:schemeClr val="accent1">
                    <a:lumMod val="50000"/>
                  </a:schemeClr>
                </a:solidFill>
                <a:latin typeface="+mj-lt"/>
              </a:defRPr>
            </a:lvl3pPr>
            <a:lvl4pPr marL="1085850" indent="-171450">
              <a:lnSpc>
                <a:spcPts val="2160"/>
              </a:lnSpc>
              <a:spcBef>
                <a:spcPts val="0"/>
              </a:spcBef>
              <a:spcAft>
                <a:spcPts val="0"/>
              </a:spcAft>
              <a:defRPr sz="1200" b="0">
                <a:solidFill>
                  <a:schemeClr val="accent1">
                    <a:lumMod val="50000"/>
                  </a:schemeClr>
                </a:solidFill>
                <a:latin typeface="+mj-lt"/>
              </a:defRPr>
            </a:lvl4pPr>
            <a:lvl5pPr>
              <a:lnSpc>
                <a:spcPts val="2160"/>
              </a:lnSpc>
              <a:spcBef>
                <a:spcPts val="0"/>
              </a:spcBef>
              <a:spcAft>
                <a:spcPts val="0"/>
              </a:spcAft>
              <a:defRPr>
                <a:solidFill>
                  <a:schemeClr val="accent1">
                    <a:lumMod val="50000"/>
                  </a:schemeClr>
                </a:solidFill>
                <a:latin typeface="+mj-lt"/>
              </a:defRPr>
            </a:lvl5pPr>
          </a:lstStyle>
          <a:p>
            <a:pPr lvl="0"/>
            <a:r>
              <a:rPr lang="en-US" dirty="0"/>
              <a:t>Click to edit Master text styles</a:t>
            </a:r>
          </a:p>
        </p:txBody>
      </p:sp>
    </p:spTree>
    <p:extLst>
      <p:ext uri="{BB962C8B-B14F-4D97-AF65-F5344CB8AC3E}">
        <p14:creationId xmlns:p14="http://schemas.microsoft.com/office/powerpoint/2010/main" val="1143775638"/>
      </p:ext>
    </p:extLst>
  </p:cSld>
  <p:clrMapOvr>
    <a:masterClrMapping/>
  </p:clrMapOvr>
  <p:extLst>
    <p:ext uri="{DCECCB84-F9BA-43D5-87BE-67443E8EF086}">
      <p15:sldGuideLst xmlns:p15="http://schemas.microsoft.com/office/powerpoint/2012/main">
        <p15:guide id="1" orient="horz" pos="4164">
          <p15:clr>
            <a:srgbClr val="FBAE40"/>
          </p15:clr>
        </p15:guide>
        <p15:guide id="2" pos="3840">
          <p15:clr>
            <a:srgbClr val="FBAE40"/>
          </p15:clr>
        </p15:guide>
        <p15:guide id="3" orient="horz" pos="213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21E3EFB-BF98-4DD2-8006-07900F7E758C}"/>
              </a:ext>
            </a:extLst>
          </p:cNvPr>
          <p:cNvSpPr/>
          <p:nvPr userDrawn="1"/>
        </p:nvSpPr>
        <p:spPr>
          <a:xfrm>
            <a:off x="0" y="0"/>
            <a:ext cx="12192000" cy="6858000"/>
          </a:xfrm>
          <a:prstGeom prst="rect">
            <a:avLst/>
          </a:prstGeom>
          <a:solidFill>
            <a:srgbClr val="006AB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3"/>
          <p:cNvSpPr>
            <a:spLocks noGrp="1"/>
          </p:cNvSpPr>
          <p:nvPr>
            <p:ph type="body" sz="quarter" idx="10" hasCustomPrompt="1"/>
          </p:nvPr>
        </p:nvSpPr>
        <p:spPr>
          <a:xfrm>
            <a:off x="867835" y="1980148"/>
            <a:ext cx="10524065" cy="2223553"/>
          </a:xfrm>
          <a:prstGeom prst="rect">
            <a:avLst/>
          </a:prstGeom>
        </p:spPr>
        <p:txBody>
          <a:bodyPr wrap="square" lIns="0" tIns="0" rIns="0" bIns="0" anchor="t" anchorCtr="0"/>
          <a:lstStyle>
            <a:lvl1pPr marL="0" indent="0">
              <a:buNone/>
              <a:defRPr sz="3200" b="0" i="0" cap="none" spc="50" baseline="0">
                <a:solidFill>
                  <a:schemeClr val="bg1"/>
                </a:solidFill>
                <a:latin typeface="+mj-lt"/>
                <a:ea typeface="Raleway" charset="0"/>
                <a:cs typeface="Raleway" charset="0"/>
              </a:defRPr>
            </a:lvl1pPr>
            <a:lvl2pPr marL="457200" indent="0">
              <a:buNone/>
              <a:defRPr sz="4800" b="1" i="0">
                <a:latin typeface="Source Sans Pro" charset="0"/>
                <a:ea typeface="Source Sans Pro" charset="0"/>
                <a:cs typeface="Source Sans Pro" charset="0"/>
              </a:defRPr>
            </a:lvl2pPr>
            <a:lvl3pPr marL="914400" indent="0">
              <a:buNone/>
              <a:defRPr sz="4800" b="1" i="0">
                <a:latin typeface="Source Sans Pro" charset="0"/>
                <a:ea typeface="Source Sans Pro" charset="0"/>
                <a:cs typeface="Source Sans Pro" charset="0"/>
              </a:defRPr>
            </a:lvl3pPr>
            <a:lvl4pPr marL="1371600" indent="0">
              <a:buNone/>
              <a:defRPr sz="4800" b="1" i="0">
                <a:latin typeface="Source Sans Pro" charset="0"/>
                <a:ea typeface="Source Sans Pro" charset="0"/>
                <a:cs typeface="Source Sans Pro" charset="0"/>
              </a:defRPr>
            </a:lvl4pPr>
            <a:lvl5pPr marL="1828800" indent="0">
              <a:buNone/>
              <a:defRPr sz="4800" b="1" i="0">
                <a:latin typeface="Source Sans Pro" charset="0"/>
                <a:ea typeface="Source Sans Pro" charset="0"/>
                <a:cs typeface="Source Sans Pro" charset="0"/>
              </a:defRPr>
            </a:lvl5pPr>
          </a:lstStyle>
          <a:p>
            <a:pPr lvl="0"/>
            <a:r>
              <a:rPr lang="en-US" dirty="0"/>
              <a:t>Click to edit master text styles</a:t>
            </a:r>
          </a:p>
          <a:p>
            <a:pPr lvl="0"/>
            <a:endParaRPr lang="en-US" dirty="0"/>
          </a:p>
        </p:txBody>
      </p:sp>
      <p:sp>
        <p:nvSpPr>
          <p:cNvPr id="4" name="Slide Number Placeholder 5">
            <a:extLst>
              <a:ext uri="{FF2B5EF4-FFF2-40B4-BE49-F238E27FC236}">
                <a16:creationId xmlns:a16="http://schemas.microsoft.com/office/drawing/2014/main" id="{DBFC8375-69F8-442F-BC6C-CBEC4373A61C}"/>
              </a:ext>
            </a:extLst>
          </p:cNvPr>
          <p:cNvSpPr txBox="1">
            <a:spLocks/>
          </p:cNvSpPr>
          <p:nvPr userDrawn="1"/>
        </p:nvSpPr>
        <p:spPr>
          <a:xfrm>
            <a:off x="10852635" y="6495612"/>
            <a:ext cx="493283" cy="161975"/>
          </a:xfrm>
          <a:prstGeom prst="rect">
            <a:avLst/>
          </a:prstGeom>
        </p:spPr>
        <p:txBody>
          <a:bodyPr lIns="0" tIns="0" rIns="0" bIns="0" anchor="ctr"/>
          <a:lstStyle>
            <a:defPPr>
              <a:defRPr lang="en-US"/>
            </a:defPPr>
            <a:lvl1pPr marL="0" algn="r" defTabSz="914400" rtl="0" eaLnBrk="1" latinLnBrk="0" hangingPunct="1">
              <a:defRPr sz="1000" b="1"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E2FD75-36E0-AA46-8B0C-C51DE6FED517}" type="slidenum">
              <a:rPr lang="en-US" smtClean="0">
                <a:solidFill>
                  <a:schemeClr val="bg1"/>
                </a:solidFill>
              </a:rPr>
              <a:t>‹#›</a:t>
            </a:fld>
            <a:endParaRPr lang="en-US" dirty="0">
              <a:solidFill>
                <a:schemeClr val="bg1"/>
              </a:solidFill>
            </a:endParaRPr>
          </a:p>
        </p:txBody>
      </p:sp>
    </p:spTree>
    <p:extLst>
      <p:ext uri="{BB962C8B-B14F-4D97-AF65-F5344CB8AC3E}">
        <p14:creationId xmlns:p14="http://schemas.microsoft.com/office/powerpoint/2010/main" val="136801394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65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21E3EFB-BF98-4DD2-8006-07900F7E758C}"/>
              </a:ext>
            </a:extLst>
          </p:cNvPr>
          <p:cNvSpPr/>
          <p:nvPr userDrawn="1"/>
        </p:nvSpPr>
        <p:spPr>
          <a:xfrm>
            <a:off x="0" y="0"/>
            <a:ext cx="12192000" cy="6858000"/>
          </a:xfrm>
          <a:prstGeom prst="rect">
            <a:avLst/>
          </a:prstGeom>
          <a:solidFill>
            <a:srgbClr val="006AB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5">
            <a:extLst>
              <a:ext uri="{FF2B5EF4-FFF2-40B4-BE49-F238E27FC236}">
                <a16:creationId xmlns:a16="http://schemas.microsoft.com/office/drawing/2014/main" id="{DBFC8375-69F8-442F-BC6C-CBEC4373A61C}"/>
              </a:ext>
            </a:extLst>
          </p:cNvPr>
          <p:cNvSpPr txBox="1">
            <a:spLocks/>
          </p:cNvSpPr>
          <p:nvPr userDrawn="1"/>
        </p:nvSpPr>
        <p:spPr>
          <a:xfrm>
            <a:off x="10852635" y="6495612"/>
            <a:ext cx="493283" cy="161975"/>
          </a:xfrm>
          <a:prstGeom prst="rect">
            <a:avLst/>
          </a:prstGeom>
        </p:spPr>
        <p:txBody>
          <a:bodyPr lIns="0" tIns="0" rIns="0" bIns="0" anchor="ctr"/>
          <a:lstStyle>
            <a:defPPr>
              <a:defRPr lang="en-US"/>
            </a:defPPr>
            <a:lvl1pPr marL="0" algn="r" defTabSz="914400" rtl="0" eaLnBrk="1" latinLnBrk="0" hangingPunct="1">
              <a:defRPr sz="1000" b="1"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E2FD75-36E0-AA46-8B0C-C51DE6FED517}" type="slidenum">
              <a:rPr lang="en-US" smtClean="0">
                <a:solidFill>
                  <a:schemeClr val="bg1"/>
                </a:solidFill>
              </a:rPr>
              <a:t>‹#›</a:t>
            </a:fld>
            <a:endParaRPr lang="en-US" dirty="0">
              <a:solidFill>
                <a:schemeClr val="bg1"/>
              </a:solidFill>
            </a:endParaRPr>
          </a:p>
        </p:txBody>
      </p:sp>
      <p:pic>
        <p:nvPicPr>
          <p:cNvPr id="5" name="Picture 4">
            <a:extLst>
              <a:ext uri="{FF2B5EF4-FFF2-40B4-BE49-F238E27FC236}">
                <a16:creationId xmlns:a16="http://schemas.microsoft.com/office/drawing/2014/main" id="{6C259BCB-40B4-457E-9AC1-F324C10FF6A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60214" y="5377530"/>
            <a:ext cx="1965420" cy="888394"/>
          </a:xfrm>
          <a:prstGeom prst="rect">
            <a:avLst/>
          </a:prstGeom>
        </p:spPr>
      </p:pic>
      <p:sp>
        <p:nvSpPr>
          <p:cNvPr id="6" name="TextBox 5">
            <a:extLst>
              <a:ext uri="{FF2B5EF4-FFF2-40B4-BE49-F238E27FC236}">
                <a16:creationId xmlns:a16="http://schemas.microsoft.com/office/drawing/2014/main" id="{5A9B5BC2-BA02-41C5-8AFE-13D64C667583}"/>
              </a:ext>
            </a:extLst>
          </p:cNvPr>
          <p:cNvSpPr txBox="1"/>
          <p:nvPr userDrawn="1"/>
        </p:nvSpPr>
        <p:spPr>
          <a:xfrm>
            <a:off x="576072" y="1881052"/>
            <a:ext cx="8794750" cy="2031325"/>
          </a:xfrm>
          <a:prstGeom prst="rect">
            <a:avLst/>
          </a:prstGeom>
          <a:noFill/>
          <a:ln>
            <a:noFill/>
          </a:ln>
        </p:spPr>
        <p:txBody>
          <a:bodyPr wrap="square" rtlCol="0">
            <a:spAutoFit/>
          </a:bodyPr>
          <a:lstStyle/>
          <a:p>
            <a:r>
              <a:rPr lang="en-US" sz="1800" dirty="0">
                <a:solidFill>
                  <a:schemeClr val="bg1"/>
                </a:solidFill>
                <a:effectLst/>
                <a:latin typeface="Arial" panose="020B0604020202020204" pitchFamily="34" charset="0"/>
                <a:ea typeface="Yu Mincho" panose="02020400000000000000" pitchFamily="18" charset="-128"/>
                <a:cs typeface="Arial" panose="020B0604020202020204" pitchFamily="34" charset="0"/>
              </a:rPr>
              <a:t> </a:t>
            </a:r>
          </a:p>
          <a:p>
            <a:r>
              <a:rPr lang="en-US" sz="1800" dirty="0">
                <a:solidFill>
                  <a:schemeClr val="bg1"/>
                </a:solidFill>
                <a:effectLst/>
                <a:latin typeface="Arial" panose="020B0604020202020204" pitchFamily="34" charset="0"/>
                <a:ea typeface="Yu Mincho" panose="02020400000000000000" pitchFamily="18" charset="-128"/>
                <a:cs typeface="Arial" panose="020B0604020202020204" pitchFamily="34" charset="0"/>
              </a:rPr>
              <a:t>Copyright 2018. Axioma Inc. All rights reserved.  </a:t>
            </a:r>
          </a:p>
          <a:p>
            <a:endParaRPr lang="en-US" sz="1800" dirty="0">
              <a:solidFill>
                <a:schemeClr val="bg1"/>
              </a:solidFill>
              <a:effectLst/>
              <a:latin typeface="Arial" panose="020B0604020202020204" pitchFamily="34" charset="0"/>
              <a:ea typeface="Yu Mincho" panose="02020400000000000000" pitchFamily="18" charset="-128"/>
              <a:cs typeface="Arial" panose="020B0604020202020204" pitchFamily="34" charset="0"/>
            </a:endParaRPr>
          </a:p>
          <a:p>
            <a:r>
              <a:rPr lang="en-US" sz="1800" dirty="0">
                <a:solidFill>
                  <a:schemeClr val="bg1"/>
                </a:solidFill>
                <a:effectLst/>
                <a:latin typeface="Arial" panose="020B0604020202020204" pitchFamily="34" charset="0"/>
                <a:ea typeface="Yu Mincho" panose="02020400000000000000" pitchFamily="18" charset="-128"/>
                <a:cs typeface="Arial" panose="020B0604020202020204" pitchFamily="34" charset="0"/>
              </a:rPr>
              <a:t>CONFIDENTIALITY NOTICE: All materials contained in this document are confidential and proprietary to Axioma Inc. and its affiliates, are protected by copyright, and may not be reproduced, distributed, transmitted, displayed, published or broadcast without the prior written permission of Axioma Inc. </a:t>
            </a:r>
          </a:p>
        </p:txBody>
      </p:sp>
      <p:sp>
        <p:nvSpPr>
          <p:cNvPr id="7" name="Text Placeholder 16">
            <a:extLst>
              <a:ext uri="{FF2B5EF4-FFF2-40B4-BE49-F238E27FC236}">
                <a16:creationId xmlns:a16="http://schemas.microsoft.com/office/drawing/2014/main" id="{44C07A01-5203-4EC8-9D70-639B750321BA}"/>
              </a:ext>
            </a:extLst>
          </p:cNvPr>
          <p:cNvSpPr>
            <a:spLocks noGrp="1"/>
          </p:cNvSpPr>
          <p:nvPr>
            <p:ph type="body" sz="quarter" idx="12" hasCustomPrompt="1"/>
          </p:nvPr>
        </p:nvSpPr>
        <p:spPr>
          <a:xfrm>
            <a:off x="576072" y="786473"/>
            <a:ext cx="8794750" cy="356527"/>
          </a:xfrm>
          <a:prstGeom prst="rect">
            <a:avLst/>
          </a:prstGeom>
        </p:spPr>
        <p:txBody>
          <a:bodyPr lIns="0" tIns="0" rIns="0" bIns="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cap="none" spc="50" baseline="0">
                <a:solidFill>
                  <a:schemeClr val="bg1"/>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Disclaimer</a:t>
            </a:r>
          </a:p>
        </p:txBody>
      </p:sp>
    </p:spTree>
    <p:extLst>
      <p:ext uri="{BB962C8B-B14F-4D97-AF65-F5344CB8AC3E}">
        <p14:creationId xmlns:p14="http://schemas.microsoft.com/office/powerpoint/2010/main" val="19325967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65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0D2D3AA8-D0A2-43FE-BF5A-0C152B865AD9}"/>
              </a:ext>
            </a:extLst>
          </p:cNvPr>
          <p:cNvSpPr>
            <a:spLocks noGrp="1"/>
          </p:cNvSpPr>
          <p:nvPr>
            <p:ph type="dt" sz="half" idx="10"/>
          </p:nvPr>
        </p:nvSpPr>
        <p:spPr/>
        <p:txBody>
          <a:bodyPr/>
          <a:lstStyle/>
          <a:p>
            <a:fld id="{A7B5BD6A-9116-4FE4-99B1-A8A42D97CCA6}" type="datetimeFigureOut">
              <a:rPr lang="en-US" smtClean="0"/>
              <a:t>7/22/2019</a:t>
            </a:fld>
            <a:endParaRPr lang="en-US"/>
          </a:p>
        </p:txBody>
      </p:sp>
      <p:sp>
        <p:nvSpPr>
          <p:cNvPr id="3" name="Espaço Reservado para Rodapé 2">
            <a:extLst>
              <a:ext uri="{FF2B5EF4-FFF2-40B4-BE49-F238E27FC236}">
                <a16:creationId xmlns:a16="http://schemas.microsoft.com/office/drawing/2014/main" id="{D2A45244-63BB-41E9-BE2D-5F87A1E4211A}"/>
              </a:ext>
            </a:extLst>
          </p:cNvPr>
          <p:cNvSpPr>
            <a:spLocks noGrp="1"/>
          </p:cNvSpPr>
          <p:nvPr>
            <p:ph type="ftr" sz="quarter" idx="11"/>
          </p:nvPr>
        </p:nvSpPr>
        <p:spPr/>
        <p:txBody>
          <a:bodyPr/>
          <a:lstStyle/>
          <a:p>
            <a:endParaRPr lang="en-US"/>
          </a:p>
        </p:txBody>
      </p:sp>
      <p:sp>
        <p:nvSpPr>
          <p:cNvPr id="4" name="Espaço Reservado para Número de Slide 3">
            <a:extLst>
              <a:ext uri="{FF2B5EF4-FFF2-40B4-BE49-F238E27FC236}">
                <a16:creationId xmlns:a16="http://schemas.microsoft.com/office/drawing/2014/main" id="{325800AA-C089-4058-BE16-3D890865DDE9}"/>
              </a:ext>
            </a:extLst>
          </p:cNvPr>
          <p:cNvSpPr>
            <a:spLocks noGrp="1"/>
          </p:cNvSpPr>
          <p:nvPr>
            <p:ph type="sldNum" sz="quarter" idx="12"/>
          </p:nvPr>
        </p:nvSpPr>
        <p:spPr/>
        <p:txBody>
          <a:bodyPr/>
          <a:lstStyle/>
          <a:p>
            <a:fld id="{17611A39-5B74-4F2A-B0F4-AD64BAD7B532}" type="slidenum">
              <a:rPr lang="en-US" smtClean="0"/>
              <a:t>‹#›</a:t>
            </a:fld>
            <a:endParaRPr lang="en-US"/>
          </a:p>
        </p:txBody>
      </p:sp>
    </p:spTree>
    <p:extLst>
      <p:ext uri="{BB962C8B-B14F-4D97-AF65-F5344CB8AC3E}">
        <p14:creationId xmlns:p14="http://schemas.microsoft.com/office/powerpoint/2010/main" val="4917605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6607510"/>
      </p:ext>
    </p:extLst>
  </p:cSld>
  <p:clrMap bg1="lt1" tx1="dk1" bg2="lt2" tx2="dk2" accent1="accent1" accent2="accent2" accent3="accent3" accent4="accent4" accent5="accent5" accent6="accent6" hlink="hlink" folHlink="folHlink"/>
  <p:sldLayoutIdLst>
    <p:sldLayoutId id="2147483680" r:id="rId1"/>
    <p:sldLayoutId id="2147483688" r:id="rId2"/>
    <p:sldLayoutId id="2147483690" r:id="rId3"/>
    <p:sldLayoutId id="2147483689" r:id="rId4"/>
    <p:sldLayoutId id="2147483691" r:id="rId5"/>
    <p:sldLayoutId id="2147483692" r:id="rId6"/>
    <p:sldLayoutId id="2147483693" r:id="rId7"/>
  </p:sldLayoutIdLst>
  <p:hf hdr="0" ftr="0" dt="0"/>
  <p:txStyles>
    <p:titleStyle>
      <a:lvl1pPr algn="l" defTabSz="914400" rtl="0" eaLnBrk="1" latinLnBrk="0" hangingPunct="1">
        <a:lnSpc>
          <a:spcPct val="90000"/>
        </a:lnSpc>
        <a:spcBef>
          <a:spcPct val="0"/>
        </a:spcBef>
        <a:buNone/>
        <a:defRPr sz="3600" b="1" i="0" kern="1200">
          <a:solidFill>
            <a:schemeClr val="tx1">
              <a:lumMod val="65000"/>
              <a:lumOff val="35000"/>
            </a:schemeClr>
          </a:solidFill>
          <a:latin typeface="Source Sans Pro"/>
          <a:ea typeface="Source Sans Pro"/>
          <a:cs typeface="Source Sans Pro"/>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b="1" i="0" kern="1200">
          <a:solidFill>
            <a:srgbClr val="0070C0"/>
          </a:solidFill>
          <a:latin typeface="Source Sans Pro"/>
          <a:ea typeface="Source Sans Pro"/>
          <a:cs typeface="Source Sans Pro"/>
        </a:defRPr>
      </a:lvl1pPr>
      <a:lvl2pPr marL="6858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lumMod val="65000"/>
              <a:lumOff val="35000"/>
            </a:schemeClr>
          </a:solidFill>
          <a:latin typeface="Source Sans Pro"/>
          <a:ea typeface="Source Sans Pro"/>
          <a:cs typeface="Source Sans Pro"/>
        </a:defRPr>
      </a:lvl2pPr>
      <a:lvl3pPr marL="11430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lumMod val="65000"/>
              <a:lumOff val="35000"/>
            </a:schemeClr>
          </a:solidFill>
          <a:latin typeface="Source Sans Pro"/>
          <a:ea typeface="Source Sans Pro"/>
          <a:cs typeface="Source Sans Pro"/>
        </a:defRPr>
      </a:lvl3pPr>
      <a:lvl4pPr marL="1600200" indent="-228600" algn="l" defTabSz="914400" rtl="0" eaLnBrk="1" latinLnBrk="0" hangingPunct="1">
        <a:lnSpc>
          <a:spcPct val="90000"/>
        </a:lnSpc>
        <a:spcBef>
          <a:spcPts val="500"/>
        </a:spcBef>
        <a:buFont typeface="Arial" panose="020B0604020202020204" pitchFamily="34" charset="0"/>
        <a:buChar char="•"/>
        <a:defRPr sz="1400" b="1" i="0" kern="1200">
          <a:solidFill>
            <a:schemeClr val="tx1"/>
          </a:solidFill>
          <a:latin typeface="Raleway" charset="0"/>
          <a:ea typeface="Raleway" charset="0"/>
          <a:cs typeface="Raleway"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b="1" i="0" kern="1200">
          <a:solidFill>
            <a:schemeClr val="tx1"/>
          </a:solidFill>
          <a:latin typeface="Raleway" charset="0"/>
          <a:ea typeface="Raleway" charset="0"/>
          <a:cs typeface="Raleway"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confluence:8090/pages/viewpage.action?pageId=22185044" TargetMode="External"/><Relationship Id="rId1" Type="http://schemas.openxmlformats.org/officeDocument/2006/relationships/slideLayout" Target="../slideLayouts/slideLayout2.xml"/><Relationship Id="rId6" Type="http://schemas.openxmlformats.org/officeDocument/2006/relationships/image" Target="../media/image9.jp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confluence:8090/pages/viewpage.action?pageId=22185044"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9456C63-F1A4-4C5F-A819-14E8CBD9A1C8}"/>
              </a:ext>
            </a:extLst>
          </p:cNvPr>
          <p:cNvSpPr>
            <a:spLocks noGrp="1"/>
          </p:cNvSpPr>
          <p:nvPr>
            <p:ph type="body" sz="quarter" idx="10"/>
          </p:nvPr>
        </p:nvSpPr>
        <p:spPr>
          <a:xfrm>
            <a:off x="822444" y="2916722"/>
            <a:ext cx="9610425" cy="541006"/>
          </a:xfrm>
        </p:spPr>
        <p:txBody>
          <a:bodyPr/>
          <a:lstStyle/>
          <a:p>
            <a:r>
              <a:rPr lang="en-US" noProof="0" dirty="0"/>
              <a:t>A research on generating IV and volatility surface</a:t>
            </a:r>
          </a:p>
        </p:txBody>
      </p:sp>
    </p:spTree>
    <p:extLst>
      <p:ext uri="{BB962C8B-B14F-4D97-AF65-F5344CB8AC3E}">
        <p14:creationId xmlns:p14="http://schemas.microsoft.com/office/powerpoint/2010/main" val="2530732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0F50589-D503-4C95-86A0-806F7FE1B4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7248088" y="0"/>
            <a:ext cx="4943912" cy="6858000"/>
          </a:xfrm>
          <a:prstGeom prst="rect">
            <a:avLst/>
          </a:prstGeom>
        </p:spPr>
      </p:pic>
      <p:sp>
        <p:nvSpPr>
          <p:cNvPr id="2" name="Text Placeholder 1">
            <a:extLst>
              <a:ext uri="{FF2B5EF4-FFF2-40B4-BE49-F238E27FC236}">
                <a16:creationId xmlns:a16="http://schemas.microsoft.com/office/drawing/2014/main" id="{09B022E2-B775-48BD-8082-C914C9CC7A8E}"/>
              </a:ext>
            </a:extLst>
          </p:cNvPr>
          <p:cNvSpPr>
            <a:spLocks noGrp="1"/>
          </p:cNvSpPr>
          <p:nvPr>
            <p:ph type="body" sz="quarter" idx="12"/>
          </p:nvPr>
        </p:nvSpPr>
        <p:spPr>
          <a:xfrm>
            <a:off x="252549" y="500723"/>
            <a:ext cx="6472102" cy="766015"/>
          </a:xfrm>
        </p:spPr>
        <p:txBody>
          <a:bodyPr/>
          <a:lstStyle/>
          <a:p>
            <a:pPr algn="ctr"/>
            <a:r>
              <a:rPr lang="en-US" spc="0" noProof="0" dirty="0">
                <a:latin typeface="Arial" charset="0"/>
                <a:ea typeface="Arial" charset="0"/>
                <a:cs typeface="Arial" charset="0"/>
              </a:rPr>
              <a:t>Refresh of question: Would it be possible to generate our IV surfaces from raw market data?</a:t>
            </a:r>
            <a:endParaRPr lang="en-US" noProof="0" dirty="0">
              <a:solidFill>
                <a:srgbClr val="006AB6"/>
              </a:solidFill>
              <a:latin typeface="Arial" panose="020B0604020202020204" pitchFamily="34" charset="0"/>
              <a:cs typeface="Arial" panose="020B0604020202020204" pitchFamily="34" charset="0"/>
            </a:endParaRPr>
          </a:p>
          <a:p>
            <a:endParaRPr lang="en-US" noProof="0" dirty="0"/>
          </a:p>
        </p:txBody>
      </p:sp>
      <p:sp>
        <p:nvSpPr>
          <p:cNvPr id="5" name="Text Placeholder 4">
            <a:extLst>
              <a:ext uri="{FF2B5EF4-FFF2-40B4-BE49-F238E27FC236}">
                <a16:creationId xmlns:a16="http://schemas.microsoft.com/office/drawing/2014/main" id="{33688DC4-DF60-4182-87F0-6926D0FCFE88}"/>
              </a:ext>
            </a:extLst>
          </p:cNvPr>
          <p:cNvSpPr>
            <a:spLocks noGrp="1"/>
          </p:cNvSpPr>
          <p:nvPr>
            <p:ph type="body" sz="quarter" idx="14"/>
          </p:nvPr>
        </p:nvSpPr>
        <p:spPr>
          <a:xfrm>
            <a:off x="252549" y="1045487"/>
            <a:ext cx="6672017" cy="5485942"/>
          </a:xfrm>
        </p:spPr>
        <p:txBody>
          <a:bodyPr/>
          <a:lstStyle/>
          <a:p>
            <a:pPr marL="0" indent="0">
              <a:lnSpc>
                <a:spcPts val="2700"/>
              </a:lnSpc>
              <a:buNone/>
            </a:pPr>
            <a:r>
              <a:rPr lang="en-US" sz="1200" noProof="0" dirty="0">
                <a:solidFill>
                  <a:schemeClr val="bg1">
                    <a:lumMod val="50000"/>
                  </a:schemeClr>
                </a:solidFill>
              </a:rPr>
              <a:t>Answering this Question involves:</a:t>
            </a:r>
          </a:p>
          <a:p>
            <a:pPr marL="342900" indent="-342900">
              <a:lnSpc>
                <a:spcPts val="2700"/>
              </a:lnSpc>
              <a:buFont typeface="Arial" panose="020B0604020202020204" pitchFamily="34" charset="0"/>
              <a:buChar char="•"/>
            </a:pPr>
            <a:r>
              <a:rPr lang="en-US" sz="1200" noProof="0" dirty="0">
                <a:solidFill>
                  <a:schemeClr val="bg1">
                    <a:lumMod val="50000"/>
                  </a:schemeClr>
                </a:solidFill>
              </a:rPr>
              <a:t>DATA</a:t>
            </a:r>
          </a:p>
          <a:p>
            <a:pPr marL="914400" lvl="1" indent="-342900">
              <a:lnSpc>
                <a:spcPts val="2700"/>
              </a:lnSpc>
              <a:buFont typeface="Arial" panose="020B0604020202020204" pitchFamily="34" charset="0"/>
              <a:buChar char="•"/>
            </a:pPr>
            <a:r>
              <a:rPr lang="en-US" sz="1200" dirty="0">
                <a:solidFill>
                  <a:schemeClr val="bg1">
                    <a:lumMod val="50000"/>
                  </a:schemeClr>
                </a:solidFill>
              </a:rPr>
              <a:t>Availability of Data sources (Nattu)</a:t>
            </a:r>
          </a:p>
          <a:p>
            <a:pPr marL="914400" lvl="1" indent="-342900">
              <a:lnSpc>
                <a:spcPts val="2700"/>
              </a:lnSpc>
              <a:buFont typeface="Arial" panose="020B0604020202020204" pitchFamily="34" charset="0"/>
              <a:buChar char="•"/>
            </a:pPr>
            <a:r>
              <a:rPr lang="en-US" sz="1200" noProof="0" dirty="0">
                <a:solidFill>
                  <a:schemeClr val="bg1">
                    <a:lumMod val="50000"/>
                  </a:schemeClr>
                </a:solidFill>
              </a:rPr>
              <a:t>Vendor Data sources management (Nattu and Ross)</a:t>
            </a:r>
          </a:p>
          <a:p>
            <a:pPr marL="342900" indent="-342900">
              <a:lnSpc>
                <a:spcPts val="2700"/>
              </a:lnSpc>
              <a:buFont typeface="Arial" panose="020B0604020202020204" pitchFamily="34" charset="0"/>
              <a:buChar char="•"/>
            </a:pPr>
            <a:r>
              <a:rPr lang="en-US" sz="1200" dirty="0">
                <a:solidFill>
                  <a:schemeClr val="bg1">
                    <a:lumMod val="50000"/>
                  </a:schemeClr>
                </a:solidFill>
              </a:rPr>
              <a:t>ANALYTICS</a:t>
            </a:r>
          </a:p>
          <a:p>
            <a:pPr marL="914400" lvl="1" indent="-342900">
              <a:lnSpc>
                <a:spcPts val="2700"/>
              </a:lnSpc>
              <a:buFont typeface="Arial" panose="020B0604020202020204" pitchFamily="34" charset="0"/>
              <a:buChar char="•"/>
            </a:pPr>
            <a:r>
              <a:rPr lang="en-US" sz="1200" noProof="0" dirty="0">
                <a:solidFill>
                  <a:schemeClr val="bg1">
                    <a:lumMod val="50000"/>
                  </a:schemeClr>
                </a:solidFill>
              </a:rPr>
              <a:t>In house derivative pricing modules (Diogo and Emma)</a:t>
            </a:r>
          </a:p>
          <a:p>
            <a:pPr marL="914400" lvl="1" indent="-342900">
              <a:lnSpc>
                <a:spcPts val="2700"/>
              </a:lnSpc>
              <a:buFont typeface="Arial" panose="020B0604020202020204" pitchFamily="34" charset="0"/>
              <a:buChar char="•"/>
            </a:pPr>
            <a:r>
              <a:rPr lang="en-US" sz="1200" dirty="0">
                <a:solidFill>
                  <a:schemeClr val="bg1">
                    <a:lumMod val="50000"/>
                  </a:schemeClr>
                </a:solidFill>
              </a:rPr>
              <a:t>In house calculation methods (Diogo, Emma, Eric)</a:t>
            </a:r>
          </a:p>
          <a:p>
            <a:pPr lvl="2" indent="0">
              <a:lnSpc>
                <a:spcPts val="2700"/>
              </a:lnSpc>
              <a:buNone/>
            </a:pPr>
            <a:r>
              <a:rPr lang="en-US" sz="1200" noProof="0" dirty="0">
                <a:solidFill>
                  <a:schemeClr val="bg1">
                    <a:lumMod val="50000"/>
                  </a:schemeClr>
                </a:solidFill>
              </a:rPr>
              <a:t>* Implied volatility         * </a:t>
            </a:r>
            <a:r>
              <a:rPr lang="en-US" sz="1200" dirty="0">
                <a:solidFill>
                  <a:schemeClr val="bg1">
                    <a:lumMod val="50000"/>
                  </a:schemeClr>
                </a:solidFill>
              </a:rPr>
              <a:t>Dividend calculation</a:t>
            </a:r>
          </a:p>
          <a:p>
            <a:pPr lvl="2" indent="0">
              <a:lnSpc>
                <a:spcPts val="2700"/>
              </a:lnSpc>
              <a:buNone/>
            </a:pPr>
            <a:r>
              <a:rPr lang="en-US" sz="1200" noProof="0" dirty="0">
                <a:solidFill>
                  <a:schemeClr val="bg1">
                    <a:lumMod val="50000"/>
                  </a:schemeClr>
                </a:solidFill>
              </a:rPr>
              <a:t>* Curve construction      </a:t>
            </a:r>
          </a:p>
          <a:p>
            <a:pPr marL="342900" indent="-342900">
              <a:lnSpc>
                <a:spcPts val="2700"/>
              </a:lnSpc>
              <a:buFont typeface="Arial" panose="020B0604020202020204" pitchFamily="34" charset="0"/>
              <a:buChar char="•"/>
            </a:pPr>
            <a:r>
              <a:rPr lang="en-US" sz="1200" dirty="0">
                <a:solidFill>
                  <a:schemeClr val="bg1">
                    <a:lumMod val="50000"/>
                  </a:schemeClr>
                </a:solidFill>
              </a:rPr>
              <a:t>TESTING</a:t>
            </a:r>
          </a:p>
          <a:p>
            <a:pPr marL="914400" lvl="1" indent="-342900">
              <a:lnSpc>
                <a:spcPts val="2700"/>
              </a:lnSpc>
              <a:buFont typeface="Arial" panose="020B0604020202020204" pitchFamily="34" charset="0"/>
              <a:buChar char="•"/>
            </a:pPr>
            <a:r>
              <a:rPr lang="en-US" sz="1200" dirty="0">
                <a:solidFill>
                  <a:schemeClr val="bg1">
                    <a:lumMod val="50000"/>
                  </a:schemeClr>
                </a:solidFill>
              </a:rPr>
              <a:t>Vendor data</a:t>
            </a:r>
          </a:p>
          <a:p>
            <a:pPr marL="914400" lvl="1" indent="-342900">
              <a:lnSpc>
                <a:spcPts val="2700"/>
              </a:lnSpc>
              <a:buFont typeface="Arial" panose="020B0604020202020204" pitchFamily="34" charset="0"/>
              <a:buChar char="•"/>
            </a:pPr>
            <a:r>
              <a:rPr lang="en-US" sz="1200" dirty="0">
                <a:solidFill>
                  <a:schemeClr val="bg1">
                    <a:lumMod val="50000"/>
                  </a:schemeClr>
                </a:solidFill>
              </a:rPr>
              <a:t>Analytics</a:t>
            </a:r>
          </a:p>
          <a:p>
            <a:pPr marL="914400" lvl="1" indent="-342900">
              <a:lnSpc>
                <a:spcPts val="2700"/>
              </a:lnSpc>
              <a:buFont typeface="Arial" panose="020B0604020202020204" pitchFamily="34" charset="0"/>
              <a:buChar char="•"/>
            </a:pPr>
            <a:r>
              <a:rPr lang="en-US" sz="1200" dirty="0">
                <a:solidFill>
                  <a:schemeClr val="bg1">
                    <a:lumMod val="50000"/>
                  </a:schemeClr>
                </a:solidFill>
              </a:rPr>
              <a:t>Outputs</a:t>
            </a:r>
          </a:p>
          <a:p>
            <a:pPr marL="342900" indent="-342900">
              <a:lnSpc>
                <a:spcPts val="2700"/>
              </a:lnSpc>
              <a:buFont typeface="Arial" panose="020B0604020202020204" pitchFamily="34" charset="0"/>
              <a:buChar char="•"/>
            </a:pPr>
            <a:r>
              <a:rPr lang="en-US" sz="1200" dirty="0">
                <a:solidFill>
                  <a:schemeClr val="bg1">
                    <a:lumMod val="50000"/>
                  </a:schemeClr>
                </a:solidFill>
              </a:rPr>
              <a:t>PRODUCTION</a:t>
            </a:r>
          </a:p>
          <a:p>
            <a:pPr marL="914400" lvl="1" indent="-342900">
              <a:lnSpc>
                <a:spcPts val="2700"/>
              </a:lnSpc>
              <a:buFont typeface="Arial" panose="020B0604020202020204" pitchFamily="34" charset="0"/>
              <a:buChar char="•"/>
            </a:pPr>
            <a:r>
              <a:rPr lang="en-US" sz="1200" dirty="0">
                <a:solidFill>
                  <a:schemeClr val="bg1">
                    <a:lumMod val="50000"/>
                  </a:schemeClr>
                </a:solidFill>
              </a:rPr>
              <a:t>Feasibility</a:t>
            </a:r>
          </a:p>
          <a:p>
            <a:pPr marL="914400" lvl="1" indent="-342900">
              <a:lnSpc>
                <a:spcPts val="2700"/>
              </a:lnSpc>
              <a:buFont typeface="Arial" panose="020B0604020202020204" pitchFamily="34" charset="0"/>
              <a:buChar char="•"/>
            </a:pPr>
            <a:r>
              <a:rPr lang="en-US" sz="1200" dirty="0">
                <a:solidFill>
                  <a:schemeClr val="bg1">
                    <a:lumMod val="50000"/>
                  </a:schemeClr>
                </a:solidFill>
              </a:rPr>
              <a:t>Scalability</a:t>
            </a:r>
            <a:r>
              <a:rPr lang="en-US" dirty="0">
                <a:solidFill>
                  <a:schemeClr val="bg1">
                    <a:lumMod val="50000"/>
                  </a:schemeClr>
                </a:solidFill>
              </a:rPr>
              <a:t>	</a:t>
            </a:r>
            <a:endParaRPr lang="en-US" noProof="0" dirty="0">
              <a:solidFill>
                <a:schemeClr val="bg1">
                  <a:lumMod val="50000"/>
                </a:schemeClr>
              </a:solidFill>
            </a:endParaRPr>
          </a:p>
          <a:p>
            <a:pPr marL="342900" indent="-342900">
              <a:lnSpc>
                <a:spcPts val="2700"/>
              </a:lnSpc>
            </a:pPr>
            <a:endParaRPr lang="en-US" noProof="0" dirty="0">
              <a:solidFill>
                <a:schemeClr val="bg1">
                  <a:lumMod val="50000"/>
                </a:schemeClr>
              </a:solidFill>
            </a:endParaRPr>
          </a:p>
          <a:p>
            <a:pPr marL="342900" indent="-342900">
              <a:lnSpc>
                <a:spcPts val="2700"/>
              </a:lnSpc>
            </a:pPr>
            <a:endParaRPr lang="en-US" noProof="0" dirty="0">
              <a:solidFill>
                <a:schemeClr val="bg1">
                  <a:lumMod val="50000"/>
                </a:schemeClr>
              </a:solidFill>
            </a:endParaRPr>
          </a:p>
          <a:p>
            <a:pPr marL="914400" lvl="1" indent="-342900">
              <a:lnSpc>
                <a:spcPts val="2700"/>
              </a:lnSpc>
              <a:buFont typeface="Arial" panose="020B0604020202020204" pitchFamily="34" charset="0"/>
              <a:buChar char="•"/>
            </a:pPr>
            <a:endParaRPr lang="en-US" noProof="0" dirty="0"/>
          </a:p>
        </p:txBody>
      </p:sp>
    </p:spTree>
    <p:extLst>
      <p:ext uri="{BB962C8B-B14F-4D97-AF65-F5344CB8AC3E}">
        <p14:creationId xmlns:p14="http://schemas.microsoft.com/office/powerpoint/2010/main" val="8509177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0F50589-D503-4C95-86A0-806F7FE1B4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7042026" y="0"/>
            <a:ext cx="4943912" cy="6858000"/>
          </a:xfrm>
          <a:prstGeom prst="rect">
            <a:avLst/>
          </a:prstGeom>
        </p:spPr>
      </p:pic>
      <p:sp>
        <p:nvSpPr>
          <p:cNvPr id="2" name="Text Placeholder 1">
            <a:extLst>
              <a:ext uri="{FF2B5EF4-FFF2-40B4-BE49-F238E27FC236}">
                <a16:creationId xmlns:a16="http://schemas.microsoft.com/office/drawing/2014/main" id="{09B022E2-B775-48BD-8082-C914C9CC7A8E}"/>
              </a:ext>
            </a:extLst>
          </p:cNvPr>
          <p:cNvSpPr>
            <a:spLocks noGrp="1"/>
          </p:cNvSpPr>
          <p:nvPr>
            <p:ph type="body" sz="quarter" idx="12"/>
          </p:nvPr>
        </p:nvSpPr>
        <p:spPr>
          <a:xfrm>
            <a:off x="576073" y="500723"/>
            <a:ext cx="6148578" cy="352717"/>
          </a:xfrm>
        </p:spPr>
        <p:txBody>
          <a:bodyPr/>
          <a:lstStyle/>
          <a:p>
            <a:r>
              <a:rPr lang="en-US" spc="0" noProof="0" dirty="0">
                <a:latin typeface="Arial" charset="0"/>
                <a:ea typeface="Arial" charset="0"/>
                <a:cs typeface="Arial" charset="0"/>
              </a:rPr>
              <a:t>1) DATA</a:t>
            </a:r>
            <a:endParaRPr lang="en-US" noProof="0" dirty="0">
              <a:solidFill>
                <a:srgbClr val="006AB6"/>
              </a:solidFill>
              <a:latin typeface="Arial" panose="020B0604020202020204" pitchFamily="34" charset="0"/>
              <a:cs typeface="Arial" panose="020B0604020202020204" pitchFamily="34" charset="0"/>
            </a:endParaRPr>
          </a:p>
          <a:p>
            <a:endParaRPr lang="en-US" noProof="0" dirty="0"/>
          </a:p>
        </p:txBody>
      </p:sp>
      <p:sp>
        <p:nvSpPr>
          <p:cNvPr id="5" name="Text Placeholder 4">
            <a:extLst>
              <a:ext uri="{FF2B5EF4-FFF2-40B4-BE49-F238E27FC236}">
                <a16:creationId xmlns:a16="http://schemas.microsoft.com/office/drawing/2014/main" id="{33688DC4-DF60-4182-87F0-6926D0FCFE88}"/>
              </a:ext>
            </a:extLst>
          </p:cNvPr>
          <p:cNvSpPr>
            <a:spLocks noGrp="1"/>
          </p:cNvSpPr>
          <p:nvPr>
            <p:ph type="body" sz="quarter" idx="14"/>
          </p:nvPr>
        </p:nvSpPr>
        <p:spPr>
          <a:xfrm>
            <a:off x="576073" y="898500"/>
            <a:ext cx="6672017" cy="2379387"/>
          </a:xfrm>
        </p:spPr>
        <p:txBody>
          <a:bodyPr/>
          <a:lstStyle/>
          <a:p>
            <a:pPr marL="0" indent="0">
              <a:lnSpc>
                <a:spcPts val="2700"/>
              </a:lnSpc>
              <a:buNone/>
            </a:pPr>
            <a:r>
              <a:rPr lang="en-US" sz="2000" i="1" dirty="0">
                <a:solidFill>
                  <a:schemeClr val="bg1">
                    <a:lumMod val="50000"/>
                  </a:schemeClr>
                </a:solidFill>
              </a:rPr>
              <a:t>The Vendor</a:t>
            </a:r>
            <a:r>
              <a:rPr lang="en-US" sz="2000" dirty="0">
                <a:solidFill>
                  <a:schemeClr val="bg1">
                    <a:lumMod val="50000"/>
                  </a:schemeClr>
                </a:solidFill>
              </a:rPr>
              <a:t> Database</a:t>
            </a:r>
            <a:endParaRPr lang="en-US" sz="2000" noProof="0" dirty="0">
              <a:solidFill>
                <a:schemeClr val="bg1">
                  <a:lumMod val="50000"/>
                </a:schemeClr>
              </a:solidFill>
            </a:endParaRPr>
          </a:p>
          <a:p>
            <a:pPr marL="342900" indent="-342900">
              <a:lnSpc>
                <a:spcPts val="2700"/>
              </a:lnSpc>
              <a:buFont typeface="Arial" panose="020B0604020202020204" pitchFamily="34" charset="0"/>
              <a:buChar char="•"/>
            </a:pPr>
            <a:r>
              <a:rPr lang="en-US" sz="2000" noProof="0" dirty="0">
                <a:solidFill>
                  <a:schemeClr val="bg1">
                    <a:lumMod val="50000"/>
                  </a:schemeClr>
                </a:solidFill>
              </a:rPr>
              <a:t>In PROD_VNDR_DB: </a:t>
            </a:r>
            <a:r>
              <a:rPr lang="en-US" sz="2000" noProof="0" dirty="0" err="1">
                <a:solidFill>
                  <a:schemeClr val="bg1">
                    <a:lumMod val="50000"/>
                  </a:schemeClr>
                </a:solidFill>
              </a:rPr>
              <a:t>IvyDB</a:t>
            </a:r>
            <a:r>
              <a:rPr lang="en-US" sz="2000" dirty="0">
                <a:solidFill>
                  <a:schemeClr val="bg1">
                    <a:lumMod val="50000"/>
                  </a:schemeClr>
                </a:solidFill>
              </a:rPr>
              <a:t>US:</a:t>
            </a:r>
          </a:p>
          <a:p>
            <a:pPr marL="1028700" lvl="1" indent="-457200">
              <a:lnSpc>
                <a:spcPts val="2700"/>
              </a:lnSpc>
              <a:buAutoNum type="arabicParenR"/>
            </a:pPr>
            <a:r>
              <a:rPr lang="en-US" sz="1800" dirty="0">
                <a:solidFill>
                  <a:schemeClr val="bg1">
                    <a:lumMod val="50000"/>
                  </a:schemeClr>
                </a:solidFill>
              </a:rPr>
              <a:t>Option Prices – OPTION_PRICE</a:t>
            </a:r>
          </a:p>
          <a:p>
            <a:pPr marL="1028700" lvl="1" indent="-457200">
              <a:lnSpc>
                <a:spcPts val="2700"/>
              </a:lnSpc>
              <a:buAutoNum type="arabicParenR"/>
            </a:pPr>
            <a:r>
              <a:rPr lang="en-US" sz="1800" dirty="0">
                <a:solidFill>
                  <a:schemeClr val="bg1">
                    <a:lumMod val="50000"/>
                  </a:schemeClr>
                </a:solidFill>
              </a:rPr>
              <a:t>ZC Curve for discounting – ZC_CURVE</a:t>
            </a:r>
          </a:p>
          <a:p>
            <a:pPr marL="1028700" lvl="1" indent="-457200">
              <a:lnSpc>
                <a:spcPts val="2700"/>
              </a:lnSpc>
              <a:buAutoNum type="arabicParenR"/>
            </a:pPr>
            <a:r>
              <a:rPr lang="en-US" sz="1800" dirty="0">
                <a:solidFill>
                  <a:schemeClr val="bg1">
                    <a:lumMod val="50000"/>
                  </a:schemeClr>
                </a:solidFill>
              </a:rPr>
              <a:t>Dividend methods - DISTRIBUTION</a:t>
            </a:r>
          </a:p>
          <a:p>
            <a:pPr marL="1028700" lvl="1" indent="-457200">
              <a:lnSpc>
                <a:spcPts val="2700"/>
              </a:lnSpc>
              <a:buAutoNum type="arabicParenR"/>
            </a:pPr>
            <a:r>
              <a:rPr lang="en-US" sz="1800" dirty="0">
                <a:solidFill>
                  <a:schemeClr val="bg1">
                    <a:lumMod val="50000"/>
                  </a:schemeClr>
                </a:solidFill>
              </a:rPr>
              <a:t>Vol Surface data – VOL_SURFACE</a:t>
            </a:r>
          </a:p>
          <a:p>
            <a:pPr marL="1028700" lvl="1" indent="-457200">
              <a:lnSpc>
                <a:spcPts val="2700"/>
              </a:lnSpc>
              <a:buAutoNum type="arabicParenR"/>
            </a:pPr>
            <a:r>
              <a:rPr lang="en-US" sz="1800" dirty="0">
                <a:solidFill>
                  <a:schemeClr val="bg1">
                    <a:lumMod val="50000"/>
                  </a:schemeClr>
                </a:solidFill>
              </a:rPr>
              <a:t>Others were also used…</a:t>
            </a:r>
          </a:p>
          <a:p>
            <a:pPr marL="457200" indent="-457200">
              <a:lnSpc>
                <a:spcPts val="2700"/>
              </a:lnSpc>
              <a:buAutoNum type="arabicParenR"/>
            </a:pPr>
            <a:endParaRPr lang="en-US" sz="2000" dirty="0">
              <a:solidFill>
                <a:schemeClr val="bg1">
                  <a:lumMod val="50000"/>
                </a:schemeClr>
              </a:solidFill>
            </a:endParaRPr>
          </a:p>
        </p:txBody>
      </p:sp>
      <p:sp>
        <p:nvSpPr>
          <p:cNvPr id="8" name="Text Placeholder 4">
            <a:extLst>
              <a:ext uri="{FF2B5EF4-FFF2-40B4-BE49-F238E27FC236}">
                <a16:creationId xmlns:a16="http://schemas.microsoft.com/office/drawing/2014/main" id="{C15DBB42-56DA-4193-867F-9411FE9B81BD}"/>
              </a:ext>
            </a:extLst>
          </p:cNvPr>
          <p:cNvSpPr txBox="1">
            <a:spLocks/>
          </p:cNvSpPr>
          <p:nvPr/>
        </p:nvSpPr>
        <p:spPr>
          <a:xfrm>
            <a:off x="576072" y="3580114"/>
            <a:ext cx="6672017" cy="1996438"/>
          </a:xfrm>
          <a:prstGeom prst="rect">
            <a:avLst/>
          </a:prstGeom>
        </p:spPr>
        <p:txBody>
          <a:bodyPr lIns="0" tIns="0" rIns="0" bIns="0"/>
          <a:lstStyle>
            <a:lvl1pPr marL="0" indent="0" algn="l" defTabSz="914400" rtl="0" eaLnBrk="1" latinLnBrk="0" hangingPunct="1">
              <a:lnSpc>
                <a:spcPts val="2160"/>
              </a:lnSpc>
              <a:spcBef>
                <a:spcPts val="0"/>
              </a:spcBef>
              <a:spcAft>
                <a:spcPts val="0"/>
              </a:spcAft>
              <a:buFont typeface="Arial" panose="020B0604020202020204" pitchFamily="34" charset="0"/>
              <a:buNone/>
              <a:defRPr sz="1800" b="0" i="0" kern="1200">
                <a:solidFill>
                  <a:schemeClr val="accent1">
                    <a:lumMod val="50000"/>
                  </a:schemeClr>
                </a:solidFill>
                <a:latin typeface="+mj-lt"/>
                <a:ea typeface="Source Sans Pro"/>
                <a:cs typeface="Source Sans Pro"/>
              </a:defRPr>
            </a:lvl1pPr>
            <a:lvl2pPr marL="571500" indent="-173038" algn="l" defTabSz="914400" rtl="0" eaLnBrk="1" latinLnBrk="0" hangingPunct="1">
              <a:lnSpc>
                <a:spcPts val="2160"/>
              </a:lnSpc>
              <a:spcBef>
                <a:spcPts val="0"/>
              </a:spcBef>
              <a:spcAft>
                <a:spcPts val="0"/>
              </a:spcAft>
              <a:buFont typeface="Arial" charset="0"/>
              <a:buChar char="•"/>
              <a:tabLst/>
              <a:defRPr sz="1600" b="0" i="0" kern="1200" baseline="0">
                <a:solidFill>
                  <a:schemeClr val="accent1">
                    <a:lumMod val="50000"/>
                  </a:schemeClr>
                </a:solidFill>
                <a:latin typeface="+mj-lt"/>
                <a:ea typeface="Source Sans Pro"/>
                <a:cs typeface="Source Sans Pro"/>
              </a:defRPr>
            </a:lvl2pPr>
            <a:lvl3pPr marL="858838" indent="-231775" algn="l" defTabSz="914400" rtl="0" eaLnBrk="1" latinLnBrk="0" hangingPunct="1">
              <a:lnSpc>
                <a:spcPts val="2160"/>
              </a:lnSpc>
              <a:spcBef>
                <a:spcPts val="0"/>
              </a:spcBef>
              <a:spcAft>
                <a:spcPts val="0"/>
              </a:spcAft>
              <a:buFont typeface="Arial" panose="020B0604020202020204" pitchFamily="34" charset="0"/>
              <a:buChar char="•"/>
              <a:tabLst/>
              <a:defRPr sz="1400" b="0" i="0" kern="1200">
                <a:solidFill>
                  <a:schemeClr val="accent1">
                    <a:lumMod val="50000"/>
                  </a:schemeClr>
                </a:solidFill>
                <a:latin typeface="+mj-lt"/>
                <a:ea typeface="Source Sans Pro"/>
                <a:cs typeface="Source Sans Pro"/>
              </a:defRPr>
            </a:lvl3pPr>
            <a:lvl4pPr marL="1085850" indent="-171450" algn="l" defTabSz="914400" rtl="0" eaLnBrk="1" latinLnBrk="0" hangingPunct="1">
              <a:lnSpc>
                <a:spcPts val="2160"/>
              </a:lnSpc>
              <a:spcBef>
                <a:spcPts val="0"/>
              </a:spcBef>
              <a:spcAft>
                <a:spcPts val="0"/>
              </a:spcAft>
              <a:buFont typeface="Arial" panose="020B0604020202020204" pitchFamily="34" charset="0"/>
              <a:buChar char="•"/>
              <a:defRPr sz="1200" b="0" i="0" kern="1200">
                <a:solidFill>
                  <a:schemeClr val="accent1">
                    <a:lumMod val="50000"/>
                  </a:schemeClr>
                </a:solidFill>
                <a:latin typeface="+mj-lt"/>
                <a:ea typeface="Raleway" charset="0"/>
                <a:cs typeface="Raleway" charset="0"/>
              </a:defRPr>
            </a:lvl4pPr>
            <a:lvl5pPr marL="2057400" indent="-228600" algn="l" defTabSz="914400" rtl="0" eaLnBrk="1" latinLnBrk="0" hangingPunct="1">
              <a:lnSpc>
                <a:spcPts val="2160"/>
              </a:lnSpc>
              <a:spcBef>
                <a:spcPts val="0"/>
              </a:spcBef>
              <a:spcAft>
                <a:spcPts val="0"/>
              </a:spcAft>
              <a:buFont typeface="Arial" panose="020B0604020202020204" pitchFamily="34" charset="0"/>
              <a:buChar char="•"/>
              <a:defRPr sz="1400" b="1" i="0" kern="1200">
                <a:solidFill>
                  <a:schemeClr val="accent1">
                    <a:lumMod val="50000"/>
                  </a:schemeClr>
                </a:solidFill>
                <a:latin typeface="+mj-lt"/>
                <a:ea typeface="Raleway" charset="0"/>
                <a:cs typeface="Raleway"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ts val="2700"/>
              </a:lnSpc>
              <a:buFont typeface="Arial" panose="020B0604020202020204" pitchFamily="34" charset="0"/>
              <a:buChar char="•"/>
            </a:pPr>
            <a:r>
              <a:rPr lang="en-US" sz="2000" dirty="0">
                <a:solidFill>
                  <a:schemeClr val="bg1">
                    <a:lumMod val="50000"/>
                  </a:schemeClr>
                </a:solidFill>
              </a:rPr>
              <a:t>Alternative Axioma </a:t>
            </a:r>
            <a:r>
              <a:rPr lang="en-US" sz="2000" dirty="0" err="1">
                <a:solidFill>
                  <a:schemeClr val="bg1">
                    <a:lumMod val="50000"/>
                  </a:schemeClr>
                </a:solidFill>
              </a:rPr>
              <a:t>DataBases</a:t>
            </a:r>
            <a:r>
              <a:rPr lang="en-US" sz="2000" dirty="0">
                <a:solidFill>
                  <a:schemeClr val="bg1">
                    <a:lumMod val="50000"/>
                  </a:schemeClr>
                </a:solidFill>
              </a:rPr>
              <a:t> (all in Pandora/Pluto):</a:t>
            </a:r>
          </a:p>
          <a:p>
            <a:pPr marL="1028700" lvl="1" indent="-457200">
              <a:lnSpc>
                <a:spcPts val="2700"/>
              </a:lnSpc>
              <a:buFont typeface="Arial" charset="0"/>
              <a:buAutoNum type="arabicParenR"/>
            </a:pPr>
            <a:r>
              <a:rPr lang="en-US" sz="1800" dirty="0">
                <a:solidFill>
                  <a:schemeClr val="bg1">
                    <a:lumMod val="50000"/>
                  </a:schemeClr>
                </a:solidFill>
              </a:rPr>
              <a:t>Option Prices - EJV_DERIVS</a:t>
            </a:r>
          </a:p>
          <a:p>
            <a:pPr marL="1028700" lvl="1" indent="-457200">
              <a:lnSpc>
                <a:spcPts val="2700"/>
              </a:lnSpc>
              <a:buFont typeface="Arial" charset="0"/>
              <a:buAutoNum type="arabicParenR"/>
            </a:pPr>
            <a:r>
              <a:rPr lang="en-US" sz="1800" dirty="0">
                <a:solidFill>
                  <a:schemeClr val="bg1">
                    <a:lumMod val="50000"/>
                  </a:schemeClr>
                </a:solidFill>
              </a:rPr>
              <a:t>ZC Curve for discounting –   </a:t>
            </a:r>
            <a:r>
              <a:rPr lang="en-US" sz="1800" dirty="0" err="1">
                <a:solidFill>
                  <a:schemeClr val="bg1">
                    <a:lumMod val="50000"/>
                  </a:schemeClr>
                </a:solidFill>
              </a:rPr>
              <a:t>MarketData-InstumentData</a:t>
            </a:r>
            <a:r>
              <a:rPr lang="en-US" sz="1800" dirty="0">
                <a:solidFill>
                  <a:schemeClr val="bg1">
                    <a:lumMod val="50000"/>
                  </a:schemeClr>
                </a:solidFill>
              </a:rPr>
              <a:t>, EJV_RIGS, QAI</a:t>
            </a:r>
          </a:p>
          <a:p>
            <a:pPr marL="1028700" lvl="1" indent="-457200">
              <a:lnSpc>
                <a:spcPts val="2700"/>
              </a:lnSpc>
              <a:buFont typeface="Arial" charset="0"/>
              <a:buAutoNum type="arabicParenR"/>
            </a:pPr>
            <a:r>
              <a:rPr lang="en-US" sz="1800" dirty="0">
                <a:solidFill>
                  <a:schemeClr val="bg1">
                    <a:lumMod val="50000"/>
                  </a:schemeClr>
                </a:solidFill>
              </a:rPr>
              <a:t>Equity, for Dividend methods – ORACLE</a:t>
            </a:r>
          </a:p>
          <a:p>
            <a:pPr marL="1028700" lvl="1" indent="-457200">
              <a:lnSpc>
                <a:spcPts val="2700"/>
              </a:lnSpc>
              <a:buFont typeface="Arial" charset="0"/>
              <a:buAutoNum type="arabicParenR"/>
            </a:pPr>
            <a:r>
              <a:rPr lang="en-US" sz="1800" dirty="0" err="1">
                <a:solidFill>
                  <a:schemeClr val="bg1">
                    <a:lumMod val="50000"/>
                  </a:schemeClr>
                </a:solidFill>
              </a:rPr>
              <a:t>Indeces</a:t>
            </a:r>
            <a:r>
              <a:rPr lang="en-US" sz="1800" dirty="0">
                <a:solidFill>
                  <a:schemeClr val="bg1">
                    <a:lumMod val="50000"/>
                  </a:schemeClr>
                </a:solidFill>
              </a:rPr>
              <a:t> </a:t>
            </a:r>
            <a:endParaRPr lang="en-US" sz="2000" dirty="0">
              <a:solidFill>
                <a:schemeClr val="bg1">
                  <a:lumMod val="50000"/>
                </a:schemeClr>
              </a:solidFill>
            </a:endParaRPr>
          </a:p>
        </p:txBody>
      </p:sp>
      <p:sp>
        <p:nvSpPr>
          <p:cNvPr id="9" name="Text Placeholder 4">
            <a:extLst>
              <a:ext uri="{FF2B5EF4-FFF2-40B4-BE49-F238E27FC236}">
                <a16:creationId xmlns:a16="http://schemas.microsoft.com/office/drawing/2014/main" id="{E6B9223C-1969-484F-AC2A-876CBA08FD6D}"/>
              </a:ext>
            </a:extLst>
          </p:cNvPr>
          <p:cNvSpPr txBox="1">
            <a:spLocks/>
          </p:cNvSpPr>
          <p:nvPr/>
        </p:nvSpPr>
        <p:spPr>
          <a:xfrm>
            <a:off x="730619" y="5752613"/>
            <a:ext cx="6836992" cy="604664"/>
          </a:xfrm>
          <a:prstGeom prst="rect">
            <a:avLst/>
          </a:prstGeom>
        </p:spPr>
        <p:txBody>
          <a:bodyPr lIns="0" tIns="0" rIns="0" bIns="0"/>
          <a:lstStyle>
            <a:lvl1pPr marL="0" indent="0" algn="l" defTabSz="914400" rtl="0" eaLnBrk="1" latinLnBrk="0" hangingPunct="1">
              <a:lnSpc>
                <a:spcPts val="2160"/>
              </a:lnSpc>
              <a:spcBef>
                <a:spcPts val="0"/>
              </a:spcBef>
              <a:spcAft>
                <a:spcPts val="0"/>
              </a:spcAft>
              <a:buFont typeface="Arial" panose="020B0604020202020204" pitchFamily="34" charset="0"/>
              <a:buNone/>
              <a:defRPr sz="1800" b="0" i="0" kern="1200">
                <a:solidFill>
                  <a:schemeClr val="accent1">
                    <a:lumMod val="50000"/>
                  </a:schemeClr>
                </a:solidFill>
                <a:latin typeface="+mj-lt"/>
                <a:ea typeface="Source Sans Pro"/>
                <a:cs typeface="Source Sans Pro"/>
              </a:defRPr>
            </a:lvl1pPr>
            <a:lvl2pPr marL="571500" indent="-173038" algn="l" defTabSz="914400" rtl="0" eaLnBrk="1" latinLnBrk="0" hangingPunct="1">
              <a:lnSpc>
                <a:spcPts val="2160"/>
              </a:lnSpc>
              <a:spcBef>
                <a:spcPts val="0"/>
              </a:spcBef>
              <a:spcAft>
                <a:spcPts val="0"/>
              </a:spcAft>
              <a:buFont typeface="Arial" charset="0"/>
              <a:buChar char="•"/>
              <a:tabLst/>
              <a:defRPr sz="1600" b="0" i="0" kern="1200" baseline="0">
                <a:solidFill>
                  <a:schemeClr val="accent1">
                    <a:lumMod val="50000"/>
                  </a:schemeClr>
                </a:solidFill>
                <a:latin typeface="+mj-lt"/>
                <a:ea typeface="Source Sans Pro"/>
                <a:cs typeface="Source Sans Pro"/>
              </a:defRPr>
            </a:lvl2pPr>
            <a:lvl3pPr marL="858838" indent="-231775" algn="l" defTabSz="914400" rtl="0" eaLnBrk="1" latinLnBrk="0" hangingPunct="1">
              <a:lnSpc>
                <a:spcPts val="2160"/>
              </a:lnSpc>
              <a:spcBef>
                <a:spcPts val="0"/>
              </a:spcBef>
              <a:spcAft>
                <a:spcPts val="0"/>
              </a:spcAft>
              <a:buFont typeface="Arial" panose="020B0604020202020204" pitchFamily="34" charset="0"/>
              <a:buChar char="•"/>
              <a:tabLst/>
              <a:defRPr sz="1400" b="0" i="0" kern="1200">
                <a:solidFill>
                  <a:schemeClr val="accent1">
                    <a:lumMod val="50000"/>
                  </a:schemeClr>
                </a:solidFill>
                <a:latin typeface="+mj-lt"/>
                <a:ea typeface="Source Sans Pro"/>
                <a:cs typeface="Source Sans Pro"/>
              </a:defRPr>
            </a:lvl3pPr>
            <a:lvl4pPr marL="1085850" indent="-171450" algn="l" defTabSz="914400" rtl="0" eaLnBrk="1" latinLnBrk="0" hangingPunct="1">
              <a:lnSpc>
                <a:spcPts val="2160"/>
              </a:lnSpc>
              <a:spcBef>
                <a:spcPts val="0"/>
              </a:spcBef>
              <a:spcAft>
                <a:spcPts val="0"/>
              </a:spcAft>
              <a:buFont typeface="Arial" panose="020B0604020202020204" pitchFamily="34" charset="0"/>
              <a:buChar char="•"/>
              <a:defRPr sz="1200" b="0" i="0" kern="1200">
                <a:solidFill>
                  <a:schemeClr val="accent1">
                    <a:lumMod val="50000"/>
                  </a:schemeClr>
                </a:solidFill>
                <a:latin typeface="+mj-lt"/>
                <a:ea typeface="Raleway" charset="0"/>
                <a:cs typeface="Raleway" charset="0"/>
              </a:defRPr>
            </a:lvl4pPr>
            <a:lvl5pPr marL="2057400" indent="-228600" algn="l" defTabSz="914400" rtl="0" eaLnBrk="1" latinLnBrk="0" hangingPunct="1">
              <a:lnSpc>
                <a:spcPts val="2160"/>
              </a:lnSpc>
              <a:spcBef>
                <a:spcPts val="0"/>
              </a:spcBef>
              <a:spcAft>
                <a:spcPts val="0"/>
              </a:spcAft>
              <a:buFont typeface="Arial" panose="020B0604020202020204" pitchFamily="34" charset="0"/>
              <a:buChar char="•"/>
              <a:defRPr sz="1400" b="1" i="0" kern="1200">
                <a:solidFill>
                  <a:schemeClr val="accent1">
                    <a:lumMod val="50000"/>
                  </a:schemeClr>
                </a:solidFill>
                <a:latin typeface="+mj-lt"/>
                <a:ea typeface="Raleway" charset="0"/>
                <a:cs typeface="Raleway"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2700"/>
              </a:lnSpc>
            </a:pPr>
            <a:r>
              <a:rPr lang="en-US" sz="2000" dirty="0">
                <a:solidFill>
                  <a:schemeClr val="bg1">
                    <a:lumMod val="50000"/>
                  </a:schemeClr>
                </a:solidFill>
                <a:highlight>
                  <a:srgbClr val="FFFF00"/>
                </a:highlight>
              </a:rPr>
              <a:t>Here, Nattu was crucial for us to understand the broad availability of </a:t>
            </a:r>
            <a:r>
              <a:rPr lang="en-US" sz="2000" dirty="0" err="1">
                <a:solidFill>
                  <a:schemeClr val="bg1">
                    <a:lumMod val="50000"/>
                  </a:schemeClr>
                </a:solidFill>
                <a:highlight>
                  <a:srgbClr val="FFFF00"/>
                </a:highlight>
              </a:rPr>
              <a:t>DBs.</a:t>
            </a:r>
            <a:r>
              <a:rPr lang="en-US" sz="2000" dirty="0">
                <a:solidFill>
                  <a:schemeClr val="bg1">
                    <a:lumMod val="50000"/>
                  </a:schemeClr>
                </a:solidFill>
                <a:highlight>
                  <a:srgbClr val="FFFF00"/>
                </a:highlight>
              </a:rPr>
              <a:t> Ross also was helpful.</a:t>
            </a:r>
          </a:p>
        </p:txBody>
      </p:sp>
    </p:spTree>
    <p:extLst>
      <p:ext uri="{BB962C8B-B14F-4D97-AF65-F5344CB8AC3E}">
        <p14:creationId xmlns:p14="http://schemas.microsoft.com/office/powerpoint/2010/main" val="1821519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54ECC9C-469D-47D3-8142-14E47C2969AC}"/>
              </a:ext>
            </a:extLst>
          </p:cNvPr>
          <p:cNvSpPr>
            <a:spLocks noGrp="1"/>
          </p:cNvSpPr>
          <p:nvPr>
            <p:ph type="body" sz="quarter" idx="12"/>
          </p:nvPr>
        </p:nvSpPr>
        <p:spPr/>
        <p:txBody>
          <a:bodyPr/>
          <a:lstStyle/>
          <a:p>
            <a:r>
              <a:rPr lang="en-US" dirty="0"/>
              <a:t>Last time we met…</a:t>
            </a:r>
          </a:p>
          <a:p>
            <a:r>
              <a:rPr lang="en-US" noProof="0" dirty="0"/>
              <a:t>Next steps?</a:t>
            </a:r>
          </a:p>
        </p:txBody>
      </p:sp>
      <p:sp>
        <p:nvSpPr>
          <p:cNvPr id="3" name="Text Placeholder 2">
            <a:extLst>
              <a:ext uri="{FF2B5EF4-FFF2-40B4-BE49-F238E27FC236}">
                <a16:creationId xmlns:a16="http://schemas.microsoft.com/office/drawing/2014/main" id="{8FF93E2A-3003-45E4-8F86-E6A91B96EFAB}"/>
              </a:ext>
            </a:extLst>
          </p:cNvPr>
          <p:cNvSpPr>
            <a:spLocks noGrp="1"/>
          </p:cNvSpPr>
          <p:nvPr>
            <p:ph type="body" sz="quarter" idx="14"/>
          </p:nvPr>
        </p:nvSpPr>
        <p:spPr>
          <a:xfrm>
            <a:off x="576072" y="1140148"/>
            <a:ext cx="4632721" cy="5795511"/>
          </a:xfrm>
        </p:spPr>
        <p:txBody>
          <a:bodyPr/>
          <a:lstStyle/>
          <a:p>
            <a:pPr marL="342900" lvl="0" indent="-342900">
              <a:buFont typeface="Symbol" panose="05050102010706020507" pitchFamily="18" charset="2"/>
              <a:buChar char=""/>
            </a:pPr>
            <a:endParaRPr lang="en-US" sz="1600" noProof="0" dirty="0">
              <a:latin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endParaRPr lang="en-US" sz="1600" noProof="0" dirty="0">
              <a:latin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US" sz="1600" noProof="0" dirty="0">
                <a:highlight>
                  <a:srgbClr val="00FF00"/>
                </a:highlight>
                <a:latin typeface="Calibri" panose="020F0502020204030204" pitchFamily="34" charset="0"/>
                <a:cs typeface="Times New Roman" panose="02020603050405020304" pitchFamily="18" charset="0"/>
              </a:rPr>
              <a:t>Implement the zero rate calculation (could be avoided if we get data from another source)</a:t>
            </a:r>
          </a:p>
          <a:p>
            <a:pPr lvl="0"/>
            <a:endParaRPr lang="en-US" sz="1600" noProof="0" dirty="0">
              <a:latin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US" sz="1600" noProof="0" dirty="0">
                <a:highlight>
                  <a:srgbClr val="00FF00"/>
                </a:highlight>
                <a:latin typeface="Calibri" panose="020F0502020204030204" pitchFamily="34" charset="0"/>
                <a:cs typeface="Times New Roman" panose="02020603050405020304" pitchFamily="18" charset="0"/>
              </a:rPr>
              <a:t>Replicate using </a:t>
            </a:r>
            <a:r>
              <a:rPr lang="en-US" sz="1600" noProof="0" dirty="0">
                <a:solidFill>
                  <a:schemeClr val="accent6"/>
                </a:solidFill>
                <a:highlight>
                  <a:srgbClr val="00FF00"/>
                </a:highlight>
                <a:latin typeface="Calibri" panose="020F0502020204030204" pitchFamily="34" charset="0"/>
                <a:cs typeface="Times New Roman" panose="02020603050405020304" pitchFamily="18" charset="0"/>
              </a:rPr>
              <a:t>NON database data</a:t>
            </a:r>
          </a:p>
          <a:p>
            <a:pPr marL="342900" lvl="0" indent="-342900">
              <a:buFont typeface="Symbol" panose="05050102010706020507" pitchFamily="18" charset="2"/>
              <a:buChar char=""/>
            </a:pPr>
            <a:endParaRPr lang="en-US" sz="1600" noProof="0" dirty="0">
              <a:solidFill>
                <a:schemeClr val="accent6"/>
              </a:solidFill>
              <a:latin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endParaRPr lang="en-US" sz="1600" noProof="0" dirty="0">
              <a:highlight>
                <a:srgbClr val="00FF00"/>
              </a:highlight>
              <a:latin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US" sz="1600" noProof="0" dirty="0">
                <a:highlight>
                  <a:srgbClr val="00FF00"/>
                </a:highlight>
                <a:latin typeface="Calibri" panose="020F0502020204030204" pitchFamily="34" charset="0"/>
                <a:cs typeface="Times New Roman" panose="02020603050405020304" pitchFamily="18" charset="0"/>
              </a:rPr>
              <a:t>Investigate which components </a:t>
            </a:r>
            <a:r>
              <a:rPr lang="en-US" sz="1600" noProof="0" dirty="0" err="1">
                <a:solidFill>
                  <a:schemeClr val="accent6"/>
                </a:solidFill>
                <a:highlight>
                  <a:srgbClr val="00FF00"/>
                </a:highlight>
                <a:latin typeface="Calibri" panose="020F0502020204030204" pitchFamily="34" charset="0"/>
                <a:cs typeface="Times New Roman" panose="02020603050405020304" pitchFamily="18" charset="0"/>
              </a:rPr>
              <a:t>AxR</a:t>
            </a:r>
            <a:r>
              <a:rPr lang="en-US" sz="1600" noProof="0" dirty="0">
                <a:solidFill>
                  <a:schemeClr val="accent6"/>
                </a:solidFill>
                <a:highlight>
                  <a:srgbClr val="00FF00"/>
                </a:highlight>
                <a:latin typeface="Calibri" panose="020F0502020204030204" pitchFamily="34" charset="0"/>
                <a:cs typeface="Times New Roman" panose="02020603050405020304" pitchFamily="18" charset="0"/>
              </a:rPr>
              <a:t> actually uses</a:t>
            </a:r>
          </a:p>
          <a:p>
            <a:pPr marL="342900" lvl="0" indent="-342900">
              <a:buFont typeface="Symbol" panose="05050102010706020507" pitchFamily="18" charset="2"/>
              <a:buChar char=""/>
            </a:pPr>
            <a:endParaRPr lang="en-US" sz="1600" noProof="0" dirty="0">
              <a:solidFill>
                <a:schemeClr val="accent6"/>
              </a:solidFill>
              <a:latin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endParaRPr lang="en-US" sz="1600" noProof="0" dirty="0">
              <a:latin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US" sz="1600" noProof="0" dirty="0">
                <a:highlight>
                  <a:srgbClr val="00FF00"/>
                </a:highlight>
                <a:latin typeface="Calibri" panose="020F0502020204030204" pitchFamily="34" charset="0"/>
                <a:cs typeface="Times New Roman" panose="02020603050405020304" pitchFamily="18" charset="0"/>
              </a:rPr>
              <a:t>Generate a Proof of Concept document with results</a:t>
            </a:r>
            <a:endParaRPr lang="en-US" sz="1600" noProof="0" dirty="0">
              <a:highlight>
                <a:srgbClr val="00FF00"/>
              </a:highlight>
            </a:endParaRPr>
          </a:p>
        </p:txBody>
      </p:sp>
      <p:pic>
        <p:nvPicPr>
          <p:cNvPr id="8" name="Picture 7">
            <a:extLst>
              <a:ext uri="{FF2B5EF4-FFF2-40B4-BE49-F238E27FC236}">
                <a16:creationId xmlns:a16="http://schemas.microsoft.com/office/drawing/2014/main" id="{E57F6513-5979-4877-8CDE-5D3993A15291}"/>
              </a:ext>
            </a:extLst>
          </p:cNvPr>
          <p:cNvPicPr>
            <a:picLocks noChangeAspect="1"/>
          </p:cNvPicPr>
          <p:nvPr/>
        </p:nvPicPr>
        <p:blipFill>
          <a:blip r:embed="rId2"/>
          <a:stretch>
            <a:fillRect/>
          </a:stretch>
        </p:blipFill>
        <p:spPr>
          <a:xfrm>
            <a:off x="5499886" y="410307"/>
            <a:ext cx="6464687" cy="5457814"/>
          </a:xfrm>
          <a:prstGeom prst="rect">
            <a:avLst/>
          </a:prstGeom>
        </p:spPr>
      </p:pic>
    </p:spTree>
    <p:extLst>
      <p:ext uri="{BB962C8B-B14F-4D97-AF65-F5344CB8AC3E}">
        <p14:creationId xmlns:p14="http://schemas.microsoft.com/office/powerpoint/2010/main" val="1230214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randombar(horizontal)">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6EAD825E-D496-4AAC-8C93-AA4A0B126EF3}"/>
              </a:ext>
            </a:extLst>
          </p:cNvPr>
          <p:cNvSpPr txBox="1">
            <a:spLocks/>
          </p:cNvSpPr>
          <p:nvPr/>
        </p:nvSpPr>
        <p:spPr>
          <a:xfrm>
            <a:off x="593827" y="4030462"/>
            <a:ext cx="5824728" cy="2453186"/>
          </a:xfrm>
          <a:prstGeom prst="rect">
            <a:avLst/>
          </a:prstGeom>
        </p:spPr>
        <p:txBody>
          <a:bodyPr lIns="0" tIns="0" rIns="0" bIns="0"/>
          <a:lstStyle>
            <a:lvl1pPr marL="0" indent="0" algn="l" defTabSz="914400" rtl="0" eaLnBrk="1" latinLnBrk="0" hangingPunct="1">
              <a:lnSpc>
                <a:spcPts val="2160"/>
              </a:lnSpc>
              <a:spcBef>
                <a:spcPts val="0"/>
              </a:spcBef>
              <a:spcAft>
                <a:spcPts val="0"/>
              </a:spcAft>
              <a:buFont typeface="Arial" panose="020B0604020202020204" pitchFamily="34" charset="0"/>
              <a:buNone/>
              <a:defRPr sz="1800" b="0" i="0" kern="1200">
                <a:solidFill>
                  <a:schemeClr val="accent1">
                    <a:lumMod val="50000"/>
                  </a:schemeClr>
                </a:solidFill>
                <a:latin typeface="+mj-lt"/>
                <a:ea typeface="Source Sans Pro"/>
                <a:cs typeface="Source Sans Pro"/>
              </a:defRPr>
            </a:lvl1pPr>
            <a:lvl2pPr marL="571500" indent="-173038" algn="l" defTabSz="914400" rtl="0" eaLnBrk="1" latinLnBrk="0" hangingPunct="1">
              <a:lnSpc>
                <a:spcPts val="2160"/>
              </a:lnSpc>
              <a:spcBef>
                <a:spcPts val="0"/>
              </a:spcBef>
              <a:spcAft>
                <a:spcPts val="0"/>
              </a:spcAft>
              <a:buFont typeface="Arial" charset="0"/>
              <a:buChar char="•"/>
              <a:tabLst/>
              <a:defRPr sz="1600" b="0" i="0" kern="1200" baseline="0">
                <a:solidFill>
                  <a:schemeClr val="accent1">
                    <a:lumMod val="50000"/>
                  </a:schemeClr>
                </a:solidFill>
                <a:latin typeface="+mj-lt"/>
                <a:ea typeface="Source Sans Pro"/>
                <a:cs typeface="Source Sans Pro"/>
              </a:defRPr>
            </a:lvl2pPr>
            <a:lvl3pPr marL="858838" indent="-231775" algn="l" defTabSz="914400" rtl="0" eaLnBrk="1" latinLnBrk="0" hangingPunct="1">
              <a:lnSpc>
                <a:spcPts val="2160"/>
              </a:lnSpc>
              <a:spcBef>
                <a:spcPts val="0"/>
              </a:spcBef>
              <a:spcAft>
                <a:spcPts val="0"/>
              </a:spcAft>
              <a:buFont typeface="Arial" panose="020B0604020202020204" pitchFamily="34" charset="0"/>
              <a:buChar char="•"/>
              <a:tabLst/>
              <a:defRPr sz="1400" b="0" i="0" kern="1200">
                <a:solidFill>
                  <a:schemeClr val="accent1">
                    <a:lumMod val="50000"/>
                  </a:schemeClr>
                </a:solidFill>
                <a:latin typeface="+mj-lt"/>
                <a:ea typeface="Source Sans Pro"/>
                <a:cs typeface="Source Sans Pro"/>
              </a:defRPr>
            </a:lvl3pPr>
            <a:lvl4pPr marL="1085850" indent="-171450" algn="l" defTabSz="914400" rtl="0" eaLnBrk="1" latinLnBrk="0" hangingPunct="1">
              <a:lnSpc>
                <a:spcPts val="2160"/>
              </a:lnSpc>
              <a:spcBef>
                <a:spcPts val="0"/>
              </a:spcBef>
              <a:spcAft>
                <a:spcPts val="0"/>
              </a:spcAft>
              <a:buFont typeface="Arial" panose="020B0604020202020204" pitchFamily="34" charset="0"/>
              <a:buChar char="•"/>
              <a:defRPr sz="1200" b="0" i="0" kern="1200">
                <a:solidFill>
                  <a:schemeClr val="accent1">
                    <a:lumMod val="50000"/>
                  </a:schemeClr>
                </a:solidFill>
                <a:latin typeface="+mj-lt"/>
                <a:ea typeface="Raleway" charset="0"/>
                <a:cs typeface="Raleway" charset="0"/>
              </a:defRPr>
            </a:lvl4pPr>
            <a:lvl5pPr marL="2057400" indent="-228600" algn="l" defTabSz="914400" rtl="0" eaLnBrk="1" latinLnBrk="0" hangingPunct="1">
              <a:lnSpc>
                <a:spcPts val="2160"/>
              </a:lnSpc>
              <a:spcBef>
                <a:spcPts val="0"/>
              </a:spcBef>
              <a:spcAft>
                <a:spcPts val="0"/>
              </a:spcAft>
              <a:buFont typeface="Arial" panose="020B0604020202020204" pitchFamily="34" charset="0"/>
              <a:buChar char="•"/>
              <a:defRPr sz="1400" b="1" i="0" kern="1200">
                <a:solidFill>
                  <a:schemeClr val="accent1">
                    <a:lumMod val="50000"/>
                  </a:schemeClr>
                </a:solidFill>
                <a:latin typeface="+mj-lt"/>
                <a:ea typeface="Raleway" charset="0"/>
                <a:cs typeface="Raleway"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hlinkClick r:id="rId2"/>
            </a:endParaRPr>
          </a:p>
          <a:p>
            <a:endParaRPr lang="en-US" dirty="0"/>
          </a:p>
        </p:txBody>
      </p:sp>
      <p:sp>
        <p:nvSpPr>
          <p:cNvPr id="5" name="Text Placeholder 1">
            <a:extLst>
              <a:ext uri="{FF2B5EF4-FFF2-40B4-BE49-F238E27FC236}">
                <a16:creationId xmlns:a16="http://schemas.microsoft.com/office/drawing/2014/main" id="{B446D463-9164-4B88-B522-1821664122B0}"/>
              </a:ext>
            </a:extLst>
          </p:cNvPr>
          <p:cNvSpPr txBox="1">
            <a:spLocks/>
          </p:cNvSpPr>
          <p:nvPr/>
        </p:nvSpPr>
        <p:spPr>
          <a:xfrm>
            <a:off x="576072" y="501008"/>
            <a:ext cx="8794750" cy="356527"/>
          </a:xfrm>
          <a:prstGeom prst="rect">
            <a:avLst/>
          </a:prstGeom>
        </p:spPr>
        <p:txBody>
          <a:bodyPr lIns="0" tIns="0" rIns="0" bIns="0"/>
          <a:lstStyle>
            <a:lvl1pPr marL="0" indent="0" algn="l" defTabSz="914400" rtl="0" eaLnBrk="1" latinLnBrk="0" hangingPunct="1">
              <a:lnSpc>
                <a:spcPct val="90000"/>
              </a:lnSpc>
              <a:spcBef>
                <a:spcPts val="1000"/>
              </a:spcBef>
              <a:buFont typeface="Arial" panose="020B0604020202020204" pitchFamily="34" charset="0"/>
              <a:buNone/>
              <a:defRPr sz="1800" b="1" i="0" kern="1200" cap="none" spc="50" baseline="0">
                <a:solidFill>
                  <a:srgbClr val="0070C0"/>
                </a:solidFill>
                <a:latin typeface="+mj-lt"/>
                <a:ea typeface="Source Sans Pro"/>
                <a:cs typeface="Source Sans Pro"/>
              </a:defRPr>
            </a:lvl1pPr>
            <a:lvl2pPr marL="6858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lumMod val="65000"/>
                    <a:lumOff val="35000"/>
                  </a:schemeClr>
                </a:solidFill>
                <a:latin typeface="Source Sans Pro"/>
                <a:ea typeface="Source Sans Pro"/>
                <a:cs typeface="Source Sans Pro"/>
              </a:defRPr>
            </a:lvl2pPr>
            <a:lvl3pPr marL="11430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lumMod val="65000"/>
                    <a:lumOff val="35000"/>
                  </a:schemeClr>
                </a:solidFill>
                <a:latin typeface="Source Sans Pro"/>
                <a:ea typeface="Source Sans Pro"/>
                <a:cs typeface="Source Sans Pro"/>
              </a:defRPr>
            </a:lvl3pPr>
            <a:lvl4pPr marL="1600200" indent="-228600" algn="l" defTabSz="914400" rtl="0" eaLnBrk="1" latinLnBrk="0" hangingPunct="1">
              <a:lnSpc>
                <a:spcPct val="90000"/>
              </a:lnSpc>
              <a:spcBef>
                <a:spcPts val="500"/>
              </a:spcBef>
              <a:buFont typeface="Arial" panose="020B0604020202020204" pitchFamily="34" charset="0"/>
              <a:buChar char="•"/>
              <a:defRPr sz="1400" b="1" i="0" kern="1200">
                <a:solidFill>
                  <a:schemeClr val="tx1"/>
                </a:solidFill>
                <a:latin typeface="Raleway" charset="0"/>
                <a:ea typeface="Raleway" charset="0"/>
                <a:cs typeface="Raleway"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b="1" i="0" kern="1200">
                <a:solidFill>
                  <a:schemeClr val="tx1"/>
                </a:solidFill>
                <a:latin typeface="Raleway" charset="0"/>
                <a:ea typeface="Raleway" charset="0"/>
                <a:cs typeface="Raleway"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AR" dirty="0" err="1"/>
              <a:t>What</a:t>
            </a:r>
            <a:r>
              <a:rPr lang="es-AR" dirty="0"/>
              <a:t> do </a:t>
            </a:r>
            <a:r>
              <a:rPr lang="es-AR" dirty="0" err="1"/>
              <a:t>we</a:t>
            </a:r>
            <a:r>
              <a:rPr lang="es-AR" dirty="0"/>
              <a:t> use NOW: </a:t>
            </a:r>
            <a:r>
              <a:rPr lang="es-AR" dirty="0" err="1"/>
              <a:t>Vendor</a:t>
            </a:r>
            <a:r>
              <a:rPr lang="es-AR" dirty="0"/>
              <a:t> Data</a:t>
            </a:r>
            <a:endParaRPr lang="en-US" dirty="0"/>
          </a:p>
        </p:txBody>
      </p:sp>
      <p:sp>
        <p:nvSpPr>
          <p:cNvPr id="6" name="Text Placeholder 2">
            <a:extLst>
              <a:ext uri="{FF2B5EF4-FFF2-40B4-BE49-F238E27FC236}">
                <a16:creationId xmlns:a16="http://schemas.microsoft.com/office/drawing/2014/main" id="{0A14AB62-EBAF-4A2A-81F3-BBE8E33E351A}"/>
              </a:ext>
            </a:extLst>
          </p:cNvPr>
          <p:cNvSpPr txBox="1">
            <a:spLocks/>
          </p:cNvSpPr>
          <p:nvPr/>
        </p:nvSpPr>
        <p:spPr>
          <a:xfrm>
            <a:off x="593827" y="693427"/>
            <a:ext cx="5238803" cy="2500197"/>
          </a:xfrm>
          <a:prstGeom prst="rect">
            <a:avLst/>
          </a:prstGeom>
        </p:spPr>
        <p:txBody>
          <a:bodyPr lIns="0" tIns="0" rIns="0" bIns="0"/>
          <a:lstStyle>
            <a:lvl1pPr marL="0" indent="0" algn="l" defTabSz="914400" rtl="0" eaLnBrk="1" latinLnBrk="0" hangingPunct="1">
              <a:lnSpc>
                <a:spcPts val="2160"/>
              </a:lnSpc>
              <a:spcBef>
                <a:spcPts val="0"/>
              </a:spcBef>
              <a:spcAft>
                <a:spcPts val="0"/>
              </a:spcAft>
              <a:buFont typeface="Arial" panose="020B0604020202020204" pitchFamily="34" charset="0"/>
              <a:buNone/>
              <a:defRPr sz="1800" b="0" i="0" kern="1200">
                <a:solidFill>
                  <a:schemeClr val="accent1">
                    <a:lumMod val="50000"/>
                  </a:schemeClr>
                </a:solidFill>
                <a:latin typeface="+mj-lt"/>
                <a:ea typeface="Source Sans Pro"/>
                <a:cs typeface="Source Sans Pro"/>
              </a:defRPr>
            </a:lvl1pPr>
            <a:lvl2pPr marL="571500" indent="-173038" algn="l" defTabSz="914400" rtl="0" eaLnBrk="1" latinLnBrk="0" hangingPunct="1">
              <a:lnSpc>
                <a:spcPts val="2160"/>
              </a:lnSpc>
              <a:spcBef>
                <a:spcPts val="0"/>
              </a:spcBef>
              <a:spcAft>
                <a:spcPts val="0"/>
              </a:spcAft>
              <a:buFont typeface="Arial" charset="0"/>
              <a:buChar char="•"/>
              <a:tabLst/>
              <a:defRPr sz="1600" b="0" i="0" kern="1200" baseline="0">
                <a:solidFill>
                  <a:schemeClr val="accent1">
                    <a:lumMod val="50000"/>
                  </a:schemeClr>
                </a:solidFill>
                <a:latin typeface="+mj-lt"/>
                <a:ea typeface="Source Sans Pro"/>
                <a:cs typeface="Source Sans Pro"/>
              </a:defRPr>
            </a:lvl2pPr>
            <a:lvl3pPr marL="858838" indent="-231775" algn="l" defTabSz="914400" rtl="0" eaLnBrk="1" latinLnBrk="0" hangingPunct="1">
              <a:lnSpc>
                <a:spcPts val="2160"/>
              </a:lnSpc>
              <a:spcBef>
                <a:spcPts val="0"/>
              </a:spcBef>
              <a:spcAft>
                <a:spcPts val="0"/>
              </a:spcAft>
              <a:buFont typeface="Arial" panose="020B0604020202020204" pitchFamily="34" charset="0"/>
              <a:buChar char="•"/>
              <a:tabLst/>
              <a:defRPr sz="1400" b="0" i="0" kern="1200">
                <a:solidFill>
                  <a:schemeClr val="accent1">
                    <a:lumMod val="50000"/>
                  </a:schemeClr>
                </a:solidFill>
                <a:latin typeface="+mj-lt"/>
                <a:ea typeface="Source Sans Pro"/>
                <a:cs typeface="Source Sans Pro"/>
              </a:defRPr>
            </a:lvl3pPr>
            <a:lvl4pPr marL="1085850" indent="-171450" algn="l" defTabSz="914400" rtl="0" eaLnBrk="1" latinLnBrk="0" hangingPunct="1">
              <a:lnSpc>
                <a:spcPts val="2160"/>
              </a:lnSpc>
              <a:spcBef>
                <a:spcPts val="0"/>
              </a:spcBef>
              <a:spcAft>
                <a:spcPts val="0"/>
              </a:spcAft>
              <a:buFont typeface="Arial" panose="020B0604020202020204" pitchFamily="34" charset="0"/>
              <a:buChar char="•"/>
              <a:defRPr sz="1200" b="0" i="0" kern="1200">
                <a:solidFill>
                  <a:schemeClr val="accent1">
                    <a:lumMod val="50000"/>
                  </a:schemeClr>
                </a:solidFill>
                <a:latin typeface="+mj-lt"/>
                <a:ea typeface="Raleway" charset="0"/>
                <a:cs typeface="Raleway" charset="0"/>
              </a:defRPr>
            </a:lvl4pPr>
            <a:lvl5pPr marL="2057400" indent="-228600" algn="l" defTabSz="914400" rtl="0" eaLnBrk="1" latinLnBrk="0" hangingPunct="1">
              <a:lnSpc>
                <a:spcPts val="2160"/>
              </a:lnSpc>
              <a:spcBef>
                <a:spcPts val="0"/>
              </a:spcBef>
              <a:spcAft>
                <a:spcPts val="0"/>
              </a:spcAft>
              <a:buFont typeface="Arial" panose="020B0604020202020204" pitchFamily="34" charset="0"/>
              <a:buChar char="•"/>
              <a:defRPr sz="1400" b="1" i="0" kern="1200">
                <a:solidFill>
                  <a:schemeClr val="accent1">
                    <a:lumMod val="50000"/>
                  </a:schemeClr>
                </a:solidFill>
                <a:latin typeface="+mj-lt"/>
                <a:ea typeface="Raleway" charset="0"/>
                <a:cs typeface="Raleway"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hlinkClick r:id="rId2"/>
            </a:endParaRPr>
          </a:p>
          <a:p>
            <a:r>
              <a:rPr lang="en-US" dirty="0"/>
              <a:t>1. Historical option prices: For EACH valuation date, for each available option (strike-maturity) and type P/C:</a:t>
            </a:r>
          </a:p>
          <a:p>
            <a:pPr marL="285750" indent="-285750">
              <a:buFont typeface="Arial" panose="020B0604020202020204" pitchFamily="34" charset="0"/>
              <a:buChar char="•"/>
            </a:pPr>
            <a:r>
              <a:rPr lang="en-US" dirty="0"/>
              <a:t>LAST Bid-Ask prices</a:t>
            </a:r>
          </a:p>
          <a:p>
            <a:pPr marL="285750" indent="-285750">
              <a:buFont typeface="Arial" panose="020B0604020202020204" pitchFamily="34" charset="0"/>
              <a:buChar char="•"/>
            </a:pPr>
            <a:r>
              <a:rPr lang="en-US" dirty="0"/>
              <a:t>Volume, </a:t>
            </a:r>
            <a:r>
              <a:rPr lang="en-US" dirty="0" err="1"/>
              <a:t>OpenInterest</a:t>
            </a:r>
            <a:r>
              <a:rPr lang="en-US" dirty="0"/>
              <a:t>, additional mkt data</a:t>
            </a:r>
          </a:p>
          <a:p>
            <a:pPr marL="285750" indent="-285750">
              <a:buFont typeface="Arial" panose="020B0604020202020204" pitchFamily="34" charset="0"/>
              <a:buChar char="•"/>
            </a:pPr>
            <a:r>
              <a:rPr lang="en-US" dirty="0">
                <a:solidFill>
                  <a:schemeClr val="accent6"/>
                </a:solidFill>
              </a:rPr>
              <a:t>Implied Vol</a:t>
            </a:r>
          </a:p>
          <a:p>
            <a:pPr marL="285750" indent="-285750">
              <a:buFont typeface="Arial" panose="020B0604020202020204" pitchFamily="34" charset="0"/>
              <a:buChar char="•"/>
            </a:pPr>
            <a:r>
              <a:rPr lang="en-US" dirty="0">
                <a:solidFill>
                  <a:schemeClr val="accent6"/>
                </a:solidFill>
              </a:rPr>
              <a:t>Delta, Gamma, Vega, Theta</a:t>
            </a:r>
            <a:r>
              <a:rPr lang="en-US" dirty="0"/>
              <a:t>			</a:t>
            </a:r>
          </a:p>
          <a:p>
            <a:pPr marL="285750" indent="-285750"/>
            <a:endParaRPr lang="en-US" dirty="0"/>
          </a:p>
          <a:p>
            <a:pPr marL="285750" indent="-285750"/>
            <a:endParaRPr lang="en-US" dirty="0"/>
          </a:p>
        </p:txBody>
      </p:sp>
      <p:sp>
        <p:nvSpPr>
          <p:cNvPr id="7" name="Text Placeholder 2">
            <a:extLst>
              <a:ext uri="{FF2B5EF4-FFF2-40B4-BE49-F238E27FC236}">
                <a16:creationId xmlns:a16="http://schemas.microsoft.com/office/drawing/2014/main" id="{17401571-DE6B-4476-A7FC-07853E00F41D}"/>
              </a:ext>
            </a:extLst>
          </p:cNvPr>
          <p:cNvSpPr txBox="1">
            <a:spLocks/>
          </p:cNvSpPr>
          <p:nvPr/>
        </p:nvSpPr>
        <p:spPr>
          <a:xfrm>
            <a:off x="429960" y="2939142"/>
            <a:ext cx="5597381" cy="1936803"/>
          </a:xfrm>
          <a:prstGeom prst="rect">
            <a:avLst/>
          </a:prstGeom>
        </p:spPr>
        <p:txBody>
          <a:bodyPr lIns="0" tIns="0" rIns="0" bIns="0"/>
          <a:lstStyle>
            <a:lvl1pPr marL="0" indent="0" algn="l" defTabSz="914400" rtl="0" eaLnBrk="1" latinLnBrk="0" hangingPunct="1">
              <a:lnSpc>
                <a:spcPts val="2160"/>
              </a:lnSpc>
              <a:spcBef>
                <a:spcPts val="0"/>
              </a:spcBef>
              <a:spcAft>
                <a:spcPts val="0"/>
              </a:spcAft>
              <a:buFont typeface="Arial" panose="020B0604020202020204" pitchFamily="34" charset="0"/>
              <a:buNone/>
              <a:defRPr sz="1800" b="0" i="0" kern="1200">
                <a:solidFill>
                  <a:schemeClr val="accent1">
                    <a:lumMod val="50000"/>
                  </a:schemeClr>
                </a:solidFill>
                <a:latin typeface="+mj-lt"/>
                <a:ea typeface="Source Sans Pro"/>
                <a:cs typeface="Source Sans Pro"/>
              </a:defRPr>
            </a:lvl1pPr>
            <a:lvl2pPr marL="571500" indent="-173038" algn="l" defTabSz="914400" rtl="0" eaLnBrk="1" latinLnBrk="0" hangingPunct="1">
              <a:lnSpc>
                <a:spcPts val="2160"/>
              </a:lnSpc>
              <a:spcBef>
                <a:spcPts val="0"/>
              </a:spcBef>
              <a:spcAft>
                <a:spcPts val="0"/>
              </a:spcAft>
              <a:buFont typeface="Arial" charset="0"/>
              <a:buChar char="•"/>
              <a:tabLst/>
              <a:defRPr sz="1600" b="0" i="0" kern="1200" baseline="0">
                <a:solidFill>
                  <a:schemeClr val="accent1">
                    <a:lumMod val="50000"/>
                  </a:schemeClr>
                </a:solidFill>
                <a:latin typeface="+mj-lt"/>
                <a:ea typeface="Source Sans Pro"/>
                <a:cs typeface="Source Sans Pro"/>
              </a:defRPr>
            </a:lvl2pPr>
            <a:lvl3pPr marL="858838" indent="-231775" algn="l" defTabSz="914400" rtl="0" eaLnBrk="1" latinLnBrk="0" hangingPunct="1">
              <a:lnSpc>
                <a:spcPts val="2160"/>
              </a:lnSpc>
              <a:spcBef>
                <a:spcPts val="0"/>
              </a:spcBef>
              <a:spcAft>
                <a:spcPts val="0"/>
              </a:spcAft>
              <a:buFont typeface="Arial" panose="020B0604020202020204" pitchFamily="34" charset="0"/>
              <a:buChar char="•"/>
              <a:tabLst/>
              <a:defRPr sz="1400" b="0" i="0" kern="1200">
                <a:solidFill>
                  <a:schemeClr val="accent1">
                    <a:lumMod val="50000"/>
                  </a:schemeClr>
                </a:solidFill>
                <a:latin typeface="+mj-lt"/>
                <a:ea typeface="Source Sans Pro"/>
                <a:cs typeface="Source Sans Pro"/>
              </a:defRPr>
            </a:lvl3pPr>
            <a:lvl4pPr marL="1085850" indent="-171450" algn="l" defTabSz="914400" rtl="0" eaLnBrk="1" latinLnBrk="0" hangingPunct="1">
              <a:lnSpc>
                <a:spcPts val="2160"/>
              </a:lnSpc>
              <a:spcBef>
                <a:spcPts val="0"/>
              </a:spcBef>
              <a:spcAft>
                <a:spcPts val="0"/>
              </a:spcAft>
              <a:buFont typeface="Arial" panose="020B0604020202020204" pitchFamily="34" charset="0"/>
              <a:buChar char="•"/>
              <a:defRPr sz="1200" b="0" i="0" kern="1200">
                <a:solidFill>
                  <a:schemeClr val="accent1">
                    <a:lumMod val="50000"/>
                  </a:schemeClr>
                </a:solidFill>
                <a:latin typeface="+mj-lt"/>
                <a:ea typeface="Raleway" charset="0"/>
                <a:cs typeface="Raleway" charset="0"/>
              </a:defRPr>
            </a:lvl4pPr>
            <a:lvl5pPr marL="2057400" indent="-228600" algn="l" defTabSz="914400" rtl="0" eaLnBrk="1" latinLnBrk="0" hangingPunct="1">
              <a:lnSpc>
                <a:spcPts val="2160"/>
              </a:lnSpc>
              <a:spcBef>
                <a:spcPts val="0"/>
              </a:spcBef>
              <a:spcAft>
                <a:spcPts val="0"/>
              </a:spcAft>
              <a:buFont typeface="Arial" panose="020B0604020202020204" pitchFamily="34" charset="0"/>
              <a:buChar char="•"/>
              <a:defRPr sz="1400" b="1" i="0" kern="1200">
                <a:solidFill>
                  <a:schemeClr val="accent1">
                    <a:lumMod val="50000"/>
                  </a:schemeClr>
                </a:solidFill>
                <a:latin typeface="+mj-lt"/>
                <a:ea typeface="Raleway" charset="0"/>
                <a:cs typeface="Raleway"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hlinkClick r:id="rId2"/>
            </a:endParaRPr>
          </a:p>
          <a:p>
            <a:r>
              <a:rPr lang="en-US" dirty="0"/>
              <a:t>2.  Historical volatility surface info: For EACH valuation date:</a:t>
            </a:r>
          </a:p>
          <a:p>
            <a:pPr marL="285750" indent="-285750">
              <a:buFont typeface="Arial" panose="020B0604020202020204" pitchFamily="34" charset="0"/>
              <a:buChar char="•"/>
            </a:pPr>
            <a:r>
              <a:rPr lang="en-US" dirty="0">
                <a:solidFill>
                  <a:schemeClr val="accent6"/>
                </a:solidFill>
              </a:rPr>
              <a:t>A Delta/Maturity implied volatility surface with standard/fixed Deltas and standard Maturities</a:t>
            </a:r>
            <a:r>
              <a:rPr lang="en-US" dirty="0"/>
              <a:t>:</a:t>
            </a:r>
          </a:p>
          <a:p>
            <a:pPr marL="285750" indent="-285750">
              <a:buFont typeface="Arial" panose="020B0604020202020204" pitchFamily="34" charset="0"/>
              <a:buChar char="•"/>
            </a:pPr>
            <a:r>
              <a:rPr lang="en-US" dirty="0"/>
              <a:t>Deltas: 0.2, 0.25, …0.75, 0.8 (+negatives for Puts)</a:t>
            </a:r>
          </a:p>
          <a:p>
            <a:pPr marL="285750" indent="-285750">
              <a:buFont typeface="Arial" panose="020B0604020202020204" pitchFamily="34" charset="0"/>
              <a:buChar char="•"/>
            </a:pPr>
            <a:r>
              <a:rPr lang="en-US" dirty="0"/>
              <a:t>Maturities: 30, 91, 122, 152, 182, 273, 365, 547, 730</a:t>
            </a:r>
          </a:p>
          <a:p>
            <a:pPr marL="285750" indent="-285750"/>
            <a:endParaRPr lang="en-US" dirty="0"/>
          </a:p>
        </p:txBody>
      </p:sp>
      <p:pic>
        <p:nvPicPr>
          <p:cNvPr id="11" name="Picture 10">
            <a:extLst>
              <a:ext uri="{FF2B5EF4-FFF2-40B4-BE49-F238E27FC236}">
                <a16:creationId xmlns:a16="http://schemas.microsoft.com/office/drawing/2014/main" id="{8477072C-9C43-4B51-8AC4-F5683BB2AFBE}"/>
              </a:ext>
            </a:extLst>
          </p:cNvPr>
          <p:cNvPicPr>
            <a:picLocks noChangeAspect="1"/>
          </p:cNvPicPr>
          <p:nvPr/>
        </p:nvPicPr>
        <p:blipFill>
          <a:blip r:embed="rId3"/>
          <a:stretch>
            <a:fillRect/>
          </a:stretch>
        </p:blipFill>
        <p:spPr>
          <a:xfrm>
            <a:off x="5850385" y="603896"/>
            <a:ext cx="5847162" cy="2069571"/>
          </a:xfrm>
          <a:prstGeom prst="rect">
            <a:avLst/>
          </a:prstGeom>
        </p:spPr>
      </p:pic>
      <p:pic>
        <p:nvPicPr>
          <p:cNvPr id="13" name="Picture 12">
            <a:extLst>
              <a:ext uri="{FF2B5EF4-FFF2-40B4-BE49-F238E27FC236}">
                <a16:creationId xmlns:a16="http://schemas.microsoft.com/office/drawing/2014/main" id="{A339B8E1-CF4B-43E3-BE8E-03F006A6056C}"/>
              </a:ext>
            </a:extLst>
          </p:cNvPr>
          <p:cNvPicPr>
            <a:picLocks noChangeAspect="1"/>
          </p:cNvPicPr>
          <p:nvPr/>
        </p:nvPicPr>
        <p:blipFill>
          <a:blip r:embed="rId4"/>
          <a:stretch>
            <a:fillRect/>
          </a:stretch>
        </p:blipFill>
        <p:spPr>
          <a:xfrm>
            <a:off x="6390448" y="2776369"/>
            <a:ext cx="3147089" cy="2940847"/>
          </a:xfrm>
          <a:prstGeom prst="rect">
            <a:avLst/>
          </a:prstGeom>
        </p:spPr>
      </p:pic>
      <p:pic>
        <p:nvPicPr>
          <p:cNvPr id="15" name="Picture 14">
            <a:extLst>
              <a:ext uri="{FF2B5EF4-FFF2-40B4-BE49-F238E27FC236}">
                <a16:creationId xmlns:a16="http://schemas.microsoft.com/office/drawing/2014/main" id="{9BD24F55-AD1F-4F0D-8859-9D672728186A}"/>
              </a:ext>
            </a:extLst>
          </p:cNvPr>
          <p:cNvPicPr>
            <a:picLocks noChangeAspect="1"/>
          </p:cNvPicPr>
          <p:nvPr/>
        </p:nvPicPr>
        <p:blipFill>
          <a:blip r:embed="rId5"/>
          <a:stretch>
            <a:fillRect/>
          </a:stretch>
        </p:blipFill>
        <p:spPr>
          <a:xfrm>
            <a:off x="9871175" y="4692155"/>
            <a:ext cx="2116654" cy="1490928"/>
          </a:xfrm>
          <a:prstGeom prst="rect">
            <a:avLst/>
          </a:prstGeom>
        </p:spPr>
      </p:pic>
      <p:cxnSp>
        <p:nvCxnSpPr>
          <p:cNvPr id="17" name="Straight Arrow Connector 16">
            <a:extLst>
              <a:ext uri="{FF2B5EF4-FFF2-40B4-BE49-F238E27FC236}">
                <a16:creationId xmlns:a16="http://schemas.microsoft.com/office/drawing/2014/main" id="{006AE3E7-6A2B-4D40-86FD-134A08673093}"/>
              </a:ext>
            </a:extLst>
          </p:cNvPr>
          <p:cNvCxnSpPr>
            <a:cxnSpLocks/>
          </p:cNvCxnSpPr>
          <p:nvPr/>
        </p:nvCxnSpPr>
        <p:spPr>
          <a:xfrm flipV="1">
            <a:off x="4696287" y="1943525"/>
            <a:ext cx="1154098" cy="151605"/>
          </a:xfrm>
          <a:prstGeom prst="straightConnector1">
            <a:avLst/>
          </a:prstGeom>
          <a:ln w="76200">
            <a:tailEnd type="triangle"/>
          </a:ln>
        </p:spPr>
        <p:style>
          <a:lnRef idx="3">
            <a:schemeClr val="accent6"/>
          </a:lnRef>
          <a:fillRef idx="0">
            <a:schemeClr val="accent6"/>
          </a:fillRef>
          <a:effectRef idx="2">
            <a:schemeClr val="accent6"/>
          </a:effectRef>
          <a:fontRef idx="minor">
            <a:schemeClr val="tx1"/>
          </a:fontRef>
        </p:style>
      </p:cxnSp>
      <p:cxnSp>
        <p:nvCxnSpPr>
          <p:cNvPr id="20" name="Straight Arrow Connector 19">
            <a:extLst>
              <a:ext uri="{FF2B5EF4-FFF2-40B4-BE49-F238E27FC236}">
                <a16:creationId xmlns:a16="http://schemas.microsoft.com/office/drawing/2014/main" id="{7DF5310D-A8F6-4518-8750-994EB18D00F2}"/>
              </a:ext>
            </a:extLst>
          </p:cNvPr>
          <p:cNvCxnSpPr>
            <a:cxnSpLocks/>
          </p:cNvCxnSpPr>
          <p:nvPr/>
        </p:nvCxnSpPr>
        <p:spPr>
          <a:xfrm flipV="1">
            <a:off x="5624976" y="4090141"/>
            <a:ext cx="660414" cy="327482"/>
          </a:xfrm>
          <a:prstGeom prst="straightConnector1">
            <a:avLst/>
          </a:prstGeom>
          <a:ln w="76200">
            <a:tailEnd type="triangle"/>
          </a:ln>
        </p:spPr>
        <p:style>
          <a:lnRef idx="3">
            <a:schemeClr val="accent6"/>
          </a:lnRef>
          <a:fillRef idx="0">
            <a:schemeClr val="accent6"/>
          </a:fillRef>
          <a:effectRef idx="2">
            <a:schemeClr val="accent6"/>
          </a:effectRef>
          <a:fontRef idx="minor">
            <a:schemeClr val="tx1"/>
          </a:fontRef>
        </p:style>
      </p:cxnSp>
      <p:cxnSp>
        <p:nvCxnSpPr>
          <p:cNvPr id="22" name="Straight Arrow Connector 21">
            <a:extLst>
              <a:ext uri="{FF2B5EF4-FFF2-40B4-BE49-F238E27FC236}">
                <a16:creationId xmlns:a16="http://schemas.microsoft.com/office/drawing/2014/main" id="{3E34C624-1105-4525-9E5A-55B566A4F979}"/>
              </a:ext>
            </a:extLst>
          </p:cNvPr>
          <p:cNvCxnSpPr>
            <a:cxnSpLocks/>
          </p:cNvCxnSpPr>
          <p:nvPr/>
        </p:nvCxnSpPr>
        <p:spPr>
          <a:xfrm flipV="1">
            <a:off x="6002785" y="5906073"/>
            <a:ext cx="3868390" cy="118557"/>
          </a:xfrm>
          <a:prstGeom prst="straightConnector1">
            <a:avLst/>
          </a:prstGeom>
          <a:ln w="76200">
            <a:tailEnd type="triangle"/>
          </a:ln>
        </p:spPr>
        <p:style>
          <a:lnRef idx="3">
            <a:schemeClr val="accent6"/>
          </a:lnRef>
          <a:fillRef idx="0">
            <a:schemeClr val="accent6"/>
          </a:fillRef>
          <a:effectRef idx="2">
            <a:schemeClr val="accent6"/>
          </a:effectRef>
          <a:fontRef idx="minor">
            <a:schemeClr val="tx1"/>
          </a:fontRef>
        </p:style>
      </p:cxnSp>
      <p:sp>
        <p:nvSpPr>
          <p:cNvPr id="25" name="Oval 24">
            <a:extLst>
              <a:ext uri="{FF2B5EF4-FFF2-40B4-BE49-F238E27FC236}">
                <a16:creationId xmlns:a16="http://schemas.microsoft.com/office/drawing/2014/main" id="{63F433E3-0029-49E7-ADB4-DEF507D5EBAF}"/>
              </a:ext>
            </a:extLst>
          </p:cNvPr>
          <p:cNvSpPr/>
          <p:nvPr/>
        </p:nvSpPr>
        <p:spPr>
          <a:xfrm>
            <a:off x="10738331" y="492330"/>
            <a:ext cx="1388565" cy="2284039"/>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530C4535-FA04-4233-9649-F2BF9D8A2C50}"/>
              </a:ext>
            </a:extLst>
          </p:cNvPr>
          <p:cNvSpPr/>
          <p:nvPr/>
        </p:nvSpPr>
        <p:spPr>
          <a:xfrm>
            <a:off x="8423441" y="2624311"/>
            <a:ext cx="1388565" cy="3281762"/>
          </a:xfrm>
          <a:prstGeom prst="ellipse">
            <a:avLst/>
          </a:prstGeom>
          <a:noFill/>
          <a:ln>
            <a:solidFill>
              <a:srgbClr val="00B050"/>
            </a:solidFill>
          </a:ln>
          <a:effectLst>
            <a:glow rad="228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sp>
        <p:nvSpPr>
          <p:cNvPr id="27" name="Oval 26">
            <a:extLst>
              <a:ext uri="{FF2B5EF4-FFF2-40B4-BE49-F238E27FC236}">
                <a16:creationId xmlns:a16="http://schemas.microsoft.com/office/drawing/2014/main" id="{F72D480B-436F-4E7B-A02C-6C255EFBABE1}"/>
              </a:ext>
            </a:extLst>
          </p:cNvPr>
          <p:cNvSpPr/>
          <p:nvPr/>
        </p:nvSpPr>
        <p:spPr>
          <a:xfrm>
            <a:off x="11208575" y="4661887"/>
            <a:ext cx="857628" cy="1668271"/>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a:extLst>
              <a:ext uri="{FF2B5EF4-FFF2-40B4-BE49-F238E27FC236}">
                <a16:creationId xmlns:a16="http://schemas.microsoft.com/office/drawing/2014/main" id="{FB76BC44-DC23-46CF-875B-4F7C982AE0B6}"/>
              </a:ext>
            </a:extLst>
          </p:cNvPr>
          <p:cNvPicPr>
            <a:picLocks noChangeAspect="1"/>
          </p:cNvPicPr>
          <p:nvPr/>
        </p:nvPicPr>
        <p:blipFill>
          <a:blip r:embed="rId6"/>
          <a:stretch>
            <a:fillRect/>
          </a:stretch>
        </p:blipFill>
        <p:spPr>
          <a:xfrm>
            <a:off x="10175113" y="3043150"/>
            <a:ext cx="1873335" cy="1246619"/>
          </a:xfrm>
          <a:prstGeom prst="rect">
            <a:avLst/>
          </a:prstGeom>
        </p:spPr>
      </p:pic>
      <p:sp>
        <p:nvSpPr>
          <p:cNvPr id="2" name="Rectangle 1">
            <a:extLst>
              <a:ext uri="{FF2B5EF4-FFF2-40B4-BE49-F238E27FC236}">
                <a16:creationId xmlns:a16="http://schemas.microsoft.com/office/drawing/2014/main" id="{CFABD5B4-9AB2-460B-B806-ED328080432C}"/>
              </a:ext>
            </a:extLst>
          </p:cNvPr>
          <p:cNvSpPr/>
          <p:nvPr/>
        </p:nvSpPr>
        <p:spPr>
          <a:xfrm>
            <a:off x="515453" y="5108862"/>
            <a:ext cx="5596404" cy="369332"/>
          </a:xfrm>
          <a:prstGeom prst="rect">
            <a:avLst/>
          </a:prstGeom>
        </p:spPr>
        <p:txBody>
          <a:bodyPr wrap="none">
            <a:spAutoFit/>
          </a:bodyPr>
          <a:lstStyle/>
          <a:p>
            <a:r>
              <a:rPr lang="en-US" dirty="0"/>
              <a:t>3. </a:t>
            </a:r>
            <a:r>
              <a:rPr lang="en-US" dirty="0">
                <a:solidFill>
                  <a:schemeClr val="accent6"/>
                </a:solidFill>
              </a:rPr>
              <a:t>Interest rate curve (ZC curve) – ticker independent</a:t>
            </a:r>
          </a:p>
        </p:txBody>
      </p:sp>
      <p:sp>
        <p:nvSpPr>
          <p:cNvPr id="18" name="Rectangle 17">
            <a:extLst>
              <a:ext uri="{FF2B5EF4-FFF2-40B4-BE49-F238E27FC236}">
                <a16:creationId xmlns:a16="http://schemas.microsoft.com/office/drawing/2014/main" id="{A44B9BEA-BB73-4152-9B31-DC4672A0899F}"/>
              </a:ext>
            </a:extLst>
          </p:cNvPr>
          <p:cNvSpPr/>
          <p:nvPr/>
        </p:nvSpPr>
        <p:spPr>
          <a:xfrm>
            <a:off x="499596" y="5671716"/>
            <a:ext cx="1967270" cy="369332"/>
          </a:xfrm>
          <a:prstGeom prst="rect">
            <a:avLst/>
          </a:prstGeom>
        </p:spPr>
        <p:txBody>
          <a:bodyPr wrap="none">
            <a:spAutoFit/>
          </a:bodyPr>
          <a:lstStyle/>
          <a:p>
            <a:r>
              <a:rPr lang="en-US" dirty="0"/>
              <a:t>4. Dividend Yield!</a:t>
            </a:r>
            <a:endParaRPr lang="en-US" dirty="0">
              <a:solidFill>
                <a:schemeClr val="accent6"/>
              </a:solidFill>
            </a:endParaRPr>
          </a:p>
        </p:txBody>
      </p:sp>
    </p:spTree>
    <p:extLst>
      <p:ext uri="{BB962C8B-B14F-4D97-AF65-F5344CB8AC3E}">
        <p14:creationId xmlns:p14="http://schemas.microsoft.com/office/powerpoint/2010/main" val="2865844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0"/>
                                        </p:tgtEl>
                                        <p:attrNameLst>
                                          <p:attrName>style.visibility</p:attrName>
                                        </p:attrNameLst>
                                      </p:cBhvr>
                                      <p:to>
                                        <p:strVal val="visible"/>
                                      </p:to>
                                    </p:set>
                                    <p:anim calcmode="lin" valueType="num">
                                      <p:cBhvr additive="base">
                                        <p:cTn id="29" dur="500" fill="hold"/>
                                        <p:tgtEl>
                                          <p:spTgt spid="20"/>
                                        </p:tgtEl>
                                        <p:attrNameLst>
                                          <p:attrName>ppt_x</p:attrName>
                                        </p:attrNameLst>
                                      </p:cBhvr>
                                      <p:tavLst>
                                        <p:tav tm="0">
                                          <p:val>
                                            <p:strVal val="#ppt_x"/>
                                          </p:val>
                                        </p:tav>
                                        <p:tav tm="100000">
                                          <p:val>
                                            <p:strVal val="#ppt_x"/>
                                          </p:val>
                                        </p:tav>
                                      </p:tavLst>
                                    </p:anim>
                                    <p:anim calcmode="lin" valueType="num">
                                      <p:cBhvr additive="base">
                                        <p:cTn id="3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22"/>
                                        </p:tgtEl>
                                        <p:attrNameLst>
                                          <p:attrName>style.visibility</p:attrName>
                                        </p:attrNameLst>
                                      </p:cBhvr>
                                      <p:to>
                                        <p:strVal val="visible"/>
                                      </p:to>
                                    </p:set>
                                    <p:anim calcmode="lin" valueType="num">
                                      <p:cBhvr additive="base">
                                        <p:cTn id="39" dur="500" fill="hold"/>
                                        <p:tgtEl>
                                          <p:spTgt spid="22"/>
                                        </p:tgtEl>
                                        <p:attrNameLst>
                                          <p:attrName>ppt_x</p:attrName>
                                        </p:attrNameLst>
                                      </p:cBhvr>
                                      <p:tavLst>
                                        <p:tav tm="0">
                                          <p:val>
                                            <p:strVal val="#ppt_x"/>
                                          </p:val>
                                        </p:tav>
                                        <p:tav tm="100000">
                                          <p:val>
                                            <p:strVal val="#ppt_x"/>
                                          </p:val>
                                        </p:tav>
                                      </p:tavLst>
                                    </p:anim>
                                    <p:anim calcmode="lin" valueType="num">
                                      <p:cBhvr additive="base">
                                        <p:cTn id="40" dur="500" fill="hold"/>
                                        <p:tgtEl>
                                          <p:spTgt spid="22"/>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ppt_x</p:attrName>
                                        </p:attrNameLst>
                                      </p:cBhvr>
                                      <p:tavLst>
                                        <p:tav tm="0">
                                          <p:val>
                                            <p:strVal val="#ppt_x"/>
                                          </p:val>
                                        </p:tav>
                                        <p:tav tm="100000">
                                          <p:val>
                                            <p:strVal val="#ppt_x"/>
                                          </p:val>
                                        </p:tav>
                                      </p:tavLst>
                                    </p:anim>
                                    <p:anim calcmode="lin" valueType="num">
                                      <p:cBhvr additive="base">
                                        <p:cTn id="4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500"/>
                                        <p:tgtEl>
                                          <p:spTgt spid="29"/>
                                        </p:tgtEl>
                                      </p:cBhvr>
                                    </p:animEffect>
                                  </p:childTnLst>
                                </p:cTn>
                              </p:par>
                            </p:childTnLst>
                          </p:cTn>
                        </p:par>
                      </p:childTnLst>
                    </p:cTn>
                  </p:par>
                  <p:par>
                    <p:cTn id="50" fill="hold">
                      <p:stCondLst>
                        <p:cond delay="indefinite"/>
                      </p:stCondLst>
                      <p:childTnLst>
                        <p:par>
                          <p:cTn id="51" fill="hold">
                            <p:stCondLst>
                              <p:cond delay="0"/>
                            </p:stCondLst>
                            <p:childTnLst>
                              <p:par>
                                <p:cTn id="52" presetID="53" presetClass="entr" presetSubtype="16" fill="hold" grpId="0" nodeType="clickEffect">
                                  <p:stCondLst>
                                    <p:cond delay="0"/>
                                  </p:stCondLst>
                                  <p:childTnLst>
                                    <p:set>
                                      <p:cBhvr>
                                        <p:cTn id="53" dur="1" fill="hold">
                                          <p:stCondLst>
                                            <p:cond delay="0"/>
                                          </p:stCondLst>
                                        </p:cTn>
                                        <p:tgtEl>
                                          <p:spTgt spid="26"/>
                                        </p:tgtEl>
                                        <p:attrNameLst>
                                          <p:attrName>style.visibility</p:attrName>
                                        </p:attrNameLst>
                                      </p:cBhvr>
                                      <p:to>
                                        <p:strVal val="visible"/>
                                      </p:to>
                                    </p:set>
                                    <p:anim calcmode="lin" valueType="num">
                                      <p:cBhvr>
                                        <p:cTn id="54" dur="500" fill="hold"/>
                                        <p:tgtEl>
                                          <p:spTgt spid="26"/>
                                        </p:tgtEl>
                                        <p:attrNameLst>
                                          <p:attrName>ppt_w</p:attrName>
                                        </p:attrNameLst>
                                      </p:cBhvr>
                                      <p:tavLst>
                                        <p:tav tm="0">
                                          <p:val>
                                            <p:fltVal val="0"/>
                                          </p:val>
                                        </p:tav>
                                        <p:tav tm="100000">
                                          <p:val>
                                            <p:strVal val="#ppt_w"/>
                                          </p:val>
                                        </p:tav>
                                      </p:tavLst>
                                    </p:anim>
                                    <p:anim calcmode="lin" valueType="num">
                                      <p:cBhvr>
                                        <p:cTn id="55" dur="500" fill="hold"/>
                                        <p:tgtEl>
                                          <p:spTgt spid="26"/>
                                        </p:tgtEl>
                                        <p:attrNameLst>
                                          <p:attrName>ppt_h</p:attrName>
                                        </p:attrNameLst>
                                      </p:cBhvr>
                                      <p:tavLst>
                                        <p:tav tm="0">
                                          <p:val>
                                            <p:fltVal val="0"/>
                                          </p:val>
                                        </p:tav>
                                        <p:tav tm="100000">
                                          <p:val>
                                            <p:strVal val="#ppt_h"/>
                                          </p:val>
                                        </p:tav>
                                      </p:tavLst>
                                    </p:anim>
                                    <p:animEffect transition="in" filter="fade">
                                      <p:cBhvr>
                                        <p:cTn id="56" dur="500"/>
                                        <p:tgtEl>
                                          <p:spTgt spid="26"/>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anim calcmode="lin" valueType="num">
                                      <p:cBhvr>
                                        <p:cTn id="59" dur="500" fill="hold"/>
                                        <p:tgtEl>
                                          <p:spTgt spid="25"/>
                                        </p:tgtEl>
                                        <p:attrNameLst>
                                          <p:attrName>ppt_w</p:attrName>
                                        </p:attrNameLst>
                                      </p:cBhvr>
                                      <p:tavLst>
                                        <p:tav tm="0">
                                          <p:val>
                                            <p:fltVal val="0"/>
                                          </p:val>
                                        </p:tav>
                                        <p:tav tm="100000">
                                          <p:val>
                                            <p:strVal val="#ppt_w"/>
                                          </p:val>
                                        </p:tav>
                                      </p:tavLst>
                                    </p:anim>
                                    <p:anim calcmode="lin" valueType="num">
                                      <p:cBhvr>
                                        <p:cTn id="60" dur="500" fill="hold"/>
                                        <p:tgtEl>
                                          <p:spTgt spid="25"/>
                                        </p:tgtEl>
                                        <p:attrNameLst>
                                          <p:attrName>ppt_h</p:attrName>
                                        </p:attrNameLst>
                                      </p:cBhvr>
                                      <p:tavLst>
                                        <p:tav tm="0">
                                          <p:val>
                                            <p:fltVal val="0"/>
                                          </p:val>
                                        </p:tav>
                                        <p:tav tm="100000">
                                          <p:val>
                                            <p:strVal val="#ppt_h"/>
                                          </p:val>
                                        </p:tav>
                                      </p:tavLst>
                                    </p:anim>
                                    <p:animEffect transition="in" filter="fade">
                                      <p:cBhvr>
                                        <p:cTn id="61" dur="500"/>
                                        <p:tgtEl>
                                          <p:spTgt spid="25"/>
                                        </p:tgtEl>
                                      </p:cBhvr>
                                    </p:animEffect>
                                  </p:childTnLst>
                                </p:cTn>
                              </p:par>
                              <p:par>
                                <p:cTn id="62" presetID="53" presetClass="entr" presetSubtype="16" fill="hold" grpId="0" nodeType="withEffect">
                                  <p:stCondLst>
                                    <p:cond delay="0"/>
                                  </p:stCondLst>
                                  <p:childTnLst>
                                    <p:set>
                                      <p:cBhvr>
                                        <p:cTn id="63" dur="1" fill="hold">
                                          <p:stCondLst>
                                            <p:cond delay="0"/>
                                          </p:stCondLst>
                                        </p:cTn>
                                        <p:tgtEl>
                                          <p:spTgt spid="27"/>
                                        </p:tgtEl>
                                        <p:attrNameLst>
                                          <p:attrName>style.visibility</p:attrName>
                                        </p:attrNameLst>
                                      </p:cBhvr>
                                      <p:to>
                                        <p:strVal val="visible"/>
                                      </p:to>
                                    </p:set>
                                    <p:anim calcmode="lin" valueType="num">
                                      <p:cBhvr>
                                        <p:cTn id="64" dur="500" fill="hold"/>
                                        <p:tgtEl>
                                          <p:spTgt spid="27"/>
                                        </p:tgtEl>
                                        <p:attrNameLst>
                                          <p:attrName>ppt_w</p:attrName>
                                        </p:attrNameLst>
                                      </p:cBhvr>
                                      <p:tavLst>
                                        <p:tav tm="0">
                                          <p:val>
                                            <p:fltVal val="0"/>
                                          </p:val>
                                        </p:tav>
                                        <p:tav tm="100000">
                                          <p:val>
                                            <p:strVal val="#ppt_w"/>
                                          </p:val>
                                        </p:tav>
                                      </p:tavLst>
                                    </p:anim>
                                    <p:anim calcmode="lin" valueType="num">
                                      <p:cBhvr>
                                        <p:cTn id="65" dur="500" fill="hold"/>
                                        <p:tgtEl>
                                          <p:spTgt spid="27"/>
                                        </p:tgtEl>
                                        <p:attrNameLst>
                                          <p:attrName>ppt_h</p:attrName>
                                        </p:attrNameLst>
                                      </p:cBhvr>
                                      <p:tavLst>
                                        <p:tav tm="0">
                                          <p:val>
                                            <p:fltVal val="0"/>
                                          </p:val>
                                        </p:tav>
                                        <p:tav tm="100000">
                                          <p:val>
                                            <p:strVal val="#ppt_h"/>
                                          </p:val>
                                        </p:tav>
                                      </p:tavLst>
                                    </p:anim>
                                    <p:animEffect transition="in" filter="fade">
                                      <p:cBhvr>
                                        <p:cTn id="66" dur="500"/>
                                        <p:tgtEl>
                                          <p:spTgt spid="27"/>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25" grpId="0" animBg="1"/>
      <p:bldP spid="26" grpId="0" animBg="1"/>
      <p:bldP spid="27" grpId="0" animBg="1"/>
      <p:bldP spid="2" grpId="0"/>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E636450-11F7-4441-9977-13C83D811613}"/>
              </a:ext>
            </a:extLst>
          </p:cNvPr>
          <p:cNvSpPr>
            <a:spLocks noGrp="1"/>
          </p:cNvSpPr>
          <p:nvPr>
            <p:ph type="body" sz="quarter" idx="12"/>
          </p:nvPr>
        </p:nvSpPr>
        <p:spPr/>
        <p:txBody>
          <a:bodyPr/>
          <a:lstStyle/>
          <a:p>
            <a:r>
              <a:rPr lang="es-AR" dirty="0" err="1"/>
              <a:t>Dat</a:t>
            </a:r>
            <a:r>
              <a:rPr lang="es-AR" dirty="0"/>
              <a:t> </a:t>
            </a:r>
            <a:r>
              <a:rPr lang="es-AR" dirty="0" err="1"/>
              <a:t>Sources</a:t>
            </a:r>
            <a:endParaRPr lang="en-US" dirty="0"/>
          </a:p>
        </p:txBody>
      </p:sp>
      <p:graphicFrame>
        <p:nvGraphicFramePr>
          <p:cNvPr id="4" name="Table 3">
            <a:extLst>
              <a:ext uri="{FF2B5EF4-FFF2-40B4-BE49-F238E27FC236}">
                <a16:creationId xmlns:a16="http://schemas.microsoft.com/office/drawing/2014/main" id="{5998C67D-E9F9-4E37-AE63-3A06EB6F993D}"/>
              </a:ext>
            </a:extLst>
          </p:cNvPr>
          <p:cNvGraphicFramePr>
            <a:graphicFrameLocks noGrp="1"/>
          </p:cNvGraphicFramePr>
          <p:nvPr>
            <p:extLst>
              <p:ext uri="{D42A27DB-BD31-4B8C-83A1-F6EECF244321}">
                <p14:modId xmlns:p14="http://schemas.microsoft.com/office/powerpoint/2010/main" val="1971996002"/>
              </p:ext>
            </p:extLst>
          </p:nvPr>
        </p:nvGraphicFramePr>
        <p:xfrm>
          <a:off x="897721" y="857250"/>
          <a:ext cx="9427962" cy="2199640"/>
        </p:xfrm>
        <a:graphic>
          <a:graphicData uri="http://schemas.openxmlformats.org/drawingml/2006/table">
            <a:tbl>
              <a:tblPr firstRow="1" bandRow="1">
                <a:tableStyleId>{5C22544A-7EE6-4342-B048-85BDC9FD1C3A}</a:tableStyleId>
              </a:tblPr>
              <a:tblGrid>
                <a:gridCol w="2321615">
                  <a:extLst>
                    <a:ext uri="{9D8B030D-6E8A-4147-A177-3AD203B41FA5}">
                      <a16:colId xmlns:a16="http://schemas.microsoft.com/office/drawing/2014/main" val="340450334"/>
                    </a:ext>
                  </a:extLst>
                </a:gridCol>
                <a:gridCol w="1358926">
                  <a:extLst>
                    <a:ext uri="{9D8B030D-6E8A-4147-A177-3AD203B41FA5}">
                      <a16:colId xmlns:a16="http://schemas.microsoft.com/office/drawing/2014/main" val="3041207099"/>
                    </a:ext>
                  </a:extLst>
                </a:gridCol>
                <a:gridCol w="2307663">
                  <a:extLst>
                    <a:ext uri="{9D8B030D-6E8A-4147-A177-3AD203B41FA5}">
                      <a16:colId xmlns:a16="http://schemas.microsoft.com/office/drawing/2014/main" val="4054277343"/>
                    </a:ext>
                  </a:extLst>
                </a:gridCol>
                <a:gridCol w="1348963">
                  <a:extLst>
                    <a:ext uri="{9D8B030D-6E8A-4147-A177-3AD203B41FA5}">
                      <a16:colId xmlns:a16="http://schemas.microsoft.com/office/drawing/2014/main" val="1455643927"/>
                    </a:ext>
                  </a:extLst>
                </a:gridCol>
                <a:gridCol w="2090795">
                  <a:extLst>
                    <a:ext uri="{9D8B030D-6E8A-4147-A177-3AD203B41FA5}">
                      <a16:colId xmlns:a16="http://schemas.microsoft.com/office/drawing/2014/main" val="3222845941"/>
                    </a:ext>
                  </a:extLst>
                </a:gridCol>
              </a:tblGrid>
              <a:tr h="370840">
                <a:tc>
                  <a:txBody>
                    <a:bodyPr/>
                    <a:lstStyle/>
                    <a:p>
                      <a:r>
                        <a:rPr lang="es-AR" dirty="0"/>
                        <a:t>US </a:t>
                      </a:r>
                      <a:r>
                        <a:rPr lang="es-AR" dirty="0" err="1"/>
                        <a:t>Option</a:t>
                      </a:r>
                      <a:r>
                        <a:rPr lang="es-AR" dirty="0"/>
                        <a:t> </a:t>
                      </a:r>
                      <a:r>
                        <a:rPr lang="es-AR" dirty="0" err="1"/>
                        <a:t>Prices</a:t>
                      </a:r>
                      <a:endParaRPr lang="en-US" dirty="0"/>
                    </a:p>
                  </a:txBody>
                  <a:tcPr/>
                </a:tc>
                <a:tc>
                  <a:txBody>
                    <a:bodyPr/>
                    <a:lstStyle/>
                    <a:p>
                      <a:r>
                        <a:rPr lang="es-AR" dirty="0"/>
                        <a:t>DB</a:t>
                      </a:r>
                      <a:endParaRPr lang="en-US" dirty="0"/>
                    </a:p>
                  </a:txBody>
                  <a:tcPr/>
                </a:tc>
                <a:tc>
                  <a:txBody>
                    <a:bodyPr/>
                    <a:lstStyle/>
                    <a:p>
                      <a:r>
                        <a:rPr lang="es-AR" dirty="0"/>
                        <a:t>Table</a:t>
                      </a:r>
                      <a:endParaRPr lang="en-US" dirty="0"/>
                    </a:p>
                  </a:txBody>
                  <a:tcPr/>
                </a:tc>
                <a:tc>
                  <a:txBody>
                    <a:bodyPr/>
                    <a:lstStyle/>
                    <a:p>
                      <a:r>
                        <a:rPr lang="es-AR" dirty="0" err="1"/>
                        <a:t>Details</a:t>
                      </a:r>
                      <a:endParaRPr lang="en-US" dirty="0"/>
                    </a:p>
                  </a:txBody>
                  <a:tcPr/>
                </a:tc>
                <a:tc>
                  <a:txBody>
                    <a:bodyPr/>
                    <a:lstStyle/>
                    <a:p>
                      <a:r>
                        <a:rPr lang="es-AR" dirty="0" err="1"/>
                        <a:t>Limitations</a:t>
                      </a:r>
                      <a:endParaRPr lang="en-US" dirty="0"/>
                    </a:p>
                  </a:txBody>
                  <a:tcPr/>
                </a:tc>
                <a:extLst>
                  <a:ext uri="{0D108BD9-81ED-4DB2-BD59-A6C34878D82A}">
                    <a16:rowId xmlns:a16="http://schemas.microsoft.com/office/drawing/2014/main" val="3093131045"/>
                  </a:ext>
                </a:extLst>
              </a:tr>
              <a:tr h="370840">
                <a:tc>
                  <a:txBody>
                    <a:bodyPr/>
                    <a:lstStyle/>
                    <a:p>
                      <a:r>
                        <a:rPr lang="es-AR" dirty="0" err="1"/>
                        <a:t>Vendor</a:t>
                      </a:r>
                      <a:endParaRPr lang="en-US" dirty="0"/>
                    </a:p>
                  </a:txBody>
                  <a:tcPr/>
                </a:tc>
                <a:tc>
                  <a:txBody>
                    <a:bodyPr/>
                    <a:lstStyle/>
                    <a:p>
                      <a:r>
                        <a:rPr lang="es-AR" dirty="0" err="1"/>
                        <a:t>IvyDB</a:t>
                      </a:r>
                      <a:r>
                        <a:rPr lang="es-AR" dirty="0"/>
                        <a:t> US</a:t>
                      </a:r>
                      <a:endParaRPr lang="en-US" dirty="0"/>
                    </a:p>
                  </a:txBody>
                  <a:tcPr/>
                </a:tc>
                <a:tc>
                  <a:txBody>
                    <a:bodyPr/>
                    <a:lstStyle/>
                    <a:p>
                      <a:r>
                        <a:rPr lang="es-AR" dirty="0"/>
                        <a:t>OPTION_PRICES</a:t>
                      </a:r>
                      <a:endParaRPr lang="en-US" dirty="0"/>
                    </a:p>
                  </a:txBody>
                  <a:tcPr/>
                </a:tc>
                <a:tc>
                  <a:txBody>
                    <a:bodyPr/>
                    <a:lstStyle/>
                    <a:p>
                      <a:r>
                        <a:rPr lang="es-AR" dirty="0" err="1"/>
                        <a:t>Gives</a:t>
                      </a:r>
                      <a:r>
                        <a:rPr lang="es-AR" dirty="0"/>
                        <a:t> </a:t>
                      </a:r>
                      <a:r>
                        <a:rPr lang="es-AR" dirty="0" err="1"/>
                        <a:t>analytics</a:t>
                      </a:r>
                      <a:r>
                        <a:rPr lang="es-AR" dirty="0"/>
                        <a:t>: </a:t>
                      </a:r>
                      <a:r>
                        <a:rPr lang="es-AR" dirty="0" err="1"/>
                        <a:t>ImpVol</a:t>
                      </a:r>
                      <a:r>
                        <a:rPr lang="es-AR" dirty="0"/>
                        <a:t>, </a:t>
                      </a:r>
                      <a:r>
                        <a:rPr lang="es-AR" dirty="0" err="1"/>
                        <a:t>greeks</a:t>
                      </a:r>
                      <a:endParaRPr lang="en-US" dirty="0"/>
                    </a:p>
                  </a:txBody>
                  <a:tcPr/>
                </a:tc>
                <a:tc rowSpan="2">
                  <a:txBody>
                    <a:bodyPr/>
                    <a:lstStyle/>
                    <a:p>
                      <a:r>
                        <a:rPr lang="es-AR" dirty="0" err="1"/>
                        <a:t>Several</a:t>
                      </a:r>
                      <a:r>
                        <a:rPr lang="es-AR" dirty="0"/>
                        <a:t> data </a:t>
                      </a:r>
                      <a:endParaRPr lang="en-US" dirty="0"/>
                    </a:p>
                  </a:txBody>
                  <a:tcPr/>
                </a:tc>
                <a:extLst>
                  <a:ext uri="{0D108BD9-81ED-4DB2-BD59-A6C34878D82A}">
                    <a16:rowId xmlns:a16="http://schemas.microsoft.com/office/drawing/2014/main" val="1731383781"/>
                  </a:ext>
                </a:extLst>
              </a:tr>
              <a:tr h="370840">
                <a:tc>
                  <a:txBody>
                    <a:bodyPr/>
                    <a:lstStyle/>
                    <a:p>
                      <a:r>
                        <a:rPr lang="es-AR" dirty="0"/>
                        <a:t>Axioma</a:t>
                      </a:r>
                      <a:endParaRPr lang="en-US" dirty="0"/>
                    </a:p>
                  </a:txBody>
                  <a:tcPr/>
                </a:tc>
                <a:tc>
                  <a:txBody>
                    <a:bodyPr/>
                    <a:lstStyle/>
                    <a:p>
                      <a:r>
                        <a:rPr lang="es-AR" dirty="0"/>
                        <a:t>Pandora</a:t>
                      </a:r>
                      <a:endParaRPr lang="en-US" dirty="0"/>
                    </a:p>
                  </a:txBody>
                  <a:tcPr/>
                </a:tc>
                <a:tc>
                  <a:txBody>
                    <a:bodyPr/>
                    <a:lstStyle/>
                    <a:p>
                      <a:r>
                        <a:rPr lang="es-AR" dirty="0"/>
                        <a:t>EJV_DERIVS</a:t>
                      </a:r>
                      <a:endParaRPr lang="en-US" dirty="0"/>
                    </a:p>
                  </a:txBody>
                  <a:tcPr/>
                </a:tc>
                <a:tc>
                  <a:txBody>
                    <a:bodyPr/>
                    <a:lstStyle/>
                    <a:p>
                      <a:r>
                        <a:rPr lang="es-AR" dirty="0" err="1"/>
                        <a:t>Only</a:t>
                      </a:r>
                      <a:r>
                        <a:rPr lang="es-AR" dirty="0"/>
                        <a:t> </a:t>
                      </a:r>
                      <a:r>
                        <a:rPr lang="es-AR" dirty="0" err="1"/>
                        <a:t>Market</a:t>
                      </a:r>
                      <a:endParaRPr lang="en-US" dirty="0"/>
                    </a:p>
                  </a:txBody>
                  <a:tcPr/>
                </a:tc>
                <a:tc vMerge="1">
                  <a:txBody>
                    <a:bodyPr/>
                    <a:lstStyle/>
                    <a:p>
                      <a:endParaRPr lang="en-US" dirty="0"/>
                    </a:p>
                  </a:txBody>
                  <a:tcPr/>
                </a:tc>
                <a:extLst>
                  <a:ext uri="{0D108BD9-81ED-4DB2-BD59-A6C34878D82A}">
                    <a16:rowId xmlns:a16="http://schemas.microsoft.com/office/drawing/2014/main" val="2228837132"/>
                  </a:ext>
                </a:extLst>
              </a:tr>
            </a:tbl>
          </a:graphicData>
        </a:graphic>
      </p:graphicFrame>
      <p:graphicFrame>
        <p:nvGraphicFramePr>
          <p:cNvPr id="5" name="Table 4">
            <a:extLst>
              <a:ext uri="{FF2B5EF4-FFF2-40B4-BE49-F238E27FC236}">
                <a16:creationId xmlns:a16="http://schemas.microsoft.com/office/drawing/2014/main" id="{FE8822A8-8454-47F4-8690-5E1ABF9572C5}"/>
              </a:ext>
            </a:extLst>
          </p:cNvPr>
          <p:cNvGraphicFramePr>
            <a:graphicFrameLocks noGrp="1"/>
          </p:cNvGraphicFramePr>
          <p:nvPr>
            <p:extLst>
              <p:ext uri="{D42A27DB-BD31-4B8C-83A1-F6EECF244321}">
                <p14:modId xmlns:p14="http://schemas.microsoft.com/office/powerpoint/2010/main" val="2588993618"/>
              </p:ext>
            </p:extLst>
          </p:nvPr>
        </p:nvGraphicFramePr>
        <p:xfrm>
          <a:off x="909444" y="3134107"/>
          <a:ext cx="9416239" cy="1376680"/>
        </p:xfrm>
        <a:graphic>
          <a:graphicData uri="http://schemas.openxmlformats.org/drawingml/2006/table">
            <a:tbl>
              <a:tblPr firstRow="1" bandRow="1">
                <a:tableStyleId>{5C22544A-7EE6-4342-B048-85BDC9FD1C3A}</a:tableStyleId>
              </a:tblPr>
              <a:tblGrid>
                <a:gridCol w="2453655">
                  <a:extLst>
                    <a:ext uri="{9D8B030D-6E8A-4147-A177-3AD203B41FA5}">
                      <a16:colId xmlns:a16="http://schemas.microsoft.com/office/drawing/2014/main" val="340450334"/>
                    </a:ext>
                  </a:extLst>
                </a:gridCol>
                <a:gridCol w="1313088">
                  <a:extLst>
                    <a:ext uri="{9D8B030D-6E8A-4147-A177-3AD203B41FA5}">
                      <a16:colId xmlns:a16="http://schemas.microsoft.com/office/drawing/2014/main" val="3041207099"/>
                    </a:ext>
                  </a:extLst>
                </a:gridCol>
                <a:gridCol w="2673847">
                  <a:extLst>
                    <a:ext uri="{9D8B030D-6E8A-4147-A177-3AD203B41FA5}">
                      <a16:colId xmlns:a16="http://schemas.microsoft.com/office/drawing/2014/main" val="4054277343"/>
                    </a:ext>
                  </a:extLst>
                </a:gridCol>
                <a:gridCol w="1515292">
                  <a:extLst>
                    <a:ext uri="{9D8B030D-6E8A-4147-A177-3AD203B41FA5}">
                      <a16:colId xmlns:a16="http://schemas.microsoft.com/office/drawing/2014/main" val="1455643927"/>
                    </a:ext>
                  </a:extLst>
                </a:gridCol>
                <a:gridCol w="1460357">
                  <a:extLst>
                    <a:ext uri="{9D8B030D-6E8A-4147-A177-3AD203B41FA5}">
                      <a16:colId xmlns:a16="http://schemas.microsoft.com/office/drawing/2014/main" val="3222845941"/>
                    </a:ext>
                  </a:extLst>
                </a:gridCol>
              </a:tblGrid>
              <a:tr h="370840">
                <a:tc>
                  <a:txBody>
                    <a:bodyPr/>
                    <a:lstStyle/>
                    <a:p>
                      <a:r>
                        <a:rPr lang="es-AR" dirty="0"/>
                        <a:t>US </a:t>
                      </a:r>
                      <a:r>
                        <a:rPr lang="es-AR" dirty="0" err="1"/>
                        <a:t>Equity</a:t>
                      </a:r>
                      <a:r>
                        <a:rPr lang="es-AR" dirty="0"/>
                        <a:t> </a:t>
                      </a:r>
                      <a:r>
                        <a:rPr lang="es-AR" dirty="0" err="1"/>
                        <a:t>Prices</a:t>
                      </a:r>
                      <a:endParaRPr lang="en-US" dirty="0"/>
                    </a:p>
                  </a:txBody>
                  <a:tcPr/>
                </a:tc>
                <a:tc>
                  <a:txBody>
                    <a:bodyPr/>
                    <a:lstStyle/>
                    <a:p>
                      <a:r>
                        <a:rPr lang="es-AR" dirty="0"/>
                        <a:t>DB</a:t>
                      </a:r>
                      <a:endParaRPr lang="en-US" dirty="0"/>
                    </a:p>
                  </a:txBody>
                  <a:tcPr/>
                </a:tc>
                <a:tc>
                  <a:txBody>
                    <a:bodyPr/>
                    <a:lstStyle/>
                    <a:p>
                      <a:r>
                        <a:rPr lang="es-AR" dirty="0"/>
                        <a:t>Table</a:t>
                      </a:r>
                      <a:endParaRPr lang="en-US" dirty="0"/>
                    </a:p>
                  </a:txBody>
                  <a:tcPr/>
                </a:tc>
                <a:tc>
                  <a:txBody>
                    <a:bodyPr/>
                    <a:lstStyle/>
                    <a:p>
                      <a:r>
                        <a:rPr lang="es-AR" dirty="0" err="1"/>
                        <a:t>Details</a:t>
                      </a:r>
                      <a:endParaRPr lang="en-US" dirty="0"/>
                    </a:p>
                  </a:txBody>
                  <a:tcPr/>
                </a:tc>
                <a:tc>
                  <a:txBody>
                    <a:bodyPr/>
                    <a:lstStyle/>
                    <a:p>
                      <a:r>
                        <a:rPr lang="es-AR" dirty="0" err="1"/>
                        <a:t>Limitations</a:t>
                      </a:r>
                      <a:endParaRPr lang="en-US" dirty="0"/>
                    </a:p>
                  </a:txBody>
                  <a:tcPr/>
                </a:tc>
                <a:extLst>
                  <a:ext uri="{0D108BD9-81ED-4DB2-BD59-A6C34878D82A}">
                    <a16:rowId xmlns:a16="http://schemas.microsoft.com/office/drawing/2014/main" val="3093131045"/>
                  </a:ext>
                </a:extLst>
              </a:tr>
              <a:tr h="352094">
                <a:tc>
                  <a:txBody>
                    <a:bodyPr/>
                    <a:lstStyle/>
                    <a:p>
                      <a:r>
                        <a:rPr lang="es-AR" dirty="0" err="1"/>
                        <a:t>Vendor</a:t>
                      </a:r>
                      <a:endParaRPr lang="en-US" dirty="0"/>
                    </a:p>
                  </a:txBody>
                  <a:tcPr/>
                </a:tc>
                <a:tc>
                  <a:txBody>
                    <a:bodyPr/>
                    <a:lstStyle/>
                    <a:p>
                      <a:r>
                        <a:rPr lang="es-AR" dirty="0" err="1"/>
                        <a:t>IvyDB</a:t>
                      </a:r>
                      <a:r>
                        <a:rPr lang="es-AR" dirty="0"/>
                        <a:t> US</a:t>
                      </a:r>
                      <a:endParaRPr lang="en-US" dirty="0"/>
                    </a:p>
                  </a:txBody>
                  <a:tcPr/>
                </a:tc>
                <a:tc>
                  <a:txBody>
                    <a:bodyPr/>
                    <a:lstStyle/>
                    <a:p>
                      <a:r>
                        <a:rPr lang="es-AR" dirty="0"/>
                        <a:t>SECURITY_PRICES</a:t>
                      </a:r>
                      <a:endParaRPr lang="en-US" dirty="0"/>
                    </a:p>
                  </a:txBody>
                  <a:tcPr/>
                </a:tc>
                <a:tc>
                  <a:txBody>
                    <a:bodyPr/>
                    <a:lstStyle/>
                    <a:p>
                      <a:endParaRPr lang="en-US" dirty="0"/>
                    </a:p>
                  </a:txBody>
                  <a:tcPr/>
                </a:tc>
                <a:tc>
                  <a:txBody>
                    <a:bodyPr/>
                    <a:lstStyle/>
                    <a:p>
                      <a:endParaRPr lang="en-US"/>
                    </a:p>
                  </a:txBody>
                  <a:tcPr/>
                </a:tc>
                <a:extLst>
                  <a:ext uri="{0D108BD9-81ED-4DB2-BD59-A6C34878D82A}">
                    <a16:rowId xmlns:a16="http://schemas.microsoft.com/office/drawing/2014/main" val="1731383781"/>
                  </a:ext>
                </a:extLst>
              </a:tr>
              <a:tr h="370840">
                <a:tc>
                  <a:txBody>
                    <a:bodyPr/>
                    <a:lstStyle/>
                    <a:p>
                      <a:r>
                        <a:rPr lang="es-AR" dirty="0"/>
                        <a:t>Axioma</a:t>
                      </a:r>
                      <a:endParaRPr lang="en-US" dirty="0"/>
                    </a:p>
                  </a:txBody>
                  <a:tcPr/>
                </a:tc>
                <a:tc>
                  <a:txBody>
                    <a:bodyPr/>
                    <a:lstStyle/>
                    <a:p>
                      <a:r>
                        <a:rPr lang="es-AR" dirty="0"/>
                        <a:t>ORACLE</a:t>
                      </a:r>
                      <a:endParaRPr lang="en-US" dirty="0"/>
                    </a:p>
                  </a:txBody>
                  <a:tcPr/>
                </a:tc>
                <a:tc>
                  <a:txBody>
                    <a:bodyPr/>
                    <a:lstStyle/>
                    <a:p>
                      <a:r>
                        <a:rPr lang="es-AR" dirty="0"/>
                        <a:t>ORA-GLPROD-</a:t>
                      </a:r>
                      <a:r>
                        <a:rPr lang="es-AR" dirty="0" err="1"/>
                        <a:t>marketdb_global</a:t>
                      </a:r>
                      <a:endParaRPr lang="en-US" dirty="0"/>
                    </a:p>
                  </a:txBody>
                  <a:tcPr/>
                </a:tc>
                <a:tc>
                  <a:txBody>
                    <a:bodyPr/>
                    <a:lstStyle/>
                    <a:p>
                      <a:r>
                        <a:rPr lang="es-AR" dirty="0" err="1"/>
                        <a:t>Calling</a:t>
                      </a:r>
                      <a:r>
                        <a:rPr lang="es-AR" dirty="0"/>
                        <a:t> </a:t>
                      </a:r>
                      <a:r>
                        <a:rPr lang="es-AR" dirty="0" err="1"/>
                        <a:t>from</a:t>
                      </a:r>
                      <a:r>
                        <a:rPr lang="es-AR" dirty="0"/>
                        <a:t> </a:t>
                      </a:r>
                      <a:r>
                        <a:rPr lang="es-AR" dirty="0" err="1"/>
                        <a:t>openquery</a:t>
                      </a:r>
                      <a:r>
                        <a:rPr lang="es-AR" dirty="0"/>
                        <a:t>()</a:t>
                      </a:r>
                      <a:endParaRPr lang="en-US" dirty="0"/>
                    </a:p>
                  </a:txBody>
                  <a:tcPr/>
                </a:tc>
                <a:tc>
                  <a:txBody>
                    <a:bodyPr/>
                    <a:lstStyle/>
                    <a:p>
                      <a:endParaRPr lang="en-US" dirty="0"/>
                    </a:p>
                  </a:txBody>
                  <a:tcPr/>
                </a:tc>
                <a:extLst>
                  <a:ext uri="{0D108BD9-81ED-4DB2-BD59-A6C34878D82A}">
                    <a16:rowId xmlns:a16="http://schemas.microsoft.com/office/drawing/2014/main" val="2228837132"/>
                  </a:ext>
                </a:extLst>
              </a:tr>
            </a:tbl>
          </a:graphicData>
        </a:graphic>
      </p:graphicFrame>
      <p:graphicFrame>
        <p:nvGraphicFramePr>
          <p:cNvPr id="8" name="Table 7">
            <a:extLst>
              <a:ext uri="{FF2B5EF4-FFF2-40B4-BE49-F238E27FC236}">
                <a16:creationId xmlns:a16="http://schemas.microsoft.com/office/drawing/2014/main" id="{29A00763-677F-4DDD-B163-5C6CE3E1E017}"/>
              </a:ext>
            </a:extLst>
          </p:cNvPr>
          <p:cNvGraphicFramePr>
            <a:graphicFrameLocks noGrp="1"/>
          </p:cNvGraphicFramePr>
          <p:nvPr>
            <p:extLst>
              <p:ext uri="{D42A27DB-BD31-4B8C-83A1-F6EECF244321}">
                <p14:modId xmlns:p14="http://schemas.microsoft.com/office/powerpoint/2010/main" val="3998191965"/>
              </p:ext>
            </p:extLst>
          </p:nvPr>
        </p:nvGraphicFramePr>
        <p:xfrm>
          <a:off x="921167" y="4914420"/>
          <a:ext cx="9416239" cy="1381760"/>
        </p:xfrm>
        <a:graphic>
          <a:graphicData uri="http://schemas.openxmlformats.org/drawingml/2006/table">
            <a:tbl>
              <a:tblPr firstRow="1" bandRow="1">
                <a:tableStyleId>{5C22544A-7EE6-4342-B048-85BDC9FD1C3A}</a:tableStyleId>
              </a:tblPr>
              <a:tblGrid>
                <a:gridCol w="2453655">
                  <a:extLst>
                    <a:ext uri="{9D8B030D-6E8A-4147-A177-3AD203B41FA5}">
                      <a16:colId xmlns:a16="http://schemas.microsoft.com/office/drawing/2014/main" val="340450334"/>
                    </a:ext>
                  </a:extLst>
                </a:gridCol>
                <a:gridCol w="1466760">
                  <a:extLst>
                    <a:ext uri="{9D8B030D-6E8A-4147-A177-3AD203B41FA5}">
                      <a16:colId xmlns:a16="http://schemas.microsoft.com/office/drawing/2014/main" val="3041207099"/>
                    </a:ext>
                  </a:extLst>
                </a:gridCol>
                <a:gridCol w="2623872">
                  <a:extLst>
                    <a:ext uri="{9D8B030D-6E8A-4147-A177-3AD203B41FA5}">
                      <a16:colId xmlns:a16="http://schemas.microsoft.com/office/drawing/2014/main" val="4054277343"/>
                    </a:ext>
                  </a:extLst>
                </a:gridCol>
                <a:gridCol w="1483058">
                  <a:extLst>
                    <a:ext uri="{9D8B030D-6E8A-4147-A177-3AD203B41FA5}">
                      <a16:colId xmlns:a16="http://schemas.microsoft.com/office/drawing/2014/main" val="1455643927"/>
                    </a:ext>
                  </a:extLst>
                </a:gridCol>
                <a:gridCol w="1388894">
                  <a:extLst>
                    <a:ext uri="{9D8B030D-6E8A-4147-A177-3AD203B41FA5}">
                      <a16:colId xmlns:a16="http://schemas.microsoft.com/office/drawing/2014/main" val="3222845941"/>
                    </a:ext>
                  </a:extLst>
                </a:gridCol>
              </a:tblGrid>
              <a:tr h="370840">
                <a:tc>
                  <a:txBody>
                    <a:bodyPr/>
                    <a:lstStyle/>
                    <a:p>
                      <a:r>
                        <a:rPr lang="es-AR" dirty="0"/>
                        <a:t>US </a:t>
                      </a:r>
                      <a:r>
                        <a:rPr lang="es-AR" dirty="0" err="1"/>
                        <a:t>Equity</a:t>
                      </a:r>
                      <a:r>
                        <a:rPr lang="es-AR" dirty="0"/>
                        <a:t> </a:t>
                      </a:r>
                      <a:r>
                        <a:rPr lang="es-AR" dirty="0" err="1"/>
                        <a:t>Dividend</a:t>
                      </a:r>
                      <a:endParaRPr lang="en-US" dirty="0"/>
                    </a:p>
                  </a:txBody>
                  <a:tcPr/>
                </a:tc>
                <a:tc>
                  <a:txBody>
                    <a:bodyPr/>
                    <a:lstStyle/>
                    <a:p>
                      <a:r>
                        <a:rPr lang="es-AR" dirty="0"/>
                        <a:t>DB</a:t>
                      </a:r>
                      <a:endParaRPr lang="en-US" dirty="0"/>
                    </a:p>
                  </a:txBody>
                  <a:tcPr/>
                </a:tc>
                <a:tc>
                  <a:txBody>
                    <a:bodyPr/>
                    <a:lstStyle/>
                    <a:p>
                      <a:r>
                        <a:rPr lang="es-AR" dirty="0"/>
                        <a:t>Table</a:t>
                      </a:r>
                      <a:endParaRPr lang="en-US" dirty="0"/>
                    </a:p>
                  </a:txBody>
                  <a:tcPr/>
                </a:tc>
                <a:tc>
                  <a:txBody>
                    <a:bodyPr/>
                    <a:lstStyle/>
                    <a:p>
                      <a:r>
                        <a:rPr lang="es-AR" dirty="0" err="1"/>
                        <a:t>Details</a:t>
                      </a:r>
                      <a:endParaRPr lang="en-US" dirty="0"/>
                    </a:p>
                  </a:txBody>
                  <a:tcPr/>
                </a:tc>
                <a:tc>
                  <a:txBody>
                    <a:bodyPr/>
                    <a:lstStyle/>
                    <a:p>
                      <a:endParaRPr lang="en-US"/>
                    </a:p>
                  </a:txBody>
                  <a:tcPr/>
                </a:tc>
                <a:extLst>
                  <a:ext uri="{0D108BD9-81ED-4DB2-BD59-A6C34878D82A}">
                    <a16:rowId xmlns:a16="http://schemas.microsoft.com/office/drawing/2014/main" val="3093131045"/>
                  </a:ext>
                </a:extLst>
              </a:tr>
              <a:tr h="370840">
                <a:tc>
                  <a:txBody>
                    <a:bodyPr/>
                    <a:lstStyle/>
                    <a:p>
                      <a:r>
                        <a:rPr lang="es-AR" dirty="0" err="1"/>
                        <a:t>Vendor</a:t>
                      </a:r>
                      <a:endParaRPr lang="en-US" dirty="0"/>
                    </a:p>
                  </a:txBody>
                  <a:tcPr/>
                </a:tc>
                <a:tc>
                  <a:txBody>
                    <a:bodyPr/>
                    <a:lstStyle/>
                    <a:p>
                      <a:r>
                        <a:rPr lang="es-AR" dirty="0" err="1"/>
                        <a:t>IvyDB</a:t>
                      </a:r>
                      <a:r>
                        <a:rPr lang="es-AR" dirty="0"/>
                        <a:t> US</a:t>
                      </a:r>
                      <a:endParaRPr lang="en-US" dirty="0"/>
                    </a:p>
                  </a:txBody>
                  <a:tcPr/>
                </a:tc>
                <a:tc>
                  <a:txBody>
                    <a:bodyPr/>
                    <a:lstStyle/>
                    <a:p>
                      <a:r>
                        <a:rPr lang="es-AR" dirty="0"/>
                        <a:t>DISTRIBUTION</a:t>
                      </a:r>
                      <a:endParaRPr lang="en-US" dirty="0"/>
                    </a:p>
                  </a:txBody>
                  <a:tcPr/>
                </a:tc>
                <a:tc>
                  <a:txBody>
                    <a:bodyPr/>
                    <a:lstStyle/>
                    <a:p>
                      <a:endParaRPr lang="en-US" dirty="0"/>
                    </a:p>
                  </a:txBody>
                  <a:tcPr/>
                </a:tc>
                <a:tc>
                  <a:txBody>
                    <a:bodyPr/>
                    <a:lstStyle/>
                    <a:p>
                      <a:endParaRPr lang="en-US"/>
                    </a:p>
                  </a:txBody>
                  <a:tcPr/>
                </a:tc>
                <a:extLst>
                  <a:ext uri="{0D108BD9-81ED-4DB2-BD59-A6C34878D82A}">
                    <a16:rowId xmlns:a16="http://schemas.microsoft.com/office/drawing/2014/main" val="1731383781"/>
                  </a:ext>
                </a:extLst>
              </a:tr>
              <a:tr h="209187">
                <a:tc>
                  <a:txBody>
                    <a:bodyPr/>
                    <a:lstStyle/>
                    <a:p>
                      <a:r>
                        <a:rPr lang="es-AR" dirty="0"/>
                        <a:t>Axioma</a:t>
                      </a:r>
                      <a:endParaRPr lang="en-US" dirty="0"/>
                    </a:p>
                  </a:txBody>
                  <a:tcPr/>
                </a:tc>
                <a:tc>
                  <a:txBody>
                    <a:bodyPr/>
                    <a:lstStyle/>
                    <a:p>
                      <a:r>
                        <a:rPr lang="es-AR" dirty="0"/>
                        <a:t>ORACLE</a:t>
                      </a:r>
                      <a:endParaRPr lang="en-US" dirty="0"/>
                    </a:p>
                  </a:txBody>
                  <a:tcPr/>
                </a:tc>
                <a:tc>
                  <a:txBody>
                    <a:bodyPr/>
                    <a:lstStyle/>
                    <a:p>
                      <a:r>
                        <a:rPr lang="es-AR" dirty="0"/>
                        <a:t>ORA-GLPROD-</a:t>
                      </a:r>
                      <a:r>
                        <a:rPr lang="es-AR" dirty="0" err="1"/>
                        <a:t>marketdb_global</a:t>
                      </a:r>
                      <a:endParaRPr lang="en-US" dirty="0"/>
                    </a:p>
                  </a:txBody>
                  <a:tcPr/>
                </a:tc>
                <a:tc>
                  <a:txBody>
                    <a:bodyPr/>
                    <a:lstStyle/>
                    <a:p>
                      <a:r>
                        <a:rPr lang="es-AR" dirty="0" err="1"/>
                        <a:t>Calling</a:t>
                      </a:r>
                      <a:r>
                        <a:rPr lang="es-AR" dirty="0"/>
                        <a:t> </a:t>
                      </a:r>
                      <a:r>
                        <a:rPr lang="es-AR" dirty="0" err="1"/>
                        <a:t>from</a:t>
                      </a:r>
                      <a:r>
                        <a:rPr lang="es-AR" dirty="0"/>
                        <a:t> </a:t>
                      </a:r>
                      <a:r>
                        <a:rPr lang="es-AR" dirty="0" err="1"/>
                        <a:t>openquery</a:t>
                      </a:r>
                      <a:r>
                        <a:rPr lang="es-AR" dirty="0"/>
                        <a:t>()</a:t>
                      </a:r>
                      <a:endParaRPr lang="en-US" dirty="0"/>
                    </a:p>
                  </a:txBody>
                  <a:tcPr/>
                </a:tc>
                <a:tc>
                  <a:txBody>
                    <a:bodyPr/>
                    <a:lstStyle/>
                    <a:p>
                      <a:endParaRPr lang="en-US" dirty="0"/>
                    </a:p>
                  </a:txBody>
                  <a:tcPr/>
                </a:tc>
                <a:extLst>
                  <a:ext uri="{0D108BD9-81ED-4DB2-BD59-A6C34878D82A}">
                    <a16:rowId xmlns:a16="http://schemas.microsoft.com/office/drawing/2014/main" val="2228837132"/>
                  </a:ext>
                </a:extLst>
              </a:tr>
            </a:tbl>
          </a:graphicData>
        </a:graphic>
      </p:graphicFrame>
    </p:spTree>
    <p:extLst>
      <p:ext uri="{BB962C8B-B14F-4D97-AF65-F5344CB8AC3E}">
        <p14:creationId xmlns:p14="http://schemas.microsoft.com/office/powerpoint/2010/main" val="25608691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E636450-11F7-4441-9977-13C83D811613}"/>
              </a:ext>
            </a:extLst>
          </p:cNvPr>
          <p:cNvSpPr>
            <a:spLocks noGrp="1"/>
          </p:cNvSpPr>
          <p:nvPr>
            <p:ph type="body" sz="quarter" idx="12"/>
          </p:nvPr>
        </p:nvSpPr>
        <p:spPr/>
        <p:txBody>
          <a:bodyPr/>
          <a:lstStyle/>
          <a:p>
            <a:r>
              <a:rPr lang="es-AR" dirty="0" err="1"/>
              <a:t>Dat</a:t>
            </a:r>
            <a:r>
              <a:rPr lang="es-AR" dirty="0"/>
              <a:t> </a:t>
            </a:r>
            <a:r>
              <a:rPr lang="es-AR" dirty="0" err="1"/>
              <a:t>Sources</a:t>
            </a:r>
            <a:endParaRPr lang="en-US" dirty="0"/>
          </a:p>
        </p:txBody>
      </p:sp>
      <p:graphicFrame>
        <p:nvGraphicFramePr>
          <p:cNvPr id="4" name="Table 3">
            <a:extLst>
              <a:ext uri="{FF2B5EF4-FFF2-40B4-BE49-F238E27FC236}">
                <a16:creationId xmlns:a16="http://schemas.microsoft.com/office/drawing/2014/main" id="{5998C67D-E9F9-4E37-AE63-3A06EB6F993D}"/>
              </a:ext>
            </a:extLst>
          </p:cNvPr>
          <p:cNvGraphicFramePr>
            <a:graphicFrameLocks noGrp="1"/>
          </p:cNvGraphicFramePr>
          <p:nvPr>
            <p:extLst>
              <p:ext uri="{D42A27DB-BD31-4B8C-83A1-F6EECF244321}">
                <p14:modId xmlns:p14="http://schemas.microsoft.com/office/powerpoint/2010/main" val="3308597251"/>
              </p:ext>
            </p:extLst>
          </p:nvPr>
        </p:nvGraphicFramePr>
        <p:xfrm>
          <a:off x="946957" y="3643694"/>
          <a:ext cx="9416239" cy="1752600"/>
        </p:xfrm>
        <a:graphic>
          <a:graphicData uri="http://schemas.openxmlformats.org/drawingml/2006/table">
            <a:tbl>
              <a:tblPr firstRow="1" bandRow="1">
                <a:tableStyleId>{5C22544A-7EE6-4342-B048-85BDC9FD1C3A}</a:tableStyleId>
              </a:tblPr>
              <a:tblGrid>
                <a:gridCol w="2453655">
                  <a:extLst>
                    <a:ext uri="{9D8B030D-6E8A-4147-A177-3AD203B41FA5}">
                      <a16:colId xmlns:a16="http://schemas.microsoft.com/office/drawing/2014/main" val="340450334"/>
                    </a:ext>
                  </a:extLst>
                </a:gridCol>
                <a:gridCol w="1466760">
                  <a:extLst>
                    <a:ext uri="{9D8B030D-6E8A-4147-A177-3AD203B41FA5}">
                      <a16:colId xmlns:a16="http://schemas.microsoft.com/office/drawing/2014/main" val="3041207099"/>
                    </a:ext>
                  </a:extLst>
                </a:gridCol>
                <a:gridCol w="2623872">
                  <a:extLst>
                    <a:ext uri="{9D8B030D-6E8A-4147-A177-3AD203B41FA5}">
                      <a16:colId xmlns:a16="http://schemas.microsoft.com/office/drawing/2014/main" val="4054277343"/>
                    </a:ext>
                  </a:extLst>
                </a:gridCol>
                <a:gridCol w="1483058">
                  <a:extLst>
                    <a:ext uri="{9D8B030D-6E8A-4147-A177-3AD203B41FA5}">
                      <a16:colId xmlns:a16="http://schemas.microsoft.com/office/drawing/2014/main" val="1455643927"/>
                    </a:ext>
                  </a:extLst>
                </a:gridCol>
                <a:gridCol w="1388894">
                  <a:extLst>
                    <a:ext uri="{9D8B030D-6E8A-4147-A177-3AD203B41FA5}">
                      <a16:colId xmlns:a16="http://schemas.microsoft.com/office/drawing/2014/main" val="3222845941"/>
                    </a:ext>
                  </a:extLst>
                </a:gridCol>
              </a:tblGrid>
              <a:tr h="370840">
                <a:tc>
                  <a:txBody>
                    <a:bodyPr/>
                    <a:lstStyle/>
                    <a:p>
                      <a:r>
                        <a:rPr lang="es-AR" dirty="0"/>
                        <a:t>USD ZC Curve</a:t>
                      </a:r>
                      <a:endParaRPr lang="en-US" dirty="0"/>
                    </a:p>
                  </a:txBody>
                  <a:tcPr/>
                </a:tc>
                <a:tc>
                  <a:txBody>
                    <a:bodyPr/>
                    <a:lstStyle/>
                    <a:p>
                      <a:r>
                        <a:rPr lang="es-AR" dirty="0"/>
                        <a:t>DB</a:t>
                      </a:r>
                      <a:endParaRPr lang="en-US" dirty="0"/>
                    </a:p>
                  </a:txBody>
                  <a:tcPr/>
                </a:tc>
                <a:tc>
                  <a:txBody>
                    <a:bodyPr/>
                    <a:lstStyle/>
                    <a:p>
                      <a:r>
                        <a:rPr lang="es-AR" dirty="0"/>
                        <a:t>Table</a:t>
                      </a:r>
                      <a:endParaRPr lang="en-US" dirty="0"/>
                    </a:p>
                  </a:txBody>
                  <a:tcPr/>
                </a:tc>
                <a:tc>
                  <a:txBody>
                    <a:bodyPr/>
                    <a:lstStyle/>
                    <a:p>
                      <a:r>
                        <a:rPr lang="es-AR" dirty="0" err="1"/>
                        <a:t>Details</a:t>
                      </a:r>
                      <a:endParaRPr lang="en-US" dirty="0"/>
                    </a:p>
                  </a:txBody>
                  <a:tcPr/>
                </a:tc>
                <a:tc>
                  <a:txBody>
                    <a:bodyPr/>
                    <a:lstStyle/>
                    <a:p>
                      <a:endParaRPr lang="en-US" dirty="0"/>
                    </a:p>
                  </a:txBody>
                  <a:tcPr/>
                </a:tc>
                <a:extLst>
                  <a:ext uri="{0D108BD9-81ED-4DB2-BD59-A6C34878D82A}">
                    <a16:rowId xmlns:a16="http://schemas.microsoft.com/office/drawing/2014/main" val="3093131045"/>
                  </a:ext>
                </a:extLst>
              </a:tr>
              <a:tr h="370840">
                <a:tc>
                  <a:txBody>
                    <a:bodyPr/>
                    <a:lstStyle/>
                    <a:p>
                      <a:r>
                        <a:rPr lang="es-AR" dirty="0" err="1"/>
                        <a:t>Vendor</a:t>
                      </a:r>
                      <a:endParaRPr lang="en-US" dirty="0"/>
                    </a:p>
                  </a:txBody>
                  <a:tcPr/>
                </a:tc>
                <a:tc>
                  <a:txBody>
                    <a:bodyPr/>
                    <a:lstStyle/>
                    <a:p>
                      <a:r>
                        <a:rPr lang="es-AR" dirty="0" err="1"/>
                        <a:t>IvyDB</a:t>
                      </a:r>
                      <a:r>
                        <a:rPr lang="es-AR" dirty="0"/>
                        <a:t> US</a:t>
                      </a:r>
                      <a:endParaRPr lang="en-US" dirty="0"/>
                    </a:p>
                  </a:txBody>
                  <a:tcPr/>
                </a:tc>
                <a:tc>
                  <a:txBody>
                    <a:bodyPr/>
                    <a:lstStyle/>
                    <a:p>
                      <a:r>
                        <a:rPr lang="es-AR" dirty="0"/>
                        <a:t>ZC_CURVE</a:t>
                      </a:r>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31383781"/>
                  </a:ext>
                </a:extLst>
              </a:tr>
              <a:tr h="370840">
                <a:tc>
                  <a:txBody>
                    <a:bodyPr/>
                    <a:lstStyle/>
                    <a:p>
                      <a:r>
                        <a:rPr lang="es-AR" dirty="0"/>
                        <a:t>Axioma</a:t>
                      </a:r>
                      <a:endParaRPr lang="en-US" dirty="0"/>
                    </a:p>
                  </a:txBody>
                  <a:tcPr/>
                </a:tc>
                <a:tc>
                  <a:txBody>
                    <a:bodyPr/>
                    <a:lstStyle/>
                    <a:p>
                      <a:r>
                        <a:rPr lang="es-AR" dirty="0"/>
                        <a:t>EJV</a:t>
                      </a:r>
                      <a:endParaRPr lang="en-US" dirty="0"/>
                    </a:p>
                  </a:txBody>
                  <a:tcPr/>
                </a:tc>
                <a:tc>
                  <a:txBody>
                    <a:bodyPr/>
                    <a:lstStyle/>
                    <a:p>
                      <a:r>
                        <a:rPr lang="es-AR" dirty="0"/>
                        <a:t>EJV_DERIVS</a:t>
                      </a:r>
                      <a:endParaRPr lang="en-US" dirty="0"/>
                    </a:p>
                  </a:txBody>
                  <a:tcPr/>
                </a:tc>
                <a:tc>
                  <a:txBody>
                    <a:bodyPr/>
                    <a:lstStyle/>
                    <a:p>
                      <a:r>
                        <a:rPr lang="es-AR" dirty="0"/>
                        <a:t>Ibor</a:t>
                      </a:r>
                      <a:endParaRPr lang="en-US" dirty="0"/>
                    </a:p>
                  </a:txBody>
                  <a:tcPr/>
                </a:tc>
                <a:tc>
                  <a:txBody>
                    <a:bodyPr/>
                    <a:lstStyle/>
                    <a:p>
                      <a:r>
                        <a:rPr lang="es-AR" dirty="0" err="1"/>
                        <a:t>Analytics</a:t>
                      </a:r>
                      <a:endParaRPr lang="en-US" dirty="0"/>
                    </a:p>
                  </a:txBody>
                  <a:tcPr/>
                </a:tc>
                <a:extLst>
                  <a:ext uri="{0D108BD9-81ED-4DB2-BD59-A6C34878D82A}">
                    <a16:rowId xmlns:a16="http://schemas.microsoft.com/office/drawing/2014/main" val="2228837132"/>
                  </a:ext>
                </a:extLst>
              </a:tr>
              <a:tr h="370840">
                <a:tc>
                  <a:txBody>
                    <a:bodyPr/>
                    <a:lstStyle/>
                    <a:p>
                      <a:r>
                        <a:rPr lang="es-AR" dirty="0"/>
                        <a:t>Axioma</a:t>
                      </a:r>
                      <a:endParaRPr lang="en-US" dirty="0"/>
                    </a:p>
                  </a:txBody>
                  <a:tcPr/>
                </a:tc>
                <a:tc>
                  <a:txBody>
                    <a:bodyPr/>
                    <a:lstStyle/>
                    <a:p>
                      <a:r>
                        <a:rPr lang="es-AR" dirty="0"/>
                        <a:t>QAI</a:t>
                      </a:r>
                      <a:endParaRPr lang="en-US" dirty="0"/>
                    </a:p>
                  </a:txBody>
                  <a:tcPr/>
                </a:tc>
                <a:tc>
                  <a:txBody>
                    <a:bodyPr/>
                    <a:lstStyle/>
                    <a:p>
                      <a:r>
                        <a:rPr lang="es-AR" dirty="0" err="1"/>
                        <a:t>DSFutContrInfo</a:t>
                      </a:r>
                      <a:r>
                        <a:rPr lang="es-AR" dirty="0"/>
                        <a:t> </a:t>
                      </a:r>
                      <a:r>
                        <a:rPr lang="es-AR" dirty="0" err="1"/>
                        <a:t>DSFutContrVal</a:t>
                      </a:r>
                      <a:endParaRPr lang="en-US" dirty="0"/>
                    </a:p>
                  </a:txBody>
                  <a:tcPr/>
                </a:tc>
                <a:tc>
                  <a:txBody>
                    <a:bodyPr/>
                    <a:lstStyle/>
                    <a:p>
                      <a:r>
                        <a:rPr lang="es-AR" dirty="0" err="1"/>
                        <a:t>Eurodollar</a:t>
                      </a:r>
                      <a:endParaRPr lang="en-US" dirty="0"/>
                    </a:p>
                  </a:txBody>
                  <a:tcPr/>
                </a:tc>
                <a:tc>
                  <a:txBody>
                    <a:bodyPr/>
                    <a:lstStyle/>
                    <a:p>
                      <a:r>
                        <a:rPr lang="es-AR" dirty="0" err="1"/>
                        <a:t>Analytics</a:t>
                      </a:r>
                      <a:endParaRPr lang="en-US" dirty="0"/>
                    </a:p>
                  </a:txBody>
                  <a:tcPr/>
                </a:tc>
                <a:extLst>
                  <a:ext uri="{0D108BD9-81ED-4DB2-BD59-A6C34878D82A}">
                    <a16:rowId xmlns:a16="http://schemas.microsoft.com/office/drawing/2014/main" val="407022370"/>
                  </a:ext>
                </a:extLst>
              </a:tr>
            </a:tbl>
          </a:graphicData>
        </a:graphic>
      </p:graphicFrame>
      <p:graphicFrame>
        <p:nvGraphicFramePr>
          <p:cNvPr id="5" name="Table 4">
            <a:extLst>
              <a:ext uri="{FF2B5EF4-FFF2-40B4-BE49-F238E27FC236}">
                <a16:creationId xmlns:a16="http://schemas.microsoft.com/office/drawing/2014/main" id="{FE8822A8-8454-47F4-8690-5E1ABF9572C5}"/>
              </a:ext>
            </a:extLst>
          </p:cNvPr>
          <p:cNvGraphicFramePr>
            <a:graphicFrameLocks noGrp="1"/>
          </p:cNvGraphicFramePr>
          <p:nvPr>
            <p:extLst>
              <p:ext uri="{D42A27DB-BD31-4B8C-83A1-F6EECF244321}">
                <p14:modId xmlns:p14="http://schemas.microsoft.com/office/powerpoint/2010/main" val="477764441"/>
              </p:ext>
            </p:extLst>
          </p:nvPr>
        </p:nvGraphicFramePr>
        <p:xfrm>
          <a:off x="921167" y="2316480"/>
          <a:ext cx="9416239" cy="1112520"/>
        </p:xfrm>
        <a:graphic>
          <a:graphicData uri="http://schemas.openxmlformats.org/drawingml/2006/table">
            <a:tbl>
              <a:tblPr firstRow="1" bandRow="1">
                <a:tableStyleId>{5C22544A-7EE6-4342-B048-85BDC9FD1C3A}</a:tableStyleId>
              </a:tblPr>
              <a:tblGrid>
                <a:gridCol w="2453655">
                  <a:extLst>
                    <a:ext uri="{9D8B030D-6E8A-4147-A177-3AD203B41FA5}">
                      <a16:colId xmlns:a16="http://schemas.microsoft.com/office/drawing/2014/main" val="340450334"/>
                    </a:ext>
                  </a:extLst>
                </a:gridCol>
                <a:gridCol w="1466760">
                  <a:extLst>
                    <a:ext uri="{9D8B030D-6E8A-4147-A177-3AD203B41FA5}">
                      <a16:colId xmlns:a16="http://schemas.microsoft.com/office/drawing/2014/main" val="3041207099"/>
                    </a:ext>
                  </a:extLst>
                </a:gridCol>
                <a:gridCol w="2623872">
                  <a:extLst>
                    <a:ext uri="{9D8B030D-6E8A-4147-A177-3AD203B41FA5}">
                      <a16:colId xmlns:a16="http://schemas.microsoft.com/office/drawing/2014/main" val="4054277343"/>
                    </a:ext>
                  </a:extLst>
                </a:gridCol>
                <a:gridCol w="1483058">
                  <a:extLst>
                    <a:ext uri="{9D8B030D-6E8A-4147-A177-3AD203B41FA5}">
                      <a16:colId xmlns:a16="http://schemas.microsoft.com/office/drawing/2014/main" val="1455643927"/>
                    </a:ext>
                  </a:extLst>
                </a:gridCol>
                <a:gridCol w="1388894">
                  <a:extLst>
                    <a:ext uri="{9D8B030D-6E8A-4147-A177-3AD203B41FA5}">
                      <a16:colId xmlns:a16="http://schemas.microsoft.com/office/drawing/2014/main" val="3222845941"/>
                    </a:ext>
                  </a:extLst>
                </a:gridCol>
              </a:tblGrid>
              <a:tr h="370840">
                <a:tc>
                  <a:txBody>
                    <a:bodyPr/>
                    <a:lstStyle/>
                    <a:p>
                      <a:r>
                        <a:rPr lang="es-AR" dirty="0"/>
                        <a:t>US </a:t>
                      </a:r>
                      <a:r>
                        <a:rPr lang="es-AR" dirty="0" err="1"/>
                        <a:t>Index</a:t>
                      </a:r>
                      <a:r>
                        <a:rPr lang="es-AR" dirty="0"/>
                        <a:t> </a:t>
                      </a:r>
                      <a:r>
                        <a:rPr lang="es-AR" dirty="0" err="1"/>
                        <a:t>Dividend</a:t>
                      </a:r>
                      <a:endParaRPr lang="en-US" dirty="0"/>
                    </a:p>
                  </a:txBody>
                  <a:tcPr/>
                </a:tc>
                <a:tc>
                  <a:txBody>
                    <a:bodyPr/>
                    <a:lstStyle/>
                    <a:p>
                      <a:r>
                        <a:rPr lang="es-AR" dirty="0"/>
                        <a:t>DB</a:t>
                      </a:r>
                      <a:endParaRPr lang="en-US" dirty="0"/>
                    </a:p>
                  </a:txBody>
                  <a:tcPr/>
                </a:tc>
                <a:tc>
                  <a:txBody>
                    <a:bodyPr/>
                    <a:lstStyle/>
                    <a:p>
                      <a:r>
                        <a:rPr lang="es-AR" dirty="0"/>
                        <a:t>Table</a:t>
                      </a:r>
                      <a:endParaRPr lang="en-US" dirty="0"/>
                    </a:p>
                  </a:txBody>
                  <a:tcPr/>
                </a:tc>
                <a:tc>
                  <a:txBody>
                    <a:bodyPr/>
                    <a:lstStyle/>
                    <a:p>
                      <a:r>
                        <a:rPr lang="es-AR" dirty="0" err="1"/>
                        <a:t>Details</a:t>
                      </a:r>
                      <a:endParaRPr lang="en-US" dirty="0"/>
                    </a:p>
                  </a:txBody>
                  <a:tcPr/>
                </a:tc>
                <a:tc>
                  <a:txBody>
                    <a:bodyPr/>
                    <a:lstStyle/>
                    <a:p>
                      <a:endParaRPr lang="en-US"/>
                    </a:p>
                  </a:txBody>
                  <a:tcPr/>
                </a:tc>
                <a:extLst>
                  <a:ext uri="{0D108BD9-81ED-4DB2-BD59-A6C34878D82A}">
                    <a16:rowId xmlns:a16="http://schemas.microsoft.com/office/drawing/2014/main" val="3093131045"/>
                  </a:ext>
                </a:extLst>
              </a:tr>
              <a:tr h="370840">
                <a:tc>
                  <a:txBody>
                    <a:bodyPr/>
                    <a:lstStyle/>
                    <a:p>
                      <a:r>
                        <a:rPr lang="es-AR" dirty="0" err="1"/>
                        <a:t>Vendor</a:t>
                      </a:r>
                      <a:endParaRPr lang="en-US" dirty="0"/>
                    </a:p>
                  </a:txBody>
                  <a:tcPr/>
                </a:tc>
                <a:tc>
                  <a:txBody>
                    <a:bodyPr/>
                    <a:lstStyle/>
                    <a:p>
                      <a:r>
                        <a:rPr lang="es-AR" dirty="0"/>
                        <a:t>NA</a:t>
                      </a:r>
                      <a:endParaRPr lang="en-US" dirty="0"/>
                    </a:p>
                  </a:txBody>
                  <a:tcPr/>
                </a:tc>
                <a:tc>
                  <a:txBody>
                    <a:bodyPr/>
                    <a:lstStyle/>
                    <a:p>
                      <a:r>
                        <a:rPr lang="es-AR" dirty="0"/>
                        <a:t>NA</a:t>
                      </a:r>
                      <a:endParaRPr lang="en-US" dirty="0"/>
                    </a:p>
                  </a:txBody>
                  <a:tcPr/>
                </a:tc>
                <a:tc>
                  <a:txBody>
                    <a:bodyPr/>
                    <a:lstStyle/>
                    <a:p>
                      <a:r>
                        <a:rPr lang="es-AR" dirty="0" err="1"/>
                        <a:t>Algorithm</a:t>
                      </a:r>
                      <a:endParaRPr lang="en-US" dirty="0"/>
                    </a:p>
                  </a:txBody>
                  <a:tcPr/>
                </a:tc>
                <a:tc>
                  <a:txBody>
                    <a:bodyPr/>
                    <a:lstStyle/>
                    <a:p>
                      <a:r>
                        <a:rPr lang="es-AR" dirty="0" err="1"/>
                        <a:t>Analytics</a:t>
                      </a:r>
                      <a:endParaRPr lang="en-US" dirty="0"/>
                    </a:p>
                  </a:txBody>
                  <a:tcPr/>
                </a:tc>
                <a:extLst>
                  <a:ext uri="{0D108BD9-81ED-4DB2-BD59-A6C34878D82A}">
                    <a16:rowId xmlns:a16="http://schemas.microsoft.com/office/drawing/2014/main" val="1731383781"/>
                  </a:ext>
                </a:extLst>
              </a:tr>
              <a:tr h="370840">
                <a:tc>
                  <a:txBody>
                    <a:bodyPr/>
                    <a:lstStyle/>
                    <a:p>
                      <a:r>
                        <a:rPr lang="es-AR" dirty="0"/>
                        <a:t>Axioma</a:t>
                      </a:r>
                      <a:endParaRPr lang="en-US" dirty="0"/>
                    </a:p>
                  </a:txBody>
                  <a:tcPr/>
                </a:tc>
                <a:tc>
                  <a:txBody>
                    <a:bodyPr/>
                    <a:lstStyle/>
                    <a:p>
                      <a:r>
                        <a:rPr lang="es-AR" dirty="0"/>
                        <a:t>NA</a:t>
                      </a:r>
                      <a:endParaRPr lang="en-US" dirty="0"/>
                    </a:p>
                  </a:txBody>
                  <a:tcPr/>
                </a:tc>
                <a:tc>
                  <a:txBody>
                    <a:bodyPr/>
                    <a:lstStyle/>
                    <a:p>
                      <a:r>
                        <a:rPr lang="es-AR" dirty="0"/>
                        <a:t>NA</a:t>
                      </a:r>
                      <a:endParaRPr lang="en-US" dirty="0"/>
                    </a:p>
                  </a:txBody>
                  <a:tcPr/>
                </a:tc>
                <a:tc>
                  <a:txBody>
                    <a:bodyPr/>
                    <a:lstStyle/>
                    <a:p>
                      <a:r>
                        <a:rPr lang="es-AR" dirty="0" err="1"/>
                        <a:t>Replication</a:t>
                      </a:r>
                      <a:endParaRPr lang="en-US" dirty="0"/>
                    </a:p>
                  </a:txBody>
                  <a:tcPr/>
                </a:tc>
                <a:tc>
                  <a:txBody>
                    <a:bodyPr/>
                    <a:lstStyle/>
                    <a:p>
                      <a:r>
                        <a:rPr lang="es-AR" dirty="0" err="1"/>
                        <a:t>Analytics</a:t>
                      </a:r>
                      <a:endParaRPr lang="en-US" dirty="0"/>
                    </a:p>
                  </a:txBody>
                  <a:tcPr/>
                </a:tc>
                <a:extLst>
                  <a:ext uri="{0D108BD9-81ED-4DB2-BD59-A6C34878D82A}">
                    <a16:rowId xmlns:a16="http://schemas.microsoft.com/office/drawing/2014/main" val="2228837132"/>
                  </a:ext>
                </a:extLst>
              </a:tr>
            </a:tbl>
          </a:graphicData>
        </a:graphic>
      </p:graphicFrame>
      <p:graphicFrame>
        <p:nvGraphicFramePr>
          <p:cNvPr id="7" name="Table 6">
            <a:extLst>
              <a:ext uri="{FF2B5EF4-FFF2-40B4-BE49-F238E27FC236}">
                <a16:creationId xmlns:a16="http://schemas.microsoft.com/office/drawing/2014/main" id="{CEA76EB9-1F0C-414B-8246-49F427BA2802}"/>
              </a:ext>
            </a:extLst>
          </p:cNvPr>
          <p:cNvGraphicFramePr>
            <a:graphicFrameLocks noGrp="1"/>
          </p:cNvGraphicFramePr>
          <p:nvPr>
            <p:extLst>
              <p:ext uri="{D42A27DB-BD31-4B8C-83A1-F6EECF244321}">
                <p14:modId xmlns:p14="http://schemas.microsoft.com/office/powerpoint/2010/main" val="1335057261"/>
              </p:ext>
            </p:extLst>
          </p:nvPr>
        </p:nvGraphicFramePr>
        <p:xfrm>
          <a:off x="921166" y="984658"/>
          <a:ext cx="9416239" cy="1112520"/>
        </p:xfrm>
        <a:graphic>
          <a:graphicData uri="http://schemas.openxmlformats.org/drawingml/2006/table">
            <a:tbl>
              <a:tblPr firstRow="1" bandRow="1">
                <a:tableStyleId>{5C22544A-7EE6-4342-B048-85BDC9FD1C3A}</a:tableStyleId>
              </a:tblPr>
              <a:tblGrid>
                <a:gridCol w="2453655">
                  <a:extLst>
                    <a:ext uri="{9D8B030D-6E8A-4147-A177-3AD203B41FA5}">
                      <a16:colId xmlns:a16="http://schemas.microsoft.com/office/drawing/2014/main" val="340450334"/>
                    </a:ext>
                  </a:extLst>
                </a:gridCol>
                <a:gridCol w="1466760">
                  <a:extLst>
                    <a:ext uri="{9D8B030D-6E8A-4147-A177-3AD203B41FA5}">
                      <a16:colId xmlns:a16="http://schemas.microsoft.com/office/drawing/2014/main" val="3041207099"/>
                    </a:ext>
                  </a:extLst>
                </a:gridCol>
                <a:gridCol w="2623872">
                  <a:extLst>
                    <a:ext uri="{9D8B030D-6E8A-4147-A177-3AD203B41FA5}">
                      <a16:colId xmlns:a16="http://schemas.microsoft.com/office/drawing/2014/main" val="4054277343"/>
                    </a:ext>
                  </a:extLst>
                </a:gridCol>
                <a:gridCol w="1483058">
                  <a:extLst>
                    <a:ext uri="{9D8B030D-6E8A-4147-A177-3AD203B41FA5}">
                      <a16:colId xmlns:a16="http://schemas.microsoft.com/office/drawing/2014/main" val="1455643927"/>
                    </a:ext>
                  </a:extLst>
                </a:gridCol>
                <a:gridCol w="1388894">
                  <a:extLst>
                    <a:ext uri="{9D8B030D-6E8A-4147-A177-3AD203B41FA5}">
                      <a16:colId xmlns:a16="http://schemas.microsoft.com/office/drawing/2014/main" val="3222845941"/>
                    </a:ext>
                  </a:extLst>
                </a:gridCol>
              </a:tblGrid>
              <a:tr h="370840">
                <a:tc>
                  <a:txBody>
                    <a:bodyPr/>
                    <a:lstStyle/>
                    <a:p>
                      <a:r>
                        <a:rPr lang="es-AR" dirty="0"/>
                        <a:t>US </a:t>
                      </a:r>
                      <a:r>
                        <a:rPr lang="es-AR" dirty="0" err="1"/>
                        <a:t>Index</a:t>
                      </a:r>
                      <a:r>
                        <a:rPr lang="es-AR" dirty="0"/>
                        <a:t> </a:t>
                      </a:r>
                      <a:r>
                        <a:rPr lang="es-AR" dirty="0" err="1"/>
                        <a:t>Prices</a:t>
                      </a:r>
                      <a:endParaRPr lang="en-US" dirty="0"/>
                    </a:p>
                  </a:txBody>
                  <a:tcPr/>
                </a:tc>
                <a:tc>
                  <a:txBody>
                    <a:bodyPr/>
                    <a:lstStyle/>
                    <a:p>
                      <a:r>
                        <a:rPr lang="es-AR" dirty="0"/>
                        <a:t>DB</a:t>
                      </a:r>
                      <a:endParaRPr lang="en-US" dirty="0"/>
                    </a:p>
                  </a:txBody>
                  <a:tcPr/>
                </a:tc>
                <a:tc>
                  <a:txBody>
                    <a:bodyPr/>
                    <a:lstStyle/>
                    <a:p>
                      <a:r>
                        <a:rPr lang="es-AR" dirty="0"/>
                        <a:t>Table</a:t>
                      </a:r>
                      <a:endParaRPr lang="en-US" dirty="0"/>
                    </a:p>
                  </a:txBody>
                  <a:tcPr/>
                </a:tc>
                <a:tc>
                  <a:txBody>
                    <a:bodyPr/>
                    <a:lstStyle/>
                    <a:p>
                      <a:r>
                        <a:rPr lang="es-AR" dirty="0" err="1"/>
                        <a:t>Details</a:t>
                      </a:r>
                      <a:endParaRPr lang="en-US" dirty="0"/>
                    </a:p>
                  </a:txBody>
                  <a:tcPr/>
                </a:tc>
                <a:tc>
                  <a:txBody>
                    <a:bodyPr/>
                    <a:lstStyle/>
                    <a:p>
                      <a:endParaRPr lang="en-US"/>
                    </a:p>
                  </a:txBody>
                  <a:tcPr/>
                </a:tc>
                <a:extLst>
                  <a:ext uri="{0D108BD9-81ED-4DB2-BD59-A6C34878D82A}">
                    <a16:rowId xmlns:a16="http://schemas.microsoft.com/office/drawing/2014/main" val="3093131045"/>
                  </a:ext>
                </a:extLst>
              </a:tr>
              <a:tr h="370840">
                <a:tc>
                  <a:txBody>
                    <a:bodyPr/>
                    <a:lstStyle/>
                    <a:p>
                      <a:r>
                        <a:rPr lang="es-AR" dirty="0" err="1"/>
                        <a:t>Vendor</a:t>
                      </a:r>
                      <a:endParaRPr lang="en-US" dirty="0"/>
                    </a:p>
                  </a:txBody>
                  <a:tcPr/>
                </a:tc>
                <a:tc>
                  <a:txBody>
                    <a:bodyPr/>
                    <a:lstStyle/>
                    <a:p>
                      <a:r>
                        <a:rPr lang="es-AR" dirty="0" err="1"/>
                        <a:t>IvyDB</a:t>
                      </a:r>
                      <a:r>
                        <a:rPr lang="es-AR" dirty="0"/>
                        <a:t> US</a:t>
                      </a:r>
                      <a:endParaRPr lang="en-US" dirty="0"/>
                    </a:p>
                  </a:txBody>
                  <a:tcPr/>
                </a:tc>
                <a:tc>
                  <a:txBody>
                    <a:bodyPr/>
                    <a:lstStyle/>
                    <a:p>
                      <a:r>
                        <a:rPr lang="es-AR" dirty="0"/>
                        <a:t>SECURITY_PRICES</a:t>
                      </a:r>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31383781"/>
                  </a:ext>
                </a:extLst>
              </a:tr>
              <a:tr h="370840">
                <a:tc>
                  <a:txBody>
                    <a:bodyPr/>
                    <a:lstStyle/>
                    <a:p>
                      <a:r>
                        <a:rPr lang="es-AR" dirty="0"/>
                        <a:t>Axioma</a:t>
                      </a:r>
                      <a:endParaRPr lang="en-US" dirty="0"/>
                    </a:p>
                  </a:txBody>
                  <a:tcPr/>
                </a:tc>
                <a:tc>
                  <a:txBody>
                    <a:bodyPr/>
                    <a:lstStyle/>
                    <a:p>
                      <a:r>
                        <a:rPr lang="es-AR" dirty="0" err="1"/>
                        <a:t>MarkertData</a:t>
                      </a:r>
                      <a:endParaRPr lang="en-US" dirty="0"/>
                    </a:p>
                  </a:txBody>
                  <a:tcPr/>
                </a:tc>
                <a:tc>
                  <a:txBody>
                    <a:bodyPr/>
                    <a:lstStyle/>
                    <a:p>
                      <a:endParaRPr lang="en-US" dirty="0"/>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228837132"/>
                  </a:ext>
                </a:extLst>
              </a:tr>
            </a:tbl>
          </a:graphicData>
        </a:graphic>
      </p:graphicFrame>
    </p:spTree>
    <p:extLst>
      <p:ext uri="{BB962C8B-B14F-4D97-AF65-F5344CB8AC3E}">
        <p14:creationId xmlns:p14="http://schemas.microsoft.com/office/powerpoint/2010/main" val="1487388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6EAD825E-D496-4AAC-8C93-AA4A0B126EF3}"/>
              </a:ext>
            </a:extLst>
          </p:cNvPr>
          <p:cNvSpPr txBox="1">
            <a:spLocks/>
          </p:cNvSpPr>
          <p:nvPr/>
        </p:nvSpPr>
        <p:spPr>
          <a:xfrm>
            <a:off x="593827" y="4030462"/>
            <a:ext cx="5824728" cy="2453186"/>
          </a:xfrm>
          <a:prstGeom prst="rect">
            <a:avLst/>
          </a:prstGeom>
        </p:spPr>
        <p:txBody>
          <a:bodyPr lIns="0" tIns="0" rIns="0" bIns="0"/>
          <a:lstStyle>
            <a:lvl1pPr marL="0" indent="0" algn="l" defTabSz="914400" rtl="0" eaLnBrk="1" latinLnBrk="0" hangingPunct="1">
              <a:lnSpc>
                <a:spcPts val="2160"/>
              </a:lnSpc>
              <a:spcBef>
                <a:spcPts val="0"/>
              </a:spcBef>
              <a:spcAft>
                <a:spcPts val="0"/>
              </a:spcAft>
              <a:buFont typeface="Arial" panose="020B0604020202020204" pitchFamily="34" charset="0"/>
              <a:buNone/>
              <a:defRPr sz="1800" b="0" i="0" kern="1200">
                <a:solidFill>
                  <a:schemeClr val="accent1">
                    <a:lumMod val="50000"/>
                  </a:schemeClr>
                </a:solidFill>
                <a:latin typeface="+mj-lt"/>
                <a:ea typeface="Source Sans Pro"/>
                <a:cs typeface="Source Sans Pro"/>
              </a:defRPr>
            </a:lvl1pPr>
            <a:lvl2pPr marL="571500" indent="-173038" algn="l" defTabSz="914400" rtl="0" eaLnBrk="1" latinLnBrk="0" hangingPunct="1">
              <a:lnSpc>
                <a:spcPts val="2160"/>
              </a:lnSpc>
              <a:spcBef>
                <a:spcPts val="0"/>
              </a:spcBef>
              <a:spcAft>
                <a:spcPts val="0"/>
              </a:spcAft>
              <a:buFont typeface="Arial" charset="0"/>
              <a:buChar char="•"/>
              <a:tabLst/>
              <a:defRPr sz="1600" b="0" i="0" kern="1200" baseline="0">
                <a:solidFill>
                  <a:schemeClr val="accent1">
                    <a:lumMod val="50000"/>
                  </a:schemeClr>
                </a:solidFill>
                <a:latin typeface="+mj-lt"/>
                <a:ea typeface="Source Sans Pro"/>
                <a:cs typeface="Source Sans Pro"/>
              </a:defRPr>
            </a:lvl2pPr>
            <a:lvl3pPr marL="858838" indent="-231775" algn="l" defTabSz="914400" rtl="0" eaLnBrk="1" latinLnBrk="0" hangingPunct="1">
              <a:lnSpc>
                <a:spcPts val="2160"/>
              </a:lnSpc>
              <a:spcBef>
                <a:spcPts val="0"/>
              </a:spcBef>
              <a:spcAft>
                <a:spcPts val="0"/>
              </a:spcAft>
              <a:buFont typeface="Arial" panose="020B0604020202020204" pitchFamily="34" charset="0"/>
              <a:buChar char="•"/>
              <a:tabLst/>
              <a:defRPr sz="1400" b="0" i="0" kern="1200">
                <a:solidFill>
                  <a:schemeClr val="accent1">
                    <a:lumMod val="50000"/>
                  </a:schemeClr>
                </a:solidFill>
                <a:latin typeface="+mj-lt"/>
                <a:ea typeface="Source Sans Pro"/>
                <a:cs typeface="Source Sans Pro"/>
              </a:defRPr>
            </a:lvl3pPr>
            <a:lvl4pPr marL="1085850" indent="-171450" algn="l" defTabSz="914400" rtl="0" eaLnBrk="1" latinLnBrk="0" hangingPunct="1">
              <a:lnSpc>
                <a:spcPts val="2160"/>
              </a:lnSpc>
              <a:spcBef>
                <a:spcPts val="0"/>
              </a:spcBef>
              <a:spcAft>
                <a:spcPts val="0"/>
              </a:spcAft>
              <a:buFont typeface="Arial" panose="020B0604020202020204" pitchFamily="34" charset="0"/>
              <a:buChar char="•"/>
              <a:defRPr sz="1200" b="0" i="0" kern="1200">
                <a:solidFill>
                  <a:schemeClr val="accent1">
                    <a:lumMod val="50000"/>
                  </a:schemeClr>
                </a:solidFill>
                <a:latin typeface="+mj-lt"/>
                <a:ea typeface="Raleway" charset="0"/>
                <a:cs typeface="Raleway" charset="0"/>
              </a:defRPr>
            </a:lvl4pPr>
            <a:lvl5pPr marL="2057400" indent="-228600" algn="l" defTabSz="914400" rtl="0" eaLnBrk="1" latinLnBrk="0" hangingPunct="1">
              <a:lnSpc>
                <a:spcPts val="2160"/>
              </a:lnSpc>
              <a:spcBef>
                <a:spcPts val="0"/>
              </a:spcBef>
              <a:spcAft>
                <a:spcPts val="0"/>
              </a:spcAft>
              <a:buFont typeface="Arial" panose="020B0604020202020204" pitchFamily="34" charset="0"/>
              <a:buChar char="•"/>
              <a:defRPr sz="1400" b="1" i="0" kern="1200">
                <a:solidFill>
                  <a:schemeClr val="accent1">
                    <a:lumMod val="50000"/>
                  </a:schemeClr>
                </a:solidFill>
                <a:latin typeface="+mj-lt"/>
                <a:ea typeface="Raleway" charset="0"/>
                <a:cs typeface="Raleway"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hlinkClick r:id="rId2"/>
            </a:endParaRPr>
          </a:p>
          <a:p>
            <a:endParaRPr lang="en-US" dirty="0"/>
          </a:p>
        </p:txBody>
      </p:sp>
      <p:sp>
        <p:nvSpPr>
          <p:cNvPr id="5" name="Text Placeholder 1">
            <a:extLst>
              <a:ext uri="{FF2B5EF4-FFF2-40B4-BE49-F238E27FC236}">
                <a16:creationId xmlns:a16="http://schemas.microsoft.com/office/drawing/2014/main" id="{B446D463-9164-4B88-B522-1821664122B0}"/>
              </a:ext>
            </a:extLst>
          </p:cNvPr>
          <p:cNvSpPr txBox="1">
            <a:spLocks/>
          </p:cNvSpPr>
          <p:nvPr/>
        </p:nvSpPr>
        <p:spPr>
          <a:xfrm>
            <a:off x="576072" y="501008"/>
            <a:ext cx="8794750" cy="356527"/>
          </a:xfrm>
          <a:prstGeom prst="rect">
            <a:avLst/>
          </a:prstGeom>
        </p:spPr>
        <p:txBody>
          <a:bodyPr lIns="0" tIns="0" rIns="0" bIns="0"/>
          <a:lstStyle>
            <a:lvl1pPr marL="0" indent="0" algn="l" defTabSz="914400" rtl="0" eaLnBrk="1" latinLnBrk="0" hangingPunct="1">
              <a:lnSpc>
                <a:spcPct val="90000"/>
              </a:lnSpc>
              <a:spcBef>
                <a:spcPts val="1000"/>
              </a:spcBef>
              <a:buFont typeface="Arial" panose="020B0604020202020204" pitchFamily="34" charset="0"/>
              <a:buNone/>
              <a:defRPr sz="1800" b="1" i="0" kern="1200" cap="none" spc="50" baseline="0">
                <a:solidFill>
                  <a:srgbClr val="0070C0"/>
                </a:solidFill>
                <a:latin typeface="+mj-lt"/>
                <a:ea typeface="Source Sans Pro"/>
                <a:cs typeface="Source Sans Pro"/>
              </a:defRPr>
            </a:lvl1pPr>
            <a:lvl2pPr marL="6858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lumMod val="65000"/>
                    <a:lumOff val="35000"/>
                  </a:schemeClr>
                </a:solidFill>
                <a:latin typeface="Source Sans Pro"/>
                <a:ea typeface="Source Sans Pro"/>
                <a:cs typeface="Source Sans Pro"/>
              </a:defRPr>
            </a:lvl2pPr>
            <a:lvl3pPr marL="11430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lumMod val="65000"/>
                    <a:lumOff val="35000"/>
                  </a:schemeClr>
                </a:solidFill>
                <a:latin typeface="Source Sans Pro"/>
                <a:ea typeface="Source Sans Pro"/>
                <a:cs typeface="Source Sans Pro"/>
              </a:defRPr>
            </a:lvl3pPr>
            <a:lvl4pPr marL="1600200" indent="-228600" algn="l" defTabSz="914400" rtl="0" eaLnBrk="1" latinLnBrk="0" hangingPunct="1">
              <a:lnSpc>
                <a:spcPct val="90000"/>
              </a:lnSpc>
              <a:spcBef>
                <a:spcPts val="500"/>
              </a:spcBef>
              <a:buFont typeface="Arial" panose="020B0604020202020204" pitchFamily="34" charset="0"/>
              <a:buChar char="•"/>
              <a:defRPr sz="1400" b="1" i="0" kern="1200">
                <a:solidFill>
                  <a:schemeClr val="tx1"/>
                </a:solidFill>
                <a:latin typeface="Raleway" charset="0"/>
                <a:ea typeface="Raleway" charset="0"/>
                <a:cs typeface="Raleway"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b="1" i="0" kern="1200">
                <a:solidFill>
                  <a:schemeClr val="tx1"/>
                </a:solidFill>
                <a:latin typeface="Raleway" charset="0"/>
                <a:ea typeface="Raleway" charset="0"/>
                <a:cs typeface="Raleway"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AR" dirty="0" err="1">
                <a:highlight>
                  <a:srgbClr val="00FF00"/>
                </a:highlight>
              </a:rPr>
              <a:t>What</a:t>
            </a:r>
            <a:r>
              <a:rPr lang="es-AR" dirty="0">
                <a:highlight>
                  <a:srgbClr val="00FF00"/>
                </a:highlight>
              </a:rPr>
              <a:t> </a:t>
            </a:r>
            <a:r>
              <a:rPr lang="es-AR" dirty="0" err="1">
                <a:highlight>
                  <a:srgbClr val="00FF00"/>
                </a:highlight>
              </a:rPr>
              <a:t>were</a:t>
            </a:r>
            <a:r>
              <a:rPr lang="es-AR" dirty="0">
                <a:highlight>
                  <a:srgbClr val="00FF00"/>
                </a:highlight>
              </a:rPr>
              <a:t> </a:t>
            </a:r>
            <a:r>
              <a:rPr lang="es-AR" dirty="0" err="1">
                <a:highlight>
                  <a:srgbClr val="00FF00"/>
                </a:highlight>
              </a:rPr>
              <a:t>we</a:t>
            </a:r>
            <a:r>
              <a:rPr lang="es-AR" dirty="0">
                <a:highlight>
                  <a:srgbClr val="00FF00"/>
                </a:highlight>
              </a:rPr>
              <a:t> </a:t>
            </a:r>
            <a:r>
              <a:rPr lang="es-AR" dirty="0" err="1">
                <a:highlight>
                  <a:srgbClr val="00FF00"/>
                </a:highlight>
              </a:rPr>
              <a:t>able</a:t>
            </a:r>
            <a:r>
              <a:rPr lang="es-AR" dirty="0">
                <a:highlight>
                  <a:srgbClr val="00FF00"/>
                </a:highlight>
              </a:rPr>
              <a:t> </a:t>
            </a:r>
            <a:r>
              <a:rPr lang="es-AR" dirty="0" err="1">
                <a:highlight>
                  <a:srgbClr val="00FF00"/>
                </a:highlight>
              </a:rPr>
              <a:t>to</a:t>
            </a:r>
            <a:r>
              <a:rPr lang="es-AR" dirty="0">
                <a:highlight>
                  <a:srgbClr val="00FF00"/>
                </a:highlight>
              </a:rPr>
              <a:t> </a:t>
            </a:r>
            <a:r>
              <a:rPr lang="es-AR" dirty="0" err="1">
                <a:highlight>
                  <a:srgbClr val="00FF00"/>
                </a:highlight>
              </a:rPr>
              <a:t>replicate</a:t>
            </a:r>
            <a:endParaRPr lang="en-US" dirty="0">
              <a:highlight>
                <a:srgbClr val="00FF00"/>
              </a:highlight>
            </a:endParaRPr>
          </a:p>
        </p:txBody>
      </p:sp>
      <p:sp>
        <p:nvSpPr>
          <p:cNvPr id="6" name="Text Placeholder 2">
            <a:extLst>
              <a:ext uri="{FF2B5EF4-FFF2-40B4-BE49-F238E27FC236}">
                <a16:creationId xmlns:a16="http://schemas.microsoft.com/office/drawing/2014/main" id="{0A14AB62-EBAF-4A2A-81F3-BBE8E33E351A}"/>
              </a:ext>
            </a:extLst>
          </p:cNvPr>
          <p:cNvSpPr txBox="1">
            <a:spLocks/>
          </p:cNvSpPr>
          <p:nvPr/>
        </p:nvSpPr>
        <p:spPr>
          <a:xfrm>
            <a:off x="593827" y="693427"/>
            <a:ext cx="5238803" cy="2500197"/>
          </a:xfrm>
          <a:prstGeom prst="rect">
            <a:avLst/>
          </a:prstGeom>
        </p:spPr>
        <p:txBody>
          <a:bodyPr lIns="0" tIns="0" rIns="0" bIns="0"/>
          <a:lstStyle>
            <a:lvl1pPr marL="0" indent="0" algn="l" defTabSz="914400" rtl="0" eaLnBrk="1" latinLnBrk="0" hangingPunct="1">
              <a:lnSpc>
                <a:spcPts val="2160"/>
              </a:lnSpc>
              <a:spcBef>
                <a:spcPts val="0"/>
              </a:spcBef>
              <a:spcAft>
                <a:spcPts val="0"/>
              </a:spcAft>
              <a:buFont typeface="Arial" panose="020B0604020202020204" pitchFamily="34" charset="0"/>
              <a:buNone/>
              <a:defRPr sz="1800" b="0" i="0" kern="1200">
                <a:solidFill>
                  <a:schemeClr val="accent1">
                    <a:lumMod val="50000"/>
                  </a:schemeClr>
                </a:solidFill>
                <a:latin typeface="+mj-lt"/>
                <a:ea typeface="Source Sans Pro"/>
                <a:cs typeface="Source Sans Pro"/>
              </a:defRPr>
            </a:lvl1pPr>
            <a:lvl2pPr marL="571500" indent="-173038" algn="l" defTabSz="914400" rtl="0" eaLnBrk="1" latinLnBrk="0" hangingPunct="1">
              <a:lnSpc>
                <a:spcPts val="2160"/>
              </a:lnSpc>
              <a:spcBef>
                <a:spcPts val="0"/>
              </a:spcBef>
              <a:spcAft>
                <a:spcPts val="0"/>
              </a:spcAft>
              <a:buFont typeface="Arial" charset="0"/>
              <a:buChar char="•"/>
              <a:tabLst/>
              <a:defRPr sz="1600" b="0" i="0" kern="1200" baseline="0">
                <a:solidFill>
                  <a:schemeClr val="accent1">
                    <a:lumMod val="50000"/>
                  </a:schemeClr>
                </a:solidFill>
                <a:latin typeface="+mj-lt"/>
                <a:ea typeface="Source Sans Pro"/>
                <a:cs typeface="Source Sans Pro"/>
              </a:defRPr>
            </a:lvl2pPr>
            <a:lvl3pPr marL="858838" indent="-231775" algn="l" defTabSz="914400" rtl="0" eaLnBrk="1" latinLnBrk="0" hangingPunct="1">
              <a:lnSpc>
                <a:spcPts val="2160"/>
              </a:lnSpc>
              <a:spcBef>
                <a:spcPts val="0"/>
              </a:spcBef>
              <a:spcAft>
                <a:spcPts val="0"/>
              </a:spcAft>
              <a:buFont typeface="Arial" panose="020B0604020202020204" pitchFamily="34" charset="0"/>
              <a:buChar char="•"/>
              <a:tabLst/>
              <a:defRPr sz="1400" b="0" i="0" kern="1200">
                <a:solidFill>
                  <a:schemeClr val="accent1">
                    <a:lumMod val="50000"/>
                  </a:schemeClr>
                </a:solidFill>
                <a:latin typeface="+mj-lt"/>
                <a:ea typeface="Source Sans Pro"/>
                <a:cs typeface="Source Sans Pro"/>
              </a:defRPr>
            </a:lvl3pPr>
            <a:lvl4pPr marL="1085850" indent="-171450" algn="l" defTabSz="914400" rtl="0" eaLnBrk="1" latinLnBrk="0" hangingPunct="1">
              <a:lnSpc>
                <a:spcPts val="2160"/>
              </a:lnSpc>
              <a:spcBef>
                <a:spcPts val="0"/>
              </a:spcBef>
              <a:spcAft>
                <a:spcPts val="0"/>
              </a:spcAft>
              <a:buFont typeface="Arial" panose="020B0604020202020204" pitchFamily="34" charset="0"/>
              <a:buChar char="•"/>
              <a:defRPr sz="1200" b="0" i="0" kern="1200">
                <a:solidFill>
                  <a:schemeClr val="accent1">
                    <a:lumMod val="50000"/>
                  </a:schemeClr>
                </a:solidFill>
                <a:latin typeface="+mj-lt"/>
                <a:ea typeface="Raleway" charset="0"/>
                <a:cs typeface="Raleway" charset="0"/>
              </a:defRPr>
            </a:lvl4pPr>
            <a:lvl5pPr marL="2057400" indent="-228600" algn="l" defTabSz="914400" rtl="0" eaLnBrk="1" latinLnBrk="0" hangingPunct="1">
              <a:lnSpc>
                <a:spcPts val="2160"/>
              </a:lnSpc>
              <a:spcBef>
                <a:spcPts val="0"/>
              </a:spcBef>
              <a:spcAft>
                <a:spcPts val="0"/>
              </a:spcAft>
              <a:buFont typeface="Arial" panose="020B0604020202020204" pitchFamily="34" charset="0"/>
              <a:buChar char="•"/>
              <a:defRPr sz="1400" b="1" i="0" kern="1200">
                <a:solidFill>
                  <a:schemeClr val="accent1">
                    <a:lumMod val="50000"/>
                  </a:schemeClr>
                </a:solidFill>
                <a:latin typeface="+mj-lt"/>
                <a:ea typeface="Raleway" charset="0"/>
                <a:cs typeface="Raleway"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hlinkClick r:id="rId2"/>
            </a:endParaRPr>
          </a:p>
          <a:p>
            <a:r>
              <a:rPr lang="en-US" dirty="0"/>
              <a:t>1. Historical option prices: For EACH valuation date, for each available option (strike-maturity) and type P/C:</a:t>
            </a:r>
          </a:p>
          <a:p>
            <a:pPr marL="285750" indent="-285750">
              <a:buFont typeface="Arial" panose="020B0604020202020204" pitchFamily="34" charset="0"/>
              <a:buChar char="•"/>
            </a:pPr>
            <a:r>
              <a:rPr lang="en-US" dirty="0"/>
              <a:t>LAST Bid-Ask prices</a:t>
            </a:r>
          </a:p>
          <a:p>
            <a:pPr marL="285750" indent="-285750">
              <a:buFont typeface="Arial" panose="020B0604020202020204" pitchFamily="34" charset="0"/>
              <a:buChar char="•"/>
            </a:pPr>
            <a:r>
              <a:rPr lang="en-US" dirty="0"/>
              <a:t>Volume, </a:t>
            </a:r>
          </a:p>
          <a:p>
            <a:pPr marL="285750" indent="-285750">
              <a:buFont typeface="Arial" panose="020B0604020202020204" pitchFamily="34" charset="0"/>
              <a:buChar char="•"/>
            </a:pPr>
            <a:r>
              <a:rPr lang="en-US" dirty="0">
                <a:solidFill>
                  <a:schemeClr val="accent6"/>
                </a:solidFill>
              </a:rPr>
              <a:t>Implied Vol</a:t>
            </a:r>
          </a:p>
          <a:p>
            <a:pPr marL="285750" indent="-285750">
              <a:buFont typeface="Arial" panose="020B0604020202020204" pitchFamily="34" charset="0"/>
              <a:buChar char="•"/>
            </a:pPr>
            <a:r>
              <a:rPr lang="en-US" dirty="0">
                <a:solidFill>
                  <a:schemeClr val="accent6"/>
                </a:solidFill>
              </a:rPr>
              <a:t>Delta, Gamma, Vega, Theta</a:t>
            </a:r>
            <a:r>
              <a:rPr lang="en-US" dirty="0"/>
              <a:t>			</a:t>
            </a:r>
          </a:p>
          <a:p>
            <a:pPr marL="285750" indent="-285750"/>
            <a:endParaRPr lang="en-US" dirty="0"/>
          </a:p>
          <a:p>
            <a:pPr marL="285750" indent="-285750"/>
            <a:endParaRPr lang="en-US" dirty="0"/>
          </a:p>
        </p:txBody>
      </p:sp>
      <p:sp>
        <p:nvSpPr>
          <p:cNvPr id="7" name="Text Placeholder 2">
            <a:extLst>
              <a:ext uri="{FF2B5EF4-FFF2-40B4-BE49-F238E27FC236}">
                <a16:creationId xmlns:a16="http://schemas.microsoft.com/office/drawing/2014/main" id="{17401571-DE6B-4476-A7FC-07853E00F41D}"/>
              </a:ext>
            </a:extLst>
          </p:cNvPr>
          <p:cNvSpPr txBox="1">
            <a:spLocks/>
          </p:cNvSpPr>
          <p:nvPr/>
        </p:nvSpPr>
        <p:spPr>
          <a:xfrm>
            <a:off x="593827" y="3289538"/>
            <a:ext cx="5597381" cy="1936803"/>
          </a:xfrm>
          <a:prstGeom prst="rect">
            <a:avLst/>
          </a:prstGeom>
        </p:spPr>
        <p:txBody>
          <a:bodyPr lIns="0" tIns="0" rIns="0" bIns="0"/>
          <a:lstStyle>
            <a:lvl1pPr marL="0" indent="0" algn="l" defTabSz="914400" rtl="0" eaLnBrk="1" latinLnBrk="0" hangingPunct="1">
              <a:lnSpc>
                <a:spcPts val="2160"/>
              </a:lnSpc>
              <a:spcBef>
                <a:spcPts val="0"/>
              </a:spcBef>
              <a:spcAft>
                <a:spcPts val="0"/>
              </a:spcAft>
              <a:buFont typeface="Arial" panose="020B0604020202020204" pitchFamily="34" charset="0"/>
              <a:buNone/>
              <a:defRPr sz="1800" b="0" i="0" kern="1200">
                <a:solidFill>
                  <a:schemeClr val="accent1">
                    <a:lumMod val="50000"/>
                  </a:schemeClr>
                </a:solidFill>
                <a:latin typeface="+mj-lt"/>
                <a:ea typeface="Source Sans Pro"/>
                <a:cs typeface="Source Sans Pro"/>
              </a:defRPr>
            </a:lvl1pPr>
            <a:lvl2pPr marL="571500" indent="-173038" algn="l" defTabSz="914400" rtl="0" eaLnBrk="1" latinLnBrk="0" hangingPunct="1">
              <a:lnSpc>
                <a:spcPts val="2160"/>
              </a:lnSpc>
              <a:spcBef>
                <a:spcPts val="0"/>
              </a:spcBef>
              <a:spcAft>
                <a:spcPts val="0"/>
              </a:spcAft>
              <a:buFont typeface="Arial" charset="0"/>
              <a:buChar char="•"/>
              <a:tabLst/>
              <a:defRPr sz="1600" b="0" i="0" kern="1200" baseline="0">
                <a:solidFill>
                  <a:schemeClr val="accent1">
                    <a:lumMod val="50000"/>
                  </a:schemeClr>
                </a:solidFill>
                <a:latin typeface="+mj-lt"/>
                <a:ea typeface="Source Sans Pro"/>
                <a:cs typeface="Source Sans Pro"/>
              </a:defRPr>
            </a:lvl2pPr>
            <a:lvl3pPr marL="858838" indent="-231775" algn="l" defTabSz="914400" rtl="0" eaLnBrk="1" latinLnBrk="0" hangingPunct="1">
              <a:lnSpc>
                <a:spcPts val="2160"/>
              </a:lnSpc>
              <a:spcBef>
                <a:spcPts val="0"/>
              </a:spcBef>
              <a:spcAft>
                <a:spcPts val="0"/>
              </a:spcAft>
              <a:buFont typeface="Arial" panose="020B0604020202020204" pitchFamily="34" charset="0"/>
              <a:buChar char="•"/>
              <a:tabLst/>
              <a:defRPr sz="1400" b="0" i="0" kern="1200">
                <a:solidFill>
                  <a:schemeClr val="accent1">
                    <a:lumMod val="50000"/>
                  </a:schemeClr>
                </a:solidFill>
                <a:latin typeface="+mj-lt"/>
                <a:ea typeface="Source Sans Pro"/>
                <a:cs typeface="Source Sans Pro"/>
              </a:defRPr>
            </a:lvl3pPr>
            <a:lvl4pPr marL="1085850" indent="-171450" algn="l" defTabSz="914400" rtl="0" eaLnBrk="1" latinLnBrk="0" hangingPunct="1">
              <a:lnSpc>
                <a:spcPts val="2160"/>
              </a:lnSpc>
              <a:spcBef>
                <a:spcPts val="0"/>
              </a:spcBef>
              <a:spcAft>
                <a:spcPts val="0"/>
              </a:spcAft>
              <a:buFont typeface="Arial" panose="020B0604020202020204" pitchFamily="34" charset="0"/>
              <a:buChar char="•"/>
              <a:defRPr sz="1200" b="0" i="0" kern="1200">
                <a:solidFill>
                  <a:schemeClr val="accent1">
                    <a:lumMod val="50000"/>
                  </a:schemeClr>
                </a:solidFill>
                <a:latin typeface="+mj-lt"/>
                <a:ea typeface="Raleway" charset="0"/>
                <a:cs typeface="Raleway" charset="0"/>
              </a:defRPr>
            </a:lvl4pPr>
            <a:lvl5pPr marL="2057400" indent="-228600" algn="l" defTabSz="914400" rtl="0" eaLnBrk="1" latinLnBrk="0" hangingPunct="1">
              <a:lnSpc>
                <a:spcPts val="2160"/>
              </a:lnSpc>
              <a:spcBef>
                <a:spcPts val="0"/>
              </a:spcBef>
              <a:spcAft>
                <a:spcPts val="0"/>
              </a:spcAft>
              <a:buFont typeface="Arial" panose="020B0604020202020204" pitchFamily="34" charset="0"/>
              <a:buChar char="•"/>
              <a:defRPr sz="1400" b="1" i="0" kern="1200">
                <a:solidFill>
                  <a:schemeClr val="accent1">
                    <a:lumMod val="50000"/>
                  </a:schemeClr>
                </a:solidFill>
                <a:latin typeface="+mj-lt"/>
                <a:ea typeface="Raleway" charset="0"/>
                <a:cs typeface="Raleway"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hlinkClick r:id="rId2"/>
            </a:endParaRPr>
          </a:p>
          <a:p>
            <a:r>
              <a:rPr lang="en-US" dirty="0"/>
              <a:t>2.  Historical volatility surface info: For EACH valuation date:</a:t>
            </a:r>
          </a:p>
          <a:p>
            <a:pPr marL="285750" indent="-285750">
              <a:buFont typeface="Arial" panose="020B0604020202020204" pitchFamily="34" charset="0"/>
              <a:buChar char="•"/>
            </a:pPr>
            <a:r>
              <a:rPr lang="en-US" dirty="0">
                <a:solidFill>
                  <a:schemeClr val="accent6"/>
                </a:solidFill>
              </a:rPr>
              <a:t>A Delta/Maturity implied volatility surface with standard/fixed Deltas and standard Maturities</a:t>
            </a:r>
            <a:r>
              <a:rPr lang="en-US" dirty="0"/>
              <a:t>:</a:t>
            </a:r>
          </a:p>
          <a:p>
            <a:pPr marL="285750" indent="-285750">
              <a:buFont typeface="Arial" panose="020B0604020202020204" pitchFamily="34" charset="0"/>
              <a:buChar char="•"/>
            </a:pPr>
            <a:r>
              <a:rPr lang="en-US" dirty="0"/>
              <a:t>Deltas: 0.2, 0.25, …0.75, 0.8 (+negatives for Puts)</a:t>
            </a:r>
          </a:p>
          <a:p>
            <a:pPr marL="285750" indent="-285750">
              <a:buFont typeface="Arial" panose="020B0604020202020204" pitchFamily="34" charset="0"/>
              <a:buChar char="•"/>
            </a:pPr>
            <a:r>
              <a:rPr lang="en-US" dirty="0"/>
              <a:t>Maturities: 30, 91, 122, 152, 182, 273, 365, 547, 730</a:t>
            </a:r>
          </a:p>
          <a:p>
            <a:pPr marL="285750" indent="-285750"/>
            <a:endParaRPr lang="en-US" dirty="0"/>
          </a:p>
        </p:txBody>
      </p:sp>
      <p:cxnSp>
        <p:nvCxnSpPr>
          <p:cNvPr id="17" name="Straight Arrow Connector 16">
            <a:extLst>
              <a:ext uri="{FF2B5EF4-FFF2-40B4-BE49-F238E27FC236}">
                <a16:creationId xmlns:a16="http://schemas.microsoft.com/office/drawing/2014/main" id="{006AE3E7-6A2B-4D40-86FD-134A08673093}"/>
              </a:ext>
            </a:extLst>
          </p:cNvPr>
          <p:cNvCxnSpPr>
            <a:cxnSpLocks/>
          </p:cNvCxnSpPr>
          <p:nvPr/>
        </p:nvCxnSpPr>
        <p:spPr>
          <a:xfrm flipV="1">
            <a:off x="4696287" y="1943525"/>
            <a:ext cx="1154098" cy="151605"/>
          </a:xfrm>
          <a:prstGeom prst="straightConnector1">
            <a:avLst/>
          </a:prstGeom>
          <a:ln w="76200">
            <a:tailEnd type="triangle"/>
          </a:ln>
        </p:spPr>
        <p:style>
          <a:lnRef idx="3">
            <a:schemeClr val="accent6"/>
          </a:lnRef>
          <a:fillRef idx="0">
            <a:schemeClr val="accent6"/>
          </a:fillRef>
          <a:effectRef idx="2">
            <a:schemeClr val="accent6"/>
          </a:effectRef>
          <a:fontRef idx="minor">
            <a:schemeClr val="tx1"/>
          </a:fontRef>
        </p:style>
      </p:cxnSp>
      <p:cxnSp>
        <p:nvCxnSpPr>
          <p:cNvPr id="20" name="Straight Arrow Connector 19">
            <a:extLst>
              <a:ext uri="{FF2B5EF4-FFF2-40B4-BE49-F238E27FC236}">
                <a16:creationId xmlns:a16="http://schemas.microsoft.com/office/drawing/2014/main" id="{7DF5310D-A8F6-4518-8750-994EB18D00F2}"/>
              </a:ext>
            </a:extLst>
          </p:cNvPr>
          <p:cNvCxnSpPr>
            <a:cxnSpLocks/>
          </p:cNvCxnSpPr>
          <p:nvPr/>
        </p:nvCxnSpPr>
        <p:spPr>
          <a:xfrm flipV="1">
            <a:off x="5624976" y="4090141"/>
            <a:ext cx="660414" cy="327482"/>
          </a:xfrm>
          <a:prstGeom prst="straightConnector1">
            <a:avLst/>
          </a:prstGeom>
          <a:ln w="76200">
            <a:tailEnd type="triangle"/>
          </a:ln>
        </p:spPr>
        <p:style>
          <a:lnRef idx="3">
            <a:schemeClr val="accent6"/>
          </a:lnRef>
          <a:fillRef idx="0">
            <a:schemeClr val="accent6"/>
          </a:fillRef>
          <a:effectRef idx="2">
            <a:schemeClr val="accent6"/>
          </a:effectRef>
          <a:fontRef idx="minor">
            <a:schemeClr val="tx1"/>
          </a:fontRef>
        </p:style>
      </p:cxnSp>
      <p:cxnSp>
        <p:nvCxnSpPr>
          <p:cNvPr id="22" name="Straight Arrow Connector 21">
            <a:extLst>
              <a:ext uri="{FF2B5EF4-FFF2-40B4-BE49-F238E27FC236}">
                <a16:creationId xmlns:a16="http://schemas.microsoft.com/office/drawing/2014/main" id="{3E34C624-1105-4525-9E5A-55B566A4F979}"/>
              </a:ext>
            </a:extLst>
          </p:cNvPr>
          <p:cNvCxnSpPr>
            <a:cxnSpLocks/>
          </p:cNvCxnSpPr>
          <p:nvPr/>
        </p:nvCxnSpPr>
        <p:spPr>
          <a:xfrm flipV="1">
            <a:off x="6002785" y="5496022"/>
            <a:ext cx="1465346" cy="528609"/>
          </a:xfrm>
          <a:prstGeom prst="straightConnector1">
            <a:avLst/>
          </a:prstGeom>
          <a:ln w="76200">
            <a:tailEnd type="triangle"/>
          </a:ln>
        </p:spPr>
        <p:style>
          <a:lnRef idx="3">
            <a:schemeClr val="accent6"/>
          </a:lnRef>
          <a:fillRef idx="0">
            <a:schemeClr val="accent6"/>
          </a:fillRef>
          <a:effectRef idx="2">
            <a:schemeClr val="accent6"/>
          </a:effectRef>
          <a:fontRef idx="minor">
            <a:schemeClr val="tx1"/>
          </a:fontRef>
        </p:style>
      </p:cxnSp>
      <p:sp>
        <p:nvSpPr>
          <p:cNvPr id="27" name="Oval 26">
            <a:extLst>
              <a:ext uri="{FF2B5EF4-FFF2-40B4-BE49-F238E27FC236}">
                <a16:creationId xmlns:a16="http://schemas.microsoft.com/office/drawing/2014/main" id="{F72D480B-436F-4E7B-A02C-6C255EFBABE1}"/>
              </a:ext>
            </a:extLst>
          </p:cNvPr>
          <p:cNvSpPr/>
          <p:nvPr/>
        </p:nvSpPr>
        <p:spPr>
          <a:xfrm>
            <a:off x="11208575" y="4661887"/>
            <a:ext cx="857628" cy="1668271"/>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CFABD5B4-9AB2-460B-B806-ED328080432C}"/>
              </a:ext>
            </a:extLst>
          </p:cNvPr>
          <p:cNvSpPr/>
          <p:nvPr/>
        </p:nvSpPr>
        <p:spPr>
          <a:xfrm>
            <a:off x="486772" y="5813751"/>
            <a:ext cx="4968027" cy="369332"/>
          </a:xfrm>
          <a:prstGeom prst="rect">
            <a:avLst/>
          </a:prstGeom>
        </p:spPr>
        <p:txBody>
          <a:bodyPr wrap="none">
            <a:spAutoFit/>
          </a:bodyPr>
          <a:lstStyle/>
          <a:p>
            <a:r>
              <a:rPr lang="en-US" dirty="0"/>
              <a:t>3. </a:t>
            </a:r>
            <a:r>
              <a:rPr lang="en-US" dirty="0">
                <a:solidFill>
                  <a:schemeClr val="accent6"/>
                </a:solidFill>
              </a:rPr>
              <a:t>Interest rate curve (ZC) – ticker independent</a:t>
            </a:r>
          </a:p>
        </p:txBody>
      </p:sp>
      <p:sp>
        <p:nvSpPr>
          <p:cNvPr id="3" name="TextBox 2">
            <a:extLst>
              <a:ext uri="{FF2B5EF4-FFF2-40B4-BE49-F238E27FC236}">
                <a16:creationId xmlns:a16="http://schemas.microsoft.com/office/drawing/2014/main" id="{4FBF309E-7044-43C3-ACC7-C9FEF16EAFA9}"/>
              </a:ext>
            </a:extLst>
          </p:cNvPr>
          <p:cNvSpPr txBox="1"/>
          <p:nvPr/>
        </p:nvSpPr>
        <p:spPr>
          <a:xfrm>
            <a:off x="6658377" y="693427"/>
            <a:ext cx="4550198" cy="1077218"/>
          </a:xfrm>
          <a:prstGeom prst="rect">
            <a:avLst/>
          </a:prstGeom>
          <a:noFill/>
          <a:ln>
            <a:noFill/>
          </a:ln>
        </p:spPr>
        <p:txBody>
          <a:bodyPr wrap="square" rtlCol="0">
            <a:spAutoFit/>
          </a:bodyPr>
          <a:lstStyle/>
          <a:p>
            <a:pPr algn="ctr"/>
            <a:r>
              <a:rPr lang="en-US" sz="1600" dirty="0">
                <a:solidFill>
                  <a:srgbClr val="1A427E"/>
                </a:solidFill>
                <a:highlight>
                  <a:srgbClr val="FFFF00"/>
                </a:highlight>
              </a:rPr>
              <a:t>Using </a:t>
            </a:r>
            <a:r>
              <a:rPr lang="en-US" sz="1600" dirty="0" err="1">
                <a:solidFill>
                  <a:srgbClr val="1A427E"/>
                </a:solidFill>
                <a:highlight>
                  <a:srgbClr val="FFFF00"/>
                </a:highlight>
              </a:rPr>
              <a:t>EJV_Derivs</a:t>
            </a:r>
            <a:r>
              <a:rPr lang="en-US" sz="1600" dirty="0">
                <a:solidFill>
                  <a:srgbClr val="1A427E"/>
                </a:solidFill>
                <a:highlight>
                  <a:srgbClr val="FFFF00"/>
                </a:highlight>
              </a:rPr>
              <a:t> Option Prices data, plus ORACLE database info on Spots and Dividends we were able to get the necessary input data to calculate implied volatilities</a:t>
            </a:r>
          </a:p>
        </p:txBody>
      </p:sp>
      <p:sp>
        <p:nvSpPr>
          <p:cNvPr id="18" name="TextBox 17">
            <a:extLst>
              <a:ext uri="{FF2B5EF4-FFF2-40B4-BE49-F238E27FC236}">
                <a16:creationId xmlns:a16="http://schemas.microsoft.com/office/drawing/2014/main" id="{12DEDE47-9399-4038-9BC2-489D49B0F34C}"/>
              </a:ext>
            </a:extLst>
          </p:cNvPr>
          <p:cNvSpPr txBox="1"/>
          <p:nvPr/>
        </p:nvSpPr>
        <p:spPr>
          <a:xfrm>
            <a:off x="7596076" y="4796765"/>
            <a:ext cx="4550198" cy="584775"/>
          </a:xfrm>
          <a:prstGeom prst="rect">
            <a:avLst/>
          </a:prstGeom>
          <a:noFill/>
          <a:ln>
            <a:noFill/>
          </a:ln>
        </p:spPr>
        <p:txBody>
          <a:bodyPr wrap="square" rtlCol="0">
            <a:spAutoFit/>
          </a:bodyPr>
          <a:lstStyle/>
          <a:p>
            <a:pPr algn="ctr"/>
            <a:r>
              <a:rPr lang="en-US" sz="1600" dirty="0">
                <a:solidFill>
                  <a:srgbClr val="1A427E"/>
                </a:solidFill>
                <a:highlight>
                  <a:srgbClr val="00FF00"/>
                </a:highlight>
              </a:rPr>
              <a:t>Using Alternative sources we were able to replicate EXACTLY the vendor ZC curve</a:t>
            </a:r>
          </a:p>
        </p:txBody>
      </p:sp>
      <p:sp>
        <p:nvSpPr>
          <p:cNvPr id="21" name="TextBox 20">
            <a:extLst>
              <a:ext uri="{FF2B5EF4-FFF2-40B4-BE49-F238E27FC236}">
                <a16:creationId xmlns:a16="http://schemas.microsoft.com/office/drawing/2014/main" id="{4C723A56-8B48-4989-A4FD-FA64221A31F4}"/>
              </a:ext>
            </a:extLst>
          </p:cNvPr>
          <p:cNvSpPr txBox="1"/>
          <p:nvPr/>
        </p:nvSpPr>
        <p:spPr>
          <a:xfrm>
            <a:off x="7095723" y="2844225"/>
            <a:ext cx="4550198" cy="1323439"/>
          </a:xfrm>
          <a:prstGeom prst="rect">
            <a:avLst/>
          </a:prstGeom>
          <a:noFill/>
          <a:ln>
            <a:noFill/>
          </a:ln>
        </p:spPr>
        <p:txBody>
          <a:bodyPr wrap="square" rtlCol="0">
            <a:spAutoFit/>
          </a:bodyPr>
          <a:lstStyle/>
          <a:p>
            <a:r>
              <a:rPr lang="en-US" sz="1600" dirty="0">
                <a:solidFill>
                  <a:srgbClr val="1A427E"/>
                </a:solidFill>
                <a:highlight>
                  <a:srgbClr val="00FF00"/>
                </a:highlight>
              </a:rPr>
              <a:t>We were able to replicate exactly the Vendor Fitter algorithm *</a:t>
            </a:r>
          </a:p>
          <a:p>
            <a:endParaRPr lang="en-US" sz="1600" dirty="0">
              <a:solidFill>
                <a:srgbClr val="1A427E"/>
              </a:solidFill>
              <a:highlight>
                <a:srgbClr val="00FF00"/>
              </a:highlight>
            </a:endParaRPr>
          </a:p>
          <a:p>
            <a:r>
              <a:rPr lang="en-US" sz="1600" dirty="0">
                <a:solidFill>
                  <a:srgbClr val="1A427E"/>
                </a:solidFill>
                <a:highlight>
                  <a:srgbClr val="00FF00"/>
                </a:highlight>
              </a:rPr>
              <a:t>Vendor extrapolates in some places (not documented)</a:t>
            </a:r>
          </a:p>
        </p:txBody>
      </p:sp>
    </p:spTree>
    <p:extLst>
      <p:ext uri="{BB962C8B-B14F-4D97-AF65-F5344CB8AC3E}">
        <p14:creationId xmlns:p14="http://schemas.microsoft.com/office/powerpoint/2010/main" val="3055360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2" presetClass="entr" presetSubtype="4"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fill="hold"/>
                                        <p:tgtEl>
                                          <p:spTgt spid="20"/>
                                        </p:tgtEl>
                                        <p:attrNameLst>
                                          <p:attrName>ppt_x</p:attrName>
                                        </p:attrNameLst>
                                      </p:cBhvr>
                                      <p:tavLst>
                                        <p:tav tm="0">
                                          <p:val>
                                            <p:strVal val="#ppt_x"/>
                                          </p:val>
                                        </p:tav>
                                        <p:tav tm="100000">
                                          <p:val>
                                            <p:strVal val="#ppt_x"/>
                                          </p:val>
                                        </p:tav>
                                      </p:tavLst>
                                    </p:anim>
                                    <p:anim calcmode="lin" valueType="num">
                                      <p:cBhvr additive="base">
                                        <p:cTn id="2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2"/>
                                        </p:tgtEl>
                                        <p:attrNameLst>
                                          <p:attrName>style.visibility</p:attrName>
                                        </p:attrNameLst>
                                      </p:cBhvr>
                                      <p:to>
                                        <p:strVal val="visible"/>
                                      </p:to>
                                    </p:set>
                                    <p:anim calcmode="lin" valueType="num">
                                      <p:cBhvr additive="base">
                                        <p:cTn id="29" dur="500" fill="hold"/>
                                        <p:tgtEl>
                                          <p:spTgt spid="22"/>
                                        </p:tgtEl>
                                        <p:attrNameLst>
                                          <p:attrName>ppt_x</p:attrName>
                                        </p:attrNameLst>
                                      </p:cBhvr>
                                      <p:tavLst>
                                        <p:tav tm="0">
                                          <p:val>
                                            <p:strVal val="#ppt_x"/>
                                          </p:val>
                                        </p:tav>
                                        <p:tav tm="100000">
                                          <p:val>
                                            <p:strVal val="#ppt_x"/>
                                          </p:val>
                                        </p:tav>
                                      </p:tavLst>
                                    </p:anim>
                                    <p:anim calcmode="lin" valueType="num">
                                      <p:cBhvr additive="base">
                                        <p:cTn id="30" dur="500" fill="hold"/>
                                        <p:tgtEl>
                                          <p:spTgt spid="22"/>
                                        </p:tgtEl>
                                        <p:attrNameLst>
                                          <p:attrName>ppt_y</p:attrName>
                                        </p:attrNameLst>
                                      </p:cBhvr>
                                      <p:tavLst>
                                        <p:tav tm="0">
                                          <p:val>
                                            <p:strVal val="1+#ppt_h/2"/>
                                          </p:val>
                                        </p:tav>
                                        <p:tav tm="100000">
                                          <p:val>
                                            <p:strVal val="#ppt_y"/>
                                          </p:val>
                                        </p:tav>
                                      </p:tavLst>
                                    </p:anim>
                                  </p:childTnLst>
                                </p:cTn>
                              </p:par>
                              <p:par>
                                <p:cTn id="31" presetID="53" presetClass="entr" presetSubtype="16"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anim calcmode="lin" valueType="num">
                                      <p:cBhvr>
                                        <p:cTn id="33" dur="500" fill="hold"/>
                                        <p:tgtEl>
                                          <p:spTgt spid="27"/>
                                        </p:tgtEl>
                                        <p:attrNameLst>
                                          <p:attrName>ppt_w</p:attrName>
                                        </p:attrNameLst>
                                      </p:cBhvr>
                                      <p:tavLst>
                                        <p:tav tm="0">
                                          <p:val>
                                            <p:fltVal val="0"/>
                                          </p:val>
                                        </p:tav>
                                        <p:tav tm="100000">
                                          <p:val>
                                            <p:strVal val="#ppt_w"/>
                                          </p:val>
                                        </p:tav>
                                      </p:tavLst>
                                    </p:anim>
                                    <p:anim calcmode="lin" valueType="num">
                                      <p:cBhvr>
                                        <p:cTn id="34" dur="500" fill="hold"/>
                                        <p:tgtEl>
                                          <p:spTgt spid="27"/>
                                        </p:tgtEl>
                                        <p:attrNameLst>
                                          <p:attrName>ppt_h</p:attrName>
                                        </p:attrNameLst>
                                      </p:cBhvr>
                                      <p:tavLst>
                                        <p:tav tm="0">
                                          <p:val>
                                            <p:fltVal val="0"/>
                                          </p:val>
                                        </p:tav>
                                        <p:tav tm="100000">
                                          <p:val>
                                            <p:strVal val="#ppt_h"/>
                                          </p:val>
                                        </p:tav>
                                      </p:tavLst>
                                    </p:anim>
                                    <p:animEffect transition="in" filter="fade">
                                      <p:cBhvr>
                                        <p:cTn id="35"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27" grpId="0" animBg="1"/>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382962-7DA7-4001-82BD-F82D2BAF09BA}"/>
              </a:ext>
            </a:extLst>
          </p:cNvPr>
          <p:cNvSpPr>
            <a:spLocks noGrp="1"/>
          </p:cNvSpPr>
          <p:nvPr>
            <p:ph type="body" sz="quarter" idx="12"/>
          </p:nvPr>
        </p:nvSpPr>
        <p:spPr>
          <a:xfrm>
            <a:off x="441849" y="441278"/>
            <a:ext cx="8794750" cy="356527"/>
          </a:xfrm>
        </p:spPr>
        <p:txBody>
          <a:bodyPr/>
          <a:lstStyle/>
          <a:p>
            <a:r>
              <a:rPr lang="en-US" dirty="0"/>
              <a:t>Updates from Last time</a:t>
            </a:r>
            <a:endParaRPr lang="en-US" noProof="0" dirty="0"/>
          </a:p>
        </p:txBody>
      </p:sp>
      <p:sp>
        <p:nvSpPr>
          <p:cNvPr id="6" name="Text Placeholder 5">
            <a:extLst>
              <a:ext uri="{FF2B5EF4-FFF2-40B4-BE49-F238E27FC236}">
                <a16:creationId xmlns:a16="http://schemas.microsoft.com/office/drawing/2014/main" id="{54DA7C7E-16F6-4365-B094-A54B43FBAD96}"/>
              </a:ext>
            </a:extLst>
          </p:cNvPr>
          <p:cNvSpPr>
            <a:spLocks noGrp="1"/>
          </p:cNvSpPr>
          <p:nvPr>
            <p:ph type="body" sz="quarter" idx="14"/>
          </p:nvPr>
        </p:nvSpPr>
        <p:spPr>
          <a:xfrm>
            <a:off x="576071" y="809427"/>
            <a:ext cx="10938019" cy="5372431"/>
          </a:xfrm>
        </p:spPr>
        <p:txBody>
          <a:bodyPr/>
          <a:lstStyle/>
          <a:p>
            <a:pPr marL="285750" indent="-285750">
              <a:buFont typeface="Arial" panose="020B0604020202020204" pitchFamily="34" charset="0"/>
              <a:buChar char="•"/>
            </a:pPr>
            <a:endParaRPr lang="es-AR" dirty="0"/>
          </a:p>
          <a:p>
            <a:pPr marL="285750" indent="-285750">
              <a:buFont typeface="Arial" panose="020B0604020202020204" pitchFamily="34" charset="0"/>
              <a:buChar char="•"/>
            </a:pPr>
            <a:r>
              <a:rPr lang="es-AR" dirty="0" err="1"/>
              <a:t>All</a:t>
            </a:r>
            <a:r>
              <a:rPr lang="es-AR" dirty="0"/>
              <a:t> </a:t>
            </a:r>
            <a:r>
              <a:rPr lang="es-AR" dirty="0" err="1"/>
              <a:t>the</a:t>
            </a:r>
            <a:r>
              <a:rPr lang="es-AR" dirty="0"/>
              <a:t> </a:t>
            </a:r>
            <a:r>
              <a:rPr lang="es-AR" dirty="0" err="1"/>
              <a:t>code</a:t>
            </a:r>
            <a:r>
              <a:rPr lang="es-AR" dirty="0"/>
              <a:t> has </a:t>
            </a:r>
            <a:r>
              <a:rPr lang="es-AR" dirty="0" err="1"/>
              <a:t>been</a:t>
            </a:r>
            <a:r>
              <a:rPr lang="es-AR" dirty="0"/>
              <a:t> </a:t>
            </a:r>
            <a:r>
              <a:rPr lang="es-AR" dirty="0" err="1"/>
              <a:t>refactored</a:t>
            </a:r>
            <a:r>
              <a:rPr lang="es-AR" dirty="0"/>
              <a:t> in </a:t>
            </a:r>
            <a:r>
              <a:rPr lang="es-AR" dirty="0" err="1"/>
              <a:t>an</a:t>
            </a:r>
            <a:r>
              <a:rPr lang="es-AR" dirty="0"/>
              <a:t> OOP </a:t>
            </a:r>
            <a:r>
              <a:rPr lang="es-AR" dirty="0" err="1"/>
              <a:t>way</a:t>
            </a:r>
            <a:r>
              <a:rPr lang="es-AR" dirty="0"/>
              <a:t> (</a:t>
            </a:r>
            <a:r>
              <a:rPr lang="es-AR" dirty="0" err="1"/>
              <a:t>thanks</a:t>
            </a:r>
            <a:r>
              <a:rPr lang="es-AR" dirty="0"/>
              <a:t> Diogo)</a:t>
            </a:r>
          </a:p>
          <a:p>
            <a:pPr marL="857250" lvl="1" indent="-285750">
              <a:buFont typeface="Arial" panose="020B0604020202020204" pitchFamily="34" charset="0"/>
              <a:buChar char="•"/>
            </a:pPr>
            <a:r>
              <a:rPr lang="es-AR" dirty="0" err="1"/>
              <a:t>Pricing</a:t>
            </a:r>
            <a:r>
              <a:rPr lang="es-AR" dirty="0"/>
              <a:t> </a:t>
            </a:r>
            <a:r>
              <a:rPr lang="es-AR" dirty="0" err="1"/>
              <a:t>classes</a:t>
            </a:r>
            <a:endParaRPr lang="es-AR" dirty="0"/>
          </a:p>
          <a:p>
            <a:pPr marL="857250" lvl="1" indent="-285750">
              <a:buFont typeface="Arial" panose="020B0604020202020204" pitchFamily="34" charset="0"/>
              <a:buChar char="•"/>
            </a:pPr>
            <a:r>
              <a:rPr lang="es-AR" dirty="0" err="1"/>
              <a:t>Database</a:t>
            </a:r>
            <a:r>
              <a:rPr lang="es-AR" dirty="0"/>
              <a:t> Access Clases</a:t>
            </a:r>
          </a:p>
          <a:p>
            <a:pPr marL="857250" lvl="1" indent="-285750">
              <a:buFont typeface="Arial" panose="020B0604020202020204" pitchFamily="34" charset="0"/>
              <a:buChar char="•"/>
            </a:pPr>
            <a:r>
              <a:rPr lang="es-AR" dirty="0"/>
              <a:t>Imp </a:t>
            </a:r>
            <a:r>
              <a:rPr lang="es-AR" dirty="0" err="1"/>
              <a:t>Vol</a:t>
            </a:r>
            <a:r>
              <a:rPr lang="es-AR" dirty="0"/>
              <a:t> </a:t>
            </a:r>
            <a:r>
              <a:rPr lang="es-AR" dirty="0" err="1"/>
              <a:t>classes</a:t>
            </a:r>
            <a:endParaRPr lang="es-AR" dirty="0"/>
          </a:p>
          <a:p>
            <a:pPr marL="857250" lvl="1" indent="-285750">
              <a:buFont typeface="Arial" panose="020B0604020202020204" pitchFamily="34" charset="0"/>
              <a:buChar char="•"/>
            </a:pPr>
            <a:r>
              <a:rPr lang="es-AR" dirty="0" err="1"/>
              <a:t>Vol</a:t>
            </a:r>
            <a:r>
              <a:rPr lang="es-AR" dirty="0"/>
              <a:t> Surface </a:t>
            </a:r>
            <a:r>
              <a:rPr lang="es-AR" dirty="0" err="1"/>
              <a:t>casses</a:t>
            </a:r>
            <a:endParaRPr lang="es-AR" dirty="0"/>
          </a:p>
          <a:p>
            <a:pPr marL="857250" lvl="1" indent="-285750">
              <a:buFont typeface="Arial" panose="020B0604020202020204" pitchFamily="34" charset="0"/>
              <a:buChar char="•"/>
            </a:pPr>
            <a:r>
              <a:rPr lang="es-AR" dirty="0" err="1"/>
              <a:t>Dividend</a:t>
            </a:r>
            <a:r>
              <a:rPr lang="es-AR" dirty="0"/>
              <a:t> </a:t>
            </a:r>
            <a:r>
              <a:rPr lang="es-AR" dirty="0" err="1"/>
              <a:t>method</a:t>
            </a:r>
            <a:r>
              <a:rPr lang="es-AR" dirty="0"/>
              <a:t> </a:t>
            </a:r>
            <a:r>
              <a:rPr lang="es-AR" dirty="0" err="1"/>
              <a:t>classes</a:t>
            </a:r>
            <a:endParaRPr lang="es-AR" dirty="0"/>
          </a:p>
          <a:p>
            <a:pPr marL="285750" indent="-285750">
              <a:buFont typeface="Arial" panose="020B0604020202020204" pitchFamily="34" charset="0"/>
              <a:buChar char="•"/>
            </a:pPr>
            <a:endParaRPr lang="es-AR" dirty="0"/>
          </a:p>
          <a:p>
            <a:pPr marL="285750" indent="-285750">
              <a:buFont typeface="Arial" panose="020B0604020202020204" pitchFamily="34" charset="0"/>
              <a:buChar char="•"/>
            </a:pPr>
            <a:r>
              <a:rPr lang="es-AR" dirty="0" err="1"/>
              <a:t>Analytics</a:t>
            </a:r>
            <a:r>
              <a:rPr lang="es-AR" dirty="0"/>
              <a:t> </a:t>
            </a:r>
            <a:r>
              <a:rPr lang="es-AR" dirty="0" err="1"/>
              <a:t>were</a:t>
            </a:r>
            <a:r>
              <a:rPr lang="es-AR" dirty="0"/>
              <a:t> </a:t>
            </a:r>
            <a:r>
              <a:rPr lang="es-AR" dirty="0" err="1"/>
              <a:t>tested</a:t>
            </a:r>
            <a:r>
              <a:rPr lang="es-AR" dirty="0"/>
              <a:t>:</a:t>
            </a:r>
          </a:p>
          <a:p>
            <a:pPr marL="857250" lvl="1" indent="-285750">
              <a:buFont typeface="Arial" panose="020B0604020202020204" pitchFamily="34" charset="0"/>
              <a:buChar char="•"/>
            </a:pPr>
            <a:r>
              <a:rPr lang="es-AR" dirty="0" err="1"/>
              <a:t>Pricers</a:t>
            </a:r>
            <a:endParaRPr lang="es-AR" dirty="0"/>
          </a:p>
          <a:p>
            <a:pPr marL="857250" lvl="1" indent="-285750">
              <a:buFont typeface="Arial" panose="020B0604020202020204" pitchFamily="34" charset="0"/>
              <a:buChar char="•"/>
            </a:pPr>
            <a:r>
              <a:rPr lang="es-AR" dirty="0"/>
              <a:t>Imp </a:t>
            </a:r>
            <a:r>
              <a:rPr lang="es-AR" dirty="0" err="1"/>
              <a:t>Vol</a:t>
            </a:r>
            <a:r>
              <a:rPr lang="es-AR" dirty="0"/>
              <a:t> </a:t>
            </a:r>
            <a:r>
              <a:rPr lang="es-AR" dirty="0" err="1"/>
              <a:t>calculator</a:t>
            </a:r>
            <a:endParaRPr lang="es-AR" dirty="0"/>
          </a:p>
          <a:p>
            <a:pPr marL="857250" lvl="1" indent="-285750">
              <a:buFont typeface="Arial" panose="020B0604020202020204" pitchFamily="34" charset="0"/>
              <a:buChar char="•"/>
            </a:pPr>
            <a:r>
              <a:rPr lang="es-AR" dirty="0" err="1"/>
              <a:t>Vol</a:t>
            </a:r>
            <a:r>
              <a:rPr lang="es-AR" dirty="0"/>
              <a:t> Surface </a:t>
            </a:r>
            <a:r>
              <a:rPr lang="es-AR" dirty="0" err="1"/>
              <a:t>Fitter</a:t>
            </a:r>
            <a:endParaRPr lang="es-AR" dirty="0"/>
          </a:p>
          <a:p>
            <a:pPr marL="857250" lvl="1" indent="-285750">
              <a:buFont typeface="Arial" panose="020B0604020202020204" pitchFamily="34" charset="0"/>
              <a:buChar char="•"/>
            </a:pPr>
            <a:r>
              <a:rPr lang="es-AR" dirty="0" err="1"/>
              <a:t>Dividend</a:t>
            </a:r>
            <a:r>
              <a:rPr lang="es-AR" dirty="0"/>
              <a:t> </a:t>
            </a:r>
            <a:r>
              <a:rPr lang="es-AR" dirty="0" err="1"/>
              <a:t>Calculation</a:t>
            </a:r>
            <a:r>
              <a:rPr lang="es-AR" dirty="0"/>
              <a:t> </a:t>
            </a:r>
            <a:r>
              <a:rPr lang="es-AR" dirty="0" err="1"/>
              <a:t>Methods</a:t>
            </a:r>
            <a:endParaRPr lang="es-AR" dirty="0"/>
          </a:p>
          <a:p>
            <a:pPr marL="857250" lvl="1" indent="-285750">
              <a:buFont typeface="Arial" panose="020B0604020202020204" pitchFamily="34" charset="0"/>
              <a:buChar char="•"/>
            </a:pPr>
            <a:r>
              <a:rPr lang="es-AR" dirty="0"/>
              <a:t>Zero </a:t>
            </a:r>
            <a:r>
              <a:rPr lang="es-AR" dirty="0" err="1"/>
              <a:t>Coupon</a:t>
            </a:r>
            <a:r>
              <a:rPr lang="es-AR" dirty="0"/>
              <a:t> Curve </a:t>
            </a:r>
            <a:r>
              <a:rPr lang="es-AR" dirty="0" err="1"/>
              <a:t>replication</a:t>
            </a:r>
            <a:endParaRPr lang="es-AR" dirty="0"/>
          </a:p>
          <a:p>
            <a:pPr marL="857250" lvl="1" indent="-285750">
              <a:buFont typeface="Arial" panose="020B0604020202020204" pitchFamily="34" charset="0"/>
              <a:buChar char="•"/>
            </a:pPr>
            <a:endParaRPr lang="es-AR" dirty="0"/>
          </a:p>
          <a:p>
            <a:pPr marL="285750" indent="-285750">
              <a:buFont typeface="Arial" panose="020B0604020202020204" pitchFamily="34" charset="0"/>
              <a:buChar char="•"/>
            </a:pPr>
            <a:r>
              <a:rPr lang="es-AR" dirty="0" err="1"/>
              <a:t>Testing</a:t>
            </a:r>
            <a:r>
              <a:rPr lang="es-AR" dirty="0"/>
              <a:t> </a:t>
            </a:r>
            <a:r>
              <a:rPr lang="es-AR" dirty="0" err="1"/>
              <a:t>was</a:t>
            </a:r>
            <a:r>
              <a:rPr lang="es-AR" dirty="0"/>
              <a:t> donde </a:t>
            </a:r>
            <a:r>
              <a:rPr lang="es-AR" dirty="0" err="1"/>
              <a:t>broadly</a:t>
            </a:r>
            <a:endParaRPr lang="es-AR" dirty="0"/>
          </a:p>
          <a:p>
            <a:pPr marL="857250" lvl="1" indent="-285750">
              <a:buFont typeface="Arial" panose="020B0604020202020204" pitchFamily="34" charset="0"/>
              <a:buChar char="•"/>
            </a:pPr>
            <a:r>
              <a:rPr lang="es-AR" dirty="0" err="1"/>
              <a:t>Several</a:t>
            </a:r>
            <a:r>
              <a:rPr lang="es-AR" dirty="0"/>
              <a:t> </a:t>
            </a:r>
            <a:r>
              <a:rPr lang="es-AR" dirty="0" err="1"/>
              <a:t>Tickers</a:t>
            </a:r>
            <a:endParaRPr lang="es-AR" dirty="0"/>
          </a:p>
          <a:p>
            <a:pPr marL="857250" lvl="1" indent="-285750">
              <a:buFont typeface="Arial" panose="020B0604020202020204" pitchFamily="34" charset="0"/>
              <a:buChar char="•"/>
            </a:pPr>
            <a:r>
              <a:rPr lang="es-AR" dirty="0" err="1"/>
              <a:t>Several</a:t>
            </a:r>
            <a:r>
              <a:rPr lang="es-AR" dirty="0"/>
              <a:t> Val Dates</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758840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Cantos Arredondados 1">
            <a:extLst>
              <a:ext uri="{FF2B5EF4-FFF2-40B4-BE49-F238E27FC236}">
                <a16:creationId xmlns:a16="http://schemas.microsoft.com/office/drawing/2014/main" id="{4E976F8A-7C7A-432F-B3D0-45222E6A3B55}"/>
              </a:ext>
            </a:extLst>
          </p:cNvPr>
          <p:cNvSpPr/>
          <p:nvPr/>
        </p:nvSpPr>
        <p:spPr>
          <a:xfrm>
            <a:off x="2925602" y="2165058"/>
            <a:ext cx="1291966" cy="83051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Database access</a:t>
            </a:r>
          </a:p>
        </p:txBody>
      </p:sp>
      <p:sp>
        <p:nvSpPr>
          <p:cNvPr id="3" name="Retângulo: Cantos Arredondados 2">
            <a:extLst>
              <a:ext uri="{FF2B5EF4-FFF2-40B4-BE49-F238E27FC236}">
                <a16:creationId xmlns:a16="http://schemas.microsoft.com/office/drawing/2014/main" id="{2D929A24-875F-4B5A-8A50-1DA7B7ACF4EB}"/>
              </a:ext>
            </a:extLst>
          </p:cNvPr>
          <p:cNvSpPr/>
          <p:nvPr/>
        </p:nvSpPr>
        <p:spPr>
          <a:xfrm>
            <a:off x="5391326" y="2818700"/>
            <a:ext cx="1140902" cy="830510"/>
          </a:xfrm>
          <a:prstGeom prst="round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Axioma IV Surface</a:t>
            </a:r>
          </a:p>
        </p:txBody>
      </p:sp>
      <p:sp>
        <p:nvSpPr>
          <p:cNvPr id="4" name="Retângulo: Cantos Arredondados 3">
            <a:extLst>
              <a:ext uri="{FF2B5EF4-FFF2-40B4-BE49-F238E27FC236}">
                <a16:creationId xmlns:a16="http://schemas.microsoft.com/office/drawing/2014/main" id="{929837CE-E8BD-4B00-BF67-2E8D0F7B2823}"/>
              </a:ext>
            </a:extLst>
          </p:cNvPr>
          <p:cNvSpPr/>
          <p:nvPr/>
        </p:nvSpPr>
        <p:spPr>
          <a:xfrm>
            <a:off x="3626840" y="4271394"/>
            <a:ext cx="1416341" cy="83051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Dividend calculation methods</a:t>
            </a:r>
          </a:p>
        </p:txBody>
      </p:sp>
      <p:sp>
        <p:nvSpPr>
          <p:cNvPr id="5" name="Retângulo: Cantos Arredondados 4">
            <a:extLst>
              <a:ext uri="{FF2B5EF4-FFF2-40B4-BE49-F238E27FC236}">
                <a16:creationId xmlns:a16="http://schemas.microsoft.com/office/drawing/2014/main" id="{81777E73-CE61-48F4-9CD3-F85EA0980A88}"/>
              </a:ext>
            </a:extLst>
          </p:cNvPr>
          <p:cNvSpPr/>
          <p:nvPr/>
        </p:nvSpPr>
        <p:spPr>
          <a:xfrm>
            <a:off x="7738843" y="2165058"/>
            <a:ext cx="1140902" cy="83051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IV root finder methods</a:t>
            </a:r>
          </a:p>
        </p:txBody>
      </p:sp>
      <p:sp>
        <p:nvSpPr>
          <p:cNvPr id="6" name="Retângulo: Cantos Arredondados 5">
            <a:extLst>
              <a:ext uri="{FF2B5EF4-FFF2-40B4-BE49-F238E27FC236}">
                <a16:creationId xmlns:a16="http://schemas.microsoft.com/office/drawing/2014/main" id="{6DF9A954-6D6B-46EA-8D18-B6591D6B2B68}"/>
              </a:ext>
            </a:extLst>
          </p:cNvPr>
          <p:cNvSpPr/>
          <p:nvPr/>
        </p:nvSpPr>
        <p:spPr>
          <a:xfrm>
            <a:off x="5384976" y="961296"/>
            <a:ext cx="1140902" cy="83051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IV fitting methods</a:t>
            </a:r>
          </a:p>
        </p:txBody>
      </p:sp>
      <p:sp>
        <p:nvSpPr>
          <p:cNvPr id="7" name="Retângulo: Cantos Arredondados 6">
            <a:extLst>
              <a:ext uri="{FF2B5EF4-FFF2-40B4-BE49-F238E27FC236}">
                <a16:creationId xmlns:a16="http://schemas.microsoft.com/office/drawing/2014/main" id="{AC31A997-203C-41D9-B554-8B656610EB38}"/>
              </a:ext>
            </a:extLst>
          </p:cNvPr>
          <p:cNvSpPr/>
          <p:nvPr/>
        </p:nvSpPr>
        <p:spPr>
          <a:xfrm>
            <a:off x="6979637" y="4271394"/>
            <a:ext cx="1206615" cy="83051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Discount factor</a:t>
            </a:r>
          </a:p>
        </p:txBody>
      </p:sp>
      <p:sp>
        <p:nvSpPr>
          <p:cNvPr id="8" name="Retângulo 7">
            <a:extLst>
              <a:ext uri="{FF2B5EF4-FFF2-40B4-BE49-F238E27FC236}">
                <a16:creationId xmlns:a16="http://schemas.microsoft.com/office/drawing/2014/main" id="{42C447F7-4FCD-4260-9238-5D894B33C0C9}"/>
              </a:ext>
            </a:extLst>
          </p:cNvPr>
          <p:cNvSpPr/>
          <p:nvPr/>
        </p:nvSpPr>
        <p:spPr>
          <a:xfrm>
            <a:off x="2474752" y="2995568"/>
            <a:ext cx="1140902" cy="58477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200" dirty="0">
                <a:solidFill>
                  <a:schemeClr val="tx1"/>
                </a:solidFill>
              </a:rPr>
              <a:t>Vendor</a:t>
            </a:r>
          </a:p>
          <a:p>
            <a:pPr marL="285750" indent="-285750">
              <a:buFont typeface="Arial" panose="020B0604020202020204" pitchFamily="34" charset="0"/>
              <a:buChar char="•"/>
            </a:pPr>
            <a:r>
              <a:rPr lang="en-US" sz="1200" dirty="0">
                <a:solidFill>
                  <a:schemeClr val="tx1"/>
                </a:solidFill>
              </a:rPr>
              <a:t>Pandora</a:t>
            </a:r>
          </a:p>
          <a:p>
            <a:pPr marL="285750" indent="-285750">
              <a:buFont typeface="Arial" panose="020B0604020202020204" pitchFamily="34" charset="0"/>
              <a:buChar char="•"/>
            </a:pPr>
            <a:r>
              <a:rPr lang="en-US" sz="1200" dirty="0">
                <a:solidFill>
                  <a:schemeClr val="tx1"/>
                </a:solidFill>
              </a:rPr>
              <a:t>. . .</a:t>
            </a:r>
          </a:p>
        </p:txBody>
      </p:sp>
      <p:sp>
        <p:nvSpPr>
          <p:cNvPr id="9" name="Retângulo 8">
            <a:extLst>
              <a:ext uri="{FF2B5EF4-FFF2-40B4-BE49-F238E27FC236}">
                <a16:creationId xmlns:a16="http://schemas.microsoft.com/office/drawing/2014/main" id="{9BDD47B4-9F0D-4819-9383-7729EDD6F807}"/>
              </a:ext>
            </a:extLst>
          </p:cNvPr>
          <p:cNvSpPr/>
          <p:nvPr/>
        </p:nvSpPr>
        <p:spPr>
          <a:xfrm>
            <a:off x="2863414" y="5279472"/>
            <a:ext cx="1416341" cy="148708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200" dirty="0">
                <a:solidFill>
                  <a:schemeClr val="tx1"/>
                </a:solidFill>
              </a:rPr>
              <a:t>Constant</a:t>
            </a:r>
          </a:p>
          <a:p>
            <a:pPr marL="285750" indent="-285750">
              <a:buFont typeface="Arial" panose="020B0604020202020204" pitchFamily="34" charset="0"/>
              <a:buChar char="•"/>
            </a:pPr>
            <a:r>
              <a:rPr lang="en-US" sz="1200" dirty="0">
                <a:solidFill>
                  <a:schemeClr val="tx1"/>
                </a:solidFill>
              </a:rPr>
              <a:t>Historical average</a:t>
            </a:r>
          </a:p>
          <a:p>
            <a:pPr marL="285750" indent="-285750">
              <a:buFont typeface="Arial" panose="020B0604020202020204" pitchFamily="34" charset="0"/>
              <a:buChar char="•"/>
            </a:pPr>
            <a:r>
              <a:rPr lang="en-US" sz="1200" dirty="0">
                <a:solidFill>
                  <a:schemeClr val="tx1"/>
                </a:solidFill>
              </a:rPr>
              <a:t>Linear approx.</a:t>
            </a:r>
          </a:p>
          <a:p>
            <a:pPr marL="285750" indent="-285750">
              <a:buFont typeface="Arial" panose="020B0604020202020204" pitchFamily="34" charset="0"/>
              <a:buChar char="•"/>
            </a:pPr>
            <a:r>
              <a:rPr lang="en-US" sz="1200" dirty="0">
                <a:solidFill>
                  <a:schemeClr val="tx1"/>
                </a:solidFill>
              </a:rPr>
              <a:t>Log linear approx.</a:t>
            </a:r>
          </a:p>
          <a:p>
            <a:pPr marL="285750" indent="-285750">
              <a:buFont typeface="Arial" panose="020B0604020202020204" pitchFamily="34" charset="0"/>
              <a:buChar char="•"/>
            </a:pPr>
            <a:r>
              <a:rPr lang="en-US" sz="1200" dirty="0">
                <a:solidFill>
                  <a:schemeClr val="tx1"/>
                </a:solidFill>
              </a:rPr>
              <a:t>. . .</a:t>
            </a:r>
          </a:p>
        </p:txBody>
      </p:sp>
      <p:sp>
        <p:nvSpPr>
          <p:cNvPr id="10" name="Retângulo 9">
            <a:extLst>
              <a:ext uri="{FF2B5EF4-FFF2-40B4-BE49-F238E27FC236}">
                <a16:creationId xmlns:a16="http://schemas.microsoft.com/office/drawing/2014/main" id="{C31E90C2-F4F0-4B67-895D-F114555CF886}"/>
              </a:ext>
            </a:extLst>
          </p:cNvPr>
          <p:cNvSpPr/>
          <p:nvPr/>
        </p:nvSpPr>
        <p:spPr>
          <a:xfrm>
            <a:off x="6133748" y="5120081"/>
            <a:ext cx="1605095" cy="8423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200" dirty="0">
                <a:solidFill>
                  <a:schemeClr val="tx1"/>
                </a:solidFill>
              </a:rPr>
              <a:t>Libor + futures</a:t>
            </a:r>
          </a:p>
          <a:p>
            <a:pPr marL="285750" indent="-285750">
              <a:buFont typeface="Arial" panose="020B0604020202020204" pitchFamily="34" charset="0"/>
              <a:buChar char="•"/>
            </a:pPr>
            <a:r>
              <a:rPr lang="en-US" sz="1200" dirty="0">
                <a:solidFill>
                  <a:schemeClr val="tx1"/>
                </a:solidFill>
              </a:rPr>
              <a:t>Libor + OIS</a:t>
            </a:r>
          </a:p>
          <a:p>
            <a:pPr marL="285750" indent="-285750">
              <a:buFont typeface="Arial" panose="020B0604020202020204" pitchFamily="34" charset="0"/>
              <a:buChar char="•"/>
            </a:pPr>
            <a:r>
              <a:rPr lang="en-US" sz="1200" dirty="0">
                <a:solidFill>
                  <a:schemeClr val="tx1"/>
                </a:solidFill>
              </a:rPr>
              <a:t>. . . </a:t>
            </a:r>
          </a:p>
        </p:txBody>
      </p:sp>
      <p:sp>
        <p:nvSpPr>
          <p:cNvPr id="11" name="Retângulo 10">
            <a:extLst>
              <a:ext uri="{FF2B5EF4-FFF2-40B4-BE49-F238E27FC236}">
                <a16:creationId xmlns:a16="http://schemas.microsoft.com/office/drawing/2014/main" id="{2226F1BB-D14A-4B00-9564-A9567F202919}"/>
              </a:ext>
            </a:extLst>
          </p:cNvPr>
          <p:cNvSpPr/>
          <p:nvPr/>
        </p:nvSpPr>
        <p:spPr>
          <a:xfrm>
            <a:off x="8487558" y="2998365"/>
            <a:ext cx="1475760" cy="12765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200" dirty="0">
                <a:solidFill>
                  <a:schemeClr val="tx1"/>
                </a:solidFill>
              </a:rPr>
              <a:t>Bisection</a:t>
            </a:r>
          </a:p>
          <a:p>
            <a:pPr marL="285750" indent="-285750">
              <a:buFont typeface="Arial" panose="020B0604020202020204" pitchFamily="34" charset="0"/>
              <a:buChar char="•"/>
            </a:pPr>
            <a:r>
              <a:rPr lang="en-US" sz="1200" dirty="0" err="1">
                <a:solidFill>
                  <a:schemeClr val="tx1"/>
                </a:solidFill>
              </a:rPr>
              <a:t>Jakel</a:t>
            </a:r>
            <a:r>
              <a:rPr lang="en-US" sz="1200" dirty="0">
                <a:solidFill>
                  <a:schemeClr val="tx1"/>
                </a:solidFill>
              </a:rPr>
              <a:t> – (E)</a:t>
            </a:r>
          </a:p>
          <a:p>
            <a:pPr marL="285750" indent="-285750">
              <a:buFont typeface="Arial" panose="020B0604020202020204" pitchFamily="34" charset="0"/>
              <a:buChar char="•"/>
            </a:pPr>
            <a:r>
              <a:rPr lang="en-US" sz="1200" dirty="0">
                <a:solidFill>
                  <a:schemeClr val="tx1"/>
                </a:solidFill>
              </a:rPr>
              <a:t>Newton</a:t>
            </a:r>
          </a:p>
          <a:p>
            <a:pPr marL="285750" indent="-285750">
              <a:buFont typeface="Arial" panose="020B0604020202020204" pitchFamily="34" charset="0"/>
              <a:buChar char="•"/>
            </a:pPr>
            <a:r>
              <a:rPr lang="en-US" sz="1200" dirty="0">
                <a:solidFill>
                  <a:schemeClr val="tx1"/>
                </a:solidFill>
              </a:rPr>
              <a:t>Brent</a:t>
            </a:r>
          </a:p>
          <a:p>
            <a:pPr marL="285750" indent="-285750">
              <a:buFont typeface="Arial" panose="020B0604020202020204" pitchFamily="34" charset="0"/>
              <a:buChar char="•"/>
            </a:pPr>
            <a:r>
              <a:rPr lang="en-US" sz="1200" dirty="0">
                <a:solidFill>
                  <a:schemeClr val="tx1"/>
                </a:solidFill>
              </a:rPr>
              <a:t>Other </a:t>
            </a:r>
            <a:r>
              <a:rPr lang="en-US" sz="1200" dirty="0" err="1">
                <a:solidFill>
                  <a:schemeClr val="tx1"/>
                </a:solidFill>
              </a:rPr>
              <a:t>Scipy</a:t>
            </a:r>
            <a:r>
              <a:rPr lang="en-US" sz="1200" dirty="0">
                <a:solidFill>
                  <a:schemeClr val="tx1"/>
                </a:solidFill>
              </a:rPr>
              <a:t>…</a:t>
            </a:r>
          </a:p>
        </p:txBody>
      </p:sp>
      <p:sp>
        <p:nvSpPr>
          <p:cNvPr id="12" name="Retângulo 11">
            <a:extLst>
              <a:ext uri="{FF2B5EF4-FFF2-40B4-BE49-F238E27FC236}">
                <a16:creationId xmlns:a16="http://schemas.microsoft.com/office/drawing/2014/main" id="{8A15CD8A-4138-4912-9D6F-A4535F9CD5C7}"/>
              </a:ext>
            </a:extLst>
          </p:cNvPr>
          <p:cNvSpPr/>
          <p:nvPr/>
        </p:nvSpPr>
        <p:spPr>
          <a:xfrm>
            <a:off x="6532228" y="419449"/>
            <a:ext cx="1416341" cy="122435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200" dirty="0">
                <a:solidFill>
                  <a:schemeClr val="tx1"/>
                </a:solidFill>
              </a:rPr>
              <a:t>Gaussian kernel (vendor)</a:t>
            </a:r>
          </a:p>
          <a:p>
            <a:pPr marL="285750" indent="-285750">
              <a:buFont typeface="Arial" panose="020B0604020202020204" pitchFamily="34" charset="0"/>
              <a:buChar char="•"/>
            </a:pPr>
            <a:r>
              <a:rPr lang="en-US" sz="1200" dirty="0">
                <a:solidFill>
                  <a:schemeClr val="tx1"/>
                </a:solidFill>
              </a:rPr>
              <a:t>SVI</a:t>
            </a:r>
          </a:p>
          <a:p>
            <a:pPr marL="285750" indent="-285750">
              <a:buFont typeface="Arial" panose="020B0604020202020204" pitchFamily="34" charset="0"/>
              <a:buChar char="•"/>
            </a:pPr>
            <a:r>
              <a:rPr lang="en-US" sz="1200" dirty="0">
                <a:solidFill>
                  <a:schemeClr val="tx1"/>
                </a:solidFill>
              </a:rPr>
              <a:t>Cubic spline</a:t>
            </a:r>
          </a:p>
          <a:p>
            <a:pPr marL="285750" indent="-285750">
              <a:buFont typeface="Arial" panose="020B0604020202020204" pitchFamily="34" charset="0"/>
              <a:buChar char="•"/>
            </a:pPr>
            <a:r>
              <a:rPr lang="en-US" sz="1200" dirty="0">
                <a:solidFill>
                  <a:schemeClr val="tx1"/>
                </a:solidFill>
              </a:rPr>
              <a:t>. . .</a:t>
            </a:r>
          </a:p>
        </p:txBody>
      </p:sp>
      <p:cxnSp>
        <p:nvCxnSpPr>
          <p:cNvPr id="16" name="Conector: Angulado 15">
            <a:extLst>
              <a:ext uri="{FF2B5EF4-FFF2-40B4-BE49-F238E27FC236}">
                <a16:creationId xmlns:a16="http://schemas.microsoft.com/office/drawing/2014/main" id="{998F4D28-FC6C-422D-A597-D0539E8452CF}"/>
              </a:ext>
            </a:extLst>
          </p:cNvPr>
          <p:cNvCxnSpPr>
            <a:cxnSpLocks/>
          </p:cNvCxnSpPr>
          <p:nvPr/>
        </p:nvCxnSpPr>
        <p:spPr>
          <a:xfrm rot="16200000" flipH="1">
            <a:off x="5445155" y="2263059"/>
            <a:ext cx="1026894" cy="6350"/>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Conector: Angulado 17">
            <a:extLst>
              <a:ext uri="{FF2B5EF4-FFF2-40B4-BE49-F238E27FC236}">
                <a16:creationId xmlns:a16="http://schemas.microsoft.com/office/drawing/2014/main" id="{06A6DA63-768E-4C02-9118-860A4ED3E596}"/>
              </a:ext>
            </a:extLst>
          </p:cNvPr>
          <p:cNvCxnSpPr>
            <a:cxnSpLocks/>
            <a:stCxn id="2" idx="3"/>
            <a:endCxn id="3" idx="1"/>
          </p:cNvCxnSpPr>
          <p:nvPr/>
        </p:nvCxnSpPr>
        <p:spPr>
          <a:xfrm>
            <a:off x="4217568" y="2580313"/>
            <a:ext cx="1173758" cy="653642"/>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Conector: Angulado 19">
            <a:extLst>
              <a:ext uri="{FF2B5EF4-FFF2-40B4-BE49-F238E27FC236}">
                <a16:creationId xmlns:a16="http://schemas.microsoft.com/office/drawing/2014/main" id="{AC440C0C-B157-4A4F-A2E3-E3BB27E54EE7}"/>
              </a:ext>
            </a:extLst>
          </p:cNvPr>
          <p:cNvCxnSpPr>
            <a:cxnSpLocks/>
            <a:stCxn id="4" idx="0"/>
            <a:endCxn id="3" idx="1"/>
          </p:cNvCxnSpPr>
          <p:nvPr/>
        </p:nvCxnSpPr>
        <p:spPr>
          <a:xfrm rot="5400000" flipH="1" flipV="1">
            <a:off x="4344449" y="3224518"/>
            <a:ext cx="1037439" cy="1056315"/>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Conector: Angulado 21">
            <a:extLst>
              <a:ext uri="{FF2B5EF4-FFF2-40B4-BE49-F238E27FC236}">
                <a16:creationId xmlns:a16="http://schemas.microsoft.com/office/drawing/2014/main" id="{76F36475-5F56-4F03-BFF2-E7E700665AB0}"/>
              </a:ext>
            </a:extLst>
          </p:cNvPr>
          <p:cNvCxnSpPr>
            <a:cxnSpLocks/>
            <a:stCxn id="7" idx="1"/>
            <a:endCxn id="3" idx="2"/>
          </p:cNvCxnSpPr>
          <p:nvPr/>
        </p:nvCxnSpPr>
        <p:spPr>
          <a:xfrm rot="10800000">
            <a:off x="5961777" y="3649211"/>
            <a:ext cx="1017860" cy="1037439"/>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Conector: Angulado 23">
            <a:extLst>
              <a:ext uri="{FF2B5EF4-FFF2-40B4-BE49-F238E27FC236}">
                <a16:creationId xmlns:a16="http://schemas.microsoft.com/office/drawing/2014/main" id="{AD0DEDAC-B64E-434E-B39E-0AEC30930F74}"/>
              </a:ext>
            </a:extLst>
          </p:cNvPr>
          <p:cNvCxnSpPr>
            <a:stCxn id="5" idx="1"/>
            <a:endCxn id="3" idx="3"/>
          </p:cNvCxnSpPr>
          <p:nvPr/>
        </p:nvCxnSpPr>
        <p:spPr>
          <a:xfrm rot="10800000" flipV="1">
            <a:off x="6532229" y="2580313"/>
            <a:ext cx="1206615" cy="653642"/>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CaixaDeTexto 24">
            <a:extLst>
              <a:ext uri="{FF2B5EF4-FFF2-40B4-BE49-F238E27FC236}">
                <a16:creationId xmlns:a16="http://schemas.microsoft.com/office/drawing/2014/main" id="{33B30BAC-EA68-4D44-9884-F54F863DDA95}"/>
              </a:ext>
            </a:extLst>
          </p:cNvPr>
          <p:cNvSpPr txBox="1"/>
          <p:nvPr/>
        </p:nvSpPr>
        <p:spPr>
          <a:xfrm>
            <a:off x="318782" y="302004"/>
            <a:ext cx="4085438" cy="584775"/>
          </a:xfrm>
          <a:prstGeom prst="rect">
            <a:avLst/>
          </a:prstGeom>
          <a:noFill/>
        </p:spPr>
        <p:txBody>
          <a:bodyPr wrap="square" rtlCol="0">
            <a:spAutoFit/>
          </a:bodyPr>
          <a:lstStyle/>
          <a:p>
            <a:r>
              <a:rPr lang="en-US" sz="3200" dirty="0"/>
              <a:t>Code structure</a:t>
            </a:r>
          </a:p>
        </p:txBody>
      </p:sp>
      <p:sp>
        <p:nvSpPr>
          <p:cNvPr id="26" name="CaixaDeTexto 25">
            <a:extLst>
              <a:ext uri="{FF2B5EF4-FFF2-40B4-BE49-F238E27FC236}">
                <a16:creationId xmlns:a16="http://schemas.microsoft.com/office/drawing/2014/main" id="{5B872026-356F-4EF1-ACBC-C3DECB1F3A22}"/>
              </a:ext>
            </a:extLst>
          </p:cNvPr>
          <p:cNvSpPr txBox="1"/>
          <p:nvPr/>
        </p:nvSpPr>
        <p:spPr>
          <a:xfrm>
            <a:off x="130029" y="1060290"/>
            <a:ext cx="2231472" cy="1384995"/>
          </a:xfrm>
          <a:prstGeom prst="rect">
            <a:avLst/>
          </a:prstGeom>
          <a:noFill/>
        </p:spPr>
        <p:txBody>
          <a:bodyPr wrap="square" rtlCol="0">
            <a:spAutoFit/>
          </a:bodyPr>
          <a:lstStyle/>
          <a:p>
            <a:pPr marL="285750" indent="-285750">
              <a:buFont typeface="Arial" panose="020B0604020202020204" pitchFamily="34" charset="0"/>
              <a:buChar char="•"/>
            </a:pPr>
            <a:r>
              <a:rPr lang="en-US" sz="1400" dirty="0"/>
              <a:t>OOP</a:t>
            </a:r>
          </a:p>
          <a:p>
            <a:pPr marL="285750" indent="-285750">
              <a:buFont typeface="Arial" panose="020B0604020202020204" pitchFamily="34" charset="0"/>
              <a:buChar char="•"/>
            </a:pPr>
            <a:r>
              <a:rPr lang="en-US" sz="1400" dirty="0"/>
              <a:t>Completely independent modules</a:t>
            </a:r>
          </a:p>
          <a:p>
            <a:pPr marL="285750" indent="-285750">
              <a:buFont typeface="Arial" panose="020B0604020202020204" pitchFamily="34" charset="0"/>
              <a:buChar char="•"/>
            </a:pPr>
            <a:r>
              <a:rPr lang="en-US" sz="1400" dirty="0"/>
              <a:t>Easily extensible</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p:txBody>
      </p:sp>
      <p:pic>
        <p:nvPicPr>
          <p:cNvPr id="1026" name="Picture 2" descr="Resultado de imagem para implied volatility surface">
            <a:extLst>
              <a:ext uri="{FF2B5EF4-FFF2-40B4-BE49-F238E27FC236}">
                <a16:creationId xmlns:a16="http://schemas.microsoft.com/office/drawing/2014/main" id="{60291057-BC85-48D2-8298-36AE1242A3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4650" y="3510530"/>
            <a:ext cx="866173" cy="6548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7299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382962-7DA7-4001-82BD-F82D2BAF09BA}"/>
              </a:ext>
            </a:extLst>
          </p:cNvPr>
          <p:cNvSpPr>
            <a:spLocks noGrp="1"/>
          </p:cNvSpPr>
          <p:nvPr>
            <p:ph type="body" sz="quarter" idx="12"/>
          </p:nvPr>
        </p:nvSpPr>
        <p:spPr>
          <a:xfrm>
            <a:off x="441849" y="441278"/>
            <a:ext cx="3677145" cy="356527"/>
          </a:xfrm>
        </p:spPr>
        <p:txBody>
          <a:bodyPr/>
          <a:lstStyle/>
          <a:p>
            <a:r>
              <a:rPr lang="en-US" noProof="0" dirty="0"/>
              <a:t>Testing Results</a:t>
            </a:r>
          </a:p>
        </p:txBody>
      </p:sp>
      <p:sp>
        <p:nvSpPr>
          <p:cNvPr id="3" name="TextBox 2">
            <a:extLst>
              <a:ext uri="{FF2B5EF4-FFF2-40B4-BE49-F238E27FC236}">
                <a16:creationId xmlns:a16="http://schemas.microsoft.com/office/drawing/2014/main" id="{9E34262F-5915-48BE-B899-13031D8A3514}"/>
              </a:ext>
            </a:extLst>
          </p:cNvPr>
          <p:cNvSpPr txBox="1"/>
          <p:nvPr/>
        </p:nvSpPr>
        <p:spPr>
          <a:xfrm>
            <a:off x="355881" y="963237"/>
            <a:ext cx="10398805" cy="1815882"/>
          </a:xfrm>
          <a:prstGeom prst="rect">
            <a:avLst/>
          </a:prstGeom>
          <a:noFill/>
          <a:ln>
            <a:noFill/>
          </a:ln>
        </p:spPr>
        <p:txBody>
          <a:bodyPr wrap="square" rtlCol="0">
            <a:spAutoFit/>
          </a:bodyPr>
          <a:lstStyle/>
          <a:p>
            <a:r>
              <a:rPr lang="es-AR" sz="1600" dirty="0" err="1">
                <a:solidFill>
                  <a:srgbClr val="1A427E"/>
                </a:solidFill>
              </a:rPr>
              <a:t>Testing</a:t>
            </a:r>
            <a:r>
              <a:rPr lang="es-AR" sz="1600" dirty="0">
                <a:solidFill>
                  <a:srgbClr val="1A427E"/>
                </a:solidFill>
              </a:rPr>
              <a:t> </a:t>
            </a:r>
            <a:r>
              <a:rPr lang="es-AR" sz="1600" dirty="0" err="1">
                <a:solidFill>
                  <a:srgbClr val="1A427E"/>
                </a:solidFill>
              </a:rPr>
              <a:t>ivol</a:t>
            </a:r>
            <a:r>
              <a:rPr lang="es-AR" sz="1600" dirty="0">
                <a:solidFill>
                  <a:srgbClr val="1A427E"/>
                </a:solidFill>
              </a:rPr>
              <a:t> </a:t>
            </a:r>
            <a:r>
              <a:rPr lang="es-AR" sz="1600" dirty="0" err="1">
                <a:solidFill>
                  <a:srgbClr val="1A427E"/>
                </a:solidFill>
              </a:rPr>
              <a:t>calculation</a:t>
            </a:r>
            <a:r>
              <a:rPr lang="es-AR" sz="1600" dirty="0">
                <a:solidFill>
                  <a:srgbClr val="1A427E"/>
                </a:solidFill>
              </a:rPr>
              <a:t> and </a:t>
            </a:r>
            <a:r>
              <a:rPr lang="es-AR" sz="1600" dirty="0" err="1">
                <a:solidFill>
                  <a:srgbClr val="1A427E"/>
                </a:solidFill>
              </a:rPr>
              <a:t>pricing</a:t>
            </a:r>
            <a:r>
              <a:rPr lang="es-AR" sz="1600" dirty="0">
                <a:solidFill>
                  <a:srgbClr val="1A427E"/>
                </a:solidFill>
              </a:rPr>
              <a:t> </a:t>
            </a:r>
            <a:r>
              <a:rPr lang="es-AR" sz="1600" dirty="0" err="1">
                <a:solidFill>
                  <a:srgbClr val="1A427E"/>
                </a:solidFill>
              </a:rPr>
              <a:t>helped</a:t>
            </a:r>
            <a:r>
              <a:rPr lang="es-AR" sz="1600" dirty="0">
                <a:solidFill>
                  <a:srgbClr val="1A427E"/>
                </a:solidFill>
              </a:rPr>
              <a:t> me </a:t>
            </a:r>
            <a:r>
              <a:rPr lang="es-AR" sz="1600" dirty="0" err="1">
                <a:solidFill>
                  <a:srgbClr val="1A427E"/>
                </a:solidFill>
              </a:rPr>
              <a:t>understand</a:t>
            </a:r>
            <a:r>
              <a:rPr lang="es-AR" sz="1600" dirty="0">
                <a:solidFill>
                  <a:srgbClr val="1A427E"/>
                </a:solidFill>
              </a:rPr>
              <a:t>:</a:t>
            </a:r>
          </a:p>
          <a:p>
            <a:pPr algn="ctr"/>
            <a:endParaRPr lang="es-AR" sz="1600" dirty="0">
              <a:solidFill>
                <a:srgbClr val="1A427E"/>
              </a:solidFill>
            </a:endParaRPr>
          </a:p>
          <a:p>
            <a:pPr marL="285750" indent="-285750">
              <a:buFont typeface="Arial" panose="020B0604020202020204" pitchFamily="34" charset="0"/>
              <a:buChar char="•"/>
            </a:pPr>
            <a:r>
              <a:rPr lang="en-US" sz="1600" dirty="0">
                <a:solidFill>
                  <a:srgbClr val="1A427E"/>
                </a:solidFill>
              </a:rPr>
              <a:t>Use of Rate curve data in </a:t>
            </a:r>
            <a:r>
              <a:rPr lang="en-US" sz="1600" dirty="0" err="1">
                <a:solidFill>
                  <a:srgbClr val="1A427E"/>
                </a:solidFill>
              </a:rPr>
              <a:t>pricer</a:t>
            </a:r>
            <a:r>
              <a:rPr lang="en-US" sz="1600" dirty="0">
                <a:solidFill>
                  <a:srgbClr val="1A427E"/>
                </a:solidFill>
              </a:rPr>
              <a:t> – I tested constant, piecewise constant, </a:t>
            </a:r>
            <a:r>
              <a:rPr lang="en-US" sz="1600" b="1" dirty="0">
                <a:solidFill>
                  <a:srgbClr val="1A427E"/>
                </a:solidFill>
              </a:rPr>
              <a:t>piecewise linear</a:t>
            </a:r>
          </a:p>
          <a:p>
            <a:pPr marL="285750" indent="-285750">
              <a:buFont typeface="Arial" panose="020B0604020202020204" pitchFamily="34" charset="0"/>
              <a:buChar char="•"/>
            </a:pPr>
            <a:r>
              <a:rPr lang="en-US" sz="1600" dirty="0">
                <a:solidFill>
                  <a:srgbClr val="1A427E"/>
                </a:solidFill>
              </a:rPr>
              <a:t>Use of Dividend data in </a:t>
            </a:r>
            <a:r>
              <a:rPr lang="en-US" sz="1600" dirty="0" err="1">
                <a:solidFill>
                  <a:srgbClr val="1A427E"/>
                </a:solidFill>
              </a:rPr>
              <a:t>pricer</a:t>
            </a:r>
            <a:r>
              <a:rPr lang="en-US" sz="1600" dirty="0">
                <a:solidFill>
                  <a:srgbClr val="1A427E"/>
                </a:solidFill>
              </a:rPr>
              <a:t> – I tested constant (from another data source) and constant from OM analytics</a:t>
            </a:r>
          </a:p>
          <a:p>
            <a:pPr marL="285750" indent="-285750">
              <a:buFont typeface="Arial" panose="020B0604020202020204" pitchFamily="34" charset="0"/>
              <a:buChar char="•"/>
            </a:pPr>
            <a:r>
              <a:rPr lang="en-US" sz="1600" dirty="0">
                <a:solidFill>
                  <a:srgbClr val="1A427E"/>
                </a:solidFill>
              </a:rPr>
              <a:t>CRR vs LR algorithms</a:t>
            </a:r>
          </a:p>
          <a:p>
            <a:pPr marL="285750" indent="-285750">
              <a:buFont typeface="Arial" panose="020B0604020202020204" pitchFamily="34" charset="0"/>
              <a:buChar char="•"/>
            </a:pPr>
            <a:r>
              <a:rPr lang="en-US" sz="1600" dirty="0" err="1">
                <a:solidFill>
                  <a:srgbClr val="1A427E"/>
                </a:solidFill>
              </a:rPr>
              <a:t>Convergenge</a:t>
            </a:r>
            <a:r>
              <a:rPr lang="en-US" sz="1600" dirty="0">
                <a:solidFill>
                  <a:srgbClr val="1A427E"/>
                </a:solidFill>
              </a:rPr>
              <a:t> of </a:t>
            </a:r>
            <a:r>
              <a:rPr lang="en-US" sz="1600" dirty="0" err="1">
                <a:solidFill>
                  <a:srgbClr val="1A427E"/>
                </a:solidFill>
              </a:rPr>
              <a:t>Leisen</a:t>
            </a:r>
            <a:r>
              <a:rPr lang="en-US" sz="1600" dirty="0">
                <a:solidFill>
                  <a:srgbClr val="1A427E"/>
                </a:solidFill>
              </a:rPr>
              <a:t>-Reimer algorithm</a:t>
            </a:r>
          </a:p>
          <a:p>
            <a:pPr marL="285750" indent="-285750">
              <a:buFont typeface="Arial" panose="020B0604020202020204" pitchFamily="34" charset="0"/>
              <a:buChar char="•"/>
            </a:pPr>
            <a:endParaRPr lang="en-US" sz="1600" dirty="0">
              <a:solidFill>
                <a:srgbClr val="1A427E"/>
              </a:solidFill>
            </a:endParaRPr>
          </a:p>
        </p:txBody>
      </p:sp>
      <p:sp>
        <p:nvSpPr>
          <p:cNvPr id="8" name="TextBox 7">
            <a:extLst>
              <a:ext uri="{FF2B5EF4-FFF2-40B4-BE49-F238E27FC236}">
                <a16:creationId xmlns:a16="http://schemas.microsoft.com/office/drawing/2014/main" id="{4063324E-C4E9-4094-9B79-0DCA3395E427}"/>
              </a:ext>
            </a:extLst>
          </p:cNvPr>
          <p:cNvSpPr txBox="1"/>
          <p:nvPr/>
        </p:nvSpPr>
        <p:spPr>
          <a:xfrm>
            <a:off x="355880" y="2657813"/>
            <a:ext cx="10398805" cy="4770537"/>
          </a:xfrm>
          <a:prstGeom prst="rect">
            <a:avLst/>
          </a:prstGeom>
          <a:noFill/>
          <a:ln>
            <a:noFill/>
          </a:ln>
        </p:spPr>
        <p:txBody>
          <a:bodyPr wrap="square" rtlCol="0">
            <a:spAutoFit/>
          </a:bodyPr>
          <a:lstStyle/>
          <a:p>
            <a:r>
              <a:rPr lang="es-AR" sz="1600" dirty="0" err="1">
                <a:solidFill>
                  <a:srgbClr val="1A427E"/>
                </a:solidFill>
              </a:rPr>
              <a:t>What</a:t>
            </a:r>
            <a:r>
              <a:rPr lang="es-AR" sz="1600" dirty="0">
                <a:solidFill>
                  <a:srgbClr val="1A427E"/>
                </a:solidFill>
              </a:rPr>
              <a:t> I </a:t>
            </a:r>
            <a:r>
              <a:rPr lang="es-AR" sz="1600" dirty="0" err="1">
                <a:solidFill>
                  <a:srgbClr val="1A427E"/>
                </a:solidFill>
              </a:rPr>
              <a:t>have</a:t>
            </a:r>
            <a:r>
              <a:rPr lang="es-AR" sz="1600" dirty="0">
                <a:solidFill>
                  <a:srgbClr val="1A427E"/>
                </a:solidFill>
              </a:rPr>
              <a:t> </a:t>
            </a:r>
            <a:r>
              <a:rPr lang="es-AR" sz="1600" dirty="0" err="1">
                <a:solidFill>
                  <a:srgbClr val="1A427E"/>
                </a:solidFill>
              </a:rPr>
              <a:t>tested</a:t>
            </a:r>
            <a:r>
              <a:rPr lang="es-AR" sz="1600" dirty="0">
                <a:solidFill>
                  <a:srgbClr val="1A427E"/>
                </a:solidFill>
              </a:rPr>
              <a:t>:</a:t>
            </a:r>
          </a:p>
          <a:p>
            <a:pPr algn="ctr"/>
            <a:endParaRPr lang="es-AR" sz="1600" dirty="0">
              <a:solidFill>
                <a:srgbClr val="1A427E"/>
              </a:solidFill>
            </a:endParaRPr>
          </a:p>
          <a:p>
            <a:pPr marL="285750" indent="-285750">
              <a:buFont typeface="Arial" panose="020B0604020202020204" pitchFamily="34" charset="0"/>
              <a:buChar char="•"/>
            </a:pPr>
            <a:r>
              <a:rPr lang="en-US" sz="1600" dirty="0">
                <a:solidFill>
                  <a:srgbClr val="1A427E"/>
                </a:solidFill>
              </a:rPr>
              <a:t>Tested AAPL, WFC and SPX options on a couple of business dates</a:t>
            </a:r>
          </a:p>
          <a:p>
            <a:pPr marL="285750" indent="-285750">
              <a:buFont typeface="Arial" panose="020B0604020202020204" pitchFamily="34" charset="0"/>
              <a:buChar char="•"/>
            </a:pPr>
            <a:endParaRPr lang="en-US" sz="1600" b="1" dirty="0">
              <a:solidFill>
                <a:srgbClr val="1A427E"/>
              </a:solidFill>
            </a:endParaRPr>
          </a:p>
          <a:p>
            <a:pPr marL="285750" indent="-285750">
              <a:buFont typeface="Arial" panose="020B0604020202020204" pitchFamily="34" charset="0"/>
              <a:buChar char="•"/>
            </a:pPr>
            <a:r>
              <a:rPr lang="en-US" sz="1600" dirty="0" err="1">
                <a:solidFill>
                  <a:srgbClr val="1A427E"/>
                </a:solidFill>
              </a:rPr>
              <a:t>Ivol</a:t>
            </a:r>
            <a:r>
              <a:rPr lang="en-US" sz="1600" dirty="0">
                <a:solidFill>
                  <a:srgbClr val="1A427E"/>
                </a:solidFill>
              </a:rPr>
              <a:t> from market data:</a:t>
            </a:r>
          </a:p>
          <a:p>
            <a:pPr marL="742950" lvl="1" indent="-285750">
              <a:buFont typeface="Arial" panose="020B0604020202020204" pitchFamily="34" charset="0"/>
              <a:buChar char="•"/>
            </a:pPr>
            <a:r>
              <a:rPr lang="en-US" sz="1600" dirty="0">
                <a:solidFill>
                  <a:srgbClr val="1A427E"/>
                </a:solidFill>
              </a:rPr>
              <a:t>average of 2-5% match – relative difference</a:t>
            </a:r>
          </a:p>
          <a:p>
            <a:pPr marL="742950" lvl="1" indent="-285750">
              <a:buFont typeface="Arial" panose="020B0604020202020204" pitchFamily="34" charset="0"/>
              <a:buChar char="•"/>
            </a:pPr>
            <a:r>
              <a:rPr lang="en-US" sz="1600" dirty="0" err="1">
                <a:solidFill>
                  <a:srgbClr val="1A427E"/>
                </a:solidFill>
              </a:rPr>
              <a:t>missmatch</a:t>
            </a:r>
            <a:r>
              <a:rPr lang="en-US" sz="1600" dirty="0">
                <a:solidFill>
                  <a:srgbClr val="1A427E"/>
                </a:solidFill>
              </a:rPr>
              <a:t> (&gt;25 %) in deep in the money options (CALLS Delta ~1, PUTS Delta ~ -1)</a:t>
            </a:r>
          </a:p>
          <a:p>
            <a:pPr marL="285750" indent="-285750">
              <a:buFont typeface="Arial" panose="020B0604020202020204" pitchFamily="34" charset="0"/>
              <a:buChar char="•"/>
            </a:pPr>
            <a:endParaRPr lang="en-US" sz="1600" dirty="0">
              <a:solidFill>
                <a:srgbClr val="1A427E"/>
              </a:solidFill>
            </a:endParaRPr>
          </a:p>
          <a:p>
            <a:pPr marL="285750" indent="-285750">
              <a:buFont typeface="Arial" panose="020B0604020202020204" pitchFamily="34" charset="0"/>
              <a:buChar char="•"/>
            </a:pPr>
            <a:r>
              <a:rPr lang="en-US" sz="1600" dirty="0">
                <a:solidFill>
                  <a:srgbClr val="1A427E"/>
                </a:solidFill>
              </a:rPr>
              <a:t>Perfect repricing (1e-8 </a:t>
            </a:r>
            <a:r>
              <a:rPr lang="en-US" sz="1600" dirty="0" err="1">
                <a:solidFill>
                  <a:srgbClr val="1A427E"/>
                </a:solidFill>
              </a:rPr>
              <a:t>rel</a:t>
            </a:r>
            <a:r>
              <a:rPr lang="en-US" sz="1600" dirty="0">
                <a:solidFill>
                  <a:srgbClr val="1A427E"/>
                </a:solidFill>
              </a:rPr>
              <a:t> error)</a:t>
            </a:r>
          </a:p>
          <a:p>
            <a:pPr marL="285750" indent="-285750">
              <a:buFont typeface="Arial" panose="020B0604020202020204" pitchFamily="34" charset="0"/>
              <a:buChar char="•"/>
            </a:pPr>
            <a:endParaRPr lang="en-US" sz="1600" dirty="0">
              <a:solidFill>
                <a:srgbClr val="1A427E"/>
              </a:solidFill>
            </a:endParaRPr>
          </a:p>
          <a:p>
            <a:pPr marL="285750" indent="-285750">
              <a:buFont typeface="Arial" panose="020B0604020202020204" pitchFamily="34" charset="0"/>
              <a:buChar char="•"/>
            </a:pPr>
            <a:r>
              <a:rPr lang="en-US" sz="1600" dirty="0">
                <a:solidFill>
                  <a:srgbClr val="1A427E"/>
                </a:solidFill>
              </a:rPr>
              <a:t>Good Greeks calculations</a:t>
            </a:r>
          </a:p>
          <a:p>
            <a:pPr marL="285750" indent="-285750">
              <a:buFont typeface="Arial" panose="020B0604020202020204" pitchFamily="34" charset="0"/>
              <a:buChar char="•"/>
            </a:pPr>
            <a:endParaRPr lang="en-US" sz="1600" dirty="0">
              <a:solidFill>
                <a:srgbClr val="1A427E"/>
              </a:solidFill>
            </a:endParaRPr>
          </a:p>
          <a:p>
            <a:pPr marL="285750" indent="-285750">
              <a:buFont typeface="Arial" panose="020B0604020202020204" pitchFamily="34" charset="0"/>
              <a:buChar char="•"/>
            </a:pPr>
            <a:r>
              <a:rPr lang="en-US" sz="1600" dirty="0" err="1">
                <a:solidFill>
                  <a:srgbClr val="1A427E"/>
                </a:solidFill>
              </a:rPr>
              <a:t>Ivol</a:t>
            </a:r>
            <a:r>
              <a:rPr lang="en-US" sz="1600" dirty="0">
                <a:solidFill>
                  <a:srgbClr val="1A427E"/>
                </a:solidFill>
              </a:rPr>
              <a:t> for standard options:</a:t>
            </a:r>
          </a:p>
          <a:p>
            <a:pPr marL="742950" lvl="1" indent="-285750">
              <a:buFont typeface="Arial" panose="020B0604020202020204" pitchFamily="34" charset="0"/>
              <a:buChar char="•"/>
            </a:pPr>
            <a:r>
              <a:rPr lang="en-US" sz="1600" dirty="0">
                <a:solidFill>
                  <a:srgbClr val="1A427E"/>
                </a:solidFill>
              </a:rPr>
              <a:t>average of 2-3% match – relative difference</a:t>
            </a:r>
          </a:p>
          <a:p>
            <a:pPr marL="742950" lvl="1" indent="-285750">
              <a:buFont typeface="Arial" panose="020B0604020202020204" pitchFamily="34" charset="0"/>
              <a:buChar char="•"/>
            </a:pPr>
            <a:r>
              <a:rPr lang="en-US" sz="1600" dirty="0" err="1">
                <a:solidFill>
                  <a:srgbClr val="1A427E"/>
                </a:solidFill>
              </a:rPr>
              <a:t>missmatch</a:t>
            </a:r>
            <a:r>
              <a:rPr lang="en-US" sz="1600" dirty="0">
                <a:solidFill>
                  <a:srgbClr val="1A427E"/>
                </a:solidFill>
              </a:rPr>
              <a:t> (5 (index)-15(stock) % MAX) in out of the money options (Delta +-20%)</a:t>
            </a:r>
          </a:p>
          <a:p>
            <a:pPr marL="285750" indent="-285750">
              <a:buFont typeface="Arial" panose="020B0604020202020204" pitchFamily="34" charset="0"/>
              <a:buChar char="•"/>
            </a:pPr>
            <a:endParaRPr lang="en-US" sz="1600" dirty="0">
              <a:solidFill>
                <a:srgbClr val="1A427E"/>
              </a:solidFill>
            </a:endParaRPr>
          </a:p>
          <a:p>
            <a:pPr marL="742950" lvl="1" indent="-285750">
              <a:buFont typeface="Arial" panose="020B0604020202020204" pitchFamily="34" charset="0"/>
              <a:buChar char="•"/>
            </a:pPr>
            <a:endParaRPr lang="en-US" sz="1600" dirty="0">
              <a:solidFill>
                <a:srgbClr val="1A427E"/>
              </a:solidFill>
            </a:endParaRPr>
          </a:p>
          <a:p>
            <a:pPr marL="285750" indent="-285750">
              <a:buFont typeface="Arial" panose="020B0604020202020204" pitchFamily="34" charset="0"/>
              <a:buChar char="•"/>
            </a:pPr>
            <a:endParaRPr lang="en-US" sz="1600" dirty="0">
              <a:solidFill>
                <a:srgbClr val="1A427E"/>
              </a:solidFill>
            </a:endParaRPr>
          </a:p>
          <a:p>
            <a:pPr marL="285750" indent="-285750">
              <a:buFont typeface="Arial" panose="020B0604020202020204" pitchFamily="34" charset="0"/>
              <a:buChar char="•"/>
            </a:pPr>
            <a:endParaRPr lang="en-US" sz="1600" dirty="0">
              <a:solidFill>
                <a:srgbClr val="1A427E"/>
              </a:solidFill>
            </a:endParaRPr>
          </a:p>
        </p:txBody>
      </p:sp>
    </p:spTree>
    <p:extLst>
      <p:ext uri="{BB962C8B-B14F-4D97-AF65-F5344CB8AC3E}">
        <p14:creationId xmlns:p14="http://schemas.microsoft.com/office/powerpoint/2010/main" val="2988917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10BBCD5-09B9-42EE-94E4-C2A955D7AF45}"/>
              </a:ext>
            </a:extLst>
          </p:cNvPr>
          <p:cNvSpPr>
            <a:spLocks noGrp="1"/>
          </p:cNvSpPr>
          <p:nvPr>
            <p:ph type="body" sz="quarter" idx="12"/>
          </p:nvPr>
        </p:nvSpPr>
        <p:spPr>
          <a:xfrm>
            <a:off x="576072" y="144196"/>
            <a:ext cx="11053676" cy="713054"/>
          </a:xfrm>
        </p:spPr>
        <p:txBody>
          <a:bodyPr/>
          <a:lstStyle/>
          <a:p>
            <a:r>
              <a:rPr lang="en-US" noProof="0" dirty="0"/>
              <a:t>Comparison 1 – AAPL 04/04/2019 - 1604 listed options P+C (1407 after cleanse)</a:t>
            </a:r>
          </a:p>
          <a:p>
            <a:r>
              <a:rPr lang="en-US" noProof="0" dirty="0"/>
              <a:t>             Data                                          CALLS                                   AXIOMA</a:t>
            </a:r>
          </a:p>
        </p:txBody>
      </p:sp>
      <p:pic>
        <p:nvPicPr>
          <p:cNvPr id="5" name="Picture 4">
            <a:extLst>
              <a:ext uri="{FF2B5EF4-FFF2-40B4-BE49-F238E27FC236}">
                <a16:creationId xmlns:a16="http://schemas.microsoft.com/office/drawing/2014/main" id="{E865D610-C111-4F50-931D-73E6F01E0C78}"/>
              </a:ext>
            </a:extLst>
          </p:cNvPr>
          <p:cNvPicPr>
            <a:picLocks noChangeAspect="1"/>
          </p:cNvPicPr>
          <p:nvPr/>
        </p:nvPicPr>
        <p:blipFill rotWithShape="1">
          <a:blip r:embed="rId2"/>
          <a:srcRect t="5639" r="50974" b="5484"/>
          <a:stretch/>
        </p:blipFill>
        <p:spPr>
          <a:xfrm>
            <a:off x="4444941" y="728253"/>
            <a:ext cx="6242634" cy="5593611"/>
          </a:xfrm>
          <a:prstGeom prst="rect">
            <a:avLst/>
          </a:prstGeom>
        </p:spPr>
      </p:pic>
      <p:pic>
        <p:nvPicPr>
          <p:cNvPr id="7" name="Picture 6">
            <a:extLst>
              <a:ext uri="{FF2B5EF4-FFF2-40B4-BE49-F238E27FC236}">
                <a16:creationId xmlns:a16="http://schemas.microsoft.com/office/drawing/2014/main" id="{C63B2C6B-AF81-4956-BB8A-6FDAB60B2169}"/>
              </a:ext>
            </a:extLst>
          </p:cNvPr>
          <p:cNvPicPr>
            <a:picLocks noChangeAspect="1"/>
          </p:cNvPicPr>
          <p:nvPr/>
        </p:nvPicPr>
        <p:blipFill rotWithShape="1">
          <a:blip r:embed="rId3"/>
          <a:srcRect l="8474" t="7216" r="50566" b="3908"/>
          <a:stretch/>
        </p:blipFill>
        <p:spPr>
          <a:xfrm>
            <a:off x="167182" y="792752"/>
            <a:ext cx="5033992" cy="5529112"/>
          </a:xfrm>
          <a:prstGeom prst="rect">
            <a:avLst/>
          </a:prstGeom>
        </p:spPr>
      </p:pic>
      <p:sp>
        <p:nvSpPr>
          <p:cNvPr id="12" name="Oval 11">
            <a:extLst>
              <a:ext uri="{FF2B5EF4-FFF2-40B4-BE49-F238E27FC236}">
                <a16:creationId xmlns:a16="http://schemas.microsoft.com/office/drawing/2014/main" id="{BFB40F0F-229C-48AF-8B5B-5DB8924FC5CD}"/>
              </a:ext>
            </a:extLst>
          </p:cNvPr>
          <p:cNvSpPr/>
          <p:nvPr/>
        </p:nvSpPr>
        <p:spPr>
          <a:xfrm>
            <a:off x="796954" y="4286774"/>
            <a:ext cx="1375795" cy="150163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F5BF2100-8ABC-4FE4-A035-D90AADB30108}"/>
              </a:ext>
            </a:extLst>
          </p:cNvPr>
          <p:cNvSpPr/>
          <p:nvPr/>
        </p:nvSpPr>
        <p:spPr>
          <a:xfrm>
            <a:off x="6302930" y="4439174"/>
            <a:ext cx="1375795" cy="150163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62394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p:cTn id="12" dur="500" fill="hold"/>
                                        <p:tgtEl>
                                          <p:spTgt spid="13"/>
                                        </p:tgtEl>
                                        <p:attrNameLst>
                                          <p:attrName>ppt_w</p:attrName>
                                        </p:attrNameLst>
                                      </p:cBhvr>
                                      <p:tavLst>
                                        <p:tav tm="0">
                                          <p:val>
                                            <p:fltVal val="0"/>
                                          </p:val>
                                        </p:tav>
                                        <p:tav tm="100000">
                                          <p:val>
                                            <p:strVal val="#ppt_w"/>
                                          </p:val>
                                        </p:tav>
                                      </p:tavLst>
                                    </p:anim>
                                    <p:anim calcmode="lin" valueType="num">
                                      <p:cBhvr>
                                        <p:cTn id="13" dur="500" fill="hold"/>
                                        <p:tgtEl>
                                          <p:spTgt spid="13"/>
                                        </p:tgtEl>
                                        <p:attrNameLst>
                                          <p:attrName>ppt_h</p:attrName>
                                        </p:attrNameLst>
                                      </p:cBhvr>
                                      <p:tavLst>
                                        <p:tav tm="0">
                                          <p:val>
                                            <p:fltVal val="0"/>
                                          </p:val>
                                        </p:tav>
                                        <p:tav tm="100000">
                                          <p:val>
                                            <p:strVal val="#ppt_h"/>
                                          </p:val>
                                        </p:tav>
                                      </p:tavLst>
                                    </p:anim>
                                    <p:animEffect transition="in" filter="fade">
                                      <p:cBhvr>
                                        <p:cTn id="1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10BBCD5-09B9-42EE-94E4-C2A955D7AF45}"/>
              </a:ext>
            </a:extLst>
          </p:cNvPr>
          <p:cNvSpPr>
            <a:spLocks noGrp="1"/>
          </p:cNvSpPr>
          <p:nvPr>
            <p:ph type="body" sz="quarter" idx="12"/>
          </p:nvPr>
        </p:nvSpPr>
        <p:spPr>
          <a:xfrm>
            <a:off x="576072" y="144196"/>
            <a:ext cx="8794750" cy="713054"/>
          </a:xfrm>
        </p:spPr>
        <p:txBody>
          <a:bodyPr/>
          <a:lstStyle/>
          <a:p>
            <a:r>
              <a:rPr lang="en-US" noProof="0" dirty="0"/>
              <a:t>Comparison 2 – AAPL 04/04/2019</a:t>
            </a:r>
          </a:p>
          <a:p>
            <a:r>
              <a:rPr lang="en-US" noProof="0" dirty="0"/>
              <a:t>             Data                                             PUTS                                   AXIOMA</a:t>
            </a:r>
          </a:p>
        </p:txBody>
      </p:sp>
      <p:pic>
        <p:nvPicPr>
          <p:cNvPr id="10" name="Picture 9">
            <a:extLst>
              <a:ext uri="{FF2B5EF4-FFF2-40B4-BE49-F238E27FC236}">
                <a16:creationId xmlns:a16="http://schemas.microsoft.com/office/drawing/2014/main" id="{B9C681F5-F4EC-40D3-B5B9-63E3C10A4709}"/>
              </a:ext>
            </a:extLst>
          </p:cNvPr>
          <p:cNvPicPr>
            <a:picLocks noChangeAspect="1"/>
          </p:cNvPicPr>
          <p:nvPr/>
        </p:nvPicPr>
        <p:blipFill rotWithShape="1">
          <a:blip r:embed="rId2"/>
          <a:srcRect l="50917" t="7323" r="9450" b="4305"/>
          <a:stretch/>
        </p:blipFill>
        <p:spPr>
          <a:xfrm>
            <a:off x="141388" y="857249"/>
            <a:ext cx="4832059" cy="5325437"/>
          </a:xfrm>
          <a:prstGeom prst="rect">
            <a:avLst/>
          </a:prstGeom>
        </p:spPr>
      </p:pic>
      <p:pic>
        <p:nvPicPr>
          <p:cNvPr id="12" name="Picture 11">
            <a:extLst>
              <a:ext uri="{FF2B5EF4-FFF2-40B4-BE49-F238E27FC236}">
                <a16:creationId xmlns:a16="http://schemas.microsoft.com/office/drawing/2014/main" id="{D11DF346-51D4-486C-8B28-4826D285DCDB}"/>
              </a:ext>
            </a:extLst>
          </p:cNvPr>
          <p:cNvPicPr>
            <a:picLocks noChangeAspect="1"/>
          </p:cNvPicPr>
          <p:nvPr/>
        </p:nvPicPr>
        <p:blipFill rotWithShape="1">
          <a:blip r:embed="rId3"/>
          <a:srcRect l="51537" t="9246" r="8831" b="5836"/>
          <a:stretch/>
        </p:blipFill>
        <p:spPr>
          <a:xfrm>
            <a:off x="6096000" y="870358"/>
            <a:ext cx="4832059" cy="5117284"/>
          </a:xfrm>
          <a:prstGeom prst="rect">
            <a:avLst/>
          </a:prstGeom>
        </p:spPr>
      </p:pic>
      <p:sp>
        <p:nvSpPr>
          <p:cNvPr id="13" name="Oval 12">
            <a:extLst>
              <a:ext uri="{FF2B5EF4-FFF2-40B4-BE49-F238E27FC236}">
                <a16:creationId xmlns:a16="http://schemas.microsoft.com/office/drawing/2014/main" id="{3969691D-F175-4AE4-AA15-365544170071}"/>
              </a:ext>
            </a:extLst>
          </p:cNvPr>
          <p:cNvSpPr/>
          <p:nvPr/>
        </p:nvSpPr>
        <p:spPr>
          <a:xfrm>
            <a:off x="6677636" y="4110605"/>
            <a:ext cx="1375795" cy="150163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E58352A4-D210-4DB4-98A8-066A784237D2}"/>
              </a:ext>
            </a:extLst>
          </p:cNvPr>
          <p:cNvSpPr/>
          <p:nvPr/>
        </p:nvSpPr>
        <p:spPr>
          <a:xfrm>
            <a:off x="690695" y="4254616"/>
            <a:ext cx="1375795" cy="150163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95693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p:cTn id="12" dur="500" fill="hold"/>
                                        <p:tgtEl>
                                          <p:spTgt spid="13"/>
                                        </p:tgtEl>
                                        <p:attrNameLst>
                                          <p:attrName>ppt_w</p:attrName>
                                        </p:attrNameLst>
                                      </p:cBhvr>
                                      <p:tavLst>
                                        <p:tav tm="0">
                                          <p:val>
                                            <p:fltVal val="0"/>
                                          </p:val>
                                        </p:tav>
                                        <p:tav tm="100000">
                                          <p:val>
                                            <p:strVal val="#ppt_w"/>
                                          </p:val>
                                        </p:tav>
                                      </p:tavLst>
                                    </p:anim>
                                    <p:anim calcmode="lin" valueType="num">
                                      <p:cBhvr>
                                        <p:cTn id="13" dur="500" fill="hold"/>
                                        <p:tgtEl>
                                          <p:spTgt spid="13"/>
                                        </p:tgtEl>
                                        <p:attrNameLst>
                                          <p:attrName>ppt_h</p:attrName>
                                        </p:attrNameLst>
                                      </p:cBhvr>
                                      <p:tavLst>
                                        <p:tav tm="0">
                                          <p:val>
                                            <p:fltVal val="0"/>
                                          </p:val>
                                        </p:tav>
                                        <p:tav tm="100000">
                                          <p:val>
                                            <p:strVal val="#ppt_h"/>
                                          </p:val>
                                        </p:tav>
                                      </p:tavLst>
                                    </p:anim>
                                    <p:animEffect transition="in" filter="fade">
                                      <p:cBhvr>
                                        <p:cTn id="1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10BBCD5-09B9-42EE-94E4-C2A955D7AF45}"/>
              </a:ext>
            </a:extLst>
          </p:cNvPr>
          <p:cNvSpPr>
            <a:spLocks noGrp="1"/>
          </p:cNvSpPr>
          <p:nvPr>
            <p:ph type="body" sz="quarter" idx="12"/>
          </p:nvPr>
        </p:nvSpPr>
        <p:spPr>
          <a:xfrm>
            <a:off x="576071" y="144196"/>
            <a:ext cx="10858367" cy="713054"/>
          </a:xfrm>
        </p:spPr>
        <p:txBody>
          <a:bodyPr/>
          <a:lstStyle/>
          <a:p>
            <a:r>
              <a:rPr lang="en-US" noProof="0" dirty="0"/>
              <a:t>Comparison 3 – SPX 04/04/2019 – 13473 listed options P+C (11465 after cleanse)</a:t>
            </a:r>
          </a:p>
          <a:p>
            <a:r>
              <a:rPr lang="en-US" noProof="0" dirty="0"/>
              <a:t>         Data                                                     CALLS                          AXIOMA</a:t>
            </a:r>
          </a:p>
        </p:txBody>
      </p:sp>
      <p:pic>
        <p:nvPicPr>
          <p:cNvPr id="4" name="Picture 3">
            <a:extLst>
              <a:ext uri="{FF2B5EF4-FFF2-40B4-BE49-F238E27FC236}">
                <a16:creationId xmlns:a16="http://schemas.microsoft.com/office/drawing/2014/main" id="{AB36AB54-98E7-489E-A7EA-23811B1C33B5}"/>
              </a:ext>
            </a:extLst>
          </p:cNvPr>
          <p:cNvPicPr>
            <a:picLocks noChangeAspect="1"/>
          </p:cNvPicPr>
          <p:nvPr/>
        </p:nvPicPr>
        <p:blipFill rotWithShape="1">
          <a:blip r:embed="rId2"/>
          <a:srcRect l="8601" t="7323" r="51422" b="6393"/>
          <a:stretch/>
        </p:blipFill>
        <p:spPr>
          <a:xfrm>
            <a:off x="587230" y="857250"/>
            <a:ext cx="4874004" cy="5199602"/>
          </a:xfrm>
          <a:prstGeom prst="rect">
            <a:avLst/>
          </a:prstGeom>
        </p:spPr>
      </p:pic>
      <p:pic>
        <p:nvPicPr>
          <p:cNvPr id="6" name="Picture 5">
            <a:extLst>
              <a:ext uri="{FF2B5EF4-FFF2-40B4-BE49-F238E27FC236}">
                <a16:creationId xmlns:a16="http://schemas.microsoft.com/office/drawing/2014/main" id="{EA846582-88D1-4017-9D1D-6EAEB9A1EB4D}"/>
              </a:ext>
            </a:extLst>
          </p:cNvPr>
          <p:cNvPicPr>
            <a:picLocks noChangeAspect="1"/>
          </p:cNvPicPr>
          <p:nvPr/>
        </p:nvPicPr>
        <p:blipFill rotWithShape="1">
          <a:blip r:embed="rId3"/>
          <a:srcRect l="8738" t="7323" r="51285" b="5140"/>
          <a:stretch/>
        </p:blipFill>
        <p:spPr>
          <a:xfrm>
            <a:off x="5813570" y="791448"/>
            <a:ext cx="4874005" cy="5275103"/>
          </a:xfrm>
          <a:prstGeom prst="rect">
            <a:avLst/>
          </a:prstGeom>
        </p:spPr>
      </p:pic>
    </p:spTree>
    <p:extLst>
      <p:ext uri="{BB962C8B-B14F-4D97-AF65-F5344CB8AC3E}">
        <p14:creationId xmlns:p14="http://schemas.microsoft.com/office/powerpoint/2010/main" val="20145703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10BBCD5-09B9-42EE-94E4-C2A955D7AF45}"/>
              </a:ext>
            </a:extLst>
          </p:cNvPr>
          <p:cNvSpPr>
            <a:spLocks noGrp="1"/>
          </p:cNvSpPr>
          <p:nvPr>
            <p:ph type="body" sz="quarter" idx="12"/>
          </p:nvPr>
        </p:nvSpPr>
        <p:spPr>
          <a:xfrm>
            <a:off x="576071" y="144196"/>
            <a:ext cx="10432239" cy="713054"/>
          </a:xfrm>
        </p:spPr>
        <p:txBody>
          <a:bodyPr/>
          <a:lstStyle/>
          <a:p>
            <a:r>
              <a:rPr lang="en-US" noProof="0" dirty="0"/>
              <a:t>Comparison 4 – SPX 04/04/2019 </a:t>
            </a:r>
          </a:p>
          <a:p>
            <a:r>
              <a:rPr lang="en-US" noProof="0" dirty="0"/>
              <a:t>           Data                                                     PUTS                                AXIOMA</a:t>
            </a:r>
          </a:p>
        </p:txBody>
      </p:sp>
      <p:pic>
        <p:nvPicPr>
          <p:cNvPr id="4" name="Picture 3">
            <a:extLst>
              <a:ext uri="{FF2B5EF4-FFF2-40B4-BE49-F238E27FC236}">
                <a16:creationId xmlns:a16="http://schemas.microsoft.com/office/drawing/2014/main" id="{5C855C3B-49C2-4FA4-BA83-6F152E50AD8E}"/>
              </a:ext>
            </a:extLst>
          </p:cNvPr>
          <p:cNvPicPr>
            <a:picLocks noChangeAspect="1"/>
          </p:cNvPicPr>
          <p:nvPr/>
        </p:nvPicPr>
        <p:blipFill rotWithShape="1">
          <a:blip r:embed="rId2"/>
          <a:srcRect l="50000" t="8689" r="7660" b="4443"/>
          <a:stretch/>
        </p:blipFill>
        <p:spPr>
          <a:xfrm>
            <a:off x="72705" y="939567"/>
            <a:ext cx="5162026" cy="5234730"/>
          </a:xfrm>
          <a:prstGeom prst="rect">
            <a:avLst/>
          </a:prstGeom>
        </p:spPr>
      </p:pic>
      <p:pic>
        <p:nvPicPr>
          <p:cNvPr id="6" name="Picture 5">
            <a:extLst>
              <a:ext uri="{FF2B5EF4-FFF2-40B4-BE49-F238E27FC236}">
                <a16:creationId xmlns:a16="http://schemas.microsoft.com/office/drawing/2014/main" id="{61C409CA-EB78-4089-8684-FB9D3FB488A2}"/>
              </a:ext>
            </a:extLst>
          </p:cNvPr>
          <p:cNvPicPr>
            <a:picLocks noChangeAspect="1"/>
          </p:cNvPicPr>
          <p:nvPr/>
        </p:nvPicPr>
        <p:blipFill rotWithShape="1">
          <a:blip r:embed="rId3"/>
          <a:srcRect l="50780" t="7323" r="6880" b="4443"/>
          <a:stretch/>
        </p:blipFill>
        <p:spPr>
          <a:xfrm>
            <a:off x="6191075" y="857250"/>
            <a:ext cx="5162026" cy="5317048"/>
          </a:xfrm>
          <a:prstGeom prst="rect">
            <a:avLst/>
          </a:prstGeom>
        </p:spPr>
      </p:pic>
    </p:spTree>
    <p:extLst>
      <p:ext uri="{BB962C8B-B14F-4D97-AF65-F5344CB8AC3E}">
        <p14:creationId xmlns:p14="http://schemas.microsoft.com/office/powerpoint/2010/main" val="26644169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382962-7DA7-4001-82BD-F82D2BAF09BA}"/>
              </a:ext>
            </a:extLst>
          </p:cNvPr>
          <p:cNvSpPr>
            <a:spLocks noGrp="1"/>
          </p:cNvSpPr>
          <p:nvPr>
            <p:ph type="body" sz="quarter" idx="12"/>
          </p:nvPr>
        </p:nvSpPr>
        <p:spPr/>
        <p:txBody>
          <a:bodyPr/>
          <a:lstStyle/>
          <a:p>
            <a:r>
              <a:rPr lang="en-US" noProof="0" dirty="0"/>
              <a:t>The devil is in the details</a:t>
            </a:r>
          </a:p>
        </p:txBody>
      </p:sp>
      <p:sp>
        <p:nvSpPr>
          <p:cNvPr id="3" name="Text Placeholder 2">
            <a:extLst>
              <a:ext uri="{FF2B5EF4-FFF2-40B4-BE49-F238E27FC236}">
                <a16:creationId xmlns:a16="http://schemas.microsoft.com/office/drawing/2014/main" id="{E3EAD1F7-A4C4-4087-B6E1-BC8AD27D999C}"/>
              </a:ext>
            </a:extLst>
          </p:cNvPr>
          <p:cNvSpPr>
            <a:spLocks noGrp="1"/>
          </p:cNvSpPr>
          <p:nvPr>
            <p:ph type="body" sz="quarter" idx="14"/>
          </p:nvPr>
        </p:nvSpPr>
        <p:spPr>
          <a:xfrm>
            <a:off x="576071" y="791727"/>
            <a:ext cx="11160209" cy="5651018"/>
          </a:xfrm>
        </p:spPr>
        <p:txBody>
          <a:bodyPr/>
          <a:lstStyle/>
          <a:p>
            <a:pPr marL="285750" indent="-285750">
              <a:buFont typeface="Arial" panose="020B0604020202020204" pitchFamily="34" charset="0"/>
              <a:buChar char="•"/>
            </a:pPr>
            <a:r>
              <a:rPr lang="en-US" i="1" noProof="0" dirty="0"/>
              <a:t>Risk-Free </a:t>
            </a:r>
            <a:r>
              <a:rPr lang="en-US" noProof="0" dirty="0"/>
              <a:t>interest rate for pricing formulas </a:t>
            </a:r>
            <a:r>
              <a:rPr lang="en-US" noProof="0" dirty="0">
                <a:solidFill>
                  <a:srgbClr val="FF0000"/>
                </a:solidFill>
              </a:rPr>
              <a:t>source of error </a:t>
            </a:r>
            <a:r>
              <a:rPr lang="en-US" noProof="0" dirty="0"/>
              <a:t>:</a:t>
            </a:r>
          </a:p>
          <a:p>
            <a:pPr marL="857250" lvl="1" indent="-285750">
              <a:buFont typeface="Arial" panose="020B0604020202020204" pitchFamily="34" charset="0"/>
              <a:buChar char="•"/>
            </a:pPr>
            <a:r>
              <a:rPr lang="en-US" noProof="0" dirty="0"/>
              <a:t>We follow what database is doing – by using their ZC SWAP curve and interpolating</a:t>
            </a:r>
          </a:p>
          <a:p>
            <a:pPr marL="857250" lvl="1" indent="-285750">
              <a:buFont typeface="Arial" panose="020B0604020202020204" pitchFamily="34" charset="0"/>
              <a:buChar char="•"/>
            </a:pPr>
            <a:r>
              <a:rPr lang="en-US" noProof="0" dirty="0"/>
              <a:t>We should be able to generate our own ZC SWAP curve (e.g. replicating what database does)</a:t>
            </a:r>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r>
              <a:rPr lang="en-US" noProof="0" dirty="0"/>
              <a:t>Dividend Yield</a:t>
            </a:r>
          </a:p>
          <a:p>
            <a:pPr marL="857250" lvl="1" indent="-285750">
              <a:buFont typeface="Arial" panose="020B0604020202020204" pitchFamily="34" charset="0"/>
              <a:buChar char="•"/>
            </a:pPr>
            <a:r>
              <a:rPr lang="en-US" noProof="0" dirty="0"/>
              <a:t>Tricky issue. Database provides some information though it is not entirely clear – </a:t>
            </a:r>
            <a:r>
              <a:rPr lang="en-US" noProof="0" dirty="0">
                <a:solidFill>
                  <a:srgbClr val="FF0000"/>
                </a:solidFill>
              </a:rPr>
              <a:t>source of error</a:t>
            </a:r>
          </a:p>
          <a:p>
            <a:pPr marL="857250" lvl="1" indent="-285750">
              <a:buFont typeface="Arial" panose="020B0604020202020204" pitchFamily="34" charset="0"/>
              <a:buChar char="•"/>
            </a:pPr>
            <a:r>
              <a:rPr lang="en-US" noProof="0" dirty="0"/>
              <a:t>Index has different dividend yield structure</a:t>
            </a:r>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r>
              <a:rPr lang="en-US" noProof="0" dirty="0"/>
              <a:t>Discrepancies in implied volatilities for options with Deltas\sim +-1 (Deep ITM) – up to 50%, though exact repricing.</a:t>
            </a:r>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r>
              <a:rPr lang="en-US" noProof="0" dirty="0"/>
              <a:t>Discrepancies in implied vol/dispersion for standard Call options low Deltas (20,25%) – up to 15%</a:t>
            </a:r>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r>
              <a:rPr lang="en-US" noProof="0" dirty="0"/>
              <a:t>CRR model slow (at least my implementation!) – When looking for implied vol using an iterative method, </a:t>
            </a:r>
            <a:r>
              <a:rPr lang="en-US" noProof="0" dirty="0" err="1"/>
              <a:t>pricer</a:t>
            </a:r>
            <a:r>
              <a:rPr lang="en-US" noProof="0" dirty="0"/>
              <a:t> needs to be called several times. Quite time consuming. So, reduced iterations (</a:t>
            </a:r>
            <a:r>
              <a:rPr lang="en-US" noProof="0" dirty="0">
                <a:solidFill>
                  <a:srgbClr val="FF0000"/>
                </a:solidFill>
              </a:rPr>
              <a:t>source of error</a:t>
            </a:r>
            <a:r>
              <a:rPr lang="en-US" noProof="0" dirty="0"/>
              <a:t>)</a:t>
            </a:r>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r>
              <a:rPr lang="en-US" noProof="0" dirty="0"/>
              <a:t>Greeks</a:t>
            </a:r>
          </a:p>
          <a:p>
            <a:pPr marL="857250" lvl="1" indent="-285750">
              <a:buFont typeface="Arial" panose="020B0604020202020204" pitchFamily="34" charset="0"/>
              <a:buChar char="•"/>
            </a:pPr>
            <a:r>
              <a:rPr lang="en-US" noProof="0" dirty="0"/>
              <a:t>Europeans: Standard analytical formulas</a:t>
            </a:r>
          </a:p>
          <a:p>
            <a:pPr marL="857250" lvl="1" indent="-285750">
              <a:buFont typeface="Arial" panose="020B0604020202020204" pitchFamily="34" charset="0"/>
              <a:buChar char="•"/>
            </a:pPr>
            <a:r>
              <a:rPr lang="en-US" noProof="0" dirty="0"/>
              <a:t>Americans: Finite Difference (</a:t>
            </a:r>
            <a:r>
              <a:rPr lang="en-US" noProof="0" dirty="0">
                <a:solidFill>
                  <a:srgbClr val="FF0000"/>
                </a:solidFill>
              </a:rPr>
              <a:t>source of error</a:t>
            </a:r>
            <a:r>
              <a:rPr lang="en-US" noProof="0" dirty="0"/>
              <a:t>)</a:t>
            </a:r>
          </a:p>
          <a:p>
            <a:pPr marL="285750" indent="-285750">
              <a:buFont typeface="Arial" panose="020B0604020202020204" pitchFamily="34" charset="0"/>
              <a:buChar char="•"/>
            </a:pPr>
            <a:endParaRPr lang="en-US" noProof="0" dirty="0"/>
          </a:p>
        </p:txBody>
      </p:sp>
    </p:spTree>
    <p:extLst>
      <p:ext uri="{BB962C8B-B14F-4D97-AF65-F5344CB8AC3E}">
        <p14:creationId xmlns:p14="http://schemas.microsoft.com/office/powerpoint/2010/main" val="429665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4" end="1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5" end="1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382962-7DA7-4001-82BD-F82D2BAF09BA}"/>
              </a:ext>
            </a:extLst>
          </p:cNvPr>
          <p:cNvSpPr>
            <a:spLocks noGrp="1"/>
          </p:cNvSpPr>
          <p:nvPr>
            <p:ph type="body" sz="quarter" idx="12"/>
          </p:nvPr>
        </p:nvSpPr>
        <p:spPr/>
        <p:txBody>
          <a:bodyPr/>
          <a:lstStyle/>
          <a:p>
            <a:r>
              <a:rPr lang="en-US" noProof="0" dirty="0"/>
              <a:t>Comments / Tips?</a:t>
            </a:r>
          </a:p>
        </p:txBody>
      </p:sp>
      <p:sp>
        <p:nvSpPr>
          <p:cNvPr id="3" name="Text Placeholder 2">
            <a:extLst>
              <a:ext uri="{FF2B5EF4-FFF2-40B4-BE49-F238E27FC236}">
                <a16:creationId xmlns:a16="http://schemas.microsoft.com/office/drawing/2014/main" id="{E3EAD1F7-A4C4-4087-B6E1-BC8AD27D999C}"/>
              </a:ext>
            </a:extLst>
          </p:cNvPr>
          <p:cNvSpPr>
            <a:spLocks noGrp="1"/>
          </p:cNvSpPr>
          <p:nvPr>
            <p:ph type="body" sz="quarter" idx="14"/>
          </p:nvPr>
        </p:nvSpPr>
        <p:spPr>
          <a:xfrm>
            <a:off x="515895" y="2126641"/>
            <a:ext cx="11160209" cy="1313910"/>
          </a:xfrm>
        </p:spPr>
        <p:txBody>
          <a:bodyPr/>
          <a:lstStyle/>
          <a:p>
            <a:endParaRPr lang="en-US" noProof="0" dirty="0"/>
          </a:p>
          <a:p>
            <a:endParaRPr lang="en-US" noProof="0" dirty="0"/>
          </a:p>
          <a:p>
            <a:pPr algn="ctr"/>
            <a:r>
              <a:rPr lang="en-US" sz="4000" noProof="0" dirty="0"/>
              <a:t>Any Comment / tip would be greatly appreciated!</a:t>
            </a:r>
          </a:p>
        </p:txBody>
      </p:sp>
    </p:spTree>
    <p:extLst>
      <p:ext uri="{BB962C8B-B14F-4D97-AF65-F5344CB8AC3E}">
        <p14:creationId xmlns:p14="http://schemas.microsoft.com/office/powerpoint/2010/main" val="39615169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929D3C8-BB97-4214-BD6D-986D8EBD09B3}"/>
              </a:ext>
            </a:extLst>
          </p:cNvPr>
          <p:cNvSpPr>
            <a:spLocks noGrp="1"/>
          </p:cNvSpPr>
          <p:nvPr>
            <p:ph type="body" sz="quarter" idx="12"/>
          </p:nvPr>
        </p:nvSpPr>
        <p:spPr/>
        <p:txBody>
          <a:bodyPr/>
          <a:lstStyle/>
          <a:p>
            <a:endParaRPr lang="en-US" dirty="0"/>
          </a:p>
        </p:txBody>
      </p:sp>
    </p:spTree>
    <p:extLst>
      <p:ext uri="{BB962C8B-B14F-4D97-AF65-F5344CB8AC3E}">
        <p14:creationId xmlns:p14="http://schemas.microsoft.com/office/powerpoint/2010/main" val="1766319627"/>
      </p:ext>
    </p:extLst>
  </p:cSld>
  <p:clrMapOvr>
    <a:masterClrMapping/>
  </p:clrMapOvr>
</p:sld>
</file>

<file path=ppt/theme/theme1.xml><?xml version="1.0" encoding="utf-8"?>
<a:theme xmlns:a="http://schemas.openxmlformats.org/drawingml/2006/main" name="Office Theme">
  <a:themeElements>
    <a:clrScheme name="Axioma">
      <a:dk1>
        <a:sysClr val="windowText" lastClr="000000"/>
      </a:dk1>
      <a:lt1>
        <a:sysClr val="window" lastClr="FFFFFF"/>
      </a:lt1>
      <a:dk2>
        <a:srgbClr val="447499"/>
      </a:dk2>
      <a:lt2>
        <a:srgbClr val="A5B5AD"/>
      </a:lt2>
      <a:accent1>
        <a:srgbClr val="315A85"/>
      </a:accent1>
      <a:accent2>
        <a:srgbClr val="1896BF"/>
      </a:accent2>
      <a:accent3>
        <a:srgbClr val="32A8BF"/>
      </a:accent3>
      <a:accent4>
        <a:srgbClr val="6DCED1"/>
      </a:accent4>
      <a:accent5>
        <a:srgbClr val="799698"/>
      </a:accent5>
      <a:accent6>
        <a:srgbClr val="5C47A8"/>
      </a:accent6>
      <a:hlink>
        <a:srgbClr val="244363"/>
      </a:hlink>
      <a:folHlink>
        <a:srgbClr val="C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none" rtlCol="0">
        <a:spAutoFit/>
      </a:bodyPr>
      <a:lstStyle>
        <a:defPPr algn="ctr">
          <a:defRPr sz="1600" dirty="0" smtClean="0">
            <a:solidFill>
              <a:srgbClr val="1A427E"/>
            </a:solidFill>
          </a:defRPr>
        </a:defPPr>
      </a:lstStyle>
    </a:txDef>
  </a:objectDefaults>
  <a:extraClrSchemeLst/>
  <a:extLst>
    <a:ext uri="{05A4C25C-085E-4340-85A3-A5531E510DB2}">
      <thm15:themeFamily xmlns:thm15="http://schemas.microsoft.com/office/thememl/2012/main" name="UNTITLED" id="{C3C1AC03-CAC5-A841-B2CB-6C1CF1598D54}" vid="{C63A4B7C-72B5-064A-820C-65DC82BB233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Axioma_Template_2017</Template>
  <TotalTime>33563</TotalTime>
  <Words>1210</Words>
  <Application>Microsoft Office PowerPoint</Application>
  <PresentationFormat>Widescreen</PresentationFormat>
  <Paragraphs>260</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Raleway</vt:lpstr>
      <vt:lpstr>Source Sans Pro</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Peter Franz</dc:creator>
  <cp:lastModifiedBy>Manuel Maurette</cp:lastModifiedBy>
  <cp:revision>145</cp:revision>
  <dcterms:created xsi:type="dcterms:W3CDTF">2018-02-22T19:29:44Z</dcterms:created>
  <dcterms:modified xsi:type="dcterms:W3CDTF">2019-07-22T16:09:08Z</dcterms:modified>
</cp:coreProperties>
</file>