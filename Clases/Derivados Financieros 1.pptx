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7" r:id="rId2"/>
    <p:sldId id="470" r:id="rId3"/>
    <p:sldId id="472" r:id="rId4"/>
    <p:sldId id="428" r:id="rId5"/>
    <p:sldId id="437" r:id="rId6"/>
    <p:sldId id="371" r:id="rId7"/>
    <p:sldId id="387" r:id="rId8"/>
    <p:sldId id="372" r:id="rId9"/>
    <p:sldId id="388" r:id="rId10"/>
    <p:sldId id="358" r:id="rId11"/>
    <p:sldId id="405" r:id="rId12"/>
    <p:sldId id="402" r:id="rId13"/>
    <p:sldId id="436" r:id="rId14"/>
    <p:sldId id="275" r:id="rId15"/>
    <p:sldId id="288" r:id="rId16"/>
    <p:sldId id="318" r:id="rId17"/>
    <p:sldId id="297" r:id="rId18"/>
    <p:sldId id="323" r:id="rId19"/>
    <p:sldId id="324" r:id="rId20"/>
    <p:sldId id="329" r:id="rId21"/>
    <p:sldId id="412" r:id="rId22"/>
    <p:sldId id="413" r:id="rId23"/>
    <p:sldId id="411" r:id="rId24"/>
    <p:sldId id="389" r:id="rId25"/>
    <p:sldId id="390" r:id="rId26"/>
    <p:sldId id="347" r:id="rId27"/>
    <p:sldId id="398" r:id="rId28"/>
    <p:sldId id="399" r:id="rId29"/>
    <p:sldId id="348" r:id="rId30"/>
    <p:sldId id="377" r:id="rId31"/>
    <p:sldId id="350" r:id="rId32"/>
    <p:sldId id="473" r:id="rId33"/>
    <p:sldId id="474" r:id="rId34"/>
    <p:sldId id="475" r:id="rId35"/>
    <p:sldId id="340" r:id="rId36"/>
    <p:sldId id="352" r:id="rId37"/>
    <p:sldId id="349" r:id="rId38"/>
    <p:sldId id="373" r:id="rId39"/>
    <p:sldId id="354" r:id="rId40"/>
    <p:sldId id="355" r:id="rId41"/>
    <p:sldId id="438" r:id="rId42"/>
    <p:sldId id="362" r:id="rId43"/>
    <p:sldId id="476" r:id="rId44"/>
    <p:sldId id="418" r:id="rId45"/>
    <p:sldId id="421" r:id="rId46"/>
    <p:sldId id="439" r:id="rId47"/>
    <p:sldId id="440" r:id="rId48"/>
    <p:sldId id="441" r:id="rId49"/>
    <p:sldId id="442" r:id="rId50"/>
    <p:sldId id="443" r:id="rId51"/>
    <p:sldId id="403" r:id="rId52"/>
    <p:sldId id="404" r:id="rId53"/>
    <p:sldId id="444" r:id="rId54"/>
    <p:sldId id="419" r:id="rId55"/>
    <p:sldId id="43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7" autoAdjust="0"/>
    <p:restoredTop sz="94660"/>
  </p:normalViewPr>
  <p:slideViewPr>
    <p:cSldViewPr snapToGrid="0">
      <p:cViewPr varScale="1">
        <p:scale>
          <a:sx n="73" d="100"/>
          <a:sy n="73" d="100"/>
        </p:scale>
        <p:origin x="3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2EACA9-AFE4-4F5D-A7EB-90DB889F2C78}"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76A2E30C-CADC-4F71-8763-D62D366F3F11}">
      <dgm:prSet/>
      <dgm:spPr/>
      <dgm:t>
        <a:bodyPr/>
        <a:lstStyle/>
        <a:p>
          <a:r>
            <a:rPr lang="es-ES"/>
            <a:t>Mercados Organizados (</a:t>
          </a:r>
          <a:r>
            <a:rPr lang="es-ES" b="1" i="1"/>
            <a:t>exchanges</a:t>
          </a:r>
          <a:r>
            <a:rPr lang="es-ES"/>
            <a:t>)</a:t>
          </a:r>
          <a:endParaRPr lang="en-US"/>
        </a:p>
      </dgm:t>
    </dgm:pt>
    <dgm:pt modelId="{B910F268-3D6E-4BF0-9464-31ED0669FF2B}" type="parTrans" cxnId="{22079D83-49EE-437D-AEB5-74EDC9C41F1D}">
      <dgm:prSet/>
      <dgm:spPr/>
      <dgm:t>
        <a:bodyPr/>
        <a:lstStyle/>
        <a:p>
          <a:endParaRPr lang="en-US"/>
        </a:p>
      </dgm:t>
    </dgm:pt>
    <dgm:pt modelId="{7F67D2CA-0567-4FFC-B250-D91D73DC2010}" type="sibTrans" cxnId="{22079D83-49EE-437D-AEB5-74EDC9C41F1D}">
      <dgm:prSet/>
      <dgm:spPr/>
      <dgm:t>
        <a:bodyPr/>
        <a:lstStyle/>
        <a:p>
          <a:endParaRPr lang="en-US"/>
        </a:p>
      </dgm:t>
    </dgm:pt>
    <dgm:pt modelId="{0792B259-5B96-45DF-98EA-2172403FCF44}">
      <dgm:prSet/>
      <dgm:spPr/>
      <dgm:t>
        <a:bodyPr/>
        <a:lstStyle/>
        <a:p>
          <a:r>
            <a:rPr lang="es-ES"/>
            <a:t>contratos estandarizados</a:t>
          </a:r>
          <a:endParaRPr lang="en-US"/>
        </a:p>
      </dgm:t>
    </dgm:pt>
    <dgm:pt modelId="{E1048F3B-AEF0-4FA8-AA69-9C17DEE5AD5B}" type="parTrans" cxnId="{D923C3E5-F64D-4A1C-BD55-34BA88F48D02}">
      <dgm:prSet/>
      <dgm:spPr/>
      <dgm:t>
        <a:bodyPr/>
        <a:lstStyle/>
        <a:p>
          <a:endParaRPr lang="en-US"/>
        </a:p>
      </dgm:t>
    </dgm:pt>
    <dgm:pt modelId="{D6F14ED3-B857-42FE-98D3-4828D00C33CA}" type="sibTrans" cxnId="{D923C3E5-F64D-4A1C-BD55-34BA88F48D02}">
      <dgm:prSet/>
      <dgm:spPr/>
      <dgm:t>
        <a:bodyPr/>
        <a:lstStyle/>
        <a:p>
          <a:endParaRPr lang="en-US"/>
        </a:p>
      </dgm:t>
    </dgm:pt>
    <dgm:pt modelId="{DE4D291F-82AC-4560-ACDA-E79490580194}">
      <dgm:prSet/>
      <dgm:spPr/>
      <dgm:t>
        <a:bodyPr/>
        <a:lstStyle/>
        <a:p>
          <a:r>
            <a:rPr lang="es-ES" i="1"/>
            <a:t>trade</a:t>
          </a:r>
          <a:r>
            <a:rPr lang="es-ES"/>
            <a:t> contra el mercado, que obliga a la colaterización</a:t>
          </a:r>
          <a:endParaRPr lang="en-US"/>
        </a:p>
      </dgm:t>
    </dgm:pt>
    <dgm:pt modelId="{41249123-A2E3-4480-974E-A7F58222137B}" type="parTrans" cxnId="{53881C43-AACB-4871-ADCD-DB2F3C12CA16}">
      <dgm:prSet/>
      <dgm:spPr/>
      <dgm:t>
        <a:bodyPr/>
        <a:lstStyle/>
        <a:p>
          <a:endParaRPr lang="en-US"/>
        </a:p>
      </dgm:t>
    </dgm:pt>
    <dgm:pt modelId="{238F0D50-67F3-40F4-9095-E0E09B1E2A06}" type="sibTrans" cxnId="{53881C43-AACB-4871-ADCD-DB2F3C12CA16}">
      <dgm:prSet/>
      <dgm:spPr/>
      <dgm:t>
        <a:bodyPr/>
        <a:lstStyle/>
        <a:p>
          <a:endParaRPr lang="en-US"/>
        </a:p>
      </dgm:t>
    </dgm:pt>
    <dgm:pt modelId="{66B8B55D-B596-4E97-9B9B-334FF146A027}">
      <dgm:prSet/>
      <dgm:spPr/>
      <dgm:t>
        <a:bodyPr/>
        <a:lstStyle/>
        <a:p>
          <a:r>
            <a:rPr lang="es-ES"/>
            <a:t>riesgo de crédito casi nulo</a:t>
          </a:r>
          <a:endParaRPr lang="en-US"/>
        </a:p>
      </dgm:t>
    </dgm:pt>
    <dgm:pt modelId="{9412E7DB-95E9-4BAF-A33E-D6F7F18DE42D}" type="parTrans" cxnId="{F125C575-1934-4A5A-A845-639D0068E7EE}">
      <dgm:prSet/>
      <dgm:spPr/>
      <dgm:t>
        <a:bodyPr/>
        <a:lstStyle/>
        <a:p>
          <a:endParaRPr lang="en-US"/>
        </a:p>
      </dgm:t>
    </dgm:pt>
    <dgm:pt modelId="{D865D612-B27A-4D75-88C4-84440192D838}" type="sibTrans" cxnId="{F125C575-1934-4A5A-A845-639D0068E7EE}">
      <dgm:prSet/>
      <dgm:spPr/>
      <dgm:t>
        <a:bodyPr/>
        <a:lstStyle/>
        <a:p>
          <a:endParaRPr lang="en-US"/>
        </a:p>
      </dgm:t>
    </dgm:pt>
    <dgm:pt modelId="{F187DE0C-FC5B-4B10-9811-7F78AEEAAD2B}">
      <dgm:prSet/>
      <dgm:spPr/>
      <dgm:t>
        <a:bodyPr/>
        <a:lstStyle/>
        <a:p>
          <a:r>
            <a:rPr lang="es-ES"/>
            <a:t>liquidez relativamente alta</a:t>
          </a:r>
          <a:endParaRPr lang="en-US"/>
        </a:p>
      </dgm:t>
    </dgm:pt>
    <dgm:pt modelId="{0B26E8D9-73A6-4449-9D90-491E59A1F088}" type="parTrans" cxnId="{3C7F51EA-59BB-4DC6-B0EE-F72885191BD3}">
      <dgm:prSet/>
      <dgm:spPr/>
      <dgm:t>
        <a:bodyPr/>
        <a:lstStyle/>
        <a:p>
          <a:endParaRPr lang="en-US"/>
        </a:p>
      </dgm:t>
    </dgm:pt>
    <dgm:pt modelId="{D7AFF4C1-9C0A-48A5-AE7A-FDE83A67C9B0}" type="sibTrans" cxnId="{3C7F51EA-59BB-4DC6-B0EE-F72885191BD3}">
      <dgm:prSet/>
      <dgm:spPr/>
      <dgm:t>
        <a:bodyPr/>
        <a:lstStyle/>
        <a:p>
          <a:endParaRPr lang="en-US"/>
        </a:p>
      </dgm:t>
    </dgm:pt>
    <dgm:pt modelId="{26837417-4838-4AE2-80FE-379EF9E65D14}">
      <dgm:prSet/>
      <dgm:spPr/>
      <dgm:t>
        <a:bodyPr/>
        <a:lstStyle/>
        <a:p>
          <a:r>
            <a:rPr lang="es-ES"/>
            <a:t>Mercados OTC (</a:t>
          </a:r>
          <a:r>
            <a:rPr lang="es-ES" b="1" i="1"/>
            <a:t>Over-the-Counter</a:t>
          </a:r>
          <a:r>
            <a:rPr lang="es-ES"/>
            <a:t>)</a:t>
          </a:r>
          <a:endParaRPr lang="en-US"/>
        </a:p>
      </dgm:t>
    </dgm:pt>
    <dgm:pt modelId="{64B9C6FB-8D71-4C92-8258-71B1F3AD42FE}" type="parTrans" cxnId="{FCF0D026-3C4B-4CE4-9BB0-B78B4190F054}">
      <dgm:prSet/>
      <dgm:spPr/>
      <dgm:t>
        <a:bodyPr/>
        <a:lstStyle/>
        <a:p>
          <a:endParaRPr lang="en-US"/>
        </a:p>
      </dgm:t>
    </dgm:pt>
    <dgm:pt modelId="{52B1B7A9-8701-41E3-AB79-BB7B9D53A6DD}" type="sibTrans" cxnId="{FCF0D026-3C4B-4CE4-9BB0-B78B4190F054}">
      <dgm:prSet/>
      <dgm:spPr/>
      <dgm:t>
        <a:bodyPr/>
        <a:lstStyle/>
        <a:p>
          <a:endParaRPr lang="en-US"/>
        </a:p>
      </dgm:t>
    </dgm:pt>
    <dgm:pt modelId="{1624EF5B-E31A-4B45-A402-6E37919BFF5B}">
      <dgm:prSet/>
      <dgm:spPr/>
      <dgm:t>
        <a:bodyPr/>
        <a:lstStyle/>
        <a:p>
          <a:r>
            <a:rPr lang="es-ES"/>
            <a:t>contratos no estandarizados</a:t>
          </a:r>
          <a:endParaRPr lang="en-US"/>
        </a:p>
      </dgm:t>
    </dgm:pt>
    <dgm:pt modelId="{2BBD0EF0-9768-47FC-BB20-AC175838EB5A}" type="parTrans" cxnId="{64E89515-1724-4E50-A73B-37038CF761AF}">
      <dgm:prSet/>
      <dgm:spPr/>
      <dgm:t>
        <a:bodyPr/>
        <a:lstStyle/>
        <a:p>
          <a:endParaRPr lang="en-US"/>
        </a:p>
      </dgm:t>
    </dgm:pt>
    <dgm:pt modelId="{016F2B86-07F5-482C-933A-D462A3A81DA6}" type="sibTrans" cxnId="{64E89515-1724-4E50-A73B-37038CF761AF}">
      <dgm:prSet/>
      <dgm:spPr/>
      <dgm:t>
        <a:bodyPr/>
        <a:lstStyle/>
        <a:p>
          <a:endParaRPr lang="en-US"/>
        </a:p>
      </dgm:t>
    </dgm:pt>
    <dgm:pt modelId="{C0C6429A-2625-49C1-93F9-2D89F47BB037}">
      <dgm:prSet/>
      <dgm:spPr/>
      <dgm:t>
        <a:bodyPr/>
        <a:lstStyle/>
        <a:p>
          <a:r>
            <a:rPr lang="es-ES" i="1"/>
            <a:t>trade</a:t>
          </a:r>
          <a:r>
            <a:rPr lang="es-ES"/>
            <a:t> bilateral, riesgo de la contraparte</a:t>
          </a:r>
          <a:endParaRPr lang="en-US"/>
        </a:p>
      </dgm:t>
    </dgm:pt>
    <dgm:pt modelId="{2DB11BF2-13EC-4183-8FD6-818FE8D9054E}" type="parTrans" cxnId="{61628724-FD01-4F77-8EFB-5781056CED34}">
      <dgm:prSet/>
      <dgm:spPr/>
      <dgm:t>
        <a:bodyPr/>
        <a:lstStyle/>
        <a:p>
          <a:endParaRPr lang="en-US"/>
        </a:p>
      </dgm:t>
    </dgm:pt>
    <dgm:pt modelId="{01913DF7-A0D9-4E5B-BAFB-8BCAAAB4C06E}" type="sibTrans" cxnId="{61628724-FD01-4F77-8EFB-5781056CED34}">
      <dgm:prSet/>
      <dgm:spPr/>
      <dgm:t>
        <a:bodyPr/>
        <a:lstStyle/>
        <a:p>
          <a:endParaRPr lang="en-US"/>
        </a:p>
      </dgm:t>
    </dgm:pt>
    <dgm:pt modelId="{9C72DD28-5AF0-48F2-A414-75FDAC24A214}">
      <dgm:prSet/>
      <dgm:spPr/>
      <dgm:t>
        <a:bodyPr/>
        <a:lstStyle/>
        <a:p>
          <a:r>
            <a:rPr lang="es-ES"/>
            <a:t>riesgo de crédito no nulo</a:t>
          </a:r>
          <a:endParaRPr lang="en-US"/>
        </a:p>
      </dgm:t>
    </dgm:pt>
    <dgm:pt modelId="{3813C6EF-3C4D-417A-96A8-66C77132EA40}" type="parTrans" cxnId="{9B88446B-BFB4-4B1B-AD09-8DD072CFF687}">
      <dgm:prSet/>
      <dgm:spPr/>
      <dgm:t>
        <a:bodyPr/>
        <a:lstStyle/>
        <a:p>
          <a:endParaRPr lang="en-US"/>
        </a:p>
      </dgm:t>
    </dgm:pt>
    <dgm:pt modelId="{CEF087EF-A258-45FD-B400-80782A948F7D}" type="sibTrans" cxnId="{9B88446B-BFB4-4B1B-AD09-8DD072CFF687}">
      <dgm:prSet/>
      <dgm:spPr/>
      <dgm:t>
        <a:bodyPr/>
        <a:lstStyle/>
        <a:p>
          <a:endParaRPr lang="en-US"/>
        </a:p>
      </dgm:t>
    </dgm:pt>
    <dgm:pt modelId="{805379EE-D69D-4331-8CA3-DEAAD40BE8A3}">
      <dgm:prSet/>
      <dgm:spPr/>
      <dgm:t>
        <a:bodyPr/>
        <a:lstStyle/>
        <a:p>
          <a:r>
            <a:rPr lang="es-ES"/>
            <a:t>baja liquidez</a:t>
          </a:r>
          <a:endParaRPr lang="en-US"/>
        </a:p>
      </dgm:t>
    </dgm:pt>
    <dgm:pt modelId="{55B7F15E-F3F0-4791-BA63-EFD03545239A}" type="parTrans" cxnId="{0C688461-79B2-437B-ACF0-AB0A00BBD550}">
      <dgm:prSet/>
      <dgm:spPr/>
      <dgm:t>
        <a:bodyPr/>
        <a:lstStyle/>
        <a:p>
          <a:endParaRPr lang="en-US"/>
        </a:p>
      </dgm:t>
    </dgm:pt>
    <dgm:pt modelId="{4BDE0BAC-2F9C-4266-96F8-8B01F80F7ED0}" type="sibTrans" cxnId="{0C688461-79B2-437B-ACF0-AB0A00BBD550}">
      <dgm:prSet/>
      <dgm:spPr/>
      <dgm:t>
        <a:bodyPr/>
        <a:lstStyle/>
        <a:p>
          <a:endParaRPr lang="en-US"/>
        </a:p>
      </dgm:t>
    </dgm:pt>
    <dgm:pt modelId="{D7FFE171-CACE-497B-B4DC-0C8E76C07A8A}" type="pres">
      <dgm:prSet presAssocID="{602EACA9-AFE4-4F5D-A7EB-90DB889F2C78}" presName="linear" presStyleCnt="0">
        <dgm:presLayoutVars>
          <dgm:dir/>
          <dgm:animLvl val="lvl"/>
          <dgm:resizeHandles val="exact"/>
        </dgm:presLayoutVars>
      </dgm:prSet>
      <dgm:spPr/>
    </dgm:pt>
    <dgm:pt modelId="{48A9C35C-54CD-495B-B73B-B7857FF1B80B}" type="pres">
      <dgm:prSet presAssocID="{76A2E30C-CADC-4F71-8763-D62D366F3F11}" presName="parentLin" presStyleCnt="0"/>
      <dgm:spPr/>
    </dgm:pt>
    <dgm:pt modelId="{AE2F6B05-9944-4F16-B2FA-EBE7B2A60A00}" type="pres">
      <dgm:prSet presAssocID="{76A2E30C-CADC-4F71-8763-D62D366F3F11}" presName="parentLeftMargin" presStyleLbl="node1" presStyleIdx="0" presStyleCnt="2"/>
      <dgm:spPr/>
    </dgm:pt>
    <dgm:pt modelId="{F145963D-98B6-4730-99B7-E8784C579183}" type="pres">
      <dgm:prSet presAssocID="{76A2E30C-CADC-4F71-8763-D62D366F3F11}" presName="parentText" presStyleLbl="node1" presStyleIdx="0" presStyleCnt="2">
        <dgm:presLayoutVars>
          <dgm:chMax val="0"/>
          <dgm:bulletEnabled val="1"/>
        </dgm:presLayoutVars>
      </dgm:prSet>
      <dgm:spPr/>
    </dgm:pt>
    <dgm:pt modelId="{3506E99A-433D-4344-A817-EA6D7C2EC107}" type="pres">
      <dgm:prSet presAssocID="{76A2E30C-CADC-4F71-8763-D62D366F3F11}" presName="negativeSpace" presStyleCnt="0"/>
      <dgm:spPr/>
    </dgm:pt>
    <dgm:pt modelId="{09CE80DC-57D6-4705-BEAC-0685AC89842A}" type="pres">
      <dgm:prSet presAssocID="{76A2E30C-CADC-4F71-8763-D62D366F3F11}" presName="childText" presStyleLbl="conFgAcc1" presStyleIdx="0" presStyleCnt="2">
        <dgm:presLayoutVars>
          <dgm:bulletEnabled val="1"/>
        </dgm:presLayoutVars>
      </dgm:prSet>
      <dgm:spPr/>
    </dgm:pt>
    <dgm:pt modelId="{867CFE7D-959E-46F7-9C12-E98437114929}" type="pres">
      <dgm:prSet presAssocID="{7F67D2CA-0567-4FFC-B250-D91D73DC2010}" presName="spaceBetweenRectangles" presStyleCnt="0"/>
      <dgm:spPr/>
    </dgm:pt>
    <dgm:pt modelId="{235FB798-AEA1-4F1E-A147-2FBBC43DC962}" type="pres">
      <dgm:prSet presAssocID="{26837417-4838-4AE2-80FE-379EF9E65D14}" presName="parentLin" presStyleCnt="0"/>
      <dgm:spPr/>
    </dgm:pt>
    <dgm:pt modelId="{48DDCDA5-EFDB-426E-8D8F-CA08C905DC84}" type="pres">
      <dgm:prSet presAssocID="{26837417-4838-4AE2-80FE-379EF9E65D14}" presName="parentLeftMargin" presStyleLbl="node1" presStyleIdx="0" presStyleCnt="2"/>
      <dgm:spPr/>
    </dgm:pt>
    <dgm:pt modelId="{4E5BE1E6-FA79-4B30-A86C-4585C2384694}" type="pres">
      <dgm:prSet presAssocID="{26837417-4838-4AE2-80FE-379EF9E65D14}" presName="parentText" presStyleLbl="node1" presStyleIdx="1" presStyleCnt="2">
        <dgm:presLayoutVars>
          <dgm:chMax val="0"/>
          <dgm:bulletEnabled val="1"/>
        </dgm:presLayoutVars>
      </dgm:prSet>
      <dgm:spPr/>
    </dgm:pt>
    <dgm:pt modelId="{31CC104F-AF67-4F6D-BAA4-D300425D5440}" type="pres">
      <dgm:prSet presAssocID="{26837417-4838-4AE2-80FE-379EF9E65D14}" presName="negativeSpace" presStyleCnt="0"/>
      <dgm:spPr/>
    </dgm:pt>
    <dgm:pt modelId="{359F2FD8-77CE-4880-8729-A000BA9EF556}" type="pres">
      <dgm:prSet presAssocID="{26837417-4838-4AE2-80FE-379EF9E65D14}" presName="childText" presStyleLbl="conFgAcc1" presStyleIdx="1" presStyleCnt="2">
        <dgm:presLayoutVars>
          <dgm:bulletEnabled val="1"/>
        </dgm:presLayoutVars>
      </dgm:prSet>
      <dgm:spPr/>
    </dgm:pt>
  </dgm:ptLst>
  <dgm:cxnLst>
    <dgm:cxn modelId="{00A50A07-3A85-469B-9577-D3991F678C1D}" type="presOf" srcId="{0792B259-5B96-45DF-98EA-2172403FCF44}" destId="{09CE80DC-57D6-4705-BEAC-0685AC89842A}" srcOrd="0" destOrd="0" presId="urn:microsoft.com/office/officeart/2005/8/layout/list1"/>
    <dgm:cxn modelId="{407D9610-2E81-4BEA-A37F-4F63FAEDFF4F}" type="presOf" srcId="{76A2E30C-CADC-4F71-8763-D62D366F3F11}" destId="{AE2F6B05-9944-4F16-B2FA-EBE7B2A60A00}" srcOrd="0" destOrd="0" presId="urn:microsoft.com/office/officeart/2005/8/layout/list1"/>
    <dgm:cxn modelId="{B72B4012-7BD2-44BC-84B3-C738BA2FE6E9}" type="presOf" srcId="{76A2E30C-CADC-4F71-8763-D62D366F3F11}" destId="{F145963D-98B6-4730-99B7-E8784C579183}" srcOrd="1" destOrd="0" presId="urn:microsoft.com/office/officeart/2005/8/layout/list1"/>
    <dgm:cxn modelId="{64E89515-1724-4E50-A73B-37038CF761AF}" srcId="{26837417-4838-4AE2-80FE-379EF9E65D14}" destId="{1624EF5B-E31A-4B45-A402-6E37919BFF5B}" srcOrd="0" destOrd="0" parTransId="{2BBD0EF0-9768-47FC-BB20-AC175838EB5A}" sibTransId="{016F2B86-07F5-482C-933A-D462A3A81DA6}"/>
    <dgm:cxn modelId="{61628724-FD01-4F77-8EFB-5781056CED34}" srcId="{26837417-4838-4AE2-80FE-379EF9E65D14}" destId="{C0C6429A-2625-49C1-93F9-2D89F47BB037}" srcOrd="1" destOrd="0" parTransId="{2DB11BF2-13EC-4183-8FD6-818FE8D9054E}" sibTransId="{01913DF7-A0D9-4E5B-BAFB-8BCAAAB4C06E}"/>
    <dgm:cxn modelId="{FCF0D026-3C4B-4CE4-9BB0-B78B4190F054}" srcId="{602EACA9-AFE4-4F5D-A7EB-90DB889F2C78}" destId="{26837417-4838-4AE2-80FE-379EF9E65D14}" srcOrd="1" destOrd="0" parTransId="{64B9C6FB-8D71-4C92-8258-71B1F3AD42FE}" sibTransId="{52B1B7A9-8701-41E3-AB79-BB7B9D53A6DD}"/>
    <dgm:cxn modelId="{165ABB40-CE4E-4E2D-A4D6-D6E6E5AF160F}" type="presOf" srcId="{26837417-4838-4AE2-80FE-379EF9E65D14}" destId="{48DDCDA5-EFDB-426E-8D8F-CA08C905DC84}" srcOrd="0" destOrd="0" presId="urn:microsoft.com/office/officeart/2005/8/layout/list1"/>
    <dgm:cxn modelId="{0C688461-79B2-437B-ACF0-AB0A00BBD550}" srcId="{26837417-4838-4AE2-80FE-379EF9E65D14}" destId="{805379EE-D69D-4331-8CA3-DEAAD40BE8A3}" srcOrd="3" destOrd="0" parTransId="{55B7F15E-F3F0-4791-BA63-EFD03545239A}" sibTransId="{4BDE0BAC-2F9C-4266-96F8-8B01F80F7ED0}"/>
    <dgm:cxn modelId="{53881C43-AACB-4871-ADCD-DB2F3C12CA16}" srcId="{76A2E30C-CADC-4F71-8763-D62D366F3F11}" destId="{DE4D291F-82AC-4560-ACDA-E79490580194}" srcOrd="1" destOrd="0" parTransId="{41249123-A2E3-4480-974E-A7F58222137B}" sibTransId="{238F0D50-67F3-40F4-9095-E0E09B1E2A06}"/>
    <dgm:cxn modelId="{6AFE8C64-0743-47DE-A24B-E0AAEADCF340}" type="presOf" srcId="{DE4D291F-82AC-4560-ACDA-E79490580194}" destId="{09CE80DC-57D6-4705-BEAC-0685AC89842A}" srcOrd="0" destOrd="1" presId="urn:microsoft.com/office/officeart/2005/8/layout/list1"/>
    <dgm:cxn modelId="{BFD0224B-8FDF-4A03-9845-ADA7E23D77E3}" type="presOf" srcId="{F187DE0C-FC5B-4B10-9811-7F78AEEAAD2B}" destId="{09CE80DC-57D6-4705-BEAC-0685AC89842A}" srcOrd="0" destOrd="3" presId="urn:microsoft.com/office/officeart/2005/8/layout/list1"/>
    <dgm:cxn modelId="{9B88446B-BFB4-4B1B-AD09-8DD072CFF687}" srcId="{26837417-4838-4AE2-80FE-379EF9E65D14}" destId="{9C72DD28-5AF0-48F2-A414-75FDAC24A214}" srcOrd="2" destOrd="0" parTransId="{3813C6EF-3C4D-417A-96A8-66C77132EA40}" sibTransId="{CEF087EF-A258-45FD-B400-80782A948F7D}"/>
    <dgm:cxn modelId="{5D562973-4D71-432A-900D-81700CC41880}" type="presOf" srcId="{602EACA9-AFE4-4F5D-A7EB-90DB889F2C78}" destId="{D7FFE171-CACE-497B-B4DC-0C8E76C07A8A}" srcOrd="0" destOrd="0" presId="urn:microsoft.com/office/officeart/2005/8/layout/list1"/>
    <dgm:cxn modelId="{F125C575-1934-4A5A-A845-639D0068E7EE}" srcId="{76A2E30C-CADC-4F71-8763-D62D366F3F11}" destId="{66B8B55D-B596-4E97-9B9B-334FF146A027}" srcOrd="2" destOrd="0" parTransId="{9412E7DB-95E9-4BAF-A33E-D6F7F18DE42D}" sibTransId="{D865D612-B27A-4D75-88C4-84440192D838}"/>
    <dgm:cxn modelId="{C6B8EB7A-8567-4927-8864-76292536159F}" type="presOf" srcId="{26837417-4838-4AE2-80FE-379EF9E65D14}" destId="{4E5BE1E6-FA79-4B30-A86C-4585C2384694}" srcOrd="1" destOrd="0" presId="urn:microsoft.com/office/officeart/2005/8/layout/list1"/>
    <dgm:cxn modelId="{22079D83-49EE-437D-AEB5-74EDC9C41F1D}" srcId="{602EACA9-AFE4-4F5D-A7EB-90DB889F2C78}" destId="{76A2E30C-CADC-4F71-8763-D62D366F3F11}" srcOrd="0" destOrd="0" parTransId="{B910F268-3D6E-4BF0-9464-31ED0669FF2B}" sibTransId="{7F67D2CA-0567-4FFC-B250-D91D73DC2010}"/>
    <dgm:cxn modelId="{D1439988-5C6E-49BC-A8A8-FBC15582AD65}" type="presOf" srcId="{805379EE-D69D-4331-8CA3-DEAAD40BE8A3}" destId="{359F2FD8-77CE-4880-8729-A000BA9EF556}" srcOrd="0" destOrd="3" presId="urn:microsoft.com/office/officeart/2005/8/layout/list1"/>
    <dgm:cxn modelId="{696408B8-0AEB-497D-94BC-E22566C154C8}" type="presOf" srcId="{C0C6429A-2625-49C1-93F9-2D89F47BB037}" destId="{359F2FD8-77CE-4880-8729-A000BA9EF556}" srcOrd="0" destOrd="1" presId="urn:microsoft.com/office/officeart/2005/8/layout/list1"/>
    <dgm:cxn modelId="{C3E3F7BE-31CD-4AEB-811E-BAAF85A1A236}" type="presOf" srcId="{66B8B55D-B596-4E97-9B9B-334FF146A027}" destId="{09CE80DC-57D6-4705-BEAC-0685AC89842A}" srcOrd="0" destOrd="2" presId="urn:microsoft.com/office/officeart/2005/8/layout/list1"/>
    <dgm:cxn modelId="{BE65ADC5-F1D5-4383-BB7E-0883C1B62956}" type="presOf" srcId="{1624EF5B-E31A-4B45-A402-6E37919BFF5B}" destId="{359F2FD8-77CE-4880-8729-A000BA9EF556}" srcOrd="0" destOrd="0" presId="urn:microsoft.com/office/officeart/2005/8/layout/list1"/>
    <dgm:cxn modelId="{A2BF7AD2-CEB4-429C-9B26-5CD6374A7AD4}" type="presOf" srcId="{9C72DD28-5AF0-48F2-A414-75FDAC24A214}" destId="{359F2FD8-77CE-4880-8729-A000BA9EF556}" srcOrd="0" destOrd="2" presId="urn:microsoft.com/office/officeart/2005/8/layout/list1"/>
    <dgm:cxn modelId="{D923C3E5-F64D-4A1C-BD55-34BA88F48D02}" srcId="{76A2E30C-CADC-4F71-8763-D62D366F3F11}" destId="{0792B259-5B96-45DF-98EA-2172403FCF44}" srcOrd="0" destOrd="0" parTransId="{E1048F3B-AEF0-4FA8-AA69-9C17DEE5AD5B}" sibTransId="{D6F14ED3-B857-42FE-98D3-4828D00C33CA}"/>
    <dgm:cxn modelId="{3C7F51EA-59BB-4DC6-B0EE-F72885191BD3}" srcId="{76A2E30C-CADC-4F71-8763-D62D366F3F11}" destId="{F187DE0C-FC5B-4B10-9811-7F78AEEAAD2B}" srcOrd="3" destOrd="0" parTransId="{0B26E8D9-73A6-4449-9D90-491E59A1F088}" sibTransId="{D7AFF4C1-9C0A-48A5-AE7A-FDE83A67C9B0}"/>
    <dgm:cxn modelId="{399CF4BE-5FDF-4A24-A0AE-18C03399BD79}" type="presParOf" srcId="{D7FFE171-CACE-497B-B4DC-0C8E76C07A8A}" destId="{48A9C35C-54CD-495B-B73B-B7857FF1B80B}" srcOrd="0" destOrd="0" presId="urn:microsoft.com/office/officeart/2005/8/layout/list1"/>
    <dgm:cxn modelId="{14C60FCD-8FBA-4418-8ACB-818FE3FD0A87}" type="presParOf" srcId="{48A9C35C-54CD-495B-B73B-B7857FF1B80B}" destId="{AE2F6B05-9944-4F16-B2FA-EBE7B2A60A00}" srcOrd="0" destOrd="0" presId="urn:microsoft.com/office/officeart/2005/8/layout/list1"/>
    <dgm:cxn modelId="{B929B00B-13E4-432A-9E26-EF93B8FCCC4D}" type="presParOf" srcId="{48A9C35C-54CD-495B-B73B-B7857FF1B80B}" destId="{F145963D-98B6-4730-99B7-E8784C579183}" srcOrd="1" destOrd="0" presId="urn:microsoft.com/office/officeart/2005/8/layout/list1"/>
    <dgm:cxn modelId="{20C8FDE0-B99E-45F0-B67D-64C5C220F33D}" type="presParOf" srcId="{D7FFE171-CACE-497B-B4DC-0C8E76C07A8A}" destId="{3506E99A-433D-4344-A817-EA6D7C2EC107}" srcOrd="1" destOrd="0" presId="urn:microsoft.com/office/officeart/2005/8/layout/list1"/>
    <dgm:cxn modelId="{A1878C2F-C5E8-494D-AF5B-B42F583EE214}" type="presParOf" srcId="{D7FFE171-CACE-497B-B4DC-0C8E76C07A8A}" destId="{09CE80DC-57D6-4705-BEAC-0685AC89842A}" srcOrd="2" destOrd="0" presId="urn:microsoft.com/office/officeart/2005/8/layout/list1"/>
    <dgm:cxn modelId="{F5533050-DFA7-421C-967D-6F1E348536AB}" type="presParOf" srcId="{D7FFE171-CACE-497B-B4DC-0C8E76C07A8A}" destId="{867CFE7D-959E-46F7-9C12-E98437114929}" srcOrd="3" destOrd="0" presId="urn:microsoft.com/office/officeart/2005/8/layout/list1"/>
    <dgm:cxn modelId="{DFE58B7D-500B-4BF2-8D54-87054B376C58}" type="presParOf" srcId="{D7FFE171-CACE-497B-B4DC-0C8E76C07A8A}" destId="{235FB798-AEA1-4F1E-A147-2FBBC43DC962}" srcOrd="4" destOrd="0" presId="urn:microsoft.com/office/officeart/2005/8/layout/list1"/>
    <dgm:cxn modelId="{08336AE0-849E-4D13-8797-A641C1EBE29E}" type="presParOf" srcId="{235FB798-AEA1-4F1E-A147-2FBBC43DC962}" destId="{48DDCDA5-EFDB-426E-8D8F-CA08C905DC84}" srcOrd="0" destOrd="0" presId="urn:microsoft.com/office/officeart/2005/8/layout/list1"/>
    <dgm:cxn modelId="{1E8CC981-7F73-4D15-86A7-F6EAB0F200A8}" type="presParOf" srcId="{235FB798-AEA1-4F1E-A147-2FBBC43DC962}" destId="{4E5BE1E6-FA79-4B30-A86C-4585C2384694}" srcOrd="1" destOrd="0" presId="urn:microsoft.com/office/officeart/2005/8/layout/list1"/>
    <dgm:cxn modelId="{26574113-DB55-485D-BE91-CA9908ACFDE8}" type="presParOf" srcId="{D7FFE171-CACE-497B-B4DC-0C8E76C07A8A}" destId="{31CC104F-AF67-4F6D-BAA4-D300425D5440}" srcOrd="5" destOrd="0" presId="urn:microsoft.com/office/officeart/2005/8/layout/list1"/>
    <dgm:cxn modelId="{EB4DA784-4BFA-48A8-9333-5C012B4238CF}" type="presParOf" srcId="{D7FFE171-CACE-497B-B4DC-0C8E76C07A8A}" destId="{359F2FD8-77CE-4880-8729-A000BA9EF55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27E852-EFB6-40E0-B7C6-B4407DFCDFE6}"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0CAC1C8-DE5A-4C40-AD85-1CDF288BC8BE}">
      <dgm:prSet/>
      <dgm:spPr/>
      <dgm:t>
        <a:bodyPr/>
        <a:lstStyle/>
        <a:p>
          <a:r>
            <a:rPr lang="es-ES" b="0" i="0" baseline="0"/>
            <a:t>El </a:t>
          </a:r>
          <a:r>
            <a:rPr lang="es-ES" b="1" i="1" baseline="0"/>
            <a:t>moneyness </a:t>
          </a:r>
          <a:r>
            <a:rPr lang="es-ES" b="0" i="0" baseline="0"/>
            <a:t>es una medida del grado en que un derivado financiero es probable que tenga un valor positivo en su fecha de expiración:</a:t>
          </a:r>
          <a:endParaRPr lang="en-US"/>
        </a:p>
      </dgm:t>
    </dgm:pt>
    <dgm:pt modelId="{1B38D405-7582-4F5B-B366-C63B90B78EAF}" type="parTrans" cxnId="{D1366A9F-D0C6-46F1-9513-C7D8AA1072D0}">
      <dgm:prSet/>
      <dgm:spPr/>
      <dgm:t>
        <a:bodyPr/>
        <a:lstStyle/>
        <a:p>
          <a:endParaRPr lang="en-US"/>
        </a:p>
      </dgm:t>
    </dgm:pt>
    <dgm:pt modelId="{68895F06-7427-47A4-B68D-6CAA61C57A6E}" type="sibTrans" cxnId="{D1366A9F-D0C6-46F1-9513-C7D8AA1072D0}">
      <dgm:prSet/>
      <dgm:spPr/>
      <dgm:t>
        <a:bodyPr/>
        <a:lstStyle/>
        <a:p>
          <a:endParaRPr lang="en-US"/>
        </a:p>
      </dgm:t>
    </dgm:pt>
    <dgm:pt modelId="{5DD05D90-961E-4D68-8A89-02B4555F683C}">
      <dgm:prSet/>
      <dgm:spPr/>
      <dgm:t>
        <a:bodyPr/>
        <a:lstStyle/>
        <a:p>
          <a:r>
            <a:rPr lang="es-AR" b="0" i="0" baseline="0"/>
            <a:t>En el dinero – </a:t>
          </a:r>
          <a:r>
            <a:rPr lang="es-AR" b="0" i="1" baseline="0"/>
            <a:t>At the money </a:t>
          </a:r>
          <a:r>
            <a:rPr lang="es-AR" b="0" i="0" baseline="0"/>
            <a:t>(</a:t>
          </a:r>
          <a:r>
            <a:rPr lang="es-AR" b="1" i="1" baseline="0"/>
            <a:t>ATM</a:t>
          </a:r>
          <a:r>
            <a:rPr lang="es-AR" b="0" i="0" baseline="0"/>
            <a:t>): </a:t>
          </a:r>
          <a:r>
            <a:rPr lang="es-ES" b="0" i="0" baseline="0"/>
            <a:t>si su precio de ejercicio (</a:t>
          </a:r>
          <a:r>
            <a:rPr lang="es-ES" b="0" i="1" baseline="0"/>
            <a:t>strike price</a:t>
          </a:r>
          <a:r>
            <a:rPr lang="es-ES" b="0" i="0" baseline="0"/>
            <a:t>), es el </a:t>
          </a:r>
          <a:r>
            <a:rPr lang="es-ES" b="0" i="1" baseline="0"/>
            <a:t>mismo</a:t>
          </a:r>
          <a:r>
            <a:rPr lang="es-ES" b="0" i="0" baseline="0"/>
            <a:t> que el precio del subyacente sobre el que la opción está basada</a:t>
          </a:r>
          <a:endParaRPr lang="en-US"/>
        </a:p>
      </dgm:t>
    </dgm:pt>
    <dgm:pt modelId="{2298170B-9300-441A-8578-474B15E2CF4A}" type="parTrans" cxnId="{7F6E66C1-30CE-4237-BCBE-5B412DBB3DF8}">
      <dgm:prSet/>
      <dgm:spPr/>
      <dgm:t>
        <a:bodyPr/>
        <a:lstStyle/>
        <a:p>
          <a:endParaRPr lang="en-US"/>
        </a:p>
      </dgm:t>
    </dgm:pt>
    <dgm:pt modelId="{51856CE0-F580-4347-B55A-181A425CA6F9}" type="sibTrans" cxnId="{7F6E66C1-30CE-4237-BCBE-5B412DBB3DF8}">
      <dgm:prSet/>
      <dgm:spPr/>
      <dgm:t>
        <a:bodyPr/>
        <a:lstStyle/>
        <a:p>
          <a:endParaRPr lang="en-US"/>
        </a:p>
      </dgm:t>
    </dgm:pt>
    <dgm:pt modelId="{ABC9DE06-93E9-4E30-80D7-0324E979DA62}">
      <dgm:prSet/>
      <dgm:spPr/>
      <dgm:t>
        <a:bodyPr/>
        <a:lstStyle/>
        <a:p>
          <a:r>
            <a:rPr lang="es-AR" b="0" i="0" baseline="0"/>
            <a:t>Fuera del dinero – </a:t>
          </a:r>
          <a:r>
            <a:rPr lang="es-AR" b="0" i="1" baseline="0"/>
            <a:t>Out of the money </a:t>
          </a:r>
          <a:r>
            <a:rPr lang="es-AR" b="0" i="0" baseline="0"/>
            <a:t>(</a:t>
          </a:r>
          <a:r>
            <a:rPr lang="es-AR" b="1" i="1" baseline="0"/>
            <a:t>OTM</a:t>
          </a:r>
          <a:r>
            <a:rPr lang="es-AR" b="0" i="0" baseline="0"/>
            <a:t>): </a:t>
          </a:r>
          <a:r>
            <a:rPr lang="es-ES" b="0" i="0" baseline="0"/>
            <a:t>si no tiene valor intrínseco; Ej: una opción </a:t>
          </a:r>
          <a:r>
            <a:rPr lang="es-ES" b="0" i="1" baseline="0"/>
            <a:t>call</a:t>
          </a:r>
          <a:r>
            <a:rPr lang="es-ES" b="0" i="0" baseline="0"/>
            <a:t> para la que el precio del activo subyacente es menor que el precio de ejercicio de la opción.</a:t>
          </a:r>
          <a:endParaRPr lang="en-US"/>
        </a:p>
      </dgm:t>
    </dgm:pt>
    <dgm:pt modelId="{2EDC4A15-69CF-4EB5-B7AB-E939F4333A64}" type="parTrans" cxnId="{284DA4A0-C5C4-4548-AAB9-9917969419EE}">
      <dgm:prSet/>
      <dgm:spPr/>
      <dgm:t>
        <a:bodyPr/>
        <a:lstStyle/>
        <a:p>
          <a:endParaRPr lang="en-US"/>
        </a:p>
      </dgm:t>
    </dgm:pt>
    <dgm:pt modelId="{D10D8351-432C-40CB-B391-1B08AA38FD8A}" type="sibTrans" cxnId="{284DA4A0-C5C4-4548-AAB9-9917969419EE}">
      <dgm:prSet/>
      <dgm:spPr/>
      <dgm:t>
        <a:bodyPr/>
        <a:lstStyle/>
        <a:p>
          <a:endParaRPr lang="en-US"/>
        </a:p>
      </dgm:t>
    </dgm:pt>
    <dgm:pt modelId="{0B80F781-28C1-4DE7-BE14-CFA7A18A88DC}">
      <dgm:prSet/>
      <dgm:spPr/>
      <dgm:t>
        <a:bodyPr/>
        <a:lstStyle/>
        <a:p>
          <a:r>
            <a:rPr lang="es-AR" b="0" i="0" baseline="0"/>
            <a:t>Dentro del dinero – </a:t>
          </a:r>
          <a:r>
            <a:rPr lang="es-AR" b="0" i="1" baseline="0"/>
            <a:t>In the money </a:t>
          </a:r>
          <a:r>
            <a:rPr lang="es-AR" b="0" i="0" baseline="0"/>
            <a:t>(</a:t>
          </a:r>
          <a:r>
            <a:rPr lang="es-AR" b="1" i="1" baseline="0"/>
            <a:t>ITM</a:t>
          </a:r>
          <a:r>
            <a:rPr lang="es-AR" b="0" i="0" baseline="0"/>
            <a:t>): </a:t>
          </a:r>
          <a:r>
            <a:rPr lang="es-ES" b="0" i="0" baseline="0"/>
            <a:t> si tiene valor intrínseco; Ej: una opción </a:t>
          </a:r>
          <a:r>
            <a:rPr lang="es-ES" b="0" i="1" baseline="0"/>
            <a:t>call</a:t>
          </a:r>
          <a:r>
            <a:rPr lang="es-ES" b="0" i="0" baseline="0"/>
            <a:t> para la que el precio del activo subyacente es mayor que el precio de ejercicio de la opción.</a:t>
          </a:r>
          <a:endParaRPr lang="en-US"/>
        </a:p>
      </dgm:t>
    </dgm:pt>
    <dgm:pt modelId="{CF0B8E89-4F88-4FB4-879A-0A2F80900EF5}" type="parTrans" cxnId="{17DC51EF-DF24-4C85-BCB8-D4BE7E7E0367}">
      <dgm:prSet/>
      <dgm:spPr/>
      <dgm:t>
        <a:bodyPr/>
        <a:lstStyle/>
        <a:p>
          <a:endParaRPr lang="en-US"/>
        </a:p>
      </dgm:t>
    </dgm:pt>
    <dgm:pt modelId="{47B0DDF9-BED7-45CD-AC5D-9F2E925D8653}" type="sibTrans" cxnId="{17DC51EF-DF24-4C85-BCB8-D4BE7E7E0367}">
      <dgm:prSet/>
      <dgm:spPr/>
      <dgm:t>
        <a:bodyPr/>
        <a:lstStyle/>
        <a:p>
          <a:endParaRPr lang="en-US"/>
        </a:p>
      </dgm:t>
    </dgm:pt>
    <dgm:pt modelId="{B2726C27-4F4D-4250-8530-EE6F7CF23474}" type="pres">
      <dgm:prSet presAssocID="{DD27E852-EFB6-40E0-B7C6-B4407DFCDFE6}" presName="linear" presStyleCnt="0">
        <dgm:presLayoutVars>
          <dgm:animLvl val="lvl"/>
          <dgm:resizeHandles val="exact"/>
        </dgm:presLayoutVars>
      </dgm:prSet>
      <dgm:spPr/>
    </dgm:pt>
    <dgm:pt modelId="{3D6A0AF3-6D61-4148-BE30-A6402C67EFFA}" type="pres">
      <dgm:prSet presAssocID="{00CAC1C8-DE5A-4C40-AD85-1CDF288BC8BE}" presName="parentText" presStyleLbl="node1" presStyleIdx="0" presStyleCnt="1">
        <dgm:presLayoutVars>
          <dgm:chMax val="0"/>
          <dgm:bulletEnabled val="1"/>
        </dgm:presLayoutVars>
      </dgm:prSet>
      <dgm:spPr/>
    </dgm:pt>
    <dgm:pt modelId="{99DDB640-29E3-4CAD-913E-4DC484B64762}" type="pres">
      <dgm:prSet presAssocID="{00CAC1C8-DE5A-4C40-AD85-1CDF288BC8BE}" presName="childText" presStyleLbl="revTx" presStyleIdx="0" presStyleCnt="1">
        <dgm:presLayoutVars>
          <dgm:bulletEnabled val="1"/>
        </dgm:presLayoutVars>
      </dgm:prSet>
      <dgm:spPr/>
    </dgm:pt>
  </dgm:ptLst>
  <dgm:cxnLst>
    <dgm:cxn modelId="{896B3D65-9E68-4451-A3A5-A024CEFF7285}" type="presOf" srcId="{5DD05D90-961E-4D68-8A89-02B4555F683C}" destId="{99DDB640-29E3-4CAD-913E-4DC484B64762}" srcOrd="0" destOrd="0" presId="urn:microsoft.com/office/officeart/2005/8/layout/vList2"/>
    <dgm:cxn modelId="{D1366A9F-D0C6-46F1-9513-C7D8AA1072D0}" srcId="{DD27E852-EFB6-40E0-B7C6-B4407DFCDFE6}" destId="{00CAC1C8-DE5A-4C40-AD85-1CDF288BC8BE}" srcOrd="0" destOrd="0" parTransId="{1B38D405-7582-4F5B-B366-C63B90B78EAF}" sibTransId="{68895F06-7427-47A4-B68D-6CAA61C57A6E}"/>
    <dgm:cxn modelId="{284DA4A0-C5C4-4548-AAB9-9917969419EE}" srcId="{00CAC1C8-DE5A-4C40-AD85-1CDF288BC8BE}" destId="{ABC9DE06-93E9-4E30-80D7-0324E979DA62}" srcOrd="1" destOrd="0" parTransId="{2EDC4A15-69CF-4EB5-B7AB-E939F4333A64}" sibTransId="{D10D8351-432C-40CB-B391-1B08AA38FD8A}"/>
    <dgm:cxn modelId="{7F6E66C1-30CE-4237-BCBE-5B412DBB3DF8}" srcId="{00CAC1C8-DE5A-4C40-AD85-1CDF288BC8BE}" destId="{5DD05D90-961E-4D68-8A89-02B4555F683C}" srcOrd="0" destOrd="0" parTransId="{2298170B-9300-441A-8578-474B15E2CF4A}" sibTransId="{51856CE0-F580-4347-B55A-181A425CA6F9}"/>
    <dgm:cxn modelId="{A7EA90CC-EB0F-4E5C-B9AA-81BD7DBA1B8B}" type="presOf" srcId="{0B80F781-28C1-4DE7-BE14-CFA7A18A88DC}" destId="{99DDB640-29E3-4CAD-913E-4DC484B64762}" srcOrd="0" destOrd="2" presId="urn:microsoft.com/office/officeart/2005/8/layout/vList2"/>
    <dgm:cxn modelId="{57C433D5-250C-4C2D-AA41-DAF299571216}" type="presOf" srcId="{00CAC1C8-DE5A-4C40-AD85-1CDF288BC8BE}" destId="{3D6A0AF3-6D61-4148-BE30-A6402C67EFFA}" srcOrd="0" destOrd="0" presId="urn:microsoft.com/office/officeart/2005/8/layout/vList2"/>
    <dgm:cxn modelId="{196617E7-9C4E-41EC-A3A5-31805BEAB3D6}" type="presOf" srcId="{DD27E852-EFB6-40E0-B7C6-B4407DFCDFE6}" destId="{B2726C27-4F4D-4250-8530-EE6F7CF23474}" srcOrd="0" destOrd="0" presId="urn:microsoft.com/office/officeart/2005/8/layout/vList2"/>
    <dgm:cxn modelId="{17DC51EF-DF24-4C85-BCB8-D4BE7E7E0367}" srcId="{00CAC1C8-DE5A-4C40-AD85-1CDF288BC8BE}" destId="{0B80F781-28C1-4DE7-BE14-CFA7A18A88DC}" srcOrd="2" destOrd="0" parTransId="{CF0B8E89-4F88-4FB4-879A-0A2F80900EF5}" sibTransId="{47B0DDF9-BED7-45CD-AC5D-9F2E925D8653}"/>
    <dgm:cxn modelId="{522158FA-F688-4AF0-AFA8-E76C8077439C}" type="presOf" srcId="{ABC9DE06-93E9-4E30-80D7-0324E979DA62}" destId="{99DDB640-29E3-4CAD-913E-4DC484B64762}" srcOrd="0" destOrd="1" presId="urn:microsoft.com/office/officeart/2005/8/layout/vList2"/>
    <dgm:cxn modelId="{3F06E0BB-14F7-4ED3-9B41-04FD240A4BA5}" type="presParOf" srcId="{B2726C27-4F4D-4250-8530-EE6F7CF23474}" destId="{3D6A0AF3-6D61-4148-BE30-A6402C67EFFA}" srcOrd="0" destOrd="0" presId="urn:microsoft.com/office/officeart/2005/8/layout/vList2"/>
    <dgm:cxn modelId="{4CACCC36-8504-4C6A-AB78-C2A43943DAD4}" type="presParOf" srcId="{B2726C27-4F4D-4250-8530-EE6F7CF23474}" destId="{99DDB640-29E3-4CAD-913E-4DC484B6476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E80DC-57D6-4705-BEAC-0685AC89842A}">
      <dsp:nvSpPr>
        <dsp:cNvPr id="0" name=""/>
        <dsp:cNvSpPr/>
      </dsp:nvSpPr>
      <dsp:spPr>
        <a:xfrm>
          <a:off x="0" y="1215646"/>
          <a:ext cx="4941519" cy="18207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3517" tIns="354076" rIns="383517" bIns="120904" numCol="1" spcCol="1270" anchor="t" anchorCtr="0">
          <a:noAutofit/>
        </a:bodyPr>
        <a:lstStyle/>
        <a:p>
          <a:pPr marL="171450" lvl="1" indent="-171450" algn="l" defTabSz="755650">
            <a:lnSpc>
              <a:spcPct val="90000"/>
            </a:lnSpc>
            <a:spcBef>
              <a:spcPct val="0"/>
            </a:spcBef>
            <a:spcAft>
              <a:spcPct val="15000"/>
            </a:spcAft>
            <a:buChar char="•"/>
          </a:pPr>
          <a:r>
            <a:rPr lang="es-ES" sz="1700" kern="1200"/>
            <a:t>contratos estandarizados</a:t>
          </a:r>
          <a:endParaRPr lang="en-US" sz="1700" kern="1200"/>
        </a:p>
        <a:p>
          <a:pPr marL="171450" lvl="1" indent="-171450" algn="l" defTabSz="755650">
            <a:lnSpc>
              <a:spcPct val="90000"/>
            </a:lnSpc>
            <a:spcBef>
              <a:spcPct val="0"/>
            </a:spcBef>
            <a:spcAft>
              <a:spcPct val="15000"/>
            </a:spcAft>
            <a:buChar char="•"/>
          </a:pPr>
          <a:r>
            <a:rPr lang="es-ES" sz="1700" i="1" kern="1200"/>
            <a:t>trade</a:t>
          </a:r>
          <a:r>
            <a:rPr lang="es-ES" sz="1700" kern="1200"/>
            <a:t> contra el mercado, que obliga a la colaterización</a:t>
          </a:r>
          <a:endParaRPr lang="en-US" sz="1700" kern="1200"/>
        </a:p>
        <a:p>
          <a:pPr marL="171450" lvl="1" indent="-171450" algn="l" defTabSz="755650">
            <a:lnSpc>
              <a:spcPct val="90000"/>
            </a:lnSpc>
            <a:spcBef>
              <a:spcPct val="0"/>
            </a:spcBef>
            <a:spcAft>
              <a:spcPct val="15000"/>
            </a:spcAft>
            <a:buChar char="•"/>
          </a:pPr>
          <a:r>
            <a:rPr lang="es-ES" sz="1700" kern="1200"/>
            <a:t>riesgo de crédito casi nulo</a:t>
          </a:r>
          <a:endParaRPr lang="en-US" sz="1700" kern="1200"/>
        </a:p>
        <a:p>
          <a:pPr marL="171450" lvl="1" indent="-171450" algn="l" defTabSz="755650">
            <a:lnSpc>
              <a:spcPct val="90000"/>
            </a:lnSpc>
            <a:spcBef>
              <a:spcPct val="0"/>
            </a:spcBef>
            <a:spcAft>
              <a:spcPct val="15000"/>
            </a:spcAft>
            <a:buChar char="•"/>
          </a:pPr>
          <a:r>
            <a:rPr lang="es-ES" sz="1700" kern="1200"/>
            <a:t>liquidez relativamente alta</a:t>
          </a:r>
          <a:endParaRPr lang="en-US" sz="1700" kern="1200"/>
        </a:p>
      </dsp:txBody>
      <dsp:txXfrm>
        <a:off x="0" y="1215646"/>
        <a:ext cx="4941519" cy="1820700"/>
      </dsp:txXfrm>
    </dsp:sp>
    <dsp:sp modelId="{F145963D-98B6-4730-99B7-E8784C579183}">
      <dsp:nvSpPr>
        <dsp:cNvPr id="0" name=""/>
        <dsp:cNvSpPr/>
      </dsp:nvSpPr>
      <dsp:spPr>
        <a:xfrm>
          <a:off x="247075" y="964726"/>
          <a:ext cx="3459063" cy="501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744" tIns="0" rIns="130744" bIns="0" numCol="1" spcCol="1270" anchor="ctr" anchorCtr="0">
          <a:noAutofit/>
        </a:bodyPr>
        <a:lstStyle/>
        <a:p>
          <a:pPr marL="0" lvl="0" indent="0" algn="l" defTabSz="755650">
            <a:lnSpc>
              <a:spcPct val="90000"/>
            </a:lnSpc>
            <a:spcBef>
              <a:spcPct val="0"/>
            </a:spcBef>
            <a:spcAft>
              <a:spcPct val="35000"/>
            </a:spcAft>
            <a:buNone/>
          </a:pPr>
          <a:r>
            <a:rPr lang="es-ES" sz="1700" kern="1200"/>
            <a:t>Mercados Organizados (</a:t>
          </a:r>
          <a:r>
            <a:rPr lang="es-ES" sz="1700" b="1" i="1" kern="1200"/>
            <a:t>exchanges</a:t>
          </a:r>
          <a:r>
            <a:rPr lang="es-ES" sz="1700" kern="1200"/>
            <a:t>)</a:t>
          </a:r>
          <a:endParaRPr lang="en-US" sz="1700" kern="1200"/>
        </a:p>
      </dsp:txBody>
      <dsp:txXfrm>
        <a:off x="271573" y="989224"/>
        <a:ext cx="3410067" cy="452844"/>
      </dsp:txXfrm>
    </dsp:sp>
    <dsp:sp modelId="{359F2FD8-77CE-4880-8729-A000BA9EF556}">
      <dsp:nvSpPr>
        <dsp:cNvPr id="0" name=""/>
        <dsp:cNvSpPr/>
      </dsp:nvSpPr>
      <dsp:spPr>
        <a:xfrm>
          <a:off x="0" y="3379066"/>
          <a:ext cx="4941519" cy="1552950"/>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3517" tIns="354076" rIns="383517" bIns="120904" numCol="1" spcCol="1270" anchor="t" anchorCtr="0">
          <a:noAutofit/>
        </a:bodyPr>
        <a:lstStyle/>
        <a:p>
          <a:pPr marL="171450" lvl="1" indent="-171450" algn="l" defTabSz="755650">
            <a:lnSpc>
              <a:spcPct val="90000"/>
            </a:lnSpc>
            <a:spcBef>
              <a:spcPct val="0"/>
            </a:spcBef>
            <a:spcAft>
              <a:spcPct val="15000"/>
            </a:spcAft>
            <a:buChar char="•"/>
          </a:pPr>
          <a:r>
            <a:rPr lang="es-ES" sz="1700" kern="1200"/>
            <a:t>contratos no estandarizados</a:t>
          </a:r>
          <a:endParaRPr lang="en-US" sz="1700" kern="1200"/>
        </a:p>
        <a:p>
          <a:pPr marL="171450" lvl="1" indent="-171450" algn="l" defTabSz="755650">
            <a:lnSpc>
              <a:spcPct val="90000"/>
            </a:lnSpc>
            <a:spcBef>
              <a:spcPct val="0"/>
            </a:spcBef>
            <a:spcAft>
              <a:spcPct val="15000"/>
            </a:spcAft>
            <a:buChar char="•"/>
          </a:pPr>
          <a:r>
            <a:rPr lang="es-ES" sz="1700" i="1" kern="1200"/>
            <a:t>trade</a:t>
          </a:r>
          <a:r>
            <a:rPr lang="es-ES" sz="1700" kern="1200"/>
            <a:t> bilateral, riesgo de la contraparte</a:t>
          </a:r>
          <a:endParaRPr lang="en-US" sz="1700" kern="1200"/>
        </a:p>
        <a:p>
          <a:pPr marL="171450" lvl="1" indent="-171450" algn="l" defTabSz="755650">
            <a:lnSpc>
              <a:spcPct val="90000"/>
            </a:lnSpc>
            <a:spcBef>
              <a:spcPct val="0"/>
            </a:spcBef>
            <a:spcAft>
              <a:spcPct val="15000"/>
            </a:spcAft>
            <a:buChar char="•"/>
          </a:pPr>
          <a:r>
            <a:rPr lang="es-ES" sz="1700" kern="1200"/>
            <a:t>riesgo de crédito no nulo</a:t>
          </a:r>
          <a:endParaRPr lang="en-US" sz="1700" kern="1200"/>
        </a:p>
        <a:p>
          <a:pPr marL="171450" lvl="1" indent="-171450" algn="l" defTabSz="755650">
            <a:lnSpc>
              <a:spcPct val="90000"/>
            </a:lnSpc>
            <a:spcBef>
              <a:spcPct val="0"/>
            </a:spcBef>
            <a:spcAft>
              <a:spcPct val="15000"/>
            </a:spcAft>
            <a:buChar char="•"/>
          </a:pPr>
          <a:r>
            <a:rPr lang="es-ES" sz="1700" kern="1200"/>
            <a:t>baja liquidez</a:t>
          </a:r>
          <a:endParaRPr lang="en-US" sz="1700" kern="1200"/>
        </a:p>
      </dsp:txBody>
      <dsp:txXfrm>
        <a:off x="0" y="3379066"/>
        <a:ext cx="4941519" cy="1552950"/>
      </dsp:txXfrm>
    </dsp:sp>
    <dsp:sp modelId="{4E5BE1E6-FA79-4B30-A86C-4585C2384694}">
      <dsp:nvSpPr>
        <dsp:cNvPr id="0" name=""/>
        <dsp:cNvSpPr/>
      </dsp:nvSpPr>
      <dsp:spPr>
        <a:xfrm>
          <a:off x="247075" y="3128146"/>
          <a:ext cx="3459063" cy="50184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744" tIns="0" rIns="130744" bIns="0" numCol="1" spcCol="1270" anchor="ctr" anchorCtr="0">
          <a:noAutofit/>
        </a:bodyPr>
        <a:lstStyle/>
        <a:p>
          <a:pPr marL="0" lvl="0" indent="0" algn="l" defTabSz="755650">
            <a:lnSpc>
              <a:spcPct val="90000"/>
            </a:lnSpc>
            <a:spcBef>
              <a:spcPct val="0"/>
            </a:spcBef>
            <a:spcAft>
              <a:spcPct val="35000"/>
            </a:spcAft>
            <a:buNone/>
          </a:pPr>
          <a:r>
            <a:rPr lang="es-ES" sz="1700" kern="1200"/>
            <a:t>Mercados OTC (</a:t>
          </a:r>
          <a:r>
            <a:rPr lang="es-ES" sz="1700" b="1" i="1" kern="1200"/>
            <a:t>Over-the-Counter</a:t>
          </a:r>
          <a:r>
            <a:rPr lang="es-ES" sz="1700" kern="1200"/>
            <a:t>)</a:t>
          </a:r>
          <a:endParaRPr lang="en-US" sz="1700" kern="1200"/>
        </a:p>
      </dsp:txBody>
      <dsp:txXfrm>
        <a:off x="271573" y="3152644"/>
        <a:ext cx="3410067"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A0AF3-6D61-4148-BE30-A6402C67EFFA}">
      <dsp:nvSpPr>
        <dsp:cNvPr id="0" name=""/>
        <dsp:cNvSpPr/>
      </dsp:nvSpPr>
      <dsp:spPr>
        <a:xfrm>
          <a:off x="0" y="253771"/>
          <a:ext cx="4941519" cy="17128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ES" sz="2400" b="0" i="0" kern="1200" baseline="0"/>
            <a:t>El </a:t>
          </a:r>
          <a:r>
            <a:rPr lang="es-ES" sz="2400" b="1" i="1" kern="1200" baseline="0"/>
            <a:t>moneyness </a:t>
          </a:r>
          <a:r>
            <a:rPr lang="es-ES" sz="2400" b="0" i="0" kern="1200" baseline="0"/>
            <a:t>es una medida del grado en que un derivado financiero es probable que tenga un valor positivo en su fecha de expiración:</a:t>
          </a:r>
          <a:endParaRPr lang="en-US" sz="2400" kern="1200"/>
        </a:p>
      </dsp:txBody>
      <dsp:txXfrm>
        <a:off x="83616" y="337387"/>
        <a:ext cx="4774287" cy="1545648"/>
      </dsp:txXfrm>
    </dsp:sp>
    <dsp:sp modelId="{99DDB640-29E3-4CAD-913E-4DC484B64762}">
      <dsp:nvSpPr>
        <dsp:cNvPr id="0" name=""/>
        <dsp:cNvSpPr/>
      </dsp:nvSpPr>
      <dsp:spPr>
        <a:xfrm>
          <a:off x="0" y="1966651"/>
          <a:ext cx="4941519" cy="367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893"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s-AR" sz="1900" b="0" i="0" kern="1200" baseline="0"/>
            <a:t>En el dinero – </a:t>
          </a:r>
          <a:r>
            <a:rPr lang="es-AR" sz="1900" b="0" i="1" kern="1200" baseline="0"/>
            <a:t>At the money </a:t>
          </a:r>
          <a:r>
            <a:rPr lang="es-AR" sz="1900" b="0" i="0" kern="1200" baseline="0"/>
            <a:t>(</a:t>
          </a:r>
          <a:r>
            <a:rPr lang="es-AR" sz="1900" b="1" i="1" kern="1200" baseline="0"/>
            <a:t>ATM</a:t>
          </a:r>
          <a:r>
            <a:rPr lang="es-AR" sz="1900" b="0" i="0" kern="1200" baseline="0"/>
            <a:t>): </a:t>
          </a:r>
          <a:r>
            <a:rPr lang="es-ES" sz="1900" b="0" i="0" kern="1200" baseline="0"/>
            <a:t>si su precio de ejercicio (</a:t>
          </a:r>
          <a:r>
            <a:rPr lang="es-ES" sz="1900" b="0" i="1" kern="1200" baseline="0"/>
            <a:t>strike price</a:t>
          </a:r>
          <a:r>
            <a:rPr lang="es-ES" sz="1900" b="0" i="0" kern="1200" baseline="0"/>
            <a:t>), es el </a:t>
          </a:r>
          <a:r>
            <a:rPr lang="es-ES" sz="1900" b="0" i="1" kern="1200" baseline="0"/>
            <a:t>mismo</a:t>
          </a:r>
          <a:r>
            <a:rPr lang="es-ES" sz="1900" b="0" i="0" kern="1200" baseline="0"/>
            <a:t> que el precio del subyacente sobre el que la opción está basada</a:t>
          </a:r>
          <a:endParaRPr lang="en-US" sz="1900" kern="1200"/>
        </a:p>
        <a:p>
          <a:pPr marL="171450" lvl="1" indent="-171450" algn="l" defTabSz="844550">
            <a:lnSpc>
              <a:spcPct val="90000"/>
            </a:lnSpc>
            <a:spcBef>
              <a:spcPct val="0"/>
            </a:spcBef>
            <a:spcAft>
              <a:spcPct val="20000"/>
            </a:spcAft>
            <a:buChar char="•"/>
          </a:pPr>
          <a:r>
            <a:rPr lang="es-AR" sz="1900" b="0" i="0" kern="1200" baseline="0"/>
            <a:t>Fuera del dinero – </a:t>
          </a:r>
          <a:r>
            <a:rPr lang="es-AR" sz="1900" b="0" i="1" kern="1200" baseline="0"/>
            <a:t>Out of the money </a:t>
          </a:r>
          <a:r>
            <a:rPr lang="es-AR" sz="1900" b="0" i="0" kern="1200" baseline="0"/>
            <a:t>(</a:t>
          </a:r>
          <a:r>
            <a:rPr lang="es-AR" sz="1900" b="1" i="1" kern="1200" baseline="0"/>
            <a:t>OTM</a:t>
          </a:r>
          <a:r>
            <a:rPr lang="es-AR" sz="1900" b="0" i="0" kern="1200" baseline="0"/>
            <a:t>): </a:t>
          </a:r>
          <a:r>
            <a:rPr lang="es-ES" sz="1900" b="0" i="0" kern="1200" baseline="0"/>
            <a:t>si no tiene valor intrínseco; Ej: una opción </a:t>
          </a:r>
          <a:r>
            <a:rPr lang="es-ES" sz="1900" b="0" i="1" kern="1200" baseline="0"/>
            <a:t>call</a:t>
          </a:r>
          <a:r>
            <a:rPr lang="es-ES" sz="1900" b="0" i="0" kern="1200" baseline="0"/>
            <a:t> para la que el precio del activo subyacente es menor que el precio de ejercicio de la opción.</a:t>
          </a:r>
          <a:endParaRPr lang="en-US" sz="1900" kern="1200"/>
        </a:p>
        <a:p>
          <a:pPr marL="171450" lvl="1" indent="-171450" algn="l" defTabSz="844550">
            <a:lnSpc>
              <a:spcPct val="90000"/>
            </a:lnSpc>
            <a:spcBef>
              <a:spcPct val="0"/>
            </a:spcBef>
            <a:spcAft>
              <a:spcPct val="20000"/>
            </a:spcAft>
            <a:buChar char="•"/>
          </a:pPr>
          <a:r>
            <a:rPr lang="es-AR" sz="1900" b="0" i="0" kern="1200" baseline="0"/>
            <a:t>Dentro del dinero – </a:t>
          </a:r>
          <a:r>
            <a:rPr lang="es-AR" sz="1900" b="0" i="1" kern="1200" baseline="0"/>
            <a:t>In the money </a:t>
          </a:r>
          <a:r>
            <a:rPr lang="es-AR" sz="1900" b="0" i="0" kern="1200" baseline="0"/>
            <a:t>(</a:t>
          </a:r>
          <a:r>
            <a:rPr lang="es-AR" sz="1900" b="1" i="1" kern="1200" baseline="0"/>
            <a:t>ITM</a:t>
          </a:r>
          <a:r>
            <a:rPr lang="es-AR" sz="1900" b="0" i="0" kern="1200" baseline="0"/>
            <a:t>): </a:t>
          </a:r>
          <a:r>
            <a:rPr lang="es-ES" sz="1900" b="0" i="0" kern="1200" baseline="0"/>
            <a:t> si tiene valor intrínseco; Ej: una opción </a:t>
          </a:r>
          <a:r>
            <a:rPr lang="es-ES" sz="1900" b="0" i="1" kern="1200" baseline="0"/>
            <a:t>call</a:t>
          </a:r>
          <a:r>
            <a:rPr lang="es-ES" sz="1900" b="0" i="0" kern="1200" baseline="0"/>
            <a:t> para la que el precio del activo subyacente es mayor que el precio de ejercicio de la opción.</a:t>
          </a:r>
          <a:endParaRPr lang="en-US" sz="1900" kern="1200"/>
        </a:p>
      </dsp:txBody>
      <dsp:txXfrm>
        <a:off x="0" y="1966651"/>
        <a:ext cx="4941519" cy="36763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5DE771-8DBB-45E0-BB2A-D4355D8D65FB}" type="datetimeFigureOut">
              <a:rPr lang="en-US" smtClean="0"/>
              <a:t>8/22/2022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A1D42A-263F-4D4C-ABF1-3D88055A5234}" type="slidenum">
              <a:rPr lang="en-US" smtClean="0"/>
              <a:t>‹#›</a:t>
            </a:fld>
            <a:endParaRPr lang="en-US"/>
          </a:p>
        </p:txBody>
      </p:sp>
    </p:spTree>
    <p:extLst>
      <p:ext uri="{BB962C8B-B14F-4D97-AF65-F5344CB8AC3E}">
        <p14:creationId xmlns:p14="http://schemas.microsoft.com/office/powerpoint/2010/main" val="778254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66219F2-F265-4048-9278-209C5B1C5C01}"/>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27100" rtl="0" eaLnBrk="1" fontAlgn="base" latinLnBrk="0" hangingPunct="1">
              <a:lnSpc>
                <a:spcPct val="100000"/>
              </a:lnSpc>
              <a:spcBef>
                <a:spcPct val="0"/>
              </a:spcBef>
              <a:spcAft>
                <a:spcPct val="0"/>
              </a:spcAft>
              <a:buClrTx/>
              <a:buSzTx/>
              <a:buFontTx/>
              <a:buNone/>
              <a:tabLst/>
              <a:defRPr/>
            </a:pPr>
            <a:fld id="{C5AEABBD-4A1E-4CD5-991D-CA2C26094214}" type="slidenum">
              <a:rPr kumimoji="0" lang="en-US" altLang="en-US" sz="13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27100" rtl="0" eaLnBrk="1" fontAlgn="base" latinLnBrk="0" hangingPunct="1">
                <a:lnSpc>
                  <a:spcPct val="100000"/>
                </a:lnSpc>
                <a:spcBef>
                  <a:spcPct val="0"/>
                </a:spcBef>
                <a:spcAft>
                  <a:spcPct val="0"/>
                </a:spcAft>
                <a:buClrTx/>
                <a:buSzTx/>
                <a:buFontTx/>
                <a:buNone/>
                <a:tabLst/>
                <a:defRPr/>
              </a:pPr>
              <a:t>1</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3" name="Rectangle 7">
            <a:extLst>
              <a:ext uri="{FF2B5EF4-FFF2-40B4-BE49-F238E27FC236}">
                <a16:creationId xmlns:a16="http://schemas.microsoft.com/office/drawing/2014/main" id="{FDFBAE36-82B1-4888-B903-AC5A7376B064}"/>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087FE17B-1E3D-4CBB-BA33-E370B9F03936}"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124" name="Rectangle 2">
            <a:extLst>
              <a:ext uri="{FF2B5EF4-FFF2-40B4-BE49-F238E27FC236}">
                <a16:creationId xmlns:a16="http://schemas.microsoft.com/office/drawing/2014/main" id="{06D53540-7A80-4A1D-8AAA-2264949B95F1}"/>
              </a:ext>
            </a:extLst>
          </p:cNvPr>
          <p:cNvSpPr>
            <a:spLocks noGrp="1" noRot="1" noChangeAspect="1" noChangeArrowheads="1" noTextEdit="1"/>
          </p:cNvSpPr>
          <p:nvPr>
            <p:ph type="sldImg"/>
          </p:nvPr>
        </p:nvSpPr>
        <p:spPr>
          <a:xfrm>
            <a:off x="427038" y="690563"/>
            <a:ext cx="6157912" cy="3465512"/>
          </a:xfrm>
          <a:ln/>
        </p:spPr>
      </p:sp>
      <p:sp>
        <p:nvSpPr>
          <p:cNvPr id="5125" name="Rectangle 3">
            <a:extLst>
              <a:ext uri="{FF2B5EF4-FFF2-40B4-BE49-F238E27FC236}">
                <a16:creationId xmlns:a16="http://schemas.microsoft.com/office/drawing/2014/main" id="{319BE930-F3E5-44E7-AF94-2BE651367177}"/>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D350AC42-E2DE-4FD3-AB82-19F6BB4FED93}"/>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024ED5DF-7628-4CCA-97CF-46DCFB4DA942}"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2</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7171" name="Rectangle 7">
            <a:extLst>
              <a:ext uri="{FF2B5EF4-FFF2-40B4-BE49-F238E27FC236}">
                <a16:creationId xmlns:a16="http://schemas.microsoft.com/office/drawing/2014/main" id="{67B2442E-0A48-42B3-B935-E3C736CA6858}"/>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0ECE4D56-AEED-419F-947E-78483CFCF81F}"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172" name="Rectangle 2">
            <a:extLst>
              <a:ext uri="{FF2B5EF4-FFF2-40B4-BE49-F238E27FC236}">
                <a16:creationId xmlns:a16="http://schemas.microsoft.com/office/drawing/2014/main" id="{B173365B-DC53-4124-BD39-BB2A3C3EAD39}"/>
              </a:ext>
            </a:extLst>
          </p:cNvPr>
          <p:cNvSpPr>
            <a:spLocks noGrp="1" noRot="1" noChangeAspect="1" noChangeArrowheads="1" noTextEdit="1"/>
          </p:cNvSpPr>
          <p:nvPr>
            <p:ph type="sldImg"/>
          </p:nvPr>
        </p:nvSpPr>
        <p:spPr>
          <a:xfrm>
            <a:off x="427038" y="690563"/>
            <a:ext cx="6157912" cy="3465512"/>
          </a:xfrm>
          <a:ln/>
        </p:spPr>
      </p:sp>
      <p:sp>
        <p:nvSpPr>
          <p:cNvPr id="7173" name="Rectangle 3">
            <a:extLst>
              <a:ext uri="{FF2B5EF4-FFF2-40B4-BE49-F238E27FC236}">
                <a16:creationId xmlns:a16="http://schemas.microsoft.com/office/drawing/2014/main" id="{AC9A7E1F-E204-403D-8982-BC9484C4989A}"/>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3234767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D350AC42-E2DE-4FD3-AB82-19F6BB4FED93}"/>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024ED5DF-7628-4CCA-97CF-46DCFB4DA942}"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3</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7171" name="Rectangle 7">
            <a:extLst>
              <a:ext uri="{FF2B5EF4-FFF2-40B4-BE49-F238E27FC236}">
                <a16:creationId xmlns:a16="http://schemas.microsoft.com/office/drawing/2014/main" id="{67B2442E-0A48-42B3-B935-E3C736CA6858}"/>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0ECE4D56-AEED-419F-947E-78483CFCF81F}"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172" name="Rectangle 2">
            <a:extLst>
              <a:ext uri="{FF2B5EF4-FFF2-40B4-BE49-F238E27FC236}">
                <a16:creationId xmlns:a16="http://schemas.microsoft.com/office/drawing/2014/main" id="{B173365B-DC53-4124-BD39-BB2A3C3EAD39}"/>
              </a:ext>
            </a:extLst>
          </p:cNvPr>
          <p:cNvSpPr>
            <a:spLocks noGrp="1" noRot="1" noChangeAspect="1" noChangeArrowheads="1" noTextEdit="1"/>
          </p:cNvSpPr>
          <p:nvPr>
            <p:ph type="sldImg"/>
          </p:nvPr>
        </p:nvSpPr>
        <p:spPr>
          <a:xfrm>
            <a:off x="427038" y="690563"/>
            <a:ext cx="6157912" cy="3465512"/>
          </a:xfrm>
          <a:ln/>
        </p:spPr>
      </p:sp>
      <p:sp>
        <p:nvSpPr>
          <p:cNvPr id="7173" name="Rectangle 3">
            <a:extLst>
              <a:ext uri="{FF2B5EF4-FFF2-40B4-BE49-F238E27FC236}">
                <a16:creationId xmlns:a16="http://schemas.microsoft.com/office/drawing/2014/main" id="{AC9A7E1F-E204-403D-8982-BC9484C4989A}"/>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833296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008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657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29D610F6-B701-4C93-930F-12DA92F90A8D}"/>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935A7AC8-B9DC-43E6-9BB8-2874F07446C7}"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6</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0243" name="Rectangle 7">
            <a:extLst>
              <a:ext uri="{FF2B5EF4-FFF2-40B4-BE49-F238E27FC236}">
                <a16:creationId xmlns:a16="http://schemas.microsoft.com/office/drawing/2014/main" id="{B87734C9-6F06-4939-B74B-1A1855243BB9}"/>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7743E1BB-5250-4AEA-AD8A-63C7E4430134}"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44" name="Rectangle 2">
            <a:extLst>
              <a:ext uri="{FF2B5EF4-FFF2-40B4-BE49-F238E27FC236}">
                <a16:creationId xmlns:a16="http://schemas.microsoft.com/office/drawing/2014/main" id="{1CC507AD-51E1-460B-A811-6DC8005FAB60}"/>
              </a:ext>
            </a:extLst>
          </p:cNvPr>
          <p:cNvSpPr>
            <a:spLocks noGrp="1" noRot="1" noChangeAspect="1" noChangeArrowheads="1" noTextEdit="1"/>
          </p:cNvSpPr>
          <p:nvPr>
            <p:ph type="sldImg"/>
          </p:nvPr>
        </p:nvSpPr>
        <p:spPr>
          <a:xfrm>
            <a:off x="427038" y="690563"/>
            <a:ext cx="6157912" cy="3465512"/>
          </a:xfrm>
          <a:ln/>
        </p:spPr>
      </p:sp>
      <p:sp>
        <p:nvSpPr>
          <p:cNvPr id="10245" name="Rectangle 3">
            <a:extLst>
              <a:ext uri="{FF2B5EF4-FFF2-40B4-BE49-F238E27FC236}">
                <a16:creationId xmlns:a16="http://schemas.microsoft.com/office/drawing/2014/main" id="{62B0D35A-EDCD-44E6-967B-43FC8CCE6916}"/>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50988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29D610F6-B701-4C93-930F-12DA92F90A8D}"/>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935A7AC8-B9DC-43E6-9BB8-2874F07446C7}"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8</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0243" name="Rectangle 7">
            <a:extLst>
              <a:ext uri="{FF2B5EF4-FFF2-40B4-BE49-F238E27FC236}">
                <a16:creationId xmlns:a16="http://schemas.microsoft.com/office/drawing/2014/main" id="{B87734C9-6F06-4939-B74B-1A1855243BB9}"/>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7743E1BB-5250-4AEA-AD8A-63C7E4430134}"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44" name="Rectangle 2">
            <a:extLst>
              <a:ext uri="{FF2B5EF4-FFF2-40B4-BE49-F238E27FC236}">
                <a16:creationId xmlns:a16="http://schemas.microsoft.com/office/drawing/2014/main" id="{1CC507AD-51E1-460B-A811-6DC8005FAB60}"/>
              </a:ext>
            </a:extLst>
          </p:cNvPr>
          <p:cNvSpPr>
            <a:spLocks noGrp="1" noRot="1" noChangeAspect="1" noChangeArrowheads="1" noTextEdit="1"/>
          </p:cNvSpPr>
          <p:nvPr>
            <p:ph type="sldImg"/>
          </p:nvPr>
        </p:nvSpPr>
        <p:spPr>
          <a:xfrm>
            <a:off x="427038" y="690563"/>
            <a:ext cx="6157912" cy="3465512"/>
          </a:xfrm>
          <a:ln/>
        </p:spPr>
      </p:sp>
      <p:sp>
        <p:nvSpPr>
          <p:cNvPr id="10245" name="Rectangle 3">
            <a:extLst>
              <a:ext uri="{FF2B5EF4-FFF2-40B4-BE49-F238E27FC236}">
                <a16:creationId xmlns:a16="http://schemas.microsoft.com/office/drawing/2014/main" id="{62B0D35A-EDCD-44E6-967B-43FC8CCE6916}"/>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471948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0C939C7B-F3C5-4D91-9327-85A35AF1E7EF}"/>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EAD1184E-26EF-4404-A964-24ECD5513C93}"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10</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2291" name="Rectangle 7">
            <a:extLst>
              <a:ext uri="{FF2B5EF4-FFF2-40B4-BE49-F238E27FC236}">
                <a16:creationId xmlns:a16="http://schemas.microsoft.com/office/drawing/2014/main" id="{79A8307F-B074-42B1-9A15-92A084259BBA}"/>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3A79C853-6EFD-4CE5-8938-E2F36192EC9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2292" name="Rectangle 2">
            <a:extLst>
              <a:ext uri="{FF2B5EF4-FFF2-40B4-BE49-F238E27FC236}">
                <a16:creationId xmlns:a16="http://schemas.microsoft.com/office/drawing/2014/main" id="{89025E9A-EF4D-4195-BB9D-5DD9E2A27FA4}"/>
              </a:ext>
            </a:extLst>
          </p:cNvPr>
          <p:cNvSpPr>
            <a:spLocks noGrp="1" noRot="1" noChangeAspect="1" noChangeArrowheads="1" noTextEdit="1"/>
          </p:cNvSpPr>
          <p:nvPr>
            <p:ph type="sldImg"/>
          </p:nvPr>
        </p:nvSpPr>
        <p:spPr>
          <a:xfrm>
            <a:off x="427038" y="690563"/>
            <a:ext cx="6157912" cy="3465512"/>
          </a:xfrm>
          <a:ln/>
        </p:spPr>
      </p:sp>
      <p:sp>
        <p:nvSpPr>
          <p:cNvPr id="12293" name="Rectangle 3">
            <a:extLst>
              <a:ext uri="{FF2B5EF4-FFF2-40B4-BE49-F238E27FC236}">
                <a16:creationId xmlns:a16="http://schemas.microsoft.com/office/drawing/2014/main" id="{955EDE15-95F2-49FE-AC37-ABE6518C858A}"/>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0C939C7B-F3C5-4D91-9327-85A35AF1E7EF}"/>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EAD1184E-26EF-4404-A964-24ECD5513C93}"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11</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2291" name="Rectangle 7">
            <a:extLst>
              <a:ext uri="{FF2B5EF4-FFF2-40B4-BE49-F238E27FC236}">
                <a16:creationId xmlns:a16="http://schemas.microsoft.com/office/drawing/2014/main" id="{79A8307F-B074-42B1-9A15-92A084259BBA}"/>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3A79C853-6EFD-4CE5-8938-E2F36192EC9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2292" name="Rectangle 2">
            <a:extLst>
              <a:ext uri="{FF2B5EF4-FFF2-40B4-BE49-F238E27FC236}">
                <a16:creationId xmlns:a16="http://schemas.microsoft.com/office/drawing/2014/main" id="{89025E9A-EF4D-4195-BB9D-5DD9E2A27FA4}"/>
              </a:ext>
            </a:extLst>
          </p:cNvPr>
          <p:cNvSpPr>
            <a:spLocks noGrp="1" noRot="1" noChangeAspect="1" noChangeArrowheads="1" noTextEdit="1"/>
          </p:cNvSpPr>
          <p:nvPr>
            <p:ph type="sldImg"/>
          </p:nvPr>
        </p:nvSpPr>
        <p:spPr>
          <a:xfrm>
            <a:off x="427038" y="690563"/>
            <a:ext cx="6157912" cy="3465512"/>
          </a:xfrm>
          <a:ln/>
        </p:spPr>
      </p:sp>
      <p:sp>
        <p:nvSpPr>
          <p:cNvPr id="12293" name="Rectangle 3">
            <a:extLst>
              <a:ext uri="{FF2B5EF4-FFF2-40B4-BE49-F238E27FC236}">
                <a16:creationId xmlns:a16="http://schemas.microsoft.com/office/drawing/2014/main" id="{955EDE15-95F2-49FE-AC37-ABE6518C858A}"/>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821386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66107C4F-9D5F-4B10-9E05-3278024A89FA}"/>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B466CD7C-BED7-4077-B10B-43F583A31D5A}"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13</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4339" name="Rectangle 7">
            <a:extLst>
              <a:ext uri="{FF2B5EF4-FFF2-40B4-BE49-F238E27FC236}">
                <a16:creationId xmlns:a16="http://schemas.microsoft.com/office/drawing/2014/main" id="{B5E2260A-452A-4C9A-AB00-6881C2EBDB68}"/>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134030BD-9612-40C7-9984-C3B5A2F89D99}"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40" name="Rectangle 2">
            <a:extLst>
              <a:ext uri="{FF2B5EF4-FFF2-40B4-BE49-F238E27FC236}">
                <a16:creationId xmlns:a16="http://schemas.microsoft.com/office/drawing/2014/main" id="{E2955F8A-088A-4E7B-9FA3-69C0877D705F}"/>
              </a:ext>
            </a:extLst>
          </p:cNvPr>
          <p:cNvSpPr>
            <a:spLocks noGrp="1" noRot="1" noChangeAspect="1" noChangeArrowheads="1" noTextEdit="1"/>
          </p:cNvSpPr>
          <p:nvPr>
            <p:ph type="sldImg"/>
          </p:nvPr>
        </p:nvSpPr>
        <p:spPr>
          <a:xfrm>
            <a:off x="427038" y="690563"/>
            <a:ext cx="6157912" cy="3465512"/>
          </a:xfrm>
          <a:ln/>
        </p:spPr>
      </p:sp>
      <p:sp>
        <p:nvSpPr>
          <p:cNvPr id="14341" name="Rectangle 3">
            <a:extLst>
              <a:ext uri="{FF2B5EF4-FFF2-40B4-BE49-F238E27FC236}">
                <a16:creationId xmlns:a16="http://schemas.microsoft.com/office/drawing/2014/main" id="{BD1EE5DB-BB2F-46C0-8436-9050496390C4}"/>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888408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1010BABE-9441-4A37-B8CE-D6F77B346B85}"/>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E0A776A-5F1B-49B5-A8E3-AF1D003C3136}" type="slidenum">
              <a:rPr lang="en-US" altLang="en-US" sz="1300"/>
              <a:pPr>
                <a:spcBef>
                  <a:spcPct val="0"/>
                </a:spcBef>
              </a:pPr>
              <a:t>14</a:t>
            </a:fld>
            <a:endParaRPr lang="en-US" altLang="en-US" sz="1300"/>
          </a:p>
        </p:txBody>
      </p:sp>
      <p:sp>
        <p:nvSpPr>
          <p:cNvPr id="31747" name="Rectangle 7">
            <a:extLst>
              <a:ext uri="{FF2B5EF4-FFF2-40B4-BE49-F238E27FC236}">
                <a16:creationId xmlns:a16="http://schemas.microsoft.com/office/drawing/2014/main" id="{BD33FA29-D389-4DE0-BB4E-16B4B4A4C69D}"/>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32052ED4-3BBF-488C-A791-D0A7E74F2EA4}" type="slidenum">
              <a:rPr lang="en-US" altLang="en-US">
                <a:latin typeface="Times New Roman" panose="02020603050405020304" pitchFamily="18" charset="0"/>
              </a:rPr>
              <a:pPr algn="r">
                <a:spcBef>
                  <a:spcPct val="0"/>
                </a:spcBef>
              </a:pPr>
              <a:t>14</a:t>
            </a:fld>
            <a:endParaRPr lang="en-US" altLang="en-US">
              <a:latin typeface="Times New Roman" panose="02020603050405020304" pitchFamily="18" charset="0"/>
            </a:endParaRPr>
          </a:p>
        </p:txBody>
      </p:sp>
      <p:sp>
        <p:nvSpPr>
          <p:cNvPr id="31748" name="Rectangle 2">
            <a:extLst>
              <a:ext uri="{FF2B5EF4-FFF2-40B4-BE49-F238E27FC236}">
                <a16:creationId xmlns:a16="http://schemas.microsoft.com/office/drawing/2014/main" id="{63F9C483-86A6-466C-9EE3-BD22197D2E34}"/>
              </a:ext>
            </a:extLst>
          </p:cNvPr>
          <p:cNvSpPr>
            <a:spLocks noGrp="1" noRot="1" noChangeAspect="1" noChangeArrowheads="1" noTextEdit="1"/>
          </p:cNvSpPr>
          <p:nvPr>
            <p:ph type="sldImg"/>
          </p:nvPr>
        </p:nvSpPr>
        <p:spPr>
          <a:xfrm>
            <a:off x="427038" y="690563"/>
            <a:ext cx="6157912" cy="3465512"/>
          </a:xfrm>
          <a:ln/>
        </p:spPr>
      </p:sp>
      <p:sp>
        <p:nvSpPr>
          <p:cNvPr id="31749" name="Rectangle 3">
            <a:extLst>
              <a:ext uri="{FF2B5EF4-FFF2-40B4-BE49-F238E27FC236}">
                <a16:creationId xmlns:a16="http://schemas.microsoft.com/office/drawing/2014/main" id="{393AE4CE-8AC1-4B26-8A0C-897ECD877E5E}"/>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4262127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D6A831DC-3891-4DFC-8DB7-6D103B13349E}"/>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F82FABE-B4A6-4ACA-BE38-35CCF99110D9}" type="slidenum">
              <a:rPr lang="en-US" altLang="en-US" sz="1300"/>
              <a:pPr>
                <a:spcBef>
                  <a:spcPct val="0"/>
                </a:spcBef>
              </a:pPr>
              <a:t>15</a:t>
            </a:fld>
            <a:endParaRPr lang="en-US" altLang="en-US" sz="1300"/>
          </a:p>
        </p:txBody>
      </p:sp>
      <p:sp>
        <p:nvSpPr>
          <p:cNvPr id="35843" name="Rectangle 7">
            <a:extLst>
              <a:ext uri="{FF2B5EF4-FFF2-40B4-BE49-F238E27FC236}">
                <a16:creationId xmlns:a16="http://schemas.microsoft.com/office/drawing/2014/main" id="{3ED8AD55-0FC6-4B8E-9268-B81A35582E4C}"/>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92347804-A7AE-4CAC-8D15-171BB07730D9}" type="slidenum">
              <a:rPr lang="en-US" altLang="en-US">
                <a:latin typeface="Times New Roman" panose="02020603050405020304" pitchFamily="18" charset="0"/>
              </a:rPr>
              <a:pPr algn="r">
                <a:spcBef>
                  <a:spcPct val="0"/>
                </a:spcBef>
              </a:pPr>
              <a:t>15</a:t>
            </a:fld>
            <a:endParaRPr lang="en-US" altLang="en-US">
              <a:latin typeface="Times New Roman" panose="02020603050405020304" pitchFamily="18" charset="0"/>
            </a:endParaRPr>
          </a:p>
        </p:txBody>
      </p:sp>
      <p:sp>
        <p:nvSpPr>
          <p:cNvPr id="35844" name="Rectangle 2">
            <a:extLst>
              <a:ext uri="{FF2B5EF4-FFF2-40B4-BE49-F238E27FC236}">
                <a16:creationId xmlns:a16="http://schemas.microsoft.com/office/drawing/2014/main" id="{AB2C6A30-3690-4029-A228-C90ECA240CE4}"/>
              </a:ext>
            </a:extLst>
          </p:cNvPr>
          <p:cNvSpPr>
            <a:spLocks noGrp="1" noRot="1" noChangeAspect="1" noChangeArrowheads="1" noTextEdit="1"/>
          </p:cNvSpPr>
          <p:nvPr>
            <p:ph type="sldImg"/>
          </p:nvPr>
        </p:nvSpPr>
        <p:spPr>
          <a:xfrm>
            <a:off x="427038" y="690563"/>
            <a:ext cx="6157912" cy="3465512"/>
          </a:xfrm>
          <a:ln/>
        </p:spPr>
      </p:sp>
      <p:sp>
        <p:nvSpPr>
          <p:cNvPr id="35845" name="Rectangle 3">
            <a:extLst>
              <a:ext uri="{FF2B5EF4-FFF2-40B4-BE49-F238E27FC236}">
                <a16:creationId xmlns:a16="http://schemas.microsoft.com/office/drawing/2014/main" id="{C314732C-C970-4D95-BBCC-FD9766AAC427}"/>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3245372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D8A87F8-C244-4420-BC6F-49FF61096DEF}"/>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2C58FB0-828C-40CF-9AAE-A62450C03625}" type="slidenum">
              <a:rPr lang="en-US" altLang="en-US" sz="1300"/>
              <a:pPr>
                <a:spcBef>
                  <a:spcPct val="0"/>
                </a:spcBef>
              </a:pPr>
              <a:t>16</a:t>
            </a:fld>
            <a:endParaRPr lang="en-US" altLang="en-US" sz="1300"/>
          </a:p>
        </p:txBody>
      </p:sp>
      <p:sp>
        <p:nvSpPr>
          <p:cNvPr id="39939" name="Rectangle 7">
            <a:extLst>
              <a:ext uri="{FF2B5EF4-FFF2-40B4-BE49-F238E27FC236}">
                <a16:creationId xmlns:a16="http://schemas.microsoft.com/office/drawing/2014/main" id="{FE549554-06FF-4151-9D20-7AB96908EE0E}"/>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BB3C4FE7-0039-46D0-9B0E-64D3A810D7BD}" type="slidenum">
              <a:rPr lang="en-US" altLang="en-US">
                <a:latin typeface="Times New Roman" panose="02020603050405020304" pitchFamily="18" charset="0"/>
              </a:rPr>
              <a:pPr algn="r">
                <a:spcBef>
                  <a:spcPct val="0"/>
                </a:spcBef>
              </a:pPr>
              <a:t>16</a:t>
            </a:fld>
            <a:endParaRPr lang="en-US" altLang="en-US">
              <a:latin typeface="Times New Roman" panose="02020603050405020304" pitchFamily="18" charset="0"/>
            </a:endParaRPr>
          </a:p>
        </p:txBody>
      </p:sp>
      <p:sp>
        <p:nvSpPr>
          <p:cNvPr id="39940" name="Rectangle 2">
            <a:extLst>
              <a:ext uri="{FF2B5EF4-FFF2-40B4-BE49-F238E27FC236}">
                <a16:creationId xmlns:a16="http://schemas.microsoft.com/office/drawing/2014/main" id="{B3F62E0F-58B5-456C-9869-9F2D17943D5F}"/>
              </a:ext>
            </a:extLst>
          </p:cNvPr>
          <p:cNvSpPr>
            <a:spLocks noGrp="1" noRot="1" noChangeAspect="1" noChangeArrowheads="1" noTextEdit="1"/>
          </p:cNvSpPr>
          <p:nvPr>
            <p:ph type="sldImg"/>
          </p:nvPr>
        </p:nvSpPr>
        <p:spPr>
          <a:xfrm>
            <a:off x="427038" y="690563"/>
            <a:ext cx="6157912" cy="3465512"/>
          </a:xfrm>
          <a:ln/>
        </p:spPr>
      </p:sp>
      <p:sp>
        <p:nvSpPr>
          <p:cNvPr id="39941" name="Rectangle 3">
            <a:extLst>
              <a:ext uri="{FF2B5EF4-FFF2-40B4-BE49-F238E27FC236}">
                <a16:creationId xmlns:a16="http://schemas.microsoft.com/office/drawing/2014/main" id="{E79CF5C1-95CB-4330-ABA2-B568B1A4391E}"/>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248637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C02ADCB-6DAA-4152-894E-54BB4E72DED7}"/>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39A19D2-EBFB-4813-B421-FB5CA1B68037}" type="slidenum">
              <a:rPr lang="en-US" altLang="en-US" sz="1300"/>
              <a:pPr>
                <a:spcBef>
                  <a:spcPct val="0"/>
                </a:spcBef>
              </a:pPr>
              <a:t>17</a:t>
            </a:fld>
            <a:endParaRPr lang="en-US" altLang="en-US" sz="1300"/>
          </a:p>
        </p:txBody>
      </p:sp>
      <p:sp>
        <p:nvSpPr>
          <p:cNvPr id="66563" name="Rectangle 7">
            <a:extLst>
              <a:ext uri="{FF2B5EF4-FFF2-40B4-BE49-F238E27FC236}">
                <a16:creationId xmlns:a16="http://schemas.microsoft.com/office/drawing/2014/main" id="{AC894848-995B-424D-980F-DCBDDB5F684E}"/>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5F2E798B-0690-40DA-B14E-7968D1411D0A}" type="slidenum">
              <a:rPr lang="en-US" altLang="en-US">
                <a:latin typeface="Times New Roman" panose="02020603050405020304" pitchFamily="18" charset="0"/>
              </a:rPr>
              <a:pPr algn="r">
                <a:spcBef>
                  <a:spcPct val="0"/>
                </a:spcBef>
              </a:pPr>
              <a:t>17</a:t>
            </a:fld>
            <a:endParaRPr lang="en-US" altLang="en-US">
              <a:latin typeface="Times New Roman" panose="02020603050405020304" pitchFamily="18" charset="0"/>
            </a:endParaRPr>
          </a:p>
        </p:txBody>
      </p:sp>
      <p:sp>
        <p:nvSpPr>
          <p:cNvPr id="66564" name="Rectangle 2">
            <a:extLst>
              <a:ext uri="{FF2B5EF4-FFF2-40B4-BE49-F238E27FC236}">
                <a16:creationId xmlns:a16="http://schemas.microsoft.com/office/drawing/2014/main" id="{8F4D4179-2FC5-4165-B90D-3A44AEB40181}"/>
              </a:ext>
            </a:extLst>
          </p:cNvPr>
          <p:cNvSpPr>
            <a:spLocks noGrp="1" noRot="1" noChangeAspect="1" noChangeArrowheads="1" noTextEdit="1"/>
          </p:cNvSpPr>
          <p:nvPr>
            <p:ph type="sldImg"/>
          </p:nvPr>
        </p:nvSpPr>
        <p:spPr>
          <a:xfrm>
            <a:off x="427038" y="690563"/>
            <a:ext cx="6157912" cy="3465512"/>
          </a:xfrm>
          <a:ln/>
        </p:spPr>
      </p:sp>
      <p:sp>
        <p:nvSpPr>
          <p:cNvPr id="66565" name="Rectangle 3">
            <a:extLst>
              <a:ext uri="{FF2B5EF4-FFF2-40B4-BE49-F238E27FC236}">
                <a16:creationId xmlns:a16="http://schemas.microsoft.com/office/drawing/2014/main" id="{3932A2D1-9C91-4C3C-A1F5-C9B305D7F257}"/>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316095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9B860FA4-4514-4E09-A7AD-A11C3F5D9778}"/>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DF75D9D-0BE3-4D69-9F97-D633526FDE74}" type="slidenum">
              <a:rPr lang="en-US" altLang="en-US" sz="1300"/>
              <a:pPr>
                <a:spcBef>
                  <a:spcPct val="0"/>
                </a:spcBef>
              </a:pPr>
              <a:t>18</a:t>
            </a:fld>
            <a:endParaRPr lang="en-US" altLang="en-US" sz="1300"/>
          </a:p>
        </p:txBody>
      </p:sp>
      <p:sp>
        <p:nvSpPr>
          <p:cNvPr id="74755" name="Rectangle 7">
            <a:extLst>
              <a:ext uri="{FF2B5EF4-FFF2-40B4-BE49-F238E27FC236}">
                <a16:creationId xmlns:a16="http://schemas.microsoft.com/office/drawing/2014/main" id="{D5E6D7A8-F429-434F-9651-E1E009E0BE73}"/>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A86E2D95-15D8-4EB9-A19B-9644C76C8266}" type="slidenum">
              <a:rPr lang="en-US" altLang="en-US">
                <a:latin typeface="Times New Roman" panose="02020603050405020304" pitchFamily="18" charset="0"/>
              </a:rPr>
              <a:pPr algn="r">
                <a:spcBef>
                  <a:spcPct val="0"/>
                </a:spcBef>
              </a:pPr>
              <a:t>18</a:t>
            </a:fld>
            <a:endParaRPr lang="en-US" altLang="en-US">
              <a:latin typeface="Times New Roman" panose="02020603050405020304" pitchFamily="18" charset="0"/>
            </a:endParaRPr>
          </a:p>
        </p:txBody>
      </p:sp>
      <p:sp>
        <p:nvSpPr>
          <p:cNvPr id="74756" name="Rectangle 2">
            <a:extLst>
              <a:ext uri="{FF2B5EF4-FFF2-40B4-BE49-F238E27FC236}">
                <a16:creationId xmlns:a16="http://schemas.microsoft.com/office/drawing/2014/main" id="{F94ED431-E2D3-4F0D-9EB1-6FC7E4FF8AB8}"/>
              </a:ext>
            </a:extLst>
          </p:cNvPr>
          <p:cNvSpPr>
            <a:spLocks noGrp="1" noRot="1" noChangeAspect="1" noChangeArrowheads="1" noTextEdit="1"/>
          </p:cNvSpPr>
          <p:nvPr>
            <p:ph type="sldImg"/>
          </p:nvPr>
        </p:nvSpPr>
        <p:spPr>
          <a:xfrm>
            <a:off x="427038" y="690563"/>
            <a:ext cx="6157912" cy="3465512"/>
          </a:xfrm>
          <a:ln/>
        </p:spPr>
      </p:sp>
      <p:sp>
        <p:nvSpPr>
          <p:cNvPr id="74757" name="Rectangle 3">
            <a:extLst>
              <a:ext uri="{FF2B5EF4-FFF2-40B4-BE49-F238E27FC236}">
                <a16:creationId xmlns:a16="http://schemas.microsoft.com/office/drawing/2014/main" id="{05F02BA9-4E21-41B3-A351-1A81CA5A9106}"/>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333767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C1947899-F458-4127-9A6D-C6C1189CCFB9}"/>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A5587AC-921C-4BC4-9631-A1D228292BEF}" type="slidenum">
              <a:rPr lang="en-US" altLang="en-US" sz="1300"/>
              <a:pPr>
                <a:spcBef>
                  <a:spcPct val="0"/>
                </a:spcBef>
              </a:pPr>
              <a:t>19</a:t>
            </a:fld>
            <a:endParaRPr lang="en-US" altLang="en-US" sz="1300"/>
          </a:p>
        </p:txBody>
      </p:sp>
      <p:sp>
        <p:nvSpPr>
          <p:cNvPr id="76803" name="Rectangle 7">
            <a:extLst>
              <a:ext uri="{FF2B5EF4-FFF2-40B4-BE49-F238E27FC236}">
                <a16:creationId xmlns:a16="http://schemas.microsoft.com/office/drawing/2014/main" id="{36236AC2-9EC1-4855-87AD-75D81141BD1B}"/>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41AB715C-2A7B-4B11-9A20-FDC88A41792C}" type="slidenum">
              <a:rPr lang="en-US" altLang="en-US">
                <a:latin typeface="Times New Roman" panose="02020603050405020304" pitchFamily="18" charset="0"/>
              </a:rPr>
              <a:pPr algn="r">
                <a:spcBef>
                  <a:spcPct val="0"/>
                </a:spcBef>
              </a:pPr>
              <a:t>19</a:t>
            </a:fld>
            <a:endParaRPr lang="en-US" altLang="en-US">
              <a:latin typeface="Times New Roman" panose="02020603050405020304" pitchFamily="18" charset="0"/>
            </a:endParaRPr>
          </a:p>
        </p:txBody>
      </p:sp>
      <p:sp>
        <p:nvSpPr>
          <p:cNvPr id="76804" name="Rectangle 2">
            <a:extLst>
              <a:ext uri="{FF2B5EF4-FFF2-40B4-BE49-F238E27FC236}">
                <a16:creationId xmlns:a16="http://schemas.microsoft.com/office/drawing/2014/main" id="{3F91A1F6-30AE-4D76-B7E3-EE166223FC23}"/>
              </a:ext>
            </a:extLst>
          </p:cNvPr>
          <p:cNvSpPr>
            <a:spLocks noGrp="1" noRot="1" noChangeAspect="1" noChangeArrowheads="1" noTextEdit="1"/>
          </p:cNvSpPr>
          <p:nvPr>
            <p:ph type="sldImg"/>
          </p:nvPr>
        </p:nvSpPr>
        <p:spPr>
          <a:xfrm>
            <a:off x="427038" y="690563"/>
            <a:ext cx="6157912" cy="3465512"/>
          </a:xfrm>
          <a:ln/>
        </p:spPr>
      </p:sp>
      <p:sp>
        <p:nvSpPr>
          <p:cNvPr id="76805" name="Rectangle 3">
            <a:extLst>
              <a:ext uri="{FF2B5EF4-FFF2-40B4-BE49-F238E27FC236}">
                <a16:creationId xmlns:a16="http://schemas.microsoft.com/office/drawing/2014/main" id="{81748497-974F-4B12-9FA9-EDA5C145DB0B}"/>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3308848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48F58F01-90FA-492B-8BE7-75CEE0FF18B9}"/>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3D9B8663-F458-40CE-A7AF-070EA067650B}" type="slidenum">
              <a:rPr lang="en-US" altLang="en-US" sz="1300"/>
              <a:pPr algn="r" eaLnBrk="1" hangingPunct="1">
                <a:spcBef>
                  <a:spcPct val="0"/>
                </a:spcBef>
              </a:pPr>
              <a:t>20</a:t>
            </a:fld>
            <a:endParaRPr lang="en-US" altLang="en-US" sz="1300"/>
          </a:p>
        </p:txBody>
      </p:sp>
      <p:sp>
        <p:nvSpPr>
          <p:cNvPr id="78851" name="Rectangle 7">
            <a:extLst>
              <a:ext uri="{FF2B5EF4-FFF2-40B4-BE49-F238E27FC236}">
                <a16:creationId xmlns:a16="http://schemas.microsoft.com/office/drawing/2014/main" id="{DC45A167-6B14-4DA3-98C0-92B952ECFE0D}"/>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9EA5BAC9-64D2-42C6-982D-A16264E255A0}" type="slidenum">
              <a:rPr lang="en-US" altLang="en-US">
                <a:latin typeface="Times New Roman" panose="02020603050405020304" pitchFamily="18" charset="0"/>
              </a:rPr>
              <a:pPr algn="r">
                <a:spcBef>
                  <a:spcPct val="0"/>
                </a:spcBef>
              </a:pPr>
              <a:t>20</a:t>
            </a:fld>
            <a:endParaRPr lang="en-US" altLang="en-US">
              <a:latin typeface="Times New Roman" panose="02020603050405020304" pitchFamily="18" charset="0"/>
            </a:endParaRPr>
          </a:p>
        </p:txBody>
      </p:sp>
      <p:sp>
        <p:nvSpPr>
          <p:cNvPr id="78852" name="Rectangle 2">
            <a:extLst>
              <a:ext uri="{FF2B5EF4-FFF2-40B4-BE49-F238E27FC236}">
                <a16:creationId xmlns:a16="http://schemas.microsoft.com/office/drawing/2014/main" id="{7B0F9B87-26DD-4EEF-89F6-0B2DADAF050A}"/>
              </a:ext>
            </a:extLst>
          </p:cNvPr>
          <p:cNvSpPr>
            <a:spLocks noGrp="1" noRot="1" noChangeAspect="1" noChangeArrowheads="1" noTextEdit="1"/>
          </p:cNvSpPr>
          <p:nvPr>
            <p:ph type="sldImg"/>
          </p:nvPr>
        </p:nvSpPr>
        <p:spPr>
          <a:xfrm>
            <a:off x="427038" y="690563"/>
            <a:ext cx="6157912" cy="3465512"/>
          </a:xfrm>
          <a:ln/>
        </p:spPr>
      </p:sp>
      <p:sp>
        <p:nvSpPr>
          <p:cNvPr id="78853" name="Rectangle 3">
            <a:extLst>
              <a:ext uri="{FF2B5EF4-FFF2-40B4-BE49-F238E27FC236}">
                <a16:creationId xmlns:a16="http://schemas.microsoft.com/office/drawing/2014/main" id="{1B497864-77A0-4374-8DD5-7C89A877EBAB}"/>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3450904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66107C4F-9D5F-4B10-9E05-3278024A89FA}"/>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B466CD7C-BED7-4077-B10B-43F583A31D5A}"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21</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4339" name="Rectangle 7">
            <a:extLst>
              <a:ext uri="{FF2B5EF4-FFF2-40B4-BE49-F238E27FC236}">
                <a16:creationId xmlns:a16="http://schemas.microsoft.com/office/drawing/2014/main" id="{B5E2260A-452A-4C9A-AB00-6881C2EBDB68}"/>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134030BD-9612-40C7-9984-C3B5A2F89D99}"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40" name="Rectangle 2">
            <a:extLst>
              <a:ext uri="{FF2B5EF4-FFF2-40B4-BE49-F238E27FC236}">
                <a16:creationId xmlns:a16="http://schemas.microsoft.com/office/drawing/2014/main" id="{E2955F8A-088A-4E7B-9FA3-69C0877D705F}"/>
              </a:ext>
            </a:extLst>
          </p:cNvPr>
          <p:cNvSpPr>
            <a:spLocks noGrp="1" noRot="1" noChangeAspect="1" noChangeArrowheads="1" noTextEdit="1"/>
          </p:cNvSpPr>
          <p:nvPr>
            <p:ph type="sldImg"/>
          </p:nvPr>
        </p:nvSpPr>
        <p:spPr>
          <a:xfrm>
            <a:off x="427038" y="690563"/>
            <a:ext cx="6157912" cy="3465512"/>
          </a:xfrm>
          <a:ln/>
        </p:spPr>
      </p:sp>
      <p:sp>
        <p:nvSpPr>
          <p:cNvPr id="14341" name="Rectangle 3">
            <a:extLst>
              <a:ext uri="{FF2B5EF4-FFF2-40B4-BE49-F238E27FC236}">
                <a16:creationId xmlns:a16="http://schemas.microsoft.com/office/drawing/2014/main" id="{BD1EE5DB-BB2F-46C0-8436-9050496390C4}"/>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54431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66107C4F-9D5F-4B10-9E05-3278024A89FA}"/>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B466CD7C-BED7-4077-B10B-43F583A31D5A}"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22</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4339" name="Rectangle 7">
            <a:extLst>
              <a:ext uri="{FF2B5EF4-FFF2-40B4-BE49-F238E27FC236}">
                <a16:creationId xmlns:a16="http://schemas.microsoft.com/office/drawing/2014/main" id="{B5E2260A-452A-4C9A-AB00-6881C2EBDB68}"/>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134030BD-9612-40C7-9984-C3B5A2F89D99}"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40" name="Rectangle 2">
            <a:extLst>
              <a:ext uri="{FF2B5EF4-FFF2-40B4-BE49-F238E27FC236}">
                <a16:creationId xmlns:a16="http://schemas.microsoft.com/office/drawing/2014/main" id="{E2955F8A-088A-4E7B-9FA3-69C0877D705F}"/>
              </a:ext>
            </a:extLst>
          </p:cNvPr>
          <p:cNvSpPr>
            <a:spLocks noGrp="1" noRot="1" noChangeAspect="1" noChangeArrowheads="1" noTextEdit="1"/>
          </p:cNvSpPr>
          <p:nvPr>
            <p:ph type="sldImg"/>
          </p:nvPr>
        </p:nvSpPr>
        <p:spPr>
          <a:xfrm>
            <a:off x="427038" y="690563"/>
            <a:ext cx="6157912" cy="3465512"/>
          </a:xfrm>
          <a:ln/>
        </p:spPr>
      </p:sp>
      <p:sp>
        <p:nvSpPr>
          <p:cNvPr id="14341" name="Rectangle 3">
            <a:extLst>
              <a:ext uri="{FF2B5EF4-FFF2-40B4-BE49-F238E27FC236}">
                <a16:creationId xmlns:a16="http://schemas.microsoft.com/office/drawing/2014/main" id="{BD1EE5DB-BB2F-46C0-8436-9050496390C4}"/>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14370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66107C4F-9D5F-4B10-9E05-3278024A89FA}"/>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B466CD7C-BED7-4077-B10B-43F583A31D5A}"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23</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4339" name="Rectangle 7">
            <a:extLst>
              <a:ext uri="{FF2B5EF4-FFF2-40B4-BE49-F238E27FC236}">
                <a16:creationId xmlns:a16="http://schemas.microsoft.com/office/drawing/2014/main" id="{B5E2260A-452A-4C9A-AB00-6881C2EBDB68}"/>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134030BD-9612-40C7-9984-C3B5A2F89D99}"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40" name="Rectangle 2">
            <a:extLst>
              <a:ext uri="{FF2B5EF4-FFF2-40B4-BE49-F238E27FC236}">
                <a16:creationId xmlns:a16="http://schemas.microsoft.com/office/drawing/2014/main" id="{E2955F8A-088A-4E7B-9FA3-69C0877D705F}"/>
              </a:ext>
            </a:extLst>
          </p:cNvPr>
          <p:cNvSpPr>
            <a:spLocks noGrp="1" noRot="1" noChangeAspect="1" noChangeArrowheads="1" noTextEdit="1"/>
          </p:cNvSpPr>
          <p:nvPr>
            <p:ph type="sldImg"/>
          </p:nvPr>
        </p:nvSpPr>
        <p:spPr>
          <a:xfrm>
            <a:off x="427038" y="690563"/>
            <a:ext cx="6157912" cy="3465512"/>
          </a:xfrm>
          <a:ln/>
        </p:spPr>
      </p:sp>
      <p:sp>
        <p:nvSpPr>
          <p:cNvPr id="14341" name="Rectangle 3">
            <a:extLst>
              <a:ext uri="{FF2B5EF4-FFF2-40B4-BE49-F238E27FC236}">
                <a16:creationId xmlns:a16="http://schemas.microsoft.com/office/drawing/2014/main" id="{BD1EE5DB-BB2F-46C0-8436-9050496390C4}"/>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946341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7262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1448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C683FE8-2088-4CEF-8D46-A4478295B39D}"/>
              </a:ext>
            </a:extLst>
          </p:cNvPr>
          <p:cNvSpPr txBox="1">
            <a:spLocks noGrp="1" noChangeArrowheads="1"/>
          </p:cNvSpPr>
          <p:nvPr/>
        </p:nvSpPr>
        <p:spPr bwMode="auto">
          <a:xfrm>
            <a:off x="3970338" y="8772525"/>
            <a:ext cx="303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6" tIns="46409" rIns="92816" bIns="46409"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4ED103D0-EAED-44F0-B225-2F318B6B8ABF}"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35</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4579" name="Rectangle 7">
            <a:extLst>
              <a:ext uri="{FF2B5EF4-FFF2-40B4-BE49-F238E27FC236}">
                <a16:creationId xmlns:a16="http://schemas.microsoft.com/office/drawing/2014/main" id="{F1B71977-DD54-4880-97BB-E400E3C17860}"/>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CF5BAD97-5402-406F-92E3-98044499BAAA}"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65200" rtl="0" eaLnBrk="0" fontAlgn="base" latinLnBrk="0" hangingPunct="0">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4580" name="Rectangle 2">
            <a:extLst>
              <a:ext uri="{FF2B5EF4-FFF2-40B4-BE49-F238E27FC236}">
                <a16:creationId xmlns:a16="http://schemas.microsoft.com/office/drawing/2014/main" id="{D4D6EF3F-85DB-4C3E-83E3-1F913B7DC509}"/>
              </a:ext>
            </a:extLst>
          </p:cNvPr>
          <p:cNvSpPr>
            <a:spLocks noGrp="1" noRot="1" noChangeAspect="1" noChangeArrowheads="1" noTextEdit="1"/>
          </p:cNvSpPr>
          <p:nvPr>
            <p:ph type="sldImg"/>
          </p:nvPr>
        </p:nvSpPr>
        <p:spPr>
          <a:xfrm>
            <a:off x="427038" y="690563"/>
            <a:ext cx="6157912" cy="3465512"/>
          </a:xfrm>
          <a:ln/>
        </p:spPr>
      </p:sp>
      <p:sp>
        <p:nvSpPr>
          <p:cNvPr id="24581" name="Rectangle 3">
            <a:extLst>
              <a:ext uri="{FF2B5EF4-FFF2-40B4-BE49-F238E27FC236}">
                <a16:creationId xmlns:a16="http://schemas.microsoft.com/office/drawing/2014/main" id="{028CF2EB-8C6B-41F9-9C3F-E0E5475BD8FD}"/>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5463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1765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6816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122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DA0E-FD8F-4772-9C31-C831B57B83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9D0431-9D06-4F5B-A52D-855727987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608B7F-F51B-4A65-BE76-D9EB74B45C6D}"/>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5" name="Footer Placeholder 4">
            <a:extLst>
              <a:ext uri="{FF2B5EF4-FFF2-40B4-BE49-F238E27FC236}">
                <a16:creationId xmlns:a16="http://schemas.microsoft.com/office/drawing/2014/main" id="{D082CFB7-D17F-4180-A63C-9FA29BCF70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B2676-453E-49B6-ACF0-B9444766251B}"/>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287205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264EE-79C0-470B-8A42-E9284C8044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5624D7-6A8D-412C-83E7-BD113A6273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0C0694-5B49-49E5-982E-85F02297481C}"/>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5" name="Footer Placeholder 4">
            <a:extLst>
              <a:ext uri="{FF2B5EF4-FFF2-40B4-BE49-F238E27FC236}">
                <a16:creationId xmlns:a16="http://schemas.microsoft.com/office/drawing/2014/main" id="{AF96928A-0D99-4908-8F96-1A3B45F2F0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9D9B9-27EE-465A-A3EA-152C7957C8D8}"/>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1531243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C6E6-A389-4458-B0AF-2E0DB278FE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F85398-D23F-4F50-AD6E-57D2D2B8CE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10F47B-E7C5-4CC0-AC64-CA186A588935}"/>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5" name="Footer Placeholder 4">
            <a:extLst>
              <a:ext uri="{FF2B5EF4-FFF2-40B4-BE49-F238E27FC236}">
                <a16:creationId xmlns:a16="http://schemas.microsoft.com/office/drawing/2014/main" id="{9A35B577-3511-494C-B845-F96A25477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6DC0BD-235A-47C2-A0CA-45228F5BE63D}"/>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3332146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1310C-97D2-4EA6-A762-B183D8F612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74CAFD-398B-40B3-AD88-1FB7A0A7C0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F1FB69-4621-4745-9B82-B0E42206AA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08F741-9EE4-4729-99B7-66AD2335A78D}"/>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6" name="Footer Placeholder 5">
            <a:extLst>
              <a:ext uri="{FF2B5EF4-FFF2-40B4-BE49-F238E27FC236}">
                <a16:creationId xmlns:a16="http://schemas.microsoft.com/office/drawing/2014/main" id="{593FC7FF-09DB-4E90-A1E0-9A3631D994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62D831-716B-49A3-86D6-54A084220925}"/>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257593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928EF-08F3-4238-AFC4-BD6193B4E4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A5F2D9-8F21-4977-96FE-727328B586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F3777E-F6BB-4BBB-833F-F586B96ACF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1849B1-6CA7-4D7C-994A-AB4AF049EB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BB9A30-6FAC-4060-9828-32D78F2B24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6FEF31-B5FA-4759-8F0D-683F42F59CA2}"/>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8" name="Footer Placeholder 7">
            <a:extLst>
              <a:ext uri="{FF2B5EF4-FFF2-40B4-BE49-F238E27FC236}">
                <a16:creationId xmlns:a16="http://schemas.microsoft.com/office/drawing/2014/main" id="{39FEB383-4022-4C69-B026-29A198E849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B14AFC-171F-4EAE-A9B4-9E190365C5FD}"/>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151186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86DEF-6AB1-4037-B346-AE33D8CAE6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A604C4-A785-4D4A-849F-6C77FAFC6C8A}"/>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4" name="Footer Placeholder 3">
            <a:extLst>
              <a:ext uri="{FF2B5EF4-FFF2-40B4-BE49-F238E27FC236}">
                <a16:creationId xmlns:a16="http://schemas.microsoft.com/office/drawing/2014/main" id="{6C416D3B-FAD8-44E1-95E5-C118EB0570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643C95-3864-426E-A43C-5DE750921BFB}"/>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193445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0F3C1D-DA5B-4233-8751-9B50E98A541B}"/>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3" name="Footer Placeholder 2">
            <a:extLst>
              <a:ext uri="{FF2B5EF4-FFF2-40B4-BE49-F238E27FC236}">
                <a16:creationId xmlns:a16="http://schemas.microsoft.com/office/drawing/2014/main" id="{1F489B9B-8585-494C-9F1F-E68B1C7CFB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BADE10-1EA5-4613-95C7-7D747C17497E}"/>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1086438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DD107-DFAE-4223-91CF-9647FA26B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EB30B1-517B-4731-9569-1C6680B2B2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500A86-25B1-4C8D-A925-B5A20BE6E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34559-47CD-4A8B-BA2C-84F8CEF0FFE8}"/>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6" name="Footer Placeholder 5">
            <a:extLst>
              <a:ext uri="{FF2B5EF4-FFF2-40B4-BE49-F238E27FC236}">
                <a16:creationId xmlns:a16="http://schemas.microsoft.com/office/drawing/2014/main" id="{9DD64C5A-9440-4F6C-9E79-3D39C34055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BFDB7C-EF4B-4CD5-8DB5-84659839E4AF}"/>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1380256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D9CB-544A-42AD-8373-E60A84502C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470E78-976E-43B1-8A98-A704F537EE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8D0063-B600-4E5D-8516-E5871E55B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08C7E3-0103-4F32-9537-CCD45B706F8E}"/>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6" name="Footer Placeholder 5">
            <a:extLst>
              <a:ext uri="{FF2B5EF4-FFF2-40B4-BE49-F238E27FC236}">
                <a16:creationId xmlns:a16="http://schemas.microsoft.com/office/drawing/2014/main" id="{3180AA9E-F436-4B04-B70E-D49074EE08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388F52-019C-431F-9513-2B6AA4ED7FB8}"/>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47881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68EA-7852-4C1A-81AD-377EEFD02A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430C86-AB1C-40D6-84C2-2E488E69DF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BFE06-595B-4380-B98E-B20AA3028C7F}"/>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5" name="Footer Placeholder 4">
            <a:extLst>
              <a:ext uri="{FF2B5EF4-FFF2-40B4-BE49-F238E27FC236}">
                <a16:creationId xmlns:a16="http://schemas.microsoft.com/office/drawing/2014/main" id="{C27095A1-5F71-42EB-9068-A968D479F1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865EB-4F5B-48B8-9C50-66E211452B76}"/>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4128550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CE34AE-F3C9-4327-B87F-17050D1601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9DA4B9-DB12-4BB8-868C-7F4FDFFEB3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42E35C-2269-4E0F-9990-3D6750E1929B}"/>
              </a:ext>
            </a:extLst>
          </p:cNvPr>
          <p:cNvSpPr>
            <a:spLocks noGrp="1"/>
          </p:cNvSpPr>
          <p:nvPr>
            <p:ph type="dt" sz="half" idx="10"/>
          </p:nvPr>
        </p:nvSpPr>
        <p:spPr/>
        <p:txBody>
          <a:bodyPr/>
          <a:lstStyle/>
          <a:p>
            <a:fld id="{F77541CA-C708-427D-A88B-0764A5BCA0A5}" type="datetimeFigureOut">
              <a:rPr lang="en-US" smtClean="0"/>
              <a:t>8/22/2022</a:t>
            </a:fld>
            <a:endParaRPr lang="en-US"/>
          </a:p>
        </p:txBody>
      </p:sp>
      <p:sp>
        <p:nvSpPr>
          <p:cNvPr id="5" name="Footer Placeholder 4">
            <a:extLst>
              <a:ext uri="{FF2B5EF4-FFF2-40B4-BE49-F238E27FC236}">
                <a16:creationId xmlns:a16="http://schemas.microsoft.com/office/drawing/2014/main" id="{1AF4A507-CC73-437C-B794-82C38CB00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7D1629-275A-4636-94CA-B8A1478B85A5}"/>
              </a:ext>
            </a:extLst>
          </p:cNvPr>
          <p:cNvSpPr>
            <a:spLocks noGrp="1"/>
          </p:cNvSpPr>
          <p:nvPr>
            <p:ph type="sldNum" sz="quarter" idx="12"/>
          </p:nvPr>
        </p:nvSpPr>
        <p:spPr/>
        <p:txBody>
          <a:bodyPr/>
          <a:lstStyle/>
          <a:p>
            <a:fld id="{B8CBD8D1-C453-4345-8BEE-8D3796326206}" type="slidenum">
              <a:rPr lang="en-US" smtClean="0"/>
              <a:t>‹#›</a:t>
            </a:fld>
            <a:endParaRPr lang="en-US"/>
          </a:p>
        </p:txBody>
      </p:sp>
    </p:spTree>
    <p:extLst>
      <p:ext uri="{BB962C8B-B14F-4D97-AF65-F5344CB8AC3E}">
        <p14:creationId xmlns:p14="http://schemas.microsoft.com/office/powerpoint/2010/main" val="1956691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024E96-F9A7-4B09-87BC-66248EAD0F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41A2AB-A7B2-4A5E-8198-91F3718C57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4CAEAC-A33D-4CE4-8C69-6F8A9CA58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541CA-C708-427D-A88B-0764A5BCA0A5}" type="datetimeFigureOut">
              <a:rPr lang="en-US" smtClean="0"/>
              <a:t>8/22/2022</a:t>
            </a:fld>
            <a:endParaRPr lang="en-US"/>
          </a:p>
        </p:txBody>
      </p:sp>
      <p:sp>
        <p:nvSpPr>
          <p:cNvPr id="5" name="Footer Placeholder 4">
            <a:extLst>
              <a:ext uri="{FF2B5EF4-FFF2-40B4-BE49-F238E27FC236}">
                <a16:creationId xmlns:a16="http://schemas.microsoft.com/office/drawing/2014/main" id="{DA838246-1732-431C-BD64-E16E98174B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466623-8898-4634-B25A-8F84FECA35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CBD8D1-C453-4345-8BEE-8D3796326206}" type="slidenum">
              <a:rPr lang="en-US" smtClean="0"/>
              <a:t>‹#›</a:t>
            </a:fld>
            <a:endParaRPr lang="en-US"/>
          </a:p>
        </p:txBody>
      </p:sp>
    </p:spTree>
    <p:extLst>
      <p:ext uri="{BB962C8B-B14F-4D97-AF65-F5344CB8AC3E}">
        <p14:creationId xmlns:p14="http://schemas.microsoft.com/office/powerpoint/2010/main" val="402862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40.png"/><Relationship Id="rId4" Type="http://schemas.openxmlformats.org/officeDocument/2006/relationships/image" Target="../media/image130.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matbarofex.primary.ventures/futuros/financieros"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www.binance.com/es/futures/BTCUSDT" TargetMode="External"/><Relationship Id="rId5" Type="http://schemas.openxmlformats.org/officeDocument/2006/relationships/hyperlink" Target="https://www.barchart.com/futures/heat-map" TargetMode="External"/><Relationship Id="rId4" Type="http://schemas.openxmlformats.org/officeDocument/2006/relationships/hyperlink" Target="https://www.byma.com.ar/futuro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www.byma.com.ar/opciones/"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hyperlink" Target="https://rofex.primary.ventures/rofex/opciones" TargetMode="External"/><Relationship Id="rId4" Type="http://schemas.openxmlformats.org/officeDocument/2006/relationships/hyperlink" Target="https://finance.yahoo.com/quote/AAPL/"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6">
            <a:extLst>
              <a:ext uri="{FF2B5EF4-FFF2-40B4-BE49-F238E27FC236}">
                <a16:creationId xmlns:a16="http://schemas.microsoft.com/office/drawing/2014/main" id="{3EAAC866-38B5-4BE7-A95A-608229DB97E5}"/>
              </a:ext>
            </a:extLst>
          </p:cNvPr>
          <p:cNvSpPr>
            <a:spLocks noGrp="1" noChangeArrowheads="1"/>
          </p:cNvSpPr>
          <p:nvPr>
            <p:ph type="subTitle" idx="4294967295"/>
          </p:nvPr>
        </p:nvSpPr>
        <p:spPr>
          <a:xfrm>
            <a:off x="2643188" y="3429000"/>
            <a:ext cx="6981825" cy="2057400"/>
          </a:xfrm>
        </p:spPr>
        <p:txBody>
          <a:bodyPr>
            <a:normAutofit/>
          </a:bodyPr>
          <a:lstStyle/>
          <a:p>
            <a:pPr algn="ctr" eaLnBrk="1" hangingPunct="1">
              <a:lnSpc>
                <a:spcPct val="90000"/>
              </a:lnSpc>
              <a:buFontTx/>
              <a:buNone/>
            </a:pPr>
            <a:r>
              <a:rPr lang="en-US" altLang="en-US" sz="2400" dirty="0">
                <a:solidFill>
                  <a:srgbClr val="000000"/>
                </a:solidFill>
              </a:rPr>
              <a:t>Manu Maurette</a:t>
            </a:r>
          </a:p>
          <a:p>
            <a:pPr algn="ctr" eaLnBrk="1" hangingPunct="1">
              <a:lnSpc>
                <a:spcPct val="90000"/>
              </a:lnSpc>
              <a:buFontTx/>
              <a:buNone/>
            </a:pPr>
            <a:endParaRPr lang="es-AR" altLang="en-US" sz="2400" dirty="0">
              <a:solidFill>
                <a:srgbClr val="000000"/>
              </a:solidFill>
            </a:endParaRPr>
          </a:p>
          <a:p>
            <a:pPr algn="ctr" eaLnBrk="1" hangingPunct="1">
              <a:lnSpc>
                <a:spcPct val="90000"/>
              </a:lnSpc>
              <a:buFontTx/>
              <a:buNone/>
            </a:pPr>
            <a:r>
              <a:rPr lang="es-AR" altLang="en-US" sz="2400" dirty="0">
                <a:solidFill>
                  <a:srgbClr val="000000"/>
                </a:solidFill>
              </a:rPr>
              <a:t>Clase 1: Introducciones varias, opciones</a:t>
            </a:r>
            <a:endParaRPr lang="en-US" altLang="en-US" sz="2400" dirty="0">
              <a:solidFill>
                <a:srgbClr val="000000"/>
              </a:solidFill>
            </a:endParaRPr>
          </a:p>
        </p:txBody>
      </p:sp>
      <p:sp>
        <p:nvSpPr>
          <p:cNvPr id="2054" name="Rectangle 9">
            <a:extLst>
              <a:ext uri="{FF2B5EF4-FFF2-40B4-BE49-F238E27FC236}">
                <a16:creationId xmlns:a16="http://schemas.microsoft.com/office/drawing/2014/main" id="{C97DC3A1-35E5-4E0C-8B9A-3A0E18614310}"/>
              </a:ext>
            </a:extLst>
          </p:cNvPr>
          <p:cNvSpPr>
            <a:spLocks noChangeArrowheads="1"/>
          </p:cNvSpPr>
          <p:nvPr/>
        </p:nvSpPr>
        <p:spPr bwMode="auto">
          <a:xfrm>
            <a:off x="1933604" y="1669368"/>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folHlink"/>
              </a:buClr>
              <a:buChar char="•"/>
              <a:defRPr sz="3200">
                <a:solidFill>
                  <a:srgbClr val="4D4D4D"/>
                </a:solidFill>
                <a:latin typeface="Times New Roman" pitchFamily="18" charset="0"/>
              </a:defRPr>
            </a:lvl1pPr>
            <a:lvl2pPr marL="742950" indent="-285750" eaLnBrk="0" hangingPunct="0">
              <a:spcBef>
                <a:spcPct val="20000"/>
              </a:spcBef>
              <a:buClr>
                <a:schemeClr val="folHlink"/>
              </a:buClr>
              <a:buSzPct val="75000"/>
              <a:buFont typeface="Wingdings" pitchFamily="2" charset="2"/>
              <a:buChar char="Ø"/>
              <a:defRPr sz="2800">
                <a:solidFill>
                  <a:srgbClr val="4D4D4D"/>
                </a:solidFill>
                <a:latin typeface="Times New Roman" pitchFamily="18" charset="0"/>
              </a:defRPr>
            </a:lvl2pPr>
            <a:lvl3pPr marL="1143000" indent="-228600" eaLnBrk="0" hangingPunct="0">
              <a:spcBef>
                <a:spcPct val="20000"/>
              </a:spcBef>
              <a:buClr>
                <a:schemeClr val="folHlink"/>
              </a:buClr>
              <a:buSzPct val="75000"/>
              <a:buFont typeface="Wingdings" pitchFamily="2" charset="2"/>
              <a:buChar char="w"/>
              <a:defRPr sz="2400">
                <a:solidFill>
                  <a:srgbClr val="4D4D4D"/>
                </a:solidFill>
                <a:latin typeface="Times New Roman" pitchFamily="18" charset="0"/>
              </a:defRPr>
            </a:lvl3pPr>
            <a:lvl4pPr marL="1600200" indent="-228600" eaLnBrk="0" hangingPunct="0">
              <a:spcBef>
                <a:spcPct val="20000"/>
              </a:spcBef>
              <a:buClr>
                <a:schemeClr val="folHlink"/>
              </a:buClr>
              <a:buSzPct val="75000"/>
              <a:buFont typeface="Wingdings" pitchFamily="2" charset="2"/>
              <a:buChar char="§"/>
              <a:defRPr sz="2000">
                <a:solidFill>
                  <a:srgbClr val="4D4D4D"/>
                </a:solidFill>
                <a:latin typeface="Times New Roman" pitchFamily="18" charset="0"/>
              </a:defRPr>
            </a:lvl4pPr>
            <a:lvl5pPr marL="2057400" indent="-228600" eaLnBrk="0" hangingPunct="0">
              <a:spcBef>
                <a:spcPct val="20000"/>
              </a:spcBef>
              <a:buClr>
                <a:schemeClr val="folHlink"/>
              </a:buClr>
              <a:buFont typeface="Times New Roman" pitchFamily="18" charset="0"/>
              <a:buChar char="-"/>
              <a:defRPr sz="2000">
                <a:solidFill>
                  <a:srgbClr val="4D4D4D"/>
                </a:solidFill>
                <a:latin typeface="Times New Roman" pitchFamily="18" charset="0"/>
              </a:defRPr>
            </a:lvl5pPr>
            <a:lvl6pPr marL="25146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6pPr>
            <a:lvl7pPr marL="29718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7pPr>
            <a:lvl8pPr marL="34290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8pPr>
            <a:lvl9pPr marL="38862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9pPr>
          </a:lstStyle>
          <a:p>
            <a:pPr algn="ctr" eaLnBrk="1" fontAlgn="base" hangingPunct="1">
              <a:lnSpc>
                <a:spcPct val="85000"/>
              </a:lnSpc>
              <a:spcBef>
                <a:spcPct val="0"/>
              </a:spcBef>
              <a:spcAft>
                <a:spcPct val="0"/>
              </a:spcAft>
              <a:buClrTx/>
              <a:buNone/>
              <a:defRPr/>
            </a:pPr>
            <a:r>
              <a:rPr lang="en-US" altLang="en-US" sz="4000" dirty="0" err="1">
                <a:solidFill>
                  <a:srgbClr val="000000"/>
                </a:solidFill>
                <a:latin typeface="Calibri" panose="020F0502020204030204"/>
              </a:rPr>
              <a:t>Derivados</a:t>
            </a:r>
            <a:r>
              <a:rPr lang="en-US" altLang="en-US" sz="4000" dirty="0">
                <a:solidFill>
                  <a:srgbClr val="000000"/>
                </a:solidFill>
                <a:latin typeface="Calibri" panose="020F0502020204030204"/>
              </a:rPr>
              <a:t> </a:t>
            </a:r>
            <a:r>
              <a:rPr lang="en-US" altLang="en-US" sz="4000" dirty="0" err="1">
                <a:solidFill>
                  <a:srgbClr val="000000"/>
                </a:solidFill>
                <a:latin typeface="Calibri" panose="020F0502020204030204"/>
              </a:rPr>
              <a:t>Financieros</a:t>
            </a:r>
            <a:r>
              <a:rPr lang="en-US" altLang="en-US" sz="4000" dirty="0">
                <a:solidFill>
                  <a:srgbClr val="000000"/>
                </a:solidFill>
                <a:latin typeface="Calibri" panose="020F0502020204030204"/>
              </a:rPr>
              <a:t> 1</a:t>
            </a:r>
          </a:p>
          <a:p>
            <a:pPr algn="ctr" eaLnBrk="1" fontAlgn="base" hangingPunct="1">
              <a:lnSpc>
                <a:spcPct val="85000"/>
              </a:lnSpc>
              <a:spcBef>
                <a:spcPct val="0"/>
              </a:spcBef>
              <a:spcAft>
                <a:spcPct val="0"/>
              </a:spcAft>
              <a:buClrTx/>
              <a:buNone/>
              <a:defRPr/>
            </a:pPr>
            <a:r>
              <a:rPr lang="en-US" altLang="en-US" sz="4000" dirty="0">
                <a:solidFill>
                  <a:srgbClr val="000000"/>
                </a:solidFill>
                <a:latin typeface="Calibri" panose="020F0502020204030204"/>
              </a:rPr>
              <a:t>2022</a:t>
            </a:r>
          </a:p>
        </p:txBody>
      </p:sp>
      <p:sp>
        <p:nvSpPr>
          <p:cNvPr id="4104" name="Line 22">
            <a:extLst>
              <a:ext uri="{FF2B5EF4-FFF2-40B4-BE49-F238E27FC236}">
                <a16:creationId xmlns:a16="http://schemas.microsoft.com/office/drawing/2014/main" id="{B8AF241C-92FF-4369-99C6-4BFD7E032E3B}"/>
              </a:ext>
            </a:extLst>
          </p:cNvPr>
          <p:cNvSpPr>
            <a:spLocks noChangeShapeType="1"/>
          </p:cNvSpPr>
          <p:nvPr/>
        </p:nvSpPr>
        <p:spPr bwMode="auto">
          <a:xfrm>
            <a:off x="1828800" y="1268760"/>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a:solidFill>
                <a:prstClr val="black"/>
              </a:solidFill>
              <a:latin typeface="Arial" panose="020B0604020202020204" pitchFamily="34" charset="0"/>
            </a:endParaRPr>
          </a:p>
        </p:txBody>
      </p:sp>
      <p:sp>
        <p:nvSpPr>
          <p:cNvPr id="4105" name="Line 23">
            <a:extLst>
              <a:ext uri="{FF2B5EF4-FFF2-40B4-BE49-F238E27FC236}">
                <a16:creationId xmlns:a16="http://schemas.microsoft.com/office/drawing/2014/main" id="{216886FB-126A-4D10-92C7-22C7C0CCC520}"/>
              </a:ext>
            </a:extLst>
          </p:cNvPr>
          <p:cNvSpPr>
            <a:spLocks noChangeShapeType="1"/>
          </p:cNvSpPr>
          <p:nvPr/>
        </p:nvSpPr>
        <p:spPr bwMode="auto">
          <a:xfrm>
            <a:off x="1905000" y="3212976"/>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a:solidFill>
                <a:prstClr val="black"/>
              </a:solidFill>
              <a:latin typeface="Arial" panose="020B0604020202020204" pitchFamily="34" charset="0"/>
            </a:endParaRPr>
          </a:p>
        </p:txBody>
      </p:sp>
      <p:pic>
        <p:nvPicPr>
          <p:cNvPr id="3" name="Picture 2" descr="A picture containing food&#10;&#10;Description automatically generated">
            <a:extLst>
              <a:ext uri="{FF2B5EF4-FFF2-40B4-BE49-F238E27FC236}">
                <a16:creationId xmlns:a16="http://schemas.microsoft.com/office/drawing/2014/main" id="{2400D78A-3C2B-4C45-8A14-A94448C01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4722" y="5157193"/>
            <a:ext cx="1665535" cy="1665535"/>
          </a:xfrm>
          <a:prstGeom prst="rect">
            <a:avLst/>
          </a:prstGeom>
        </p:spPr>
      </p:pic>
      <p:pic>
        <p:nvPicPr>
          <p:cNvPr id="2" name="Picture 1">
            <a:extLst>
              <a:ext uri="{FF2B5EF4-FFF2-40B4-BE49-F238E27FC236}">
                <a16:creationId xmlns:a16="http://schemas.microsoft.com/office/drawing/2014/main" id="{B196298F-1393-4C0C-B99A-DEC14864F0C6}"/>
              </a:ext>
            </a:extLst>
          </p:cNvPr>
          <p:cNvPicPr>
            <a:picLocks noChangeAspect="1"/>
          </p:cNvPicPr>
          <p:nvPr/>
        </p:nvPicPr>
        <p:blipFill>
          <a:blip r:embed="rId4"/>
          <a:stretch>
            <a:fillRect/>
          </a:stretch>
        </p:blipFill>
        <p:spPr>
          <a:xfrm>
            <a:off x="2573760" y="5188633"/>
            <a:ext cx="3323011" cy="134603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0D4B8590-E9F8-4B47-B7D8-EE5CBE01596C}"/>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BA91AAF1-7646-4C0A-95AA-4D3D101EAE24}" type="slidenum">
              <a:rPr lang="en-US" altLang="en-US" sz="1400"/>
              <a:pPr algn="r" eaLnBrk="0" fontAlgn="base" hangingPunct="0">
                <a:spcBef>
                  <a:spcPct val="0"/>
                </a:spcBef>
                <a:spcAft>
                  <a:spcPct val="0"/>
                </a:spcAft>
                <a:buClrTx/>
                <a:buNone/>
                <a:defRPr/>
              </a:pPr>
              <a:t>2</a:t>
            </a:fld>
            <a:endParaRPr lang="en-US" altLang="en-US" sz="1400"/>
          </a:p>
        </p:txBody>
      </p:sp>
      <p:sp>
        <p:nvSpPr>
          <p:cNvPr id="3075" name="Rectangle 2">
            <a:extLst>
              <a:ext uri="{FF2B5EF4-FFF2-40B4-BE49-F238E27FC236}">
                <a16:creationId xmlns:a16="http://schemas.microsoft.com/office/drawing/2014/main" id="{074CD850-F310-4580-8840-AC541349F8FC}"/>
              </a:ext>
            </a:extLst>
          </p:cNvPr>
          <p:cNvSpPr>
            <a:spLocks noGrp="1" noChangeArrowheads="1"/>
          </p:cNvSpPr>
          <p:nvPr>
            <p:ph type="title" idx="4294967295"/>
          </p:nvPr>
        </p:nvSpPr>
        <p:spPr>
          <a:xfrm>
            <a:off x="1524000" y="0"/>
            <a:ext cx="7416800" cy="1143000"/>
          </a:xfrm>
        </p:spPr>
        <p:txBody>
          <a:bodyPr/>
          <a:lstStyle/>
          <a:p>
            <a:pPr eaLnBrk="1" hangingPunct="1">
              <a:defRPr/>
            </a:pPr>
            <a:r>
              <a:rPr lang="es-AR" altLang="en-US" sz="3200" dirty="0">
                <a:solidFill>
                  <a:srgbClr val="000000"/>
                </a:solidFill>
                <a:latin typeface="+mn-lt"/>
              </a:rPr>
              <a:t>Quien soy</a:t>
            </a:r>
          </a:p>
        </p:txBody>
      </p:sp>
      <p:pic>
        <p:nvPicPr>
          <p:cNvPr id="6" name="Picture 5">
            <a:extLst>
              <a:ext uri="{FF2B5EF4-FFF2-40B4-BE49-F238E27FC236}">
                <a16:creationId xmlns:a16="http://schemas.microsoft.com/office/drawing/2014/main" id="{EF140617-DAD5-4D6A-912D-C51E5CAD050F}"/>
              </a:ext>
            </a:extLst>
          </p:cNvPr>
          <p:cNvPicPr>
            <a:picLocks noChangeAspect="1"/>
          </p:cNvPicPr>
          <p:nvPr/>
        </p:nvPicPr>
        <p:blipFill>
          <a:blip r:embed="rId3"/>
          <a:stretch>
            <a:fillRect/>
          </a:stretch>
        </p:blipFill>
        <p:spPr>
          <a:xfrm>
            <a:off x="442912" y="857250"/>
            <a:ext cx="11306175" cy="5143500"/>
          </a:xfrm>
          <a:prstGeom prst="rect">
            <a:avLst/>
          </a:prstGeom>
        </p:spPr>
      </p:pic>
    </p:spTree>
    <p:extLst>
      <p:ext uri="{BB962C8B-B14F-4D97-AF65-F5344CB8AC3E}">
        <p14:creationId xmlns:p14="http://schemas.microsoft.com/office/powerpoint/2010/main" val="161629295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0D4B8590-E9F8-4B47-B7D8-EE5CBE01596C}"/>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BA91AAF1-7646-4C0A-95AA-4D3D101EAE24}" type="slidenum">
              <a:rPr lang="en-US" altLang="en-US" sz="1400"/>
              <a:pPr algn="r" eaLnBrk="0" fontAlgn="base" hangingPunct="0">
                <a:spcBef>
                  <a:spcPct val="0"/>
                </a:spcBef>
                <a:spcAft>
                  <a:spcPct val="0"/>
                </a:spcAft>
                <a:buClrTx/>
                <a:buNone/>
                <a:defRPr/>
              </a:pPr>
              <a:t>3</a:t>
            </a:fld>
            <a:endParaRPr lang="en-US" altLang="en-US" sz="1400"/>
          </a:p>
        </p:txBody>
      </p:sp>
      <p:sp>
        <p:nvSpPr>
          <p:cNvPr id="3075" name="Rectangle 2">
            <a:extLst>
              <a:ext uri="{FF2B5EF4-FFF2-40B4-BE49-F238E27FC236}">
                <a16:creationId xmlns:a16="http://schemas.microsoft.com/office/drawing/2014/main" id="{074CD850-F310-4580-8840-AC541349F8FC}"/>
              </a:ext>
            </a:extLst>
          </p:cNvPr>
          <p:cNvSpPr>
            <a:spLocks noGrp="1" noChangeArrowheads="1"/>
          </p:cNvSpPr>
          <p:nvPr>
            <p:ph type="title" idx="4294967295"/>
          </p:nvPr>
        </p:nvSpPr>
        <p:spPr>
          <a:xfrm>
            <a:off x="1656351" y="168445"/>
            <a:ext cx="7416800" cy="1143000"/>
          </a:xfrm>
        </p:spPr>
        <p:txBody>
          <a:bodyPr>
            <a:normAutofit fontScale="90000"/>
          </a:bodyPr>
          <a:lstStyle/>
          <a:p>
            <a:pPr eaLnBrk="1" hangingPunct="1">
              <a:defRPr/>
            </a:pPr>
            <a:r>
              <a:rPr lang="es-AR" altLang="en-US" sz="3200" dirty="0">
                <a:solidFill>
                  <a:srgbClr val="000000"/>
                </a:solidFill>
                <a:latin typeface="+mn-lt"/>
              </a:rPr>
              <a:t>Resultados Encuesta:</a:t>
            </a:r>
            <a:br>
              <a:rPr lang="es-AR" altLang="en-US" sz="3200" dirty="0">
                <a:solidFill>
                  <a:srgbClr val="000000"/>
                </a:solidFill>
                <a:latin typeface="+mn-lt"/>
              </a:rPr>
            </a:br>
            <a:br>
              <a:rPr lang="es-AR" altLang="en-US" sz="2700" dirty="0">
                <a:solidFill>
                  <a:srgbClr val="000000"/>
                </a:solidFill>
                <a:latin typeface="+mn-lt"/>
              </a:rPr>
            </a:br>
            <a:r>
              <a:rPr lang="es-ES" sz="2700" b="0" i="0" dirty="0">
                <a:effectLst/>
                <a:highlight>
                  <a:srgbClr val="FFFF00"/>
                </a:highlight>
                <a:latin typeface="Roboto" panose="020B0604020202020204" pitchFamily="2" charset="0"/>
              </a:rPr>
              <a:t>1) Que otras palabras/frases les vienen a la mente cuando piensan en la palabra </a:t>
            </a:r>
            <a:r>
              <a:rPr lang="es-ES" sz="2700" b="0" i="0" dirty="0" err="1">
                <a:effectLst/>
                <a:highlight>
                  <a:srgbClr val="FFFF00"/>
                </a:highlight>
                <a:latin typeface="Roboto" panose="020B0604020202020204" pitchFamily="2" charset="0"/>
              </a:rPr>
              <a:t>QUANt</a:t>
            </a:r>
            <a:r>
              <a:rPr lang="es-ES" sz="2700" b="0" i="0" dirty="0">
                <a:effectLst/>
                <a:highlight>
                  <a:srgbClr val="FFFF00"/>
                </a:highlight>
                <a:latin typeface="Roboto" panose="020B0604020202020204" pitchFamily="2" charset="0"/>
              </a:rPr>
              <a:t>?</a:t>
            </a:r>
            <a:endParaRPr lang="es-AR" altLang="en-US" sz="2700" dirty="0">
              <a:solidFill>
                <a:srgbClr val="000000"/>
              </a:solidFill>
              <a:highlight>
                <a:srgbClr val="FFFF00"/>
              </a:highlight>
              <a:latin typeface="+mn-lt"/>
            </a:endParaRPr>
          </a:p>
        </p:txBody>
      </p:sp>
      <p:pic>
        <p:nvPicPr>
          <p:cNvPr id="7" name="Picture 6">
            <a:extLst>
              <a:ext uri="{FF2B5EF4-FFF2-40B4-BE49-F238E27FC236}">
                <a16:creationId xmlns:a16="http://schemas.microsoft.com/office/drawing/2014/main" id="{B6189ED0-04E1-4B89-B76D-ABB4048AE834}"/>
              </a:ext>
            </a:extLst>
          </p:cNvPr>
          <p:cNvPicPr>
            <a:picLocks noChangeAspect="1"/>
          </p:cNvPicPr>
          <p:nvPr/>
        </p:nvPicPr>
        <p:blipFill>
          <a:blip r:embed="rId3"/>
          <a:stretch>
            <a:fillRect/>
          </a:stretch>
        </p:blipFill>
        <p:spPr>
          <a:xfrm>
            <a:off x="1872918" y="1478131"/>
            <a:ext cx="7581900" cy="5192225"/>
          </a:xfrm>
          <a:prstGeom prst="rect">
            <a:avLst/>
          </a:prstGeom>
        </p:spPr>
      </p:pic>
    </p:spTree>
    <p:extLst>
      <p:ext uri="{BB962C8B-B14F-4D97-AF65-F5344CB8AC3E}">
        <p14:creationId xmlns:p14="http://schemas.microsoft.com/office/powerpoint/2010/main" val="33445492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422C4BB7-314D-437D-8885-EB0617660447}"/>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3EF193DC-97B0-416E-9057-A419FF8D22EA}" type="slidenum">
              <a:rPr lang="en-US" altLang="en-US" sz="1400"/>
              <a:pPr algn="r" eaLnBrk="0" fontAlgn="base" hangingPunct="0">
                <a:spcBef>
                  <a:spcPct val="0"/>
                </a:spcBef>
                <a:spcAft>
                  <a:spcPct val="0"/>
                </a:spcAft>
                <a:buClrTx/>
                <a:buNone/>
                <a:defRPr/>
              </a:pPr>
              <a:t>4</a:t>
            </a:fld>
            <a:endParaRPr lang="en-US" altLang="en-US" sz="1400"/>
          </a:p>
        </p:txBody>
      </p:sp>
      <p:sp>
        <p:nvSpPr>
          <p:cNvPr id="9219" name="Rectangle 2">
            <a:extLst>
              <a:ext uri="{FF2B5EF4-FFF2-40B4-BE49-F238E27FC236}">
                <a16:creationId xmlns:a16="http://schemas.microsoft.com/office/drawing/2014/main" id="{ACC1C571-7684-4C40-8CB0-6E39D3884A4F}"/>
              </a:ext>
            </a:extLst>
          </p:cNvPr>
          <p:cNvSpPr>
            <a:spLocks noGrp="1" noChangeArrowheads="1"/>
          </p:cNvSpPr>
          <p:nvPr>
            <p:ph type="title" idx="4294967295"/>
          </p:nvPr>
        </p:nvSpPr>
        <p:spPr>
          <a:xfrm>
            <a:off x="1524000" y="0"/>
            <a:ext cx="8557846" cy="1143000"/>
          </a:xfrm>
        </p:spPr>
        <p:txBody>
          <a:bodyPr/>
          <a:lstStyle/>
          <a:p>
            <a:pPr eaLnBrk="1" hangingPunct="1"/>
            <a:r>
              <a:rPr lang="es-AR" altLang="en-US" sz="3200" dirty="0">
                <a:solidFill>
                  <a:srgbClr val="000000"/>
                </a:solidFill>
              </a:rPr>
              <a:t>Que intentaremos cubrir en estas 5 clases - Teoría</a:t>
            </a: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25538"/>
            <a:ext cx="8458200" cy="5257800"/>
          </a:xfrm>
        </p:spPr>
        <p:txBody>
          <a:bodyPr>
            <a:normAutofit/>
          </a:bodyPr>
          <a:lstStyle/>
          <a:p>
            <a:pPr marL="0" indent="0">
              <a:buNone/>
              <a:defRPr/>
            </a:pPr>
            <a:endParaRPr lang="es-AR" altLang="en-US" sz="2300" dirty="0">
              <a:solidFill>
                <a:srgbClr val="000000"/>
              </a:solidFill>
            </a:endParaRPr>
          </a:p>
          <a:p>
            <a:pPr eaLnBrk="1" hangingPunct="1">
              <a:defRPr/>
            </a:pPr>
            <a:r>
              <a:rPr lang="es-AR" altLang="en-US" sz="2400" dirty="0">
                <a:solidFill>
                  <a:srgbClr val="000000"/>
                </a:solidFill>
              </a:rPr>
              <a:t>Introducción a los derivados y motivación del problema</a:t>
            </a:r>
          </a:p>
          <a:p>
            <a:pPr eaLnBrk="1" hangingPunct="1">
              <a:defRPr/>
            </a:pPr>
            <a:endParaRPr lang="es-AR" altLang="en-US" sz="2400" dirty="0">
              <a:solidFill>
                <a:srgbClr val="000000"/>
              </a:solidFill>
            </a:endParaRPr>
          </a:p>
          <a:p>
            <a:pPr eaLnBrk="1" hangingPunct="1">
              <a:defRPr/>
            </a:pPr>
            <a:r>
              <a:rPr lang="es-AR" altLang="en-US" sz="2400" dirty="0">
                <a:solidFill>
                  <a:srgbClr val="000000"/>
                </a:solidFill>
              </a:rPr>
              <a:t>Foco en </a:t>
            </a:r>
            <a:r>
              <a:rPr lang="es-AR" altLang="en-US" sz="2400" b="1" dirty="0">
                <a:solidFill>
                  <a:srgbClr val="000000"/>
                </a:solidFill>
              </a:rPr>
              <a:t>Opciones</a:t>
            </a:r>
            <a:r>
              <a:rPr lang="es-AR" altLang="en-US" sz="2400" dirty="0">
                <a:solidFill>
                  <a:srgbClr val="000000"/>
                </a:solidFill>
              </a:rPr>
              <a:t>, características propiedades</a:t>
            </a:r>
          </a:p>
          <a:p>
            <a:pPr eaLnBrk="1" hangingPunct="1">
              <a:defRPr/>
            </a:pPr>
            <a:endParaRPr lang="es-AR" altLang="en-US" sz="2400" dirty="0">
              <a:solidFill>
                <a:srgbClr val="000000"/>
              </a:solidFill>
            </a:endParaRPr>
          </a:p>
          <a:p>
            <a:pPr eaLnBrk="1" hangingPunct="1">
              <a:defRPr/>
            </a:pPr>
            <a:r>
              <a:rPr lang="es-AR" altLang="en-US" sz="2400" dirty="0">
                <a:solidFill>
                  <a:srgbClr val="000000"/>
                </a:solidFill>
              </a:rPr>
              <a:t>Análisis y exploración de mercados de opciones</a:t>
            </a:r>
          </a:p>
          <a:p>
            <a:pPr eaLnBrk="1" hangingPunct="1">
              <a:defRPr/>
            </a:pPr>
            <a:endParaRPr lang="es-AR" altLang="en-US" sz="2400" dirty="0">
              <a:solidFill>
                <a:srgbClr val="000000"/>
              </a:solidFill>
            </a:endParaRPr>
          </a:p>
          <a:p>
            <a:pPr eaLnBrk="1" hangingPunct="1">
              <a:defRPr/>
            </a:pPr>
            <a:r>
              <a:rPr lang="es-AR" altLang="en-US" sz="2400" b="1" dirty="0">
                <a:solidFill>
                  <a:srgbClr val="000000"/>
                </a:solidFill>
              </a:rPr>
              <a:t>El problema de valuación </a:t>
            </a:r>
            <a:r>
              <a:rPr lang="es-AR" altLang="en-US" sz="2400" dirty="0">
                <a:solidFill>
                  <a:srgbClr val="000000"/>
                </a:solidFill>
              </a:rPr>
              <a:t>– modelos de precios:</a:t>
            </a:r>
          </a:p>
          <a:p>
            <a:pPr lvl="1">
              <a:defRPr/>
            </a:pPr>
            <a:r>
              <a:rPr lang="es-AR" altLang="en-US" sz="2000" dirty="0">
                <a:solidFill>
                  <a:srgbClr val="000000"/>
                </a:solidFill>
              </a:rPr>
              <a:t>Modelo </a:t>
            </a:r>
            <a:r>
              <a:rPr lang="es-AR" altLang="en-US" sz="2000" dirty="0" err="1">
                <a:solidFill>
                  <a:srgbClr val="000000"/>
                </a:solidFill>
              </a:rPr>
              <a:t>Bonomial</a:t>
            </a:r>
            <a:endParaRPr lang="es-AR" altLang="en-US" sz="2000" dirty="0">
              <a:solidFill>
                <a:srgbClr val="000000"/>
              </a:solidFill>
            </a:endParaRPr>
          </a:p>
          <a:p>
            <a:pPr lvl="1">
              <a:defRPr/>
            </a:pPr>
            <a:r>
              <a:rPr lang="es-AR" altLang="en-US" sz="2000" dirty="0">
                <a:solidFill>
                  <a:srgbClr val="000000"/>
                </a:solidFill>
              </a:rPr>
              <a:t>Modelo de Black Scholes</a:t>
            </a:r>
          </a:p>
          <a:p>
            <a:pPr lvl="1">
              <a:defRPr/>
            </a:pPr>
            <a:r>
              <a:rPr lang="es-AR" altLang="en-US" sz="2000" dirty="0">
                <a:solidFill>
                  <a:srgbClr val="000000"/>
                </a:solidFill>
              </a:rPr>
              <a:t>Montecarlo, Diferencias Finitas</a:t>
            </a:r>
            <a:endParaRPr lang="es-AR" altLang="en-US" sz="2400" dirty="0">
              <a:solidFill>
                <a:srgbClr val="000000"/>
              </a:solidFill>
            </a:endParaRPr>
          </a:p>
          <a:p>
            <a:pPr eaLnBrk="1" hangingPunct="1">
              <a:defRPr/>
            </a:pPr>
            <a:r>
              <a:rPr lang="es-AR" altLang="en-US" sz="2400" dirty="0">
                <a:solidFill>
                  <a:srgbClr val="000000"/>
                </a:solidFill>
              </a:rPr>
              <a:t>Sensibilidades de derivados para riesgo</a:t>
            </a:r>
          </a:p>
          <a:p>
            <a:pPr eaLnBrk="1" hangingPunct="1">
              <a:defRPr/>
            </a:pPr>
            <a:endParaRPr lang="es-AR" altLang="en-US" sz="2400" dirty="0">
              <a:solidFill>
                <a:srgbClr val="000000"/>
              </a:solidFill>
            </a:endParaRPr>
          </a:p>
          <a:p>
            <a:pPr eaLnBrk="1" hangingPunct="1">
              <a:defRPr/>
            </a:pPr>
            <a:endParaRPr lang="es-AR" altLang="en-US" sz="2400" dirty="0">
              <a:solidFill>
                <a:srgbClr val="000000"/>
              </a:solidFill>
            </a:endParaRPr>
          </a:p>
          <a:p>
            <a:pPr eaLnBrk="1" hangingPunct="1">
              <a:defRPr/>
            </a:pPr>
            <a:endParaRPr lang="es-AR" altLang="en-US" sz="2400" dirty="0">
              <a:solidFill>
                <a:srgbClr val="000000"/>
              </a:solidFill>
            </a:endParaRPr>
          </a:p>
          <a:p>
            <a:pPr lvl="1" eaLnBrk="1" hangingPunct="1">
              <a:defRPr/>
            </a:pPr>
            <a:endParaRPr lang="es-AR" altLang="en-US" sz="2000" dirty="0">
              <a:solidFill>
                <a:srgbClr val="000000"/>
              </a:solidFill>
            </a:endParaRPr>
          </a:p>
        </p:txBody>
      </p:sp>
    </p:spTree>
    <p:extLst>
      <p:ext uri="{BB962C8B-B14F-4D97-AF65-F5344CB8AC3E}">
        <p14:creationId xmlns:p14="http://schemas.microsoft.com/office/powerpoint/2010/main" val="86662475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422C4BB7-314D-437D-8885-EB0617660447}"/>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3EF193DC-97B0-416E-9057-A419FF8D22EA}" type="slidenum">
              <a:rPr lang="en-US" altLang="en-US" sz="1400"/>
              <a:pPr algn="r" eaLnBrk="0" fontAlgn="base" hangingPunct="0">
                <a:spcBef>
                  <a:spcPct val="0"/>
                </a:spcBef>
                <a:spcAft>
                  <a:spcPct val="0"/>
                </a:spcAft>
                <a:buClrTx/>
                <a:buNone/>
                <a:defRPr/>
              </a:pPr>
              <a:t>5</a:t>
            </a:fld>
            <a:endParaRPr lang="en-US" altLang="en-US" sz="1400"/>
          </a:p>
        </p:txBody>
      </p:sp>
      <p:sp>
        <p:nvSpPr>
          <p:cNvPr id="9219" name="Rectangle 2">
            <a:extLst>
              <a:ext uri="{FF2B5EF4-FFF2-40B4-BE49-F238E27FC236}">
                <a16:creationId xmlns:a16="http://schemas.microsoft.com/office/drawing/2014/main" id="{ACC1C571-7684-4C40-8CB0-6E39D3884A4F}"/>
              </a:ext>
            </a:extLst>
          </p:cNvPr>
          <p:cNvSpPr>
            <a:spLocks noGrp="1" noChangeArrowheads="1"/>
          </p:cNvSpPr>
          <p:nvPr>
            <p:ph type="title" idx="4294967295"/>
          </p:nvPr>
        </p:nvSpPr>
        <p:spPr>
          <a:xfrm>
            <a:off x="1523999" y="0"/>
            <a:ext cx="8569569" cy="1143000"/>
          </a:xfrm>
        </p:spPr>
        <p:txBody>
          <a:bodyPr/>
          <a:lstStyle/>
          <a:p>
            <a:pPr eaLnBrk="1" hangingPunct="1"/>
            <a:r>
              <a:rPr lang="en-US" altLang="en-US" sz="3200" dirty="0">
                <a:solidFill>
                  <a:srgbClr val="000000"/>
                </a:solidFill>
              </a:rPr>
              <a:t>Que </a:t>
            </a:r>
            <a:r>
              <a:rPr lang="en-US" altLang="en-US" sz="3200" dirty="0" err="1">
                <a:solidFill>
                  <a:srgbClr val="000000"/>
                </a:solidFill>
              </a:rPr>
              <a:t>intentaremos</a:t>
            </a:r>
            <a:r>
              <a:rPr lang="en-US" altLang="en-US" sz="3200" dirty="0">
                <a:solidFill>
                  <a:srgbClr val="000000"/>
                </a:solidFill>
              </a:rPr>
              <a:t> </a:t>
            </a:r>
            <a:r>
              <a:rPr lang="en-US" altLang="en-US" sz="3200" dirty="0" err="1">
                <a:solidFill>
                  <a:srgbClr val="000000"/>
                </a:solidFill>
              </a:rPr>
              <a:t>cubrir</a:t>
            </a:r>
            <a:r>
              <a:rPr lang="en-US" altLang="en-US" sz="3200" dirty="0">
                <a:solidFill>
                  <a:srgbClr val="000000"/>
                </a:solidFill>
              </a:rPr>
              <a:t> </a:t>
            </a:r>
            <a:r>
              <a:rPr lang="en-US" altLang="en-US" sz="3200" dirty="0" err="1">
                <a:solidFill>
                  <a:srgbClr val="000000"/>
                </a:solidFill>
              </a:rPr>
              <a:t>en</a:t>
            </a:r>
            <a:r>
              <a:rPr lang="en-US" altLang="en-US" sz="3200" dirty="0">
                <a:solidFill>
                  <a:srgbClr val="000000"/>
                </a:solidFill>
              </a:rPr>
              <a:t> </a:t>
            </a:r>
            <a:r>
              <a:rPr lang="en-US" altLang="en-US" sz="3200" dirty="0" err="1">
                <a:solidFill>
                  <a:srgbClr val="000000"/>
                </a:solidFill>
              </a:rPr>
              <a:t>estas</a:t>
            </a:r>
            <a:r>
              <a:rPr lang="en-US" altLang="en-US" sz="3200" dirty="0">
                <a:solidFill>
                  <a:srgbClr val="000000"/>
                </a:solidFill>
              </a:rPr>
              <a:t> 5 </a:t>
            </a:r>
            <a:r>
              <a:rPr lang="en-US" altLang="en-US" sz="3200" dirty="0" err="1">
                <a:solidFill>
                  <a:srgbClr val="000000"/>
                </a:solidFill>
              </a:rPr>
              <a:t>clases</a:t>
            </a:r>
            <a:r>
              <a:rPr lang="en-US" altLang="en-US" sz="3200" dirty="0">
                <a:solidFill>
                  <a:srgbClr val="000000"/>
                </a:solidFill>
              </a:rPr>
              <a:t> - </a:t>
            </a:r>
            <a:r>
              <a:rPr lang="en-US" altLang="en-US" sz="3200" i="1" dirty="0">
                <a:solidFill>
                  <a:srgbClr val="000000"/>
                </a:solidFill>
              </a:rPr>
              <a:t>Python</a:t>
            </a:r>
            <a:endParaRPr lang="es-AR" altLang="en-US" sz="3200" i="1" dirty="0">
              <a:solidFill>
                <a:srgbClr val="000000"/>
              </a:solidFill>
            </a:endParaRP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25538"/>
            <a:ext cx="8458200" cy="5257800"/>
          </a:xfrm>
        </p:spPr>
        <p:txBody>
          <a:bodyPr>
            <a:normAutofit lnSpcReduction="10000"/>
          </a:bodyPr>
          <a:lstStyle/>
          <a:p>
            <a:pPr>
              <a:defRPr/>
            </a:pPr>
            <a:r>
              <a:rPr lang="es-AR" altLang="en-US" sz="2400" dirty="0">
                <a:solidFill>
                  <a:srgbClr val="000000"/>
                </a:solidFill>
              </a:rPr>
              <a:t>Algo de </a:t>
            </a:r>
            <a:r>
              <a:rPr lang="es-AR" altLang="en-US" sz="2400" i="1" dirty="0">
                <a:solidFill>
                  <a:srgbClr val="000000"/>
                </a:solidFill>
              </a:rPr>
              <a:t>Web </a:t>
            </a:r>
            <a:r>
              <a:rPr lang="es-AR" altLang="en-US" sz="2400" i="1" dirty="0" err="1">
                <a:solidFill>
                  <a:srgbClr val="000000"/>
                </a:solidFill>
              </a:rPr>
              <a:t>Scraping</a:t>
            </a:r>
            <a:endParaRPr lang="es-AR" altLang="en-US" sz="2400" i="1" dirty="0">
              <a:solidFill>
                <a:srgbClr val="000000"/>
              </a:solidFill>
            </a:endParaRPr>
          </a:p>
          <a:p>
            <a:pPr eaLnBrk="1" hangingPunct="1">
              <a:defRPr/>
            </a:pPr>
            <a:endParaRPr lang="es-AR" altLang="en-US" sz="2400" dirty="0">
              <a:solidFill>
                <a:srgbClr val="000000"/>
              </a:solidFill>
            </a:endParaRPr>
          </a:p>
          <a:p>
            <a:pPr eaLnBrk="1" hangingPunct="1">
              <a:defRPr/>
            </a:pPr>
            <a:r>
              <a:rPr lang="es-AR" altLang="en-US" sz="2400" dirty="0">
                <a:solidFill>
                  <a:srgbClr val="000000"/>
                </a:solidFill>
              </a:rPr>
              <a:t>Algunas </a:t>
            </a:r>
            <a:r>
              <a:rPr lang="es-AR" altLang="en-US" sz="2400" dirty="0" err="1">
                <a:solidFill>
                  <a:srgbClr val="000000"/>
                </a:solidFill>
              </a:rPr>
              <a:t>APIs</a:t>
            </a:r>
            <a:r>
              <a:rPr lang="es-AR" altLang="en-US" sz="2400" dirty="0">
                <a:solidFill>
                  <a:srgbClr val="000000"/>
                </a:solidFill>
              </a:rPr>
              <a:t> para conectarse al mercado (restringido a Opciones)</a:t>
            </a:r>
            <a:endParaRPr lang="es-AR" altLang="en-US" sz="2400" b="1" dirty="0">
              <a:solidFill>
                <a:srgbClr val="000000"/>
              </a:solidFill>
            </a:endParaRPr>
          </a:p>
          <a:p>
            <a:pPr eaLnBrk="1" hangingPunct="1">
              <a:defRPr/>
            </a:pPr>
            <a:endParaRPr lang="es-AR" altLang="en-US" sz="2400" dirty="0">
              <a:solidFill>
                <a:srgbClr val="000000"/>
              </a:solidFill>
            </a:endParaRPr>
          </a:p>
          <a:p>
            <a:pPr eaLnBrk="1" hangingPunct="1">
              <a:defRPr/>
            </a:pPr>
            <a:r>
              <a:rPr lang="es-AR" altLang="en-US" sz="2400" dirty="0">
                <a:solidFill>
                  <a:srgbClr val="000000"/>
                </a:solidFill>
              </a:rPr>
              <a:t>‘Limpieza’ de </a:t>
            </a:r>
            <a:r>
              <a:rPr lang="es-AR" altLang="en-US" sz="2400" i="1" dirty="0" err="1">
                <a:solidFill>
                  <a:srgbClr val="000000"/>
                </a:solidFill>
              </a:rPr>
              <a:t>dataframes</a:t>
            </a:r>
            <a:endParaRPr lang="es-AR" altLang="en-US" sz="2400" i="1" dirty="0">
              <a:solidFill>
                <a:srgbClr val="000000"/>
              </a:solidFill>
            </a:endParaRPr>
          </a:p>
          <a:p>
            <a:pPr eaLnBrk="1" hangingPunct="1">
              <a:defRPr/>
            </a:pPr>
            <a:endParaRPr lang="es-AR" altLang="en-US" sz="2400" dirty="0">
              <a:solidFill>
                <a:srgbClr val="000000"/>
              </a:solidFill>
            </a:endParaRPr>
          </a:p>
          <a:p>
            <a:pPr eaLnBrk="1" hangingPunct="1">
              <a:defRPr/>
            </a:pPr>
            <a:r>
              <a:rPr lang="es-AR" altLang="en-US" sz="2400" dirty="0">
                <a:solidFill>
                  <a:srgbClr val="000000"/>
                </a:solidFill>
              </a:rPr>
              <a:t>Implementación de los algoritmos de precio</a:t>
            </a:r>
          </a:p>
          <a:p>
            <a:pPr eaLnBrk="1" hangingPunct="1">
              <a:defRPr/>
            </a:pPr>
            <a:endParaRPr lang="es-AR" altLang="en-US" sz="2400" dirty="0">
              <a:solidFill>
                <a:srgbClr val="000000"/>
              </a:solidFill>
            </a:endParaRPr>
          </a:p>
          <a:p>
            <a:pPr eaLnBrk="1" hangingPunct="1">
              <a:defRPr/>
            </a:pPr>
            <a:r>
              <a:rPr lang="es-AR" altLang="en-US" sz="2400" dirty="0">
                <a:solidFill>
                  <a:srgbClr val="000000"/>
                </a:solidFill>
              </a:rPr>
              <a:t>Volatilidad Implícita, griegas</a:t>
            </a:r>
          </a:p>
          <a:p>
            <a:pPr eaLnBrk="1" hangingPunct="1">
              <a:defRPr/>
            </a:pPr>
            <a:endParaRPr lang="es-AR" altLang="en-US" sz="2400" i="1" dirty="0">
              <a:solidFill>
                <a:srgbClr val="000000"/>
              </a:solidFill>
            </a:endParaRPr>
          </a:p>
          <a:p>
            <a:pPr eaLnBrk="1" hangingPunct="1">
              <a:defRPr/>
            </a:pPr>
            <a:r>
              <a:rPr lang="es-AR" altLang="en-US" sz="2400" i="1" dirty="0" err="1">
                <a:solidFill>
                  <a:srgbClr val="000000"/>
                </a:solidFill>
              </a:rPr>
              <a:t>QuantLib</a:t>
            </a:r>
            <a:endParaRPr lang="es-AR" altLang="en-US" sz="2400" i="1" dirty="0">
              <a:solidFill>
                <a:srgbClr val="000000"/>
              </a:solidFill>
            </a:endParaRPr>
          </a:p>
          <a:p>
            <a:pPr eaLnBrk="1" hangingPunct="1">
              <a:defRPr/>
            </a:pPr>
            <a:endParaRPr lang="es-AR" altLang="en-US" sz="2400" dirty="0">
              <a:solidFill>
                <a:srgbClr val="000000"/>
              </a:solidFill>
            </a:endParaRPr>
          </a:p>
          <a:p>
            <a:pPr eaLnBrk="1" hangingPunct="1">
              <a:defRPr/>
            </a:pPr>
            <a:endParaRPr lang="es-AR" altLang="en-US" sz="2400" dirty="0">
              <a:solidFill>
                <a:srgbClr val="000000"/>
              </a:solidFill>
            </a:endParaRPr>
          </a:p>
          <a:p>
            <a:pPr eaLnBrk="1" hangingPunct="1">
              <a:defRPr/>
            </a:pPr>
            <a:endParaRPr lang="es-AR" altLang="en-US" sz="2400" dirty="0">
              <a:solidFill>
                <a:srgbClr val="000000"/>
              </a:solidFill>
            </a:endParaRPr>
          </a:p>
          <a:p>
            <a:pPr eaLnBrk="1" hangingPunct="1">
              <a:defRPr/>
            </a:pPr>
            <a:endParaRPr lang="es-AR" altLang="en-US" sz="2400" dirty="0">
              <a:solidFill>
                <a:srgbClr val="000000"/>
              </a:solidFill>
            </a:endParaRPr>
          </a:p>
          <a:p>
            <a:pPr eaLnBrk="1" hangingPunct="1">
              <a:defRPr/>
            </a:pPr>
            <a:endParaRPr lang="es-AR" altLang="en-US" sz="2400" dirty="0">
              <a:solidFill>
                <a:srgbClr val="000000"/>
              </a:solidFill>
            </a:endParaRPr>
          </a:p>
          <a:p>
            <a:pPr lvl="1" eaLnBrk="1" hangingPunct="1">
              <a:defRPr/>
            </a:pPr>
            <a:endParaRPr lang="es-AR" altLang="en-US" sz="2000" dirty="0">
              <a:solidFill>
                <a:srgbClr val="000000"/>
              </a:solidFill>
            </a:endParaRPr>
          </a:p>
        </p:txBody>
      </p:sp>
    </p:spTree>
    <p:extLst>
      <p:ext uri="{BB962C8B-B14F-4D97-AF65-F5344CB8AC3E}">
        <p14:creationId xmlns:p14="http://schemas.microsoft.com/office/powerpoint/2010/main" val="189237278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422C4BB7-314D-437D-8885-EB0617660447}"/>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3EF193DC-97B0-416E-9057-A419FF8D22EA}" type="slidenum">
              <a:rPr lang="en-US" altLang="en-US" sz="1400"/>
              <a:pPr algn="r" eaLnBrk="0" fontAlgn="base" hangingPunct="0">
                <a:spcBef>
                  <a:spcPct val="0"/>
                </a:spcBef>
                <a:spcAft>
                  <a:spcPct val="0"/>
                </a:spcAft>
                <a:buClrTx/>
                <a:buNone/>
                <a:defRPr/>
              </a:pPr>
              <a:t>6</a:t>
            </a:fld>
            <a:endParaRPr lang="en-US" altLang="en-US" sz="1400"/>
          </a:p>
        </p:txBody>
      </p:sp>
      <p:sp>
        <p:nvSpPr>
          <p:cNvPr id="9219" name="Rectangle 2">
            <a:extLst>
              <a:ext uri="{FF2B5EF4-FFF2-40B4-BE49-F238E27FC236}">
                <a16:creationId xmlns:a16="http://schemas.microsoft.com/office/drawing/2014/main" id="{ACC1C571-7684-4C40-8CB0-6E39D3884A4F}"/>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Antes de empezar… Principios </a:t>
            </a:r>
            <a:r>
              <a:rPr lang="en-US" altLang="en-US" sz="3200" dirty="0">
                <a:solidFill>
                  <a:srgbClr val="000000"/>
                </a:solidFill>
              </a:rPr>
              <a:t>(1/4)</a:t>
            </a:r>
            <a:endParaRPr lang="es-AR" altLang="en-US" sz="3200" dirty="0">
              <a:solidFill>
                <a:srgbClr val="000000"/>
              </a:solidFill>
            </a:endParaRP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25538"/>
            <a:ext cx="8458200" cy="5257800"/>
          </a:xfrm>
        </p:spPr>
        <p:txBody>
          <a:bodyPr>
            <a:normAutofit/>
          </a:bodyPr>
          <a:lstStyle/>
          <a:p>
            <a:pPr marL="0" indent="0">
              <a:buNone/>
              <a:defRPr/>
            </a:pPr>
            <a:endParaRPr lang="es-AR" altLang="en-US" sz="2300" dirty="0">
              <a:solidFill>
                <a:srgbClr val="000000"/>
              </a:solidFill>
            </a:endParaRPr>
          </a:p>
          <a:p>
            <a:pPr eaLnBrk="1" hangingPunct="1">
              <a:defRPr/>
            </a:pPr>
            <a:endParaRPr lang="es-ES" altLang="en-US" sz="2300" dirty="0">
              <a:solidFill>
                <a:srgbClr val="000000"/>
              </a:solidFill>
            </a:endParaRPr>
          </a:p>
          <a:p>
            <a:pPr eaLnBrk="1" hangingPunct="1">
              <a:defRPr/>
            </a:pPr>
            <a:r>
              <a:rPr lang="es-ES" altLang="en-US" sz="2300" dirty="0">
                <a:solidFill>
                  <a:srgbClr val="000000"/>
                </a:solidFill>
              </a:rPr>
              <a:t>El </a:t>
            </a:r>
            <a:r>
              <a:rPr lang="es-ES" altLang="en-US" sz="2300" b="1" dirty="0">
                <a:solidFill>
                  <a:schemeClr val="tx1">
                    <a:lumMod val="60000"/>
                    <a:lumOff val="40000"/>
                  </a:schemeClr>
                </a:solidFill>
              </a:rPr>
              <a:t>mercado monetario </a:t>
            </a:r>
            <a:r>
              <a:rPr lang="es-ES" altLang="en-US" sz="2300" dirty="0">
                <a:solidFill>
                  <a:srgbClr val="000000"/>
                </a:solidFill>
              </a:rPr>
              <a:t>(</a:t>
            </a:r>
            <a:r>
              <a:rPr lang="es-ES" altLang="en-US" sz="2300" b="1" i="1" dirty="0">
                <a:solidFill>
                  <a:schemeClr val="tx1">
                    <a:lumMod val="60000"/>
                    <a:lumOff val="40000"/>
                  </a:schemeClr>
                </a:solidFill>
              </a:rPr>
              <a:t>Money </a:t>
            </a:r>
            <a:r>
              <a:rPr lang="es-ES" altLang="en-US" sz="2300" b="1" i="1" dirty="0" err="1">
                <a:solidFill>
                  <a:schemeClr val="tx1">
                    <a:lumMod val="60000"/>
                    <a:lumOff val="40000"/>
                  </a:schemeClr>
                </a:solidFill>
              </a:rPr>
              <a:t>Market</a:t>
            </a:r>
            <a:r>
              <a:rPr lang="es-ES" altLang="en-US" sz="2300" i="1" dirty="0">
                <a:solidFill>
                  <a:srgbClr val="000000"/>
                </a:solidFill>
              </a:rPr>
              <a:t>) </a:t>
            </a:r>
            <a:r>
              <a:rPr lang="es-ES" altLang="en-US" sz="2300" dirty="0">
                <a:solidFill>
                  <a:srgbClr val="000000"/>
                </a:solidFill>
              </a:rPr>
              <a:t>es el conjunto de mercados financieros, en los que se intercambian activos financieros que tienen un plazo de amortización corto, menor a los 18 meses, un </a:t>
            </a:r>
            <a:r>
              <a:rPr lang="es-ES" altLang="en-US" sz="2300" b="1" dirty="0">
                <a:solidFill>
                  <a:schemeClr val="tx1">
                    <a:lumMod val="60000"/>
                    <a:lumOff val="40000"/>
                  </a:schemeClr>
                </a:solidFill>
              </a:rPr>
              <a:t>bajo riesgo </a:t>
            </a:r>
            <a:r>
              <a:rPr lang="es-ES" altLang="en-US" sz="2300" dirty="0">
                <a:solidFill>
                  <a:srgbClr val="000000"/>
                </a:solidFill>
              </a:rPr>
              <a:t>y una </a:t>
            </a:r>
            <a:r>
              <a:rPr lang="es-ES" altLang="en-US" sz="2300" b="1" dirty="0">
                <a:solidFill>
                  <a:schemeClr val="tx1">
                    <a:lumMod val="60000"/>
                    <a:lumOff val="40000"/>
                  </a:schemeClr>
                </a:solidFill>
              </a:rPr>
              <a:t>elevada liquidez</a:t>
            </a:r>
            <a:r>
              <a:rPr lang="es-ES" altLang="en-US" sz="2300" dirty="0">
                <a:solidFill>
                  <a:srgbClr val="000000"/>
                </a:solidFill>
              </a:rPr>
              <a:t>.</a:t>
            </a:r>
          </a:p>
          <a:p>
            <a:pPr marL="0" indent="0">
              <a:buNone/>
              <a:defRPr/>
            </a:pPr>
            <a:endParaRPr lang="es-ES" altLang="en-US" sz="2300" dirty="0">
              <a:solidFill>
                <a:srgbClr val="000000"/>
              </a:solidFill>
            </a:endParaRPr>
          </a:p>
          <a:p>
            <a:pPr eaLnBrk="1" hangingPunct="1">
              <a:defRPr/>
            </a:pPr>
            <a:r>
              <a:rPr lang="es-ES" altLang="en-US" sz="2300" dirty="0" err="1">
                <a:solidFill>
                  <a:srgbClr val="000000"/>
                </a:solidFill>
              </a:rPr>
              <a:t>Ej</a:t>
            </a:r>
            <a:r>
              <a:rPr lang="es-ES" altLang="en-US" sz="2300" dirty="0">
                <a:solidFill>
                  <a:srgbClr val="000000"/>
                </a:solidFill>
              </a:rPr>
              <a:t>: Bono (muy) corto plazo soberano. Pedir dinero prestado sin costo/riesgo. </a:t>
            </a:r>
          </a:p>
          <a:p>
            <a:pPr eaLnBrk="1" hangingPunct="1">
              <a:defRPr/>
            </a:pPr>
            <a:endParaRPr lang="es-AR" altLang="en-US" sz="2300" dirty="0">
              <a:solidFill>
                <a:srgbClr val="000000"/>
              </a:solidFill>
            </a:endParaRPr>
          </a:p>
          <a:p>
            <a:pPr eaLnBrk="1" hangingPunct="1">
              <a:defRPr/>
            </a:pPr>
            <a:r>
              <a:rPr lang="es-AR" altLang="en-US" sz="2300" dirty="0">
                <a:solidFill>
                  <a:srgbClr val="000000"/>
                </a:solidFill>
              </a:rPr>
              <a:t>Suelen denominarse </a:t>
            </a:r>
            <a:r>
              <a:rPr lang="es-AR" altLang="en-US" sz="2300" b="1" dirty="0">
                <a:solidFill>
                  <a:schemeClr val="tx1">
                    <a:lumMod val="60000"/>
                    <a:lumOff val="40000"/>
                  </a:schemeClr>
                </a:solidFill>
              </a:rPr>
              <a:t>libres de riesgo </a:t>
            </a:r>
            <a:r>
              <a:rPr lang="es-AR" altLang="en-US" sz="2300" dirty="0">
                <a:solidFill>
                  <a:srgbClr val="000000"/>
                </a:solidFill>
              </a:rPr>
              <a:t>(</a:t>
            </a:r>
            <a:r>
              <a:rPr lang="es-AR" altLang="en-US" sz="2300" b="1" i="1" dirty="0" err="1">
                <a:solidFill>
                  <a:schemeClr val="tx1">
                    <a:lumMod val="60000"/>
                    <a:lumOff val="40000"/>
                  </a:schemeClr>
                </a:solidFill>
              </a:rPr>
              <a:t>risk</a:t>
            </a:r>
            <a:r>
              <a:rPr lang="es-AR" altLang="en-US" sz="2300" b="1" i="1" dirty="0">
                <a:solidFill>
                  <a:schemeClr val="tx1">
                    <a:lumMod val="60000"/>
                    <a:lumOff val="40000"/>
                  </a:schemeClr>
                </a:solidFill>
              </a:rPr>
              <a:t> free</a:t>
            </a:r>
            <a:r>
              <a:rPr lang="es-AR" altLang="en-US" sz="2300" dirty="0">
                <a:solidFill>
                  <a:srgbClr val="000000"/>
                </a:solidFill>
              </a:rPr>
              <a:t>)</a:t>
            </a:r>
          </a:p>
          <a:p>
            <a:pPr eaLnBrk="1" hangingPunct="1">
              <a:defRPr/>
            </a:pPr>
            <a:endParaRPr lang="es-AR" altLang="en-US" sz="2400" i="1" dirty="0">
              <a:solidFill>
                <a:srgbClr val="000000"/>
              </a:solidFill>
            </a:endParaRPr>
          </a:p>
          <a:p>
            <a:pPr lvl="1" eaLnBrk="1" hangingPunct="1">
              <a:defRPr/>
            </a:pPr>
            <a:endParaRPr lang="es-AR" altLang="en-US" sz="2000" dirty="0">
              <a:solidFill>
                <a:srgbClr val="000000"/>
              </a:solidFill>
            </a:endParaRPr>
          </a:p>
        </p:txBody>
      </p:sp>
    </p:spTree>
    <p:extLst>
      <p:ext uri="{BB962C8B-B14F-4D97-AF65-F5344CB8AC3E}">
        <p14:creationId xmlns:p14="http://schemas.microsoft.com/office/powerpoint/2010/main" val="355245719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422C4BB7-314D-437D-8885-EB0617660447}"/>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3EF193DC-97B0-416E-9057-A419FF8D22EA}" type="slidenum">
              <a:rPr lang="en-US" altLang="en-US" sz="1400"/>
              <a:pPr algn="r" eaLnBrk="0" fontAlgn="base" hangingPunct="0">
                <a:spcBef>
                  <a:spcPct val="0"/>
                </a:spcBef>
                <a:spcAft>
                  <a:spcPct val="0"/>
                </a:spcAft>
                <a:buClrTx/>
                <a:buNone/>
                <a:defRPr/>
              </a:pPr>
              <a:t>7</a:t>
            </a:fld>
            <a:endParaRPr lang="en-US" altLang="en-US" sz="1400"/>
          </a:p>
        </p:txBody>
      </p:sp>
      <p:sp>
        <p:nvSpPr>
          <p:cNvPr id="9219" name="Rectangle 2">
            <a:extLst>
              <a:ext uri="{FF2B5EF4-FFF2-40B4-BE49-F238E27FC236}">
                <a16:creationId xmlns:a16="http://schemas.microsoft.com/office/drawing/2014/main" id="{ACC1C571-7684-4C40-8CB0-6E39D3884A4F}"/>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Antes de empezar… Principios </a:t>
            </a:r>
            <a:r>
              <a:rPr lang="en-US" altLang="en-US" sz="3200" dirty="0">
                <a:solidFill>
                  <a:srgbClr val="000000"/>
                </a:solidFill>
              </a:rPr>
              <a:t>(2/4)</a:t>
            </a:r>
            <a:endParaRPr lang="es-AR" altLang="en-US" sz="3200" dirty="0">
              <a:solidFill>
                <a:srgbClr val="000000"/>
              </a:solidFill>
            </a:endParaRPr>
          </a:p>
        </p:txBody>
      </p:sp>
      <mc:AlternateContent xmlns:mc="http://schemas.openxmlformats.org/markup-compatibility/2006" xmlns:a14="http://schemas.microsoft.com/office/drawing/2010/main">
        <mc:Choice Requires="a14">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25538"/>
                <a:ext cx="8458200" cy="5257800"/>
              </a:xfrm>
            </p:spPr>
            <p:txBody>
              <a:bodyPr>
                <a:normAutofit/>
              </a:bodyPr>
              <a:lstStyle/>
              <a:p>
                <a:pPr marL="0" indent="0">
                  <a:buNone/>
                  <a:defRPr/>
                </a:pPr>
                <a:endParaRPr lang="es-AR" altLang="en-US" sz="2300" dirty="0">
                  <a:solidFill>
                    <a:srgbClr val="000000"/>
                  </a:solidFill>
                </a:endParaRPr>
              </a:p>
              <a:p>
                <a:pPr eaLnBrk="1" hangingPunct="1">
                  <a:defRPr/>
                </a:pPr>
                <a:r>
                  <a:rPr lang="es-AR" altLang="en-US" sz="2300" b="1" dirty="0">
                    <a:solidFill>
                      <a:srgbClr val="000000"/>
                    </a:solidFill>
                  </a:rPr>
                  <a:t>1$ hoy vale ms que 1$ mañana </a:t>
                </a:r>
                <a:r>
                  <a:rPr lang="es-AR" altLang="en-US" sz="2300" dirty="0">
                    <a:solidFill>
                      <a:srgbClr val="000000"/>
                    </a:solidFill>
                  </a:rPr>
                  <a:t>– </a:t>
                </a:r>
                <a:r>
                  <a:rPr lang="es-AR" altLang="en-US" sz="2300" b="1" dirty="0">
                    <a:solidFill>
                      <a:schemeClr val="tx1">
                        <a:lumMod val="60000"/>
                        <a:lumOff val="40000"/>
                      </a:schemeClr>
                    </a:solidFill>
                  </a:rPr>
                  <a:t>factor de descuento</a:t>
                </a:r>
              </a:p>
              <a:p>
                <a:pPr eaLnBrk="1" hangingPunct="1">
                  <a:defRPr/>
                </a:pPr>
                <a:endParaRPr lang="es-AR" altLang="en-US" sz="2300" dirty="0">
                  <a:solidFill>
                    <a:srgbClr val="000000"/>
                  </a:solidFill>
                </a:endParaRPr>
              </a:p>
              <a:p>
                <a:pPr marL="0" indent="0">
                  <a:buNone/>
                  <a:defRPr/>
                </a:pPr>
                <a14:m>
                  <m:oMathPara xmlns:m="http://schemas.openxmlformats.org/officeDocument/2006/math">
                    <m:oMathParaPr>
                      <m:jc m:val="centerGroup"/>
                    </m:oMathParaPr>
                    <m:oMath xmlns:m="http://schemas.openxmlformats.org/officeDocument/2006/math">
                      <m:r>
                        <a:rPr lang="en-US" altLang="en-US" sz="2300" i="1">
                          <a:solidFill>
                            <a:srgbClr val="000000"/>
                          </a:solidFill>
                          <a:latin typeface="Cambria Math" panose="02040503050406030204" pitchFamily="18" charset="0"/>
                        </a:rPr>
                        <m:t>𝐵</m:t>
                      </m:r>
                      <m:d>
                        <m:dPr>
                          <m:ctrlPr>
                            <a:rPr lang="en-US" altLang="en-US" sz="2300" i="1">
                              <a:solidFill>
                                <a:srgbClr val="000000"/>
                              </a:solidFill>
                              <a:latin typeface="Cambria Math" panose="02040503050406030204" pitchFamily="18" charset="0"/>
                            </a:rPr>
                          </m:ctrlPr>
                        </m:dPr>
                        <m:e>
                          <m:r>
                            <a:rPr lang="en-US" altLang="en-US" sz="2300" i="1">
                              <a:solidFill>
                                <a:srgbClr val="000000"/>
                              </a:solidFill>
                              <a:latin typeface="Cambria Math" panose="02040503050406030204" pitchFamily="18" charset="0"/>
                            </a:rPr>
                            <m:t>0</m:t>
                          </m:r>
                        </m:e>
                      </m:d>
                      <m:r>
                        <a:rPr lang="en-US" altLang="en-US" sz="2300" i="1">
                          <a:solidFill>
                            <a:srgbClr val="000000"/>
                          </a:solidFill>
                          <a:latin typeface="Cambria Math" panose="02040503050406030204" pitchFamily="18" charset="0"/>
                        </a:rPr>
                        <m:t>=</m:t>
                      </m:r>
                      <m:f>
                        <m:fPr>
                          <m:ctrlPr>
                            <a:rPr lang="en-US" altLang="en-US" sz="2300" i="1">
                              <a:solidFill>
                                <a:srgbClr val="000000"/>
                              </a:solidFill>
                              <a:latin typeface="Cambria Math" panose="02040503050406030204" pitchFamily="18" charset="0"/>
                            </a:rPr>
                          </m:ctrlPr>
                        </m:fPr>
                        <m:num>
                          <m:r>
                            <a:rPr lang="en-US" altLang="en-US" sz="2300" i="1">
                              <a:solidFill>
                                <a:srgbClr val="000000"/>
                              </a:solidFill>
                              <a:latin typeface="Cambria Math" panose="02040503050406030204" pitchFamily="18" charset="0"/>
                            </a:rPr>
                            <m:t>1</m:t>
                          </m:r>
                        </m:num>
                        <m:den>
                          <m:d>
                            <m:dPr>
                              <m:ctrlPr>
                                <a:rPr lang="en-US" altLang="en-US" sz="2300" i="1">
                                  <a:solidFill>
                                    <a:srgbClr val="000000"/>
                                  </a:solidFill>
                                  <a:latin typeface="Cambria Math" panose="02040503050406030204" pitchFamily="18" charset="0"/>
                                </a:rPr>
                              </m:ctrlPr>
                            </m:dPr>
                            <m:e>
                              <m:r>
                                <a:rPr lang="en-US" altLang="en-US" sz="2300" i="1">
                                  <a:solidFill>
                                    <a:srgbClr val="000000"/>
                                  </a:solidFill>
                                  <a:latin typeface="Cambria Math" panose="02040503050406030204" pitchFamily="18" charset="0"/>
                                </a:rPr>
                                <m:t>1+</m:t>
                              </m:r>
                              <m:r>
                                <a:rPr lang="en-US" altLang="en-US" sz="2300" i="1">
                                  <a:solidFill>
                                    <a:srgbClr val="000000"/>
                                  </a:solidFill>
                                  <a:latin typeface="Cambria Math" panose="02040503050406030204" pitchFamily="18" charset="0"/>
                                </a:rPr>
                                <m:t>𝑟</m:t>
                              </m:r>
                            </m:e>
                          </m:d>
                        </m:den>
                      </m:f>
                      <m:r>
                        <a:rPr lang="en-US" altLang="en-US" sz="2300" i="1">
                          <a:solidFill>
                            <a:srgbClr val="000000"/>
                          </a:solidFill>
                          <a:latin typeface="Cambria Math" panose="02040503050406030204" pitchFamily="18" charset="0"/>
                        </a:rPr>
                        <m:t>𝐵</m:t>
                      </m:r>
                      <m:d>
                        <m:dPr>
                          <m:ctrlPr>
                            <a:rPr lang="en-US" altLang="en-US" sz="2300" i="1">
                              <a:solidFill>
                                <a:srgbClr val="000000"/>
                              </a:solidFill>
                              <a:latin typeface="Cambria Math" panose="02040503050406030204" pitchFamily="18" charset="0"/>
                            </a:rPr>
                          </m:ctrlPr>
                        </m:dPr>
                        <m:e>
                          <m:r>
                            <a:rPr lang="en-US" altLang="en-US" sz="2300" i="1">
                              <a:solidFill>
                                <a:srgbClr val="000000"/>
                              </a:solidFill>
                              <a:latin typeface="Cambria Math" panose="02040503050406030204" pitchFamily="18" charset="0"/>
                            </a:rPr>
                            <m:t>𝑇</m:t>
                          </m:r>
                        </m:e>
                      </m:d>
                      <m:r>
                        <a:rPr lang="en-US" altLang="en-US" sz="2300" i="1">
                          <a:solidFill>
                            <a:srgbClr val="000000"/>
                          </a:solidFill>
                          <a:latin typeface="Cambria Math" panose="02040503050406030204" pitchFamily="18" charset="0"/>
                        </a:rPr>
                        <m:t>   |  </m:t>
                      </m:r>
                      <m:r>
                        <a:rPr lang="en-US" altLang="en-US" sz="2300" i="1">
                          <a:solidFill>
                            <a:srgbClr val="000000"/>
                          </a:solidFill>
                          <a:latin typeface="Cambria Math" panose="02040503050406030204" pitchFamily="18" charset="0"/>
                        </a:rPr>
                        <m:t>𝐵</m:t>
                      </m:r>
                      <m:d>
                        <m:dPr>
                          <m:ctrlPr>
                            <a:rPr lang="en-US" altLang="en-US" sz="2300" i="1">
                              <a:solidFill>
                                <a:srgbClr val="000000"/>
                              </a:solidFill>
                              <a:latin typeface="Cambria Math" panose="02040503050406030204" pitchFamily="18" charset="0"/>
                            </a:rPr>
                          </m:ctrlPr>
                        </m:dPr>
                        <m:e>
                          <m:r>
                            <a:rPr lang="en-US" altLang="en-US" sz="2300" i="1">
                              <a:solidFill>
                                <a:srgbClr val="000000"/>
                              </a:solidFill>
                              <a:latin typeface="Cambria Math" panose="02040503050406030204" pitchFamily="18" charset="0"/>
                            </a:rPr>
                            <m:t>0</m:t>
                          </m:r>
                        </m:e>
                      </m:d>
                      <m:r>
                        <a:rPr lang="en-US" altLang="en-US" sz="2300" i="1">
                          <a:solidFill>
                            <a:srgbClr val="000000"/>
                          </a:solidFill>
                          <a:latin typeface="Cambria Math" panose="02040503050406030204" pitchFamily="18" charset="0"/>
                        </a:rPr>
                        <m:t>=</m:t>
                      </m:r>
                      <m:sSup>
                        <m:sSupPr>
                          <m:ctrlPr>
                            <a:rPr lang="en-US" altLang="en-US" sz="2300" i="1">
                              <a:solidFill>
                                <a:srgbClr val="000000"/>
                              </a:solidFill>
                              <a:latin typeface="Cambria Math" panose="02040503050406030204" pitchFamily="18" charset="0"/>
                            </a:rPr>
                          </m:ctrlPr>
                        </m:sSupPr>
                        <m:e>
                          <m:r>
                            <a:rPr lang="en-US" altLang="en-US" sz="2300" i="1">
                              <a:solidFill>
                                <a:srgbClr val="000000"/>
                              </a:solidFill>
                              <a:latin typeface="Cambria Math" panose="02040503050406030204" pitchFamily="18" charset="0"/>
                            </a:rPr>
                            <m:t>𝑒</m:t>
                          </m:r>
                        </m:e>
                        <m:sup>
                          <m:r>
                            <a:rPr lang="en-US" altLang="en-US" sz="2300" i="1">
                              <a:solidFill>
                                <a:srgbClr val="000000"/>
                              </a:solidFill>
                              <a:latin typeface="Cambria Math" panose="02040503050406030204" pitchFamily="18" charset="0"/>
                            </a:rPr>
                            <m:t>−</m:t>
                          </m:r>
                          <m:r>
                            <a:rPr lang="en-US" altLang="en-US" sz="2300" i="1">
                              <a:solidFill>
                                <a:srgbClr val="000000"/>
                              </a:solidFill>
                              <a:latin typeface="Cambria Math" panose="02040503050406030204" pitchFamily="18" charset="0"/>
                            </a:rPr>
                            <m:t>𝑟𝑇</m:t>
                          </m:r>
                        </m:sup>
                      </m:sSup>
                      <m:r>
                        <a:rPr lang="en-US" altLang="en-US" sz="2300" i="1">
                          <a:solidFill>
                            <a:srgbClr val="000000"/>
                          </a:solidFill>
                          <a:latin typeface="Cambria Math" panose="02040503050406030204" pitchFamily="18" charset="0"/>
                        </a:rPr>
                        <m:t>𝐵</m:t>
                      </m:r>
                      <m:r>
                        <a:rPr lang="en-US" altLang="en-US" sz="2300" i="1">
                          <a:solidFill>
                            <a:srgbClr val="000000"/>
                          </a:solidFill>
                          <a:latin typeface="Cambria Math" panose="02040503050406030204" pitchFamily="18" charset="0"/>
                        </a:rPr>
                        <m:t>(</m:t>
                      </m:r>
                      <m:r>
                        <a:rPr lang="en-US" altLang="en-US" sz="2300" i="1">
                          <a:solidFill>
                            <a:srgbClr val="000000"/>
                          </a:solidFill>
                          <a:latin typeface="Cambria Math" panose="02040503050406030204" pitchFamily="18" charset="0"/>
                        </a:rPr>
                        <m:t>𝑇</m:t>
                      </m:r>
                      <m:r>
                        <a:rPr lang="en-US" altLang="en-US" sz="2300" i="1">
                          <a:solidFill>
                            <a:srgbClr val="000000"/>
                          </a:solidFill>
                          <a:latin typeface="Cambria Math" panose="02040503050406030204" pitchFamily="18" charset="0"/>
                        </a:rPr>
                        <m:t>)</m:t>
                      </m:r>
                    </m:oMath>
                  </m:oMathPara>
                </a14:m>
                <a:endParaRPr lang="es-AR" altLang="en-US" sz="2300" dirty="0">
                  <a:solidFill>
                    <a:srgbClr val="000000"/>
                  </a:solidFill>
                </a:endParaRPr>
              </a:p>
              <a:p>
                <a:pPr eaLnBrk="1" hangingPunct="1">
                  <a:defRPr/>
                </a:pPr>
                <a:endParaRPr lang="es-AR" altLang="en-US" sz="2300" dirty="0">
                  <a:solidFill>
                    <a:srgbClr val="000000"/>
                  </a:solidFill>
                </a:endParaRPr>
              </a:p>
              <a:p>
                <a:pPr eaLnBrk="1" hangingPunct="1">
                  <a:defRPr/>
                </a:pPr>
                <a:endParaRPr lang="es-AR" altLang="en-US" sz="2300" b="1" dirty="0">
                  <a:solidFill>
                    <a:srgbClr val="000000"/>
                  </a:solidFill>
                </a:endParaRPr>
              </a:p>
              <a:p>
                <a:pPr eaLnBrk="1" hangingPunct="1">
                  <a:defRPr/>
                </a:pPr>
                <a:endParaRPr lang="es-AR" altLang="en-US" sz="2300" b="1" dirty="0">
                  <a:solidFill>
                    <a:srgbClr val="000000"/>
                  </a:solidFill>
                </a:endParaRPr>
              </a:p>
              <a:p>
                <a:pPr marL="0" indent="0">
                  <a:buNone/>
                  <a:defRPr/>
                </a:pPr>
                <a:endParaRPr lang="es-AR" altLang="en-US" sz="2300" dirty="0">
                  <a:solidFill>
                    <a:srgbClr val="000000"/>
                  </a:solidFill>
                </a:endParaRPr>
              </a:p>
              <a:p>
                <a:pPr marL="0" indent="0">
                  <a:buNone/>
                  <a:defRPr/>
                </a:pPr>
                <a:r>
                  <a:rPr lang="es-AR" altLang="en-US" sz="2300" b="1" dirty="0">
                    <a:solidFill>
                      <a:schemeClr val="tx1">
                        <a:lumMod val="60000"/>
                        <a:lumOff val="40000"/>
                      </a:schemeClr>
                    </a:solidFill>
                  </a:rPr>
                  <a:t>Valor tiempo </a:t>
                </a:r>
                <a:r>
                  <a:rPr lang="es-AR" altLang="en-US" sz="2300" b="1" dirty="0">
                    <a:solidFill>
                      <a:srgbClr val="000000"/>
                    </a:solidFill>
                  </a:rPr>
                  <a:t>del dinero (</a:t>
                </a:r>
                <a:r>
                  <a:rPr lang="es-AR" altLang="en-US" sz="2300" b="1" i="1" dirty="0">
                    <a:solidFill>
                      <a:schemeClr val="tx1">
                        <a:lumMod val="60000"/>
                        <a:lumOff val="40000"/>
                      </a:schemeClr>
                    </a:solidFill>
                  </a:rPr>
                  <a:t>Time </a:t>
                </a:r>
                <a:r>
                  <a:rPr lang="es-AR" altLang="en-US" sz="2300" b="1" i="1" dirty="0" err="1">
                    <a:solidFill>
                      <a:schemeClr val="tx1">
                        <a:lumMod val="60000"/>
                        <a:lumOff val="40000"/>
                      </a:schemeClr>
                    </a:solidFill>
                  </a:rPr>
                  <a:t>Value</a:t>
                </a:r>
                <a:r>
                  <a:rPr lang="es-AR" altLang="en-US" sz="2300" b="1" i="1" dirty="0">
                    <a:solidFill>
                      <a:schemeClr val="tx1">
                        <a:lumMod val="60000"/>
                        <a:lumOff val="40000"/>
                      </a:schemeClr>
                    </a:solidFill>
                  </a:rPr>
                  <a:t> </a:t>
                </a:r>
                <a:r>
                  <a:rPr lang="es-AR" altLang="en-US" sz="2300" b="1" i="1" dirty="0" err="1">
                    <a:solidFill>
                      <a:srgbClr val="000000"/>
                    </a:solidFill>
                  </a:rPr>
                  <a:t>of</a:t>
                </a:r>
                <a:r>
                  <a:rPr lang="es-AR" altLang="en-US" sz="2300" b="1" i="1" dirty="0">
                    <a:solidFill>
                      <a:srgbClr val="000000"/>
                    </a:solidFill>
                  </a:rPr>
                  <a:t> Money</a:t>
                </a:r>
                <a:r>
                  <a:rPr lang="en-US" altLang="en-US" sz="2300" b="1" i="1" dirty="0">
                    <a:solidFill>
                      <a:srgbClr val="000000"/>
                    </a:solidFill>
                  </a:rPr>
                  <a:t>)</a:t>
                </a:r>
                <a:endParaRPr lang="es-AR" altLang="en-US" sz="2300" b="1" i="1" dirty="0">
                  <a:solidFill>
                    <a:srgbClr val="000000"/>
                  </a:solidFill>
                </a:endParaRPr>
              </a:p>
              <a:p>
                <a:pPr eaLnBrk="1" hangingPunct="1">
                  <a:defRPr/>
                </a:pPr>
                <a:endParaRPr lang="es-AR" altLang="en-US" sz="2300" b="1" dirty="0">
                  <a:solidFill>
                    <a:srgbClr val="000000"/>
                  </a:solidFill>
                </a:endParaRPr>
              </a:p>
              <a:p>
                <a:pPr eaLnBrk="1" hangingPunct="1">
                  <a:defRPr/>
                </a:pPr>
                <a:r>
                  <a:rPr lang="es-AR" altLang="en-US" sz="2300" b="1" dirty="0">
                    <a:solidFill>
                      <a:srgbClr val="000000"/>
                    </a:solidFill>
                  </a:rPr>
                  <a:t>1$ sin riesgo vale más que 1$ con riesgo</a:t>
                </a:r>
              </a:p>
              <a:p>
                <a:pPr eaLnBrk="1" hangingPunct="1">
                  <a:defRPr/>
                </a:pPr>
                <a:endParaRPr lang="es-AR" altLang="en-US" sz="2300" dirty="0">
                  <a:solidFill>
                    <a:srgbClr val="000000"/>
                  </a:solidFill>
                </a:endParaRPr>
              </a:p>
              <a:p>
                <a:pPr eaLnBrk="1" hangingPunct="1">
                  <a:defRPr/>
                </a:pPr>
                <a:endParaRPr lang="es-AR" altLang="en-US" sz="2400" i="1" dirty="0">
                  <a:solidFill>
                    <a:srgbClr val="000000"/>
                  </a:solidFill>
                </a:endParaRPr>
              </a:p>
              <a:p>
                <a:pPr lvl="1" eaLnBrk="1" hangingPunct="1">
                  <a:defRPr/>
                </a:pPr>
                <a:endParaRPr lang="es-AR" altLang="en-US" sz="2000" dirty="0">
                  <a:solidFill>
                    <a:srgbClr val="000000"/>
                  </a:solidFill>
                </a:endParaRPr>
              </a:p>
            </p:txBody>
          </p:sp>
        </mc:Choice>
        <mc:Fallback xmlns="">
          <p:sp>
            <p:nvSpPr>
              <p:cNvPr id="8196" name="Rectangle 3">
                <a:extLst>
                  <a:ext uri="{FF2B5EF4-FFF2-40B4-BE49-F238E27FC236}">
                    <a16:creationId xmlns:a16="http://schemas.microsoft.com/office/drawing/2014/main" id="{5E95E330-DAB6-4CEA-A601-822AFE242950}"/>
                  </a:ext>
                </a:extLst>
              </p:cNvPr>
              <p:cNvSpPr>
                <a:spLocks noGrp="1" noRot="1" noChangeAspect="1" noMove="1" noResize="1" noEditPoints="1" noAdjustHandles="1" noChangeArrowheads="1" noChangeShapeType="1" noTextEdit="1"/>
              </p:cNvSpPr>
              <p:nvPr>
                <p:ph type="body" idx="4294967295"/>
              </p:nvPr>
            </p:nvSpPr>
            <p:spPr>
              <a:xfrm>
                <a:off x="1524000" y="1125538"/>
                <a:ext cx="8458200" cy="5257800"/>
              </a:xfrm>
              <a:blipFill>
                <a:blip r:embed="rId3"/>
                <a:stretch>
                  <a:fillRect l="-1009"/>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FC870F59-2549-4AFA-89AB-7781B9FB049D}"/>
              </a:ext>
            </a:extLst>
          </p:cNvPr>
          <p:cNvPicPr>
            <a:picLocks noChangeAspect="1"/>
          </p:cNvPicPr>
          <p:nvPr/>
        </p:nvPicPr>
        <p:blipFill>
          <a:blip r:embed="rId4"/>
          <a:stretch>
            <a:fillRect/>
          </a:stretch>
        </p:blipFill>
        <p:spPr>
          <a:xfrm>
            <a:off x="1703513" y="3396696"/>
            <a:ext cx="8391525" cy="1304925"/>
          </a:xfrm>
          <a:prstGeom prst="rect">
            <a:avLst/>
          </a:prstGeom>
        </p:spPr>
      </p:pic>
    </p:spTree>
    <p:extLst>
      <p:ext uri="{BB962C8B-B14F-4D97-AF65-F5344CB8AC3E}">
        <p14:creationId xmlns:p14="http://schemas.microsoft.com/office/powerpoint/2010/main" val="388164860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422C4BB7-314D-437D-8885-EB0617660447}"/>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3EF193DC-97B0-416E-9057-A419FF8D22EA}" type="slidenum">
              <a:rPr lang="en-US" altLang="en-US" sz="1400"/>
              <a:pPr algn="r" eaLnBrk="0" fontAlgn="base" hangingPunct="0">
                <a:spcBef>
                  <a:spcPct val="0"/>
                </a:spcBef>
                <a:spcAft>
                  <a:spcPct val="0"/>
                </a:spcAft>
                <a:buClrTx/>
                <a:buNone/>
                <a:defRPr/>
              </a:pPr>
              <a:t>8</a:t>
            </a:fld>
            <a:endParaRPr lang="en-US" altLang="en-US" sz="1400"/>
          </a:p>
        </p:txBody>
      </p:sp>
      <p:sp>
        <p:nvSpPr>
          <p:cNvPr id="9219" name="Rectangle 2">
            <a:extLst>
              <a:ext uri="{FF2B5EF4-FFF2-40B4-BE49-F238E27FC236}">
                <a16:creationId xmlns:a16="http://schemas.microsoft.com/office/drawing/2014/main" id="{ACC1C571-7684-4C40-8CB0-6E39D3884A4F}"/>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Antes de empezar… Principios </a:t>
            </a:r>
            <a:r>
              <a:rPr lang="en-US" altLang="en-US" sz="3200" dirty="0">
                <a:solidFill>
                  <a:srgbClr val="000000"/>
                </a:solidFill>
              </a:rPr>
              <a:t>(3/4)</a:t>
            </a:r>
            <a:endParaRPr lang="es-AR" altLang="en-US" sz="3200" dirty="0">
              <a:solidFill>
                <a:srgbClr val="000000"/>
              </a:solidFill>
            </a:endParaRP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25538"/>
            <a:ext cx="8458200" cy="5257800"/>
          </a:xfrm>
        </p:spPr>
        <p:txBody>
          <a:bodyPr>
            <a:normAutofit/>
          </a:bodyPr>
          <a:lstStyle/>
          <a:p>
            <a:pPr marL="0" indent="0">
              <a:buNone/>
              <a:defRPr/>
            </a:pPr>
            <a:endParaRPr lang="es-AR" altLang="en-US" sz="2300" dirty="0">
              <a:solidFill>
                <a:srgbClr val="000000"/>
              </a:solidFill>
            </a:endParaRPr>
          </a:p>
          <a:p>
            <a:pPr eaLnBrk="1" hangingPunct="1">
              <a:defRPr/>
            </a:pPr>
            <a:r>
              <a:rPr lang="es-AR" altLang="en-US" sz="2300" b="1" dirty="0">
                <a:solidFill>
                  <a:schemeClr val="tx1">
                    <a:lumMod val="60000"/>
                    <a:lumOff val="40000"/>
                  </a:schemeClr>
                </a:solidFill>
              </a:rPr>
              <a:t>Arbitraje</a:t>
            </a:r>
            <a:r>
              <a:rPr lang="es-AR" altLang="en-US" sz="2300" dirty="0">
                <a:solidFill>
                  <a:srgbClr val="000000"/>
                </a:solidFill>
              </a:rPr>
              <a:t>: </a:t>
            </a:r>
            <a:r>
              <a:rPr lang="es-AR" altLang="en-US" sz="2300" i="1" dirty="0" err="1">
                <a:solidFill>
                  <a:srgbClr val="000000"/>
                </a:solidFill>
              </a:rPr>
              <a:t>There</a:t>
            </a:r>
            <a:r>
              <a:rPr lang="es-AR" altLang="en-US" sz="2300" i="1" dirty="0">
                <a:solidFill>
                  <a:srgbClr val="000000"/>
                </a:solidFill>
              </a:rPr>
              <a:t> </a:t>
            </a:r>
            <a:r>
              <a:rPr lang="es-AR" altLang="en-US" sz="2300" i="1" dirty="0" err="1">
                <a:solidFill>
                  <a:srgbClr val="000000"/>
                </a:solidFill>
              </a:rPr>
              <a:t>is</a:t>
            </a:r>
            <a:r>
              <a:rPr lang="es-AR" altLang="en-US" sz="2300" i="1" dirty="0">
                <a:solidFill>
                  <a:srgbClr val="000000"/>
                </a:solidFill>
              </a:rPr>
              <a:t> no free lunch</a:t>
            </a:r>
          </a:p>
          <a:p>
            <a:pPr eaLnBrk="1" hangingPunct="1">
              <a:defRPr/>
            </a:pPr>
            <a:endParaRPr lang="es-AR" altLang="en-US" sz="2300" i="1" dirty="0">
              <a:solidFill>
                <a:srgbClr val="000000"/>
              </a:solidFill>
            </a:endParaRPr>
          </a:p>
          <a:p>
            <a:r>
              <a:rPr lang="es-AR" sz="2300" dirty="0">
                <a:solidFill>
                  <a:srgbClr val="000000"/>
                </a:solidFill>
              </a:rPr>
              <a:t>En economía y finanzas, arbitraje es la practica de </a:t>
            </a:r>
            <a:r>
              <a:rPr lang="es-AR" sz="2300" b="1" dirty="0">
                <a:solidFill>
                  <a:schemeClr val="tx1">
                    <a:lumMod val="60000"/>
                    <a:lumOff val="40000"/>
                  </a:schemeClr>
                </a:solidFill>
              </a:rPr>
              <a:t>tomar ventaja</a:t>
            </a:r>
            <a:r>
              <a:rPr lang="es-AR" sz="2300" dirty="0">
                <a:solidFill>
                  <a:srgbClr val="000000"/>
                </a:solidFill>
              </a:rPr>
              <a:t> de una diferencia de precio entre dos o mas mercados: realizar una combinación de transacciones complementarias que capitalizan el desequilibrio de precios.</a:t>
            </a:r>
          </a:p>
          <a:p>
            <a:endParaRPr lang="es-AR" sz="2300" dirty="0">
              <a:solidFill>
                <a:srgbClr val="000000"/>
              </a:solidFill>
            </a:endParaRPr>
          </a:p>
          <a:p>
            <a:r>
              <a:rPr lang="es-AR" sz="2300" dirty="0">
                <a:solidFill>
                  <a:srgbClr val="000000"/>
                </a:solidFill>
              </a:rPr>
              <a:t>Para modelar y para buscar precios justos, necesitaremos la siguiente </a:t>
            </a:r>
            <a:r>
              <a:rPr lang="es-AR" sz="2300" dirty="0" err="1">
                <a:solidFill>
                  <a:srgbClr val="000000"/>
                </a:solidFill>
              </a:rPr>
              <a:t>hipótesis</a:t>
            </a:r>
            <a:r>
              <a:rPr lang="es-AR" sz="2300" dirty="0">
                <a:solidFill>
                  <a:srgbClr val="000000"/>
                </a:solidFill>
              </a:rPr>
              <a:t>: </a:t>
            </a:r>
            <a:r>
              <a:rPr lang="es-AR" sz="2300" b="1" dirty="0">
                <a:solidFill>
                  <a:schemeClr val="tx1">
                    <a:lumMod val="60000"/>
                    <a:lumOff val="40000"/>
                  </a:schemeClr>
                </a:solidFill>
              </a:rPr>
              <a:t>No existen posibilidades de arbitraje</a:t>
            </a:r>
          </a:p>
          <a:p>
            <a:endParaRPr lang="es-AR" sz="2300" b="1" i="1" dirty="0">
              <a:solidFill>
                <a:schemeClr val="tx1">
                  <a:lumMod val="60000"/>
                  <a:lumOff val="40000"/>
                </a:schemeClr>
              </a:solidFill>
            </a:endParaRPr>
          </a:p>
          <a:p>
            <a:r>
              <a:rPr lang="es-AR" sz="2300" dirty="0">
                <a:solidFill>
                  <a:srgbClr val="000000"/>
                </a:solidFill>
              </a:rPr>
              <a:t>Qué ejemplos de arbitraje conocen?</a:t>
            </a:r>
          </a:p>
          <a:p>
            <a:pPr lvl="1" eaLnBrk="1" hangingPunct="1">
              <a:defRPr/>
            </a:pPr>
            <a:endParaRPr lang="es-AR" altLang="en-US" sz="2000" dirty="0">
              <a:solidFill>
                <a:srgbClr val="000000"/>
              </a:solidFill>
            </a:endParaRPr>
          </a:p>
        </p:txBody>
      </p:sp>
    </p:spTree>
    <p:extLst>
      <p:ext uri="{BB962C8B-B14F-4D97-AF65-F5344CB8AC3E}">
        <p14:creationId xmlns:p14="http://schemas.microsoft.com/office/powerpoint/2010/main" val="124065291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422C4BB7-314D-437D-8885-EB0617660447}"/>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3EF193DC-97B0-416E-9057-A419FF8D22EA}" type="slidenum">
              <a:rPr lang="en-US" altLang="en-US" sz="1400"/>
              <a:pPr algn="r" eaLnBrk="0" fontAlgn="base" hangingPunct="0">
                <a:spcBef>
                  <a:spcPct val="0"/>
                </a:spcBef>
                <a:spcAft>
                  <a:spcPct val="0"/>
                </a:spcAft>
                <a:buClrTx/>
                <a:buNone/>
                <a:defRPr/>
              </a:pPr>
              <a:t>9</a:t>
            </a:fld>
            <a:endParaRPr lang="en-US" altLang="en-US" sz="1400"/>
          </a:p>
        </p:txBody>
      </p:sp>
      <p:sp>
        <p:nvSpPr>
          <p:cNvPr id="9219" name="Rectangle 2">
            <a:extLst>
              <a:ext uri="{FF2B5EF4-FFF2-40B4-BE49-F238E27FC236}">
                <a16:creationId xmlns:a16="http://schemas.microsoft.com/office/drawing/2014/main" id="{ACC1C571-7684-4C40-8CB0-6E39D3884A4F}"/>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Antes de empezar… Principios </a:t>
            </a:r>
            <a:r>
              <a:rPr lang="en-US" altLang="en-US" sz="3200" dirty="0">
                <a:solidFill>
                  <a:srgbClr val="000000"/>
                </a:solidFill>
              </a:rPr>
              <a:t>(4/4)</a:t>
            </a:r>
            <a:endParaRPr lang="es-AR" altLang="en-US" sz="3200" dirty="0">
              <a:solidFill>
                <a:srgbClr val="000000"/>
              </a:solidFill>
            </a:endParaRP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25538"/>
            <a:ext cx="8458200" cy="5257800"/>
          </a:xfrm>
        </p:spPr>
        <p:txBody>
          <a:bodyPr>
            <a:normAutofit/>
          </a:bodyPr>
          <a:lstStyle/>
          <a:p>
            <a:pPr marL="0" indent="0">
              <a:buNone/>
              <a:defRPr/>
            </a:pPr>
            <a:endParaRPr lang="es-AR" altLang="en-US" sz="2300" dirty="0">
              <a:solidFill>
                <a:srgbClr val="000000"/>
              </a:solidFill>
            </a:endParaRPr>
          </a:p>
          <a:p>
            <a:endParaRPr lang="es-AR" sz="2300" dirty="0">
              <a:solidFill>
                <a:srgbClr val="000000"/>
              </a:solidFill>
            </a:endParaRPr>
          </a:p>
          <a:p>
            <a:r>
              <a:rPr lang="es-AR" sz="2300" dirty="0">
                <a:solidFill>
                  <a:srgbClr val="000000"/>
                </a:solidFill>
              </a:rPr>
              <a:t>Estas oportunidades existen en la realidad, pero </a:t>
            </a:r>
            <a:r>
              <a:rPr lang="es-AR" sz="2300" b="1" dirty="0">
                <a:solidFill>
                  <a:schemeClr val="tx1">
                    <a:lumMod val="60000"/>
                    <a:lumOff val="40000"/>
                  </a:schemeClr>
                </a:solidFill>
              </a:rPr>
              <a:t>las ventanas son (deberían ser!) pequeñas.</a:t>
            </a:r>
          </a:p>
          <a:p>
            <a:endParaRPr lang="es-AR" altLang="en-US" sz="2300" dirty="0">
              <a:solidFill>
                <a:srgbClr val="000000"/>
              </a:solidFill>
            </a:endParaRPr>
          </a:p>
          <a:p>
            <a:pPr eaLnBrk="1" hangingPunct="1">
              <a:defRPr/>
            </a:pPr>
            <a:r>
              <a:rPr lang="es-AR" altLang="en-US" sz="2400" dirty="0">
                <a:solidFill>
                  <a:srgbClr val="000000"/>
                </a:solidFill>
              </a:rPr>
              <a:t>Decimos que existen oportunidades de arbitraje si existe un portafolio                                  , que cumpla simultáneamente:</a:t>
            </a:r>
          </a:p>
          <a:p>
            <a:pPr eaLnBrk="1" hangingPunct="1">
              <a:defRPr/>
            </a:pPr>
            <a:endParaRPr lang="es-AR" altLang="en-US" sz="2400" i="1" dirty="0">
              <a:solidFill>
                <a:srgbClr val="000000"/>
              </a:solidFill>
            </a:endParaRPr>
          </a:p>
          <a:p>
            <a:pPr eaLnBrk="1" hangingPunct="1">
              <a:defRPr/>
            </a:pPr>
            <a:endParaRPr lang="es-AR" altLang="en-US" sz="2400" dirty="0">
              <a:solidFill>
                <a:srgbClr val="000000"/>
              </a:solidFill>
            </a:endParaRPr>
          </a:p>
          <a:p>
            <a:pPr eaLnBrk="1" hangingPunct="1">
              <a:defRPr/>
            </a:pPr>
            <a:endParaRPr lang="es-AR" altLang="en-US" sz="2400" dirty="0">
              <a:solidFill>
                <a:srgbClr val="000000"/>
              </a:solidFill>
            </a:endParaRPr>
          </a:p>
          <a:p>
            <a:pPr eaLnBrk="1" hangingPunct="1">
              <a:defRPr/>
            </a:pPr>
            <a:r>
              <a:rPr lang="es-AR" altLang="en-US" sz="2400" dirty="0">
                <a:solidFill>
                  <a:srgbClr val="000000"/>
                </a:solidFill>
              </a:rPr>
              <a:t>Es decir, </a:t>
            </a:r>
            <a:r>
              <a:rPr lang="es-AR" altLang="en-US" sz="2300" b="1" dirty="0">
                <a:solidFill>
                  <a:schemeClr val="tx1">
                    <a:lumMod val="60000"/>
                    <a:lumOff val="40000"/>
                  </a:schemeClr>
                </a:solidFill>
              </a:rPr>
              <a:t>empiezo gratis, termino positivo</a:t>
            </a:r>
          </a:p>
        </p:txBody>
      </p:sp>
      <p:pic>
        <p:nvPicPr>
          <p:cNvPr id="2" name="Picture 1">
            <a:extLst>
              <a:ext uri="{FF2B5EF4-FFF2-40B4-BE49-F238E27FC236}">
                <a16:creationId xmlns:a16="http://schemas.microsoft.com/office/drawing/2014/main" id="{240D874B-2CA8-4C3D-BB7C-2F016FB11245}"/>
              </a:ext>
            </a:extLst>
          </p:cNvPr>
          <p:cNvPicPr>
            <a:picLocks noChangeAspect="1"/>
          </p:cNvPicPr>
          <p:nvPr/>
        </p:nvPicPr>
        <p:blipFill>
          <a:blip r:embed="rId3"/>
          <a:stretch>
            <a:fillRect/>
          </a:stretch>
        </p:blipFill>
        <p:spPr>
          <a:xfrm>
            <a:off x="2775174" y="4293096"/>
            <a:ext cx="5553075" cy="533400"/>
          </a:xfrm>
          <a:prstGeom prst="rect">
            <a:avLst/>
          </a:prstGeom>
        </p:spPr>
      </p:pic>
      <p:pic>
        <p:nvPicPr>
          <p:cNvPr id="3" name="Picture 2">
            <a:extLst>
              <a:ext uri="{FF2B5EF4-FFF2-40B4-BE49-F238E27FC236}">
                <a16:creationId xmlns:a16="http://schemas.microsoft.com/office/drawing/2014/main" id="{B1E61FC6-1A66-4ED5-9485-4439A1314118}"/>
              </a:ext>
            </a:extLst>
          </p:cNvPr>
          <p:cNvPicPr>
            <a:picLocks noChangeAspect="1"/>
          </p:cNvPicPr>
          <p:nvPr/>
        </p:nvPicPr>
        <p:blipFill>
          <a:blip r:embed="rId4"/>
          <a:stretch>
            <a:fillRect/>
          </a:stretch>
        </p:blipFill>
        <p:spPr>
          <a:xfrm>
            <a:off x="3138339" y="3602019"/>
            <a:ext cx="2160240" cy="401905"/>
          </a:xfrm>
          <a:prstGeom prst="rect">
            <a:avLst/>
          </a:prstGeom>
        </p:spPr>
      </p:pic>
    </p:spTree>
    <p:extLst>
      <p:ext uri="{BB962C8B-B14F-4D97-AF65-F5344CB8AC3E}">
        <p14:creationId xmlns:p14="http://schemas.microsoft.com/office/powerpoint/2010/main" val="216599752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1E78D028-F838-4033-9469-D46C71EA952B}"/>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2762EB77-76A3-43EA-A45C-44E6379811E5}" type="slidenum">
              <a:rPr lang="en-US" altLang="en-US" sz="1400"/>
              <a:pPr algn="r" eaLnBrk="0" fontAlgn="base" hangingPunct="0">
                <a:spcBef>
                  <a:spcPct val="0"/>
                </a:spcBef>
                <a:spcAft>
                  <a:spcPct val="0"/>
                </a:spcAft>
                <a:buClrTx/>
                <a:buNone/>
                <a:defRPr/>
              </a:pPr>
              <a:t>10</a:t>
            </a:fld>
            <a:endParaRPr lang="en-US" altLang="en-US" sz="1400"/>
          </a:p>
        </p:txBody>
      </p:sp>
      <p:sp>
        <p:nvSpPr>
          <p:cNvPr id="11267" name="Rectangle 2">
            <a:extLst>
              <a:ext uri="{FF2B5EF4-FFF2-40B4-BE49-F238E27FC236}">
                <a16:creationId xmlns:a16="http://schemas.microsoft.com/office/drawing/2014/main" id="{48CA9DCB-AE0C-436D-BE67-5A9018D83436}"/>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Números importantes</a:t>
            </a: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25538"/>
            <a:ext cx="8458200" cy="5257800"/>
          </a:xfrm>
        </p:spPr>
        <p:txBody>
          <a:bodyPr>
            <a:normAutofit fontScale="85000" lnSpcReduction="20000"/>
          </a:bodyPr>
          <a:lstStyle/>
          <a:p>
            <a:pPr marL="0" indent="0" eaLnBrk="1" hangingPunct="1">
              <a:buNone/>
              <a:defRPr/>
            </a:pPr>
            <a:r>
              <a:rPr lang="es-AR" altLang="en-US" sz="2300" i="1" dirty="0">
                <a:solidFill>
                  <a:srgbClr val="000000"/>
                </a:solidFill>
              </a:rPr>
              <a:t>En todo momento</a:t>
            </a:r>
            <a:endParaRPr lang="es-AR" altLang="en-US" sz="2300" b="1" dirty="0">
              <a:solidFill>
                <a:schemeClr val="tx1">
                  <a:lumMod val="60000"/>
                  <a:lumOff val="40000"/>
                </a:schemeClr>
              </a:solidFill>
            </a:endParaRPr>
          </a:p>
          <a:p>
            <a:pPr eaLnBrk="1" hangingPunct="1">
              <a:defRPr/>
            </a:pPr>
            <a:r>
              <a:rPr lang="es-AR" altLang="en-US" sz="2300" b="1" dirty="0">
                <a:solidFill>
                  <a:schemeClr val="tx1">
                    <a:lumMod val="60000"/>
                    <a:lumOff val="40000"/>
                  </a:schemeClr>
                </a:solidFill>
              </a:rPr>
              <a:t>Precio*</a:t>
            </a:r>
            <a:r>
              <a:rPr lang="es-AR" altLang="en-US" sz="2300" b="1" i="1" dirty="0">
                <a:solidFill>
                  <a:schemeClr val="tx1">
                    <a:lumMod val="60000"/>
                    <a:lumOff val="40000"/>
                  </a:schemeClr>
                </a:solidFill>
              </a:rPr>
              <a:t> </a:t>
            </a:r>
            <a:r>
              <a:rPr lang="es-AR" altLang="en-US" sz="2300" i="1" dirty="0">
                <a:solidFill>
                  <a:srgbClr val="000000"/>
                </a:solidFill>
              </a:rPr>
              <a:t>– </a:t>
            </a:r>
            <a:r>
              <a:rPr lang="es-AR" altLang="en-US" sz="2300" dirty="0">
                <a:solidFill>
                  <a:srgbClr val="000000"/>
                </a:solidFill>
              </a:rPr>
              <a:t>Es el numero que se observa en un mercado (organizado o bien OTC) y se pagaría/recibiría para negociar un instrumento</a:t>
            </a:r>
            <a:r>
              <a:rPr lang="es-AR" altLang="en-US" sz="2300" i="1" dirty="0">
                <a:solidFill>
                  <a:srgbClr val="000000"/>
                </a:solidFill>
              </a:rPr>
              <a:t> </a:t>
            </a:r>
          </a:p>
          <a:p>
            <a:pPr eaLnBrk="1" hangingPunct="1">
              <a:defRPr/>
            </a:pPr>
            <a:endParaRPr lang="es-AR" altLang="en-US" sz="2300" i="1" dirty="0">
              <a:solidFill>
                <a:srgbClr val="000000"/>
              </a:solidFill>
            </a:endParaRPr>
          </a:p>
          <a:p>
            <a:pPr eaLnBrk="1" hangingPunct="1">
              <a:defRPr/>
            </a:pPr>
            <a:r>
              <a:rPr lang="es-AR" altLang="en-US" sz="2300" b="1" dirty="0">
                <a:solidFill>
                  <a:schemeClr val="tx1">
                    <a:lumMod val="60000"/>
                    <a:lumOff val="40000"/>
                  </a:schemeClr>
                </a:solidFill>
              </a:rPr>
              <a:t>Valor </a:t>
            </a:r>
            <a:r>
              <a:rPr lang="es-AR" altLang="en-US" sz="2300" b="1" i="1" dirty="0">
                <a:solidFill>
                  <a:schemeClr val="tx1">
                    <a:lumMod val="60000"/>
                    <a:lumOff val="40000"/>
                  </a:schemeClr>
                </a:solidFill>
              </a:rPr>
              <a:t>Mark-</a:t>
            </a:r>
            <a:r>
              <a:rPr lang="es-AR" altLang="en-US" sz="2300" b="1" i="1" dirty="0" err="1">
                <a:solidFill>
                  <a:schemeClr val="tx1">
                    <a:lumMod val="60000"/>
                    <a:lumOff val="40000"/>
                  </a:schemeClr>
                </a:solidFill>
              </a:rPr>
              <a:t>to</a:t>
            </a:r>
            <a:r>
              <a:rPr lang="es-AR" altLang="en-US" sz="2300" b="1" i="1" dirty="0">
                <a:solidFill>
                  <a:schemeClr val="tx1">
                    <a:lumMod val="60000"/>
                    <a:lumOff val="40000"/>
                  </a:schemeClr>
                </a:solidFill>
              </a:rPr>
              <a:t>-</a:t>
            </a:r>
            <a:r>
              <a:rPr lang="es-AR" altLang="en-US" sz="2300" b="1" i="1" dirty="0" err="1">
                <a:solidFill>
                  <a:schemeClr val="tx1">
                    <a:lumMod val="60000"/>
                    <a:lumOff val="40000"/>
                  </a:schemeClr>
                </a:solidFill>
              </a:rPr>
              <a:t>Market</a:t>
            </a:r>
            <a:r>
              <a:rPr lang="es-AR" altLang="en-US" sz="2300" b="1" i="1" dirty="0">
                <a:solidFill>
                  <a:srgbClr val="000000"/>
                </a:solidFill>
              </a:rPr>
              <a:t> </a:t>
            </a:r>
            <a:r>
              <a:rPr lang="es-AR" altLang="en-US" sz="2300" i="1" dirty="0">
                <a:solidFill>
                  <a:srgbClr val="000000"/>
                </a:solidFill>
              </a:rPr>
              <a:t>– </a:t>
            </a:r>
            <a:r>
              <a:rPr lang="es-AR" altLang="en-US" sz="2300" dirty="0">
                <a:solidFill>
                  <a:srgbClr val="000000"/>
                </a:solidFill>
              </a:rPr>
              <a:t>Es el numero que se estima que se podría pagar/recibir para negociar un instrumento</a:t>
            </a:r>
            <a:r>
              <a:rPr lang="es-AR" altLang="en-US" sz="2300" i="1" dirty="0">
                <a:solidFill>
                  <a:srgbClr val="000000"/>
                </a:solidFill>
              </a:rPr>
              <a:t> – Se necesitan Modelos</a:t>
            </a:r>
            <a:endParaRPr lang="es-AR" altLang="en-US" sz="2300" dirty="0">
              <a:solidFill>
                <a:srgbClr val="000000"/>
              </a:solidFill>
            </a:endParaRPr>
          </a:p>
          <a:p>
            <a:pPr eaLnBrk="1" hangingPunct="1">
              <a:defRPr/>
            </a:pPr>
            <a:endParaRPr lang="es-AR" altLang="en-US" sz="2300" dirty="0">
              <a:solidFill>
                <a:srgbClr val="000000"/>
              </a:solidFill>
            </a:endParaRPr>
          </a:p>
          <a:p>
            <a:pPr eaLnBrk="1" hangingPunct="1">
              <a:defRPr/>
            </a:pPr>
            <a:r>
              <a:rPr lang="es-AR" altLang="en-US" sz="2300" b="1" dirty="0">
                <a:solidFill>
                  <a:schemeClr val="tx1">
                    <a:lumMod val="60000"/>
                    <a:lumOff val="40000"/>
                  </a:schemeClr>
                </a:solidFill>
              </a:rPr>
              <a:t>Prima</a:t>
            </a:r>
            <a:r>
              <a:rPr lang="es-AR" altLang="en-US" sz="2300" b="1" i="1" dirty="0">
                <a:solidFill>
                  <a:schemeClr val="tx1">
                    <a:lumMod val="60000"/>
                    <a:lumOff val="40000"/>
                  </a:schemeClr>
                </a:solidFill>
              </a:rPr>
              <a:t> (Premium)</a:t>
            </a:r>
            <a:r>
              <a:rPr lang="es-AR" altLang="en-US" sz="2300" dirty="0">
                <a:solidFill>
                  <a:srgbClr val="000000"/>
                </a:solidFill>
              </a:rPr>
              <a:t> </a:t>
            </a:r>
            <a:r>
              <a:rPr lang="es-AR" altLang="en-US" sz="2300" i="1" dirty="0">
                <a:solidFill>
                  <a:srgbClr val="000000"/>
                </a:solidFill>
              </a:rPr>
              <a:t>– </a:t>
            </a:r>
            <a:r>
              <a:rPr lang="es-AR" altLang="en-US" sz="2300" dirty="0">
                <a:solidFill>
                  <a:srgbClr val="000000"/>
                </a:solidFill>
              </a:rPr>
              <a:t>Es el numero que realmente se paga/recibe para negociar un instrumento</a:t>
            </a:r>
          </a:p>
          <a:p>
            <a:pPr marL="0" indent="0" eaLnBrk="1" hangingPunct="1">
              <a:buNone/>
              <a:defRPr/>
            </a:pPr>
            <a:endParaRPr lang="es-AR" altLang="en-US" sz="2300" i="1" dirty="0">
              <a:solidFill>
                <a:srgbClr val="000000"/>
              </a:solidFill>
            </a:endParaRPr>
          </a:p>
          <a:p>
            <a:pPr marL="0" indent="0" eaLnBrk="1" hangingPunct="1">
              <a:buNone/>
              <a:defRPr/>
            </a:pPr>
            <a:r>
              <a:rPr lang="es-AR" altLang="en-US" sz="2300" i="1" dirty="0">
                <a:solidFill>
                  <a:srgbClr val="000000"/>
                </a:solidFill>
              </a:rPr>
              <a:t>A vencimiento</a:t>
            </a:r>
          </a:p>
          <a:p>
            <a:pPr>
              <a:defRPr/>
            </a:pPr>
            <a:r>
              <a:rPr lang="es-AR" altLang="en-US" sz="2300" b="1" dirty="0" err="1">
                <a:solidFill>
                  <a:schemeClr val="tx1">
                    <a:lumMod val="60000"/>
                    <a:lumOff val="40000"/>
                  </a:schemeClr>
                </a:solidFill>
              </a:rPr>
              <a:t>Payoff</a:t>
            </a:r>
            <a:r>
              <a:rPr lang="es-AR" altLang="en-US" sz="2300" b="1" dirty="0">
                <a:solidFill>
                  <a:schemeClr val="tx1">
                    <a:lumMod val="60000"/>
                    <a:lumOff val="40000"/>
                  </a:schemeClr>
                </a:solidFill>
              </a:rPr>
              <a:t> – </a:t>
            </a:r>
            <a:r>
              <a:rPr lang="es-AR" altLang="en-US" sz="2300" dirty="0">
                <a:solidFill>
                  <a:srgbClr val="000000"/>
                </a:solidFill>
              </a:rPr>
              <a:t>Es el valor a tiempo final de un contrato (determinístico!)</a:t>
            </a:r>
          </a:p>
          <a:p>
            <a:pPr marL="0" indent="0">
              <a:buNone/>
              <a:defRPr/>
            </a:pPr>
            <a:endParaRPr lang="es-AR" altLang="en-US" sz="2300" dirty="0">
              <a:solidFill>
                <a:srgbClr val="000000"/>
              </a:solidFill>
            </a:endParaRPr>
          </a:p>
          <a:p>
            <a:pPr eaLnBrk="1" hangingPunct="1">
              <a:defRPr/>
            </a:pPr>
            <a:r>
              <a:rPr lang="es-AR" altLang="en-US" sz="2300" b="1" dirty="0">
                <a:solidFill>
                  <a:schemeClr val="tx1">
                    <a:lumMod val="60000"/>
                    <a:lumOff val="40000"/>
                  </a:schemeClr>
                </a:solidFill>
              </a:rPr>
              <a:t>Ganancia</a:t>
            </a:r>
            <a:r>
              <a:rPr lang="es-AR" altLang="en-US" sz="2300" b="1" i="1" dirty="0">
                <a:solidFill>
                  <a:schemeClr val="tx1">
                    <a:lumMod val="60000"/>
                    <a:lumOff val="40000"/>
                  </a:schemeClr>
                </a:solidFill>
              </a:rPr>
              <a:t> – </a:t>
            </a:r>
            <a:r>
              <a:rPr lang="es-AR" altLang="en-US" sz="2300" b="1" i="1" dirty="0" err="1">
                <a:solidFill>
                  <a:schemeClr val="tx1">
                    <a:lumMod val="60000"/>
                    <a:lumOff val="40000"/>
                  </a:schemeClr>
                </a:solidFill>
              </a:rPr>
              <a:t>Profit</a:t>
            </a:r>
            <a:r>
              <a:rPr lang="es-AR" altLang="en-US" sz="2300" b="1" i="1" dirty="0">
                <a:solidFill>
                  <a:schemeClr val="tx1">
                    <a:lumMod val="60000"/>
                    <a:lumOff val="40000"/>
                  </a:schemeClr>
                </a:solidFill>
              </a:rPr>
              <a:t> and </a:t>
            </a:r>
            <a:r>
              <a:rPr lang="es-AR" altLang="en-US" sz="2300" b="1" i="1" dirty="0" err="1">
                <a:solidFill>
                  <a:schemeClr val="tx1">
                    <a:lumMod val="60000"/>
                    <a:lumOff val="40000"/>
                  </a:schemeClr>
                </a:solidFill>
              </a:rPr>
              <a:t>Loss</a:t>
            </a:r>
            <a:r>
              <a:rPr lang="es-AR" altLang="en-US" sz="2300" b="1" i="1" dirty="0">
                <a:solidFill>
                  <a:schemeClr val="tx1">
                    <a:lumMod val="60000"/>
                    <a:lumOff val="40000"/>
                  </a:schemeClr>
                </a:solidFill>
              </a:rPr>
              <a:t> - </a:t>
            </a:r>
            <a:r>
              <a:rPr lang="es-AR" altLang="en-US" sz="2300" b="1" i="1" dirty="0" err="1">
                <a:solidFill>
                  <a:schemeClr val="tx1">
                    <a:lumMod val="60000"/>
                    <a:lumOff val="40000"/>
                  </a:schemeClr>
                </a:solidFill>
              </a:rPr>
              <a:t>PnL</a:t>
            </a:r>
            <a:r>
              <a:rPr lang="es-AR" altLang="en-US" sz="2300" b="1" i="1" dirty="0">
                <a:solidFill>
                  <a:schemeClr val="tx1">
                    <a:lumMod val="60000"/>
                    <a:lumOff val="40000"/>
                  </a:schemeClr>
                </a:solidFill>
              </a:rPr>
              <a:t> </a:t>
            </a:r>
            <a:r>
              <a:rPr lang="es-AR" altLang="en-US" sz="2300" i="1" dirty="0">
                <a:solidFill>
                  <a:srgbClr val="000000"/>
                </a:solidFill>
              </a:rPr>
              <a:t>– </a:t>
            </a:r>
            <a:r>
              <a:rPr lang="es-AR" altLang="en-US" sz="2300" dirty="0">
                <a:solidFill>
                  <a:srgbClr val="000000"/>
                </a:solidFill>
              </a:rPr>
              <a:t>Es el valor total de ganancia o perdida en una estrategia de trading/portafolio, incluyendo la prima eventual y o bien el valor del derivado (no realizado) o bien el </a:t>
            </a:r>
            <a:r>
              <a:rPr lang="es-AR" altLang="en-US" sz="2300" i="1" dirty="0" err="1">
                <a:solidFill>
                  <a:srgbClr val="000000"/>
                </a:solidFill>
              </a:rPr>
              <a:t>payoff</a:t>
            </a:r>
            <a:r>
              <a:rPr lang="es-AR" altLang="en-US" sz="2300" dirty="0">
                <a:solidFill>
                  <a:srgbClr val="000000"/>
                </a:solidFill>
              </a:rPr>
              <a:t> realizado</a:t>
            </a:r>
          </a:p>
          <a:p>
            <a:pPr eaLnBrk="1" hangingPunct="1">
              <a:defRPr/>
            </a:pPr>
            <a:endParaRPr lang="es-AR" altLang="en-US" sz="2300" dirty="0">
              <a:solidFill>
                <a:srgbClr val="000000"/>
              </a:solidFill>
            </a:endParaRPr>
          </a:p>
          <a:p>
            <a:pPr eaLnBrk="1" hangingPunct="1">
              <a:defRPr/>
            </a:pPr>
            <a:endParaRPr lang="es-AR" altLang="en-US" sz="2400" i="1" dirty="0">
              <a:solidFill>
                <a:srgbClr val="000000"/>
              </a:solidFill>
            </a:endParaRPr>
          </a:p>
          <a:p>
            <a:pPr lvl="1" eaLnBrk="1" hangingPunct="1">
              <a:defRPr/>
            </a:pPr>
            <a:endParaRPr lang="es-AR" altLang="en-US" sz="2000" dirty="0">
              <a:solidFill>
                <a:srgbClr val="00000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1E78D028-F838-4033-9469-D46C71EA952B}"/>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2762EB77-76A3-43EA-A45C-44E6379811E5}" type="slidenum">
              <a:rPr lang="en-US" altLang="en-US" sz="1400"/>
              <a:pPr algn="r" eaLnBrk="0" fontAlgn="base" hangingPunct="0">
                <a:spcBef>
                  <a:spcPct val="0"/>
                </a:spcBef>
                <a:spcAft>
                  <a:spcPct val="0"/>
                </a:spcAft>
                <a:buClrTx/>
                <a:buNone/>
                <a:defRPr/>
              </a:pPr>
              <a:t>11</a:t>
            </a:fld>
            <a:endParaRPr lang="en-US" altLang="en-US" sz="1400"/>
          </a:p>
        </p:txBody>
      </p:sp>
      <p:sp>
        <p:nvSpPr>
          <p:cNvPr id="11267" name="Rectangle 2">
            <a:extLst>
              <a:ext uri="{FF2B5EF4-FFF2-40B4-BE49-F238E27FC236}">
                <a16:creationId xmlns:a16="http://schemas.microsoft.com/office/drawing/2014/main" id="{48CA9DCB-AE0C-436D-BE67-5A9018D83436}"/>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Derivados</a:t>
            </a:r>
          </a:p>
        </p:txBody>
      </p:sp>
      <p:pic>
        <p:nvPicPr>
          <p:cNvPr id="3" name="Picture 2">
            <a:extLst>
              <a:ext uri="{FF2B5EF4-FFF2-40B4-BE49-F238E27FC236}">
                <a16:creationId xmlns:a16="http://schemas.microsoft.com/office/drawing/2014/main" id="{04CFF67A-E88F-46EF-B0D9-6E966E205F4F}"/>
              </a:ext>
            </a:extLst>
          </p:cNvPr>
          <p:cNvPicPr>
            <a:picLocks noChangeAspect="1"/>
          </p:cNvPicPr>
          <p:nvPr/>
        </p:nvPicPr>
        <p:blipFill>
          <a:blip r:embed="rId3"/>
          <a:stretch>
            <a:fillRect/>
          </a:stretch>
        </p:blipFill>
        <p:spPr>
          <a:xfrm>
            <a:off x="1606119" y="1412777"/>
            <a:ext cx="8979763" cy="3937073"/>
          </a:xfrm>
          <a:prstGeom prst="rect">
            <a:avLst/>
          </a:prstGeom>
        </p:spPr>
      </p:pic>
    </p:spTree>
    <p:extLst>
      <p:ext uri="{BB962C8B-B14F-4D97-AF65-F5344CB8AC3E}">
        <p14:creationId xmlns:p14="http://schemas.microsoft.com/office/powerpoint/2010/main" val="249860218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83F726-1E7B-4CB8-ABEC-45CE8E3BDF8C}"/>
              </a:ext>
            </a:extLst>
          </p:cNvPr>
          <p:cNvPicPr>
            <a:picLocks noChangeAspect="1"/>
          </p:cNvPicPr>
          <p:nvPr/>
        </p:nvPicPr>
        <p:blipFill>
          <a:blip r:embed="rId2"/>
          <a:stretch>
            <a:fillRect/>
          </a:stretch>
        </p:blipFill>
        <p:spPr>
          <a:xfrm>
            <a:off x="2240589" y="643467"/>
            <a:ext cx="7710820" cy="5571067"/>
          </a:xfrm>
          <a:prstGeom prst="rect">
            <a:avLst/>
          </a:prstGeom>
        </p:spPr>
      </p:pic>
    </p:spTree>
    <p:extLst>
      <p:ext uri="{BB962C8B-B14F-4D97-AF65-F5344CB8AC3E}">
        <p14:creationId xmlns:p14="http://schemas.microsoft.com/office/powerpoint/2010/main" val="2412471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2C7BE8CF-D2C9-42C5-AEFA-E0533EB0B9EC}"/>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F791F31A-353E-45E8-90F5-B50F1F127BD2}" type="slidenum">
              <a:rPr lang="en-US" altLang="en-US" sz="1400"/>
              <a:pPr algn="r" eaLnBrk="0" fontAlgn="base" hangingPunct="0">
                <a:spcBef>
                  <a:spcPct val="0"/>
                </a:spcBef>
                <a:spcAft>
                  <a:spcPct val="0"/>
                </a:spcAft>
                <a:buClrTx/>
                <a:buNone/>
                <a:defRPr/>
              </a:pPr>
              <a:t>13</a:t>
            </a:fld>
            <a:endParaRPr lang="en-US" altLang="en-US" sz="1400"/>
          </a:p>
        </p:txBody>
      </p:sp>
      <p:sp>
        <p:nvSpPr>
          <p:cNvPr id="13315" name="Rectangle 2">
            <a:extLst>
              <a:ext uri="{FF2B5EF4-FFF2-40B4-BE49-F238E27FC236}">
                <a16:creationId xmlns:a16="http://schemas.microsoft.com/office/drawing/2014/main" id="{AF9ADADE-0B23-4FDA-B62E-8B0F3D0CE062}"/>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Derivados Lineales</a:t>
            </a:r>
          </a:p>
        </p:txBody>
      </p:sp>
      <mc:AlternateContent xmlns:mc="http://schemas.openxmlformats.org/markup-compatibility/2006" xmlns:a14="http://schemas.microsoft.com/office/drawing/2010/main">
        <mc:Choice Requires="a14">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1195388"/>
                <a:ext cx="8458200" cy="5257800"/>
              </a:xfrm>
            </p:spPr>
            <p:txBody>
              <a:bodyPr>
                <a:normAutofit fontScale="92500" lnSpcReduction="10000"/>
              </a:bodyPr>
              <a:lstStyle/>
              <a:p>
                <a:pPr>
                  <a:defRPr/>
                </a:pPr>
                <a:r>
                  <a:rPr lang="es-ES" altLang="en-US" sz="2700" dirty="0">
                    <a:solidFill>
                      <a:srgbClr val="000000"/>
                    </a:solidFill>
                  </a:rPr>
                  <a:t>El valor está relacionado linealmente con su subyacente </a:t>
                </a:r>
              </a:p>
              <a:p>
                <a:pPr>
                  <a:defRPr/>
                </a:pPr>
                <a:r>
                  <a:rPr lang="es-ES" altLang="en-US" sz="2700" dirty="0">
                    <a:solidFill>
                      <a:srgbClr val="000000"/>
                    </a:solidFill>
                  </a:rPr>
                  <a:t>OTC o negociados en bolsa (con cámara de compensación) </a:t>
                </a:r>
              </a:p>
              <a:p>
                <a:pPr>
                  <a:defRPr/>
                </a:pPr>
                <a:endParaRPr lang="es-ES" altLang="en-US" sz="2700" dirty="0">
                  <a:solidFill>
                    <a:srgbClr val="000000"/>
                  </a:solidFill>
                </a:endParaRPr>
              </a:p>
              <a:p>
                <a:pPr>
                  <a:defRPr/>
                </a:pPr>
                <a:r>
                  <a:rPr lang="es-ES" altLang="en-US" sz="2700" dirty="0">
                    <a:solidFill>
                      <a:srgbClr val="000000"/>
                    </a:solidFill>
                  </a:rPr>
                  <a:t>Ejemplos: Futuros, Forwards, Swaps…</a:t>
                </a:r>
              </a:p>
              <a:p>
                <a:pPr>
                  <a:defRPr/>
                </a:pPr>
                <a:endParaRPr lang="es-ES" altLang="en-US" sz="2700" dirty="0">
                  <a:solidFill>
                    <a:srgbClr val="000000"/>
                  </a:solidFill>
                </a:endParaRPr>
              </a:p>
              <a:p>
                <a:pPr>
                  <a:defRPr/>
                </a:pPr>
                <a:endParaRPr lang="es-ES" altLang="en-US" sz="2700" dirty="0">
                  <a:solidFill>
                    <a:srgbClr val="000000"/>
                  </a:solidFill>
                </a:endParaRPr>
              </a:p>
              <a:p>
                <a:pPr lvl="1" eaLnBrk="1" hangingPunct="1">
                  <a:defRPr/>
                </a:pPr>
                <a:endParaRPr lang="es-ES" altLang="en-US" sz="2300" dirty="0">
                  <a:solidFill>
                    <a:srgbClr val="000000"/>
                  </a:solidFill>
                </a:endParaRPr>
              </a:p>
              <a:p>
                <a:pPr marL="240030" lvl="1" indent="0">
                  <a:buNone/>
                  <a:defRPr/>
                </a:pPr>
                <a:endParaRPr lang="es-ES" altLang="en-US" sz="2300" dirty="0">
                  <a:solidFill>
                    <a:srgbClr val="000000"/>
                  </a:solidFill>
                </a:endParaRPr>
              </a:p>
              <a:p>
                <a:pPr>
                  <a:defRPr/>
                </a:pPr>
                <a:r>
                  <a:rPr lang="es-AR" altLang="en-US" sz="2300" dirty="0">
                    <a:solidFill>
                      <a:srgbClr val="000000"/>
                    </a:solidFill>
                  </a:rPr>
                  <a:t>Un contrato </a:t>
                </a:r>
                <a:r>
                  <a:rPr lang="es-AR" altLang="en-US" sz="2300" b="1" dirty="0">
                    <a:solidFill>
                      <a:schemeClr val="tx1">
                        <a:lumMod val="60000"/>
                        <a:lumOff val="40000"/>
                      </a:schemeClr>
                    </a:solidFill>
                  </a:rPr>
                  <a:t>forward</a:t>
                </a:r>
                <a:r>
                  <a:rPr lang="es-AR" altLang="en-US" sz="2300" dirty="0">
                    <a:solidFill>
                      <a:srgbClr val="000000"/>
                    </a:solidFill>
                  </a:rPr>
                  <a:t> es un acuerdo para comprar o vender un activo a un </a:t>
                </a:r>
                <a:r>
                  <a:rPr lang="es-AR" altLang="en-US" sz="2300" b="1" i="1" dirty="0">
                    <a:solidFill>
                      <a:schemeClr val="tx1">
                        <a:lumMod val="60000"/>
                        <a:lumOff val="40000"/>
                      </a:schemeClr>
                    </a:solidFill>
                  </a:rPr>
                  <a:t>precio fijo hoy </a:t>
                </a:r>
                <a14:m>
                  <m:oMath xmlns:m="http://schemas.openxmlformats.org/officeDocument/2006/math">
                    <m:r>
                      <a:rPr lang="en-US" altLang="en-US" sz="2300" b="1" i="1" dirty="0">
                        <a:solidFill>
                          <a:schemeClr val="tx1">
                            <a:lumMod val="60000"/>
                            <a:lumOff val="40000"/>
                          </a:schemeClr>
                        </a:solidFill>
                        <a:latin typeface="Cambria Math" panose="02040503050406030204" pitchFamily="18" charset="0"/>
                      </a:rPr>
                      <m:t>(</m:t>
                    </m:r>
                    <m:r>
                      <a:rPr lang="en-US" altLang="en-US" sz="2300" b="1" i="1" dirty="0">
                        <a:solidFill>
                          <a:schemeClr val="tx1">
                            <a:lumMod val="60000"/>
                            <a:lumOff val="40000"/>
                          </a:schemeClr>
                        </a:solidFill>
                        <a:latin typeface="Cambria Math" panose="02040503050406030204" pitchFamily="18" charset="0"/>
                      </a:rPr>
                      <m:t>𝒕</m:t>
                    </m:r>
                    <m:r>
                      <a:rPr lang="en-US" altLang="en-US" sz="2300" b="1" i="1" dirty="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𝟎</m:t>
                    </m:r>
                    <m:r>
                      <a:rPr lang="en-US" altLang="en-US" sz="2300" b="1" i="1" dirty="0">
                        <a:solidFill>
                          <a:schemeClr val="tx1">
                            <a:lumMod val="60000"/>
                            <a:lumOff val="40000"/>
                          </a:schemeClr>
                        </a:solidFill>
                        <a:latin typeface="Cambria Math" panose="02040503050406030204" pitchFamily="18" charset="0"/>
                      </a:rPr>
                      <m:t>)</m:t>
                    </m:r>
                  </m:oMath>
                </a14:m>
                <a:r>
                  <a:rPr lang="es-AR" altLang="en-US" sz="2300" dirty="0">
                    <a:solidFill>
                      <a:schemeClr val="tx1">
                        <a:lumMod val="60000"/>
                        <a:lumOff val="40000"/>
                      </a:schemeClr>
                    </a:solidFill>
                  </a:rPr>
                  <a:t> </a:t>
                </a:r>
                <a:r>
                  <a:rPr lang="es-AR" altLang="en-US" sz="2300" dirty="0">
                    <a:solidFill>
                      <a:srgbClr val="000000"/>
                    </a:solidFill>
                  </a:rPr>
                  <a:t>con  </a:t>
                </a:r>
                <a:r>
                  <a:rPr lang="es-AR" altLang="en-US" sz="2300" b="1" i="1" dirty="0">
                    <a:solidFill>
                      <a:schemeClr val="tx1">
                        <a:lumMod val="60000"/>
                        <a:lumOff val="40000"/>
                      </a:schemeClr>
                    </a:solidFill>
                  </a:rPr>
                  <a:t>entrega en el un tiempo futuro </a:t>
                </a:r>
                <a14:m>
                  <m:oMath xmlns:m="http://schemas.openxmlformats.org/officeDocument/2006/math">
                    <m:r>
                      <a:rPr lang="en-US" altLang="en-US" sz="2300" b="1" i="1" dirty="0" smtClean="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𝒕</m:t>
                    </m:r>
                    <m:r>
                      <a:rPr lang="en-US" altLang="en-US" sz="2300" b="1" i="1" dirty="0" smtClean="0">
                        <a:solidFill>
                          <a:schemeClr val="tx1">
                            <a:lumMod val="60000"/>
                            <a:lumOff val="40000"/>
                          </a:schemeClr>
                        </a:solidFill>
                        <a:latin typeface="Cambria Math" panose="02040503050406030204" pitchFamily="18" charset="0"/>
                      </a:rPr>
                      <m:t>=</m:t>
                    </m:r>
                    <m:r>
                      <a:rPr lang="es-AR" altLang="en-US" sz="2300" b="1" i="1" dirty="0" smtClean="0">
                        <a:solidFill>
                          <a:schemeClr val="tx1">
                            <a:lumMod val="60000"/>
                            <a:lumOff val="40000"/>
                          </a:schemeClr>
                        </a:solidFill>
                        <a:latin typeface="Cambria Math" panose="02040503050406030204" pitchFamily="18" charset="0"/>
                      </a:rPr>
                      <m:t>𝑻</m:t>
                    </m:r>
                    <m:r>
                      <a:rPr lang="en-US" altLang="en-US" sz="2300" b="1" i="1" dirty="0" smtClean="0">
                        <a:solidFill>
                          <a:schemeClr val="tx1">
                            <a:lumMod val="60000"/>
                            <a:lumOff val="40000"/>
                          </a:schemeClr>
                        </a:solidFill>
                        <a:latin typeface="Cambria Math" panose="02040503050406030204" pitchFamily="18" charset="0"/>
                      </a:rPr>
                      <m:t>)</m:t>
                    </m:r>
                  </m:oMath>
                </a14:m>
                <a:endParaRPr lang="es-AR" altLang="en-US" sz="2300" dirty="0">
                  <a:solidFill>
                    <a:srgbClr val="000000"/>
                  </a:solidFill>
                </a:endParaRPr>
              </a:p>
              <a:p>
                <a:pPr eaLnBrk="1" hangingPunct="1">
                  <a:defRPr/>
                </a:pPr>
                <a:r>
                  <a:rPr lang="es-AR" altLang="en-US" sz="2300" dirty="0">
                    <a:solidFill>
                      <a:srgbClr val="000000"/>
                    </a:solidFill>
                  </a:rPr>
                  <a:t>El </a:t>
                </a:r>
                <a:r>
                  <a:rPr lang="es-AR" altLang="en-US" sz="2300" dirty="0">
                    <a:solidFill>
                      <a:schemeClr val="tx1">
                        <a:lumMod val="60000"/>
                        <a:lumOff val="40000"/>
                      </a:schemeClr>
                    </a:solidFill>
                  </a:rPr>
                  <a:t>precio</a:t>
                </a:r>
                <a:r>
                  <a:rPr lang="es-AR" altLang="en-US" sz="2300" dirty="0">
                    <a:solidFill>
                      <a:srgbClr val="000000"/>
                    </a:solidFill>
                  </a:rPr>
                  <a:t> y el momento de la entrega del activo se fijan </a:t>
                </a:r>
                <a:r>
                  <a:rPr lang="es-AR" altLang="en-US" sz="2300" dirty="0">
                    <a:solidFill>
                      <a:schemeClr val="tx1">
                        <a:lumMod val="60000"/>
                        <a:lumOff val="40000"/>
                      </a:schemeClr>
                    </a:solidFill>
                  </a:rPr>
                  <a:t>hoy</a:t>
                </a:r>
                <a:r>
                  <a:rPr lang="es-AR" altLang="en-US" sz="2300" dirty="0">
                    <a:solidFill>
                      <a:srgbClr val="000000"/>
                    </a:solidFill>
                  </a:rPr>
                  <a:t> </a:t>
                </a:r>
                <a14:m>
                  <m:oMath xmlns:m="http://schemas.openxmlformats.org/officeDocument/2006/math">
                    <m:r>
                      <a:rPr lang="en-US" altLang="en-US" sz="2300" b="1" i="1" dirty="0" smtClean="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𝒕</m:t>
                    </m:r>
                    <m:r>
                      <a:rPr lang="en-US" altLang="en-US" sz="2300" b="1" i="1" dirty="0" smtClean="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𝟎</m:t>
                    </m:r>
                    <m:r>
                      <a:rPr lang="en-US" altLang="en-US" sz="2300" b="1" i="1" dirty="0" smtClean="0">
                        <a:solidFill>
                          <a:schemeClr val="tx1">
                            <a:lumMod val="60000"/>
                            <a:lumOff val="40000"/>
                          </a:schemeClr>
                        </a:solidFill>
                        <a:latin typeface="Cambria Math" panose="02040503050406030204" pitchFamily="18" charset="0"/>
                      </a:rPr>
                      <m:t>)</m:t>
                    </m:r>
                  </m:oMath>
                </a14:m>
                <a:endParaRPr lang="es-AR" altLang="en-US" sz="2300" dirty="0">
                  <a:solidFill>
                    <a:srgbClr val="000000"/>
                  </a:solidFill>
                </a:endParaRPr>
              </a:p>
              <a:p>
                <a:pPr eaLnBrk="1" hangingPunct="1">
                  <a:defRPr/>
                </a:pPr>
                <a:r>
                  <a:rPr lang="es-AR" altLang="en-US" sz="2300" dirty="0">
                    <a:solidFill>
                      <a:srgbClr val="000000"/>
                    </a:solidFill>
                  </a:rPr>
                  <a:t>Contrato entre institución financiera y cliente (o dos instituciones)</a:t>
                </a:r>
              </a:p>
              <a:p>
                <a:pPr eaLnBrk="1" hangingPunct="1">
                  <a:defRPr/>
                </a:pPr>
                <a:r>
                  <a:rPr lang="es-AR" altLang="en-US" sz="2300" i="1" dirty="0">
                    <a:solidFill>
                      <a:srgbClr val="000000"/>
                    </a:solidFill>
                  </a:rPr>
                  <a:t>Costo</a:t>
                </a:r>
                <a:r>
                  <a:rPr lang="es-AR" altLang="en-US" sz="2300" dirty="0">
                    <a:solidFill>
                      <a:srgbClr val="000000"/>
                    </a:solidFill>
                  </a:rPr>
                  <a:t> inicial casi marginal.</a:t>
                </a:r>
                <a:endParaRPr lang="es-ES" altLang="en-US" sz="2300" dirty="0">
                  <a:solidFill>
                    <a:srgbClr val="000000"/>
                  </a:solidFill>
                </a:endParaRPr>
              </a:p>
            </p:txBody>
          </p:sp>
        </mc:Choice>
        <mc:Fallback xmlns="">
          <p:sp>
            <p:nvSpPr>
              <p:cNvPr id="8196" name="Rectangle 3">
                <a:extLst>
                  <a:ext uri="{FF2B5EF4-FFF2-40B4-BE49-F238E27FC236}">
                    <a16:creationId xmlns:a16="http://schemas.microsoft.com/office/drawing/2014/main" id="{5E95E330-DAB6-4CEA-A601-822AFE242950}"/>
                  </a:ext>
                </a:extLst>
              </p:cNvPr>
              <p:cNvSpPr>
                <a:spLocks noGrp="1" noRot="1" noChangeAspect="1" noMove="1" noResize="1" noEditPoints="1" noAdjustHandles="1" noChangeArrowheads="1" noChangeShapeType="1" noTextEdit="1"/>
              </p:cNvSpPr>
              <p:nvPr>
                <p:ph type="body" idx="4294967295"/>
              </p:nvPr>
            </p:nvSpPr>
            <p:spPr>
              <a:xfrm>
                <a:off x="1524000" y="1195388"/>
                <a:ext cx="8458200" cy="5257800"/>
              </a:xfrm>
              <a:blipFill>
                <a:blip r:embed="rId3"/>
                <a:stretch>
                  <a:fillRect l="-1009" t="-2086" r="-144"/>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087A6E7-3BBD-4B29-9964-D0BFE0322032}"/>
              </a:ext>
            </a:extLst>
          </p:cNvPr>
          <p:cNvPicPr>
            <a:picLocks noChangeAspect="1"/>
          </p:cNvPicPr>
          <p:nvPr/>
        </p:nvPicPr>
        <p:blipFill>
          <a:blip r:embed="rId4"/>
          <a:stretch>
            <a:fillRect/>
          </a:stretch>
        </p:blipFill>
        <p:spPr>
          <a:xfrm>
            <a:off x="1524000" y="3243851"/>
            <a:ext cx="1447800" cy="533400"/>
          </a:xfrm>
          <a:prstGeom prst="rect">
            <a:avLst/>
          </a:prstGeom>
        </p:spPr>
      </p:pic>
    </p:spTree>
    <p:extLst>
      <p:ext uri="{BB962C8B-B14F-4D97-AF65-F5344CB8AC3E}">
        <p14:creationId xmlns:p14="http://schemas.microsoft.com/office/powerpoint/2010/main" val="125686504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5AD0D4E4-F7DE-45D5-AA48-92193AAF4D4B}"/>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30454DD9-E360-49C8-9005-B6702804CC1F}" type="slidenum">
              <a:rPr lang="en-US" altLang="en-US" sz="1400"/>
              <a:pPr algn="r">
                <a:spcBef>
                  <a:spcPct val="0"/>
                </a:spcBef>
                <a:buClrTx/>
                <a:buFontTx/>
                <a:buNone/>
              </a:pPr>
              <a:t>14</a:t>
            </a:fld>
            <a:endParaRPr lang="en-US" altLang="en-US" sz="1400"/>
          </a:p>
        </p:txBody>
      </p:sp>
      <p:sp>
        <p:nvSpPr>
          <p:cNvPr id="30723" name="Rectangle 2">
            <a:extLst>
              <a:ext uri="{FF2B5EF4-FFF2-40B4-BE49-F238E27FC236}">
                <a16:creationId xmlns:a16="http://schemas.microsoft.com/office/drawing/2014/main" id="{9440B104-7751-4226-B664-7C32B9DACB5C}"/>
              </a:ext>
            </a:extLst>
          </p:cNvPr>
          <p:cNvSpPr>
            <a:spLocks noGrp="1" noChangeArrowheads="1"/>
          </p:cNvSpPr>
          <p:nvPr>
            <p:ph type="title" idx="4294967295"/>
          </p:nvPr>
        </p:nvSpPr>
        <p:spPr>
          <a:xfrm>
            <a:off x="2351089" y="0"/>
            <a:ext cx="7240587" cy="1143000"/>
          </a:xfrm>
        </p:spPr>
        <p:txBody>
          <a:bodyPr/>
          <a:lstStyle/>
          <a:p>
            <a:pPr eaLnBrk="1" hangingPunct="1"/>
            <a:r>
              <a:rPr lang="es-AR" altLang="en-US" sz="3200" dirty="0">
                <a:solidFill>
                  <a:srgbClr val="000000"/>
                </a:solidFill>
              </a:rPr>
              <a:t>Ejemplo de contrato Forward </a:t>
            </a:r>
          </a:p>
        </p:txBody>
      </p:sp>
      <mc:AlternateContent xmlns:mc="http://schemas.openxmlformats.org/markup-compatibility/2006">
        <mc:Choice xmlns:a14="http://schemas.microsoft.com/office/drawing/2010/main" Requires="a14">
          <p:sp>
            <p:nvSpPr>
              <p:cNvPr id="15364" name="Rectangle 3">
                <a:extLst>
                  <a:ext uri="{FF2B5EF4-FFF2-40B4-BE49-F238E27FC236}">
                    <a16:creationId xmlns:a16="http://schemas.microsoft.com/office/drawing/2014/main" id="{92F3009D-AEAE-4C13-84E6-57DC8A1F7F7B}"/>
                  </a:ext>
                </a:extLst>
              </p:cNvPr>
              <p:cNvSpPr>
                <a:spLocks noGrp="1" noChangeArrowheads="1"/>
              </p:cNvSpPr>
              <p:nvPr>
                <p:ph type="body" idx="4294967295"/>
              </p:nvPr>
            </p:nvSpPr>
            <p:spPr>
              <a:xfrm>
                <a:off x="1774825" y="1268413"/>
                <a:ext cx="8458200" cy="5257800"/>
              </a:xfrm>
            </p:spPr>
            <p:txBody>
              <a:bodyPr>
                <a:normAutofit fontScale="92500" lnSpcReduction="10000"/>
              </a:bodyPr>
              <a:lstStyle/>
              <a:p>
                <a:pPr eaLnBrk="1" hangingPunct="1">
                  <a:buFontTx/>
                  <a:buNone/>
                  <a:defRPr/>
                </a:pPr>
                <a:r>
                  <a:rPr lang="es-AR" altLang="en-US" sz="2300" dirty="0">
                    <a:solidFill>
                      <a:srgbClr val="000000"/>
                    </a:solidFill>
                  </a:rPr>
                  <a:t>Por ejemplo, un contrato forward sobre un quintal de Soja</a:t>
                </a:r>
              </a:p>
              <a:p>
                <a:pPr eaLnBrk="1" hangingPunct="1">
                  <a:buFontTx/>
                  <a:buNone/>
                  <a:defRPr/>
                </a:pPr>
                <a:endParaRPr lang="es-AR" altLang="en-US" sz="2300" dirty="0">
                  <a:solidFill>
                    <a:srgbClr val="000000"/>
                  </a:solidFill>
                </a:endParaRPr>
              </a:p>
              <a:p>
                <a:pPr>
                  <a:defRPr/>
                </a:pPr>
                <a:r>
                  <a:rPr lang="es-AR" altLang="en-US" sz="2500" dirty="0">
                    <a:solidFill>
                      <a:srgbClr val="000000"/>
                    </a:solidFill>
                  </a:rPr>
                  <a:t>Dos contrapartes (comprador y vendedor)</a:t>
                </a:r>
              </a:p>
              <a:p>
                <a:pPr>
                  <a:defRPr/>
                </a:pPr>
                <a:r>
                  <a:rPr lang="es-AR" altLang="en-US" sz="2500" dirty="0">
                    <a:solidFill>
                      <a:srgbClr val="000000"/>
                    </a:solidFill>
                  </a:rPr>
                  <a:t>Una </a:t>
                </a:r>
                <a:r>
                  <a:rPr lang="es-AR" altLang="en-US" sz="2500" dirty="0">
                    <a:solidFill>
                      <a:schemeClr val="tx1">
                        <a:lumMod val="60000"/>
                        <a:lumOff val="40000"/>
                      </a:schemeClr>
                    </a:solidFill>
                  </a:rPr>
                  <a:t>fecha de entrega </a:t>
                </a:r>
                <a:r>
                  <a:rPr lang="es-AR" altLang="en-US" sz="2500" dirty="0">
                    <a:solidFill>
                      <a:srgbClr val="000000"/>
                    </a:solidFill>
                  </a:rPr>
                  <a:t>15/09/2022 </a:t>
                </a:r>
                <a14:m>
                  <m:oMath xmlns:m="http://schemas.openxmlformats.org/officeDocument/2006/math">
                    <m:r>
                      <a:rPr lang="en-US" altLang="en-US" sz="2800" b="1" i="1" dirty="0" smtClean="0">
                        <a:solidFill>
                          <a:schemeClr val="tx1">
                            <a:lumMod val="60000"/>
                            <a:lumOff val="40000"/>
                          </a:schemeClr>
                        </a:solidFill>
                        <a:latin typeface="Cambria Math" panose="02040503050406030204" pitchFamily="18" charset="0"/>
                      </a:rPr>
                      <m:t>(</m:t>
                    </m:r>
                    <m:r>
                      <a:rPr lang="en-US" altLang="en-US" sz="2800" b="1" i="1" dirty="0" smtClean="0">
                        <a:solidFill>
                          <a:schemeClr val="tx1">
                            <a:lumMod val="60000"/>
                            <a:lumOff val="40000"/>
                          </a:schemeClr>
                        </a:solidFill>
                        <a:latin typeface="Cambria Math" panose="02040503050406030204" pitchFamily="18" charset="0"/>
                      </a:rPr>
                      <m:t>𝒕</m:t>
                    </m:r>
                    <m:r>
                      <a:rPr lang="en-US" altLang="en-US" sz="2800" b="1" i="1" dirty="0" smtClean="0">
                        <a:solidFill>
                          <a:schemeClr val="tx1">
                            <a:lumMod val="60000"/>
                            <a:lumOff val="40000"/>
                          </a:schemeClr>
                        </a:solidFill>
                        <a:latin typeface="Cambria Math" panose="02040503050406030204" pitchFamily="18" charset="0"/>
                      </a:rPr>
                      <m:t>=</m:t>
                    </m:r>
                    <m:r>
                      <a:rPr lang="en-US" altLang="en-US" sz="2800" b="1" i="1" dirty="0" smtClean="0">
                        <a:solidFill>
                          <a:schemeClr val="tx1">
                            <a:lumMod val="60000"/>
                            <a:lumOff val="40000"/>
                          </a:schemeClr>
                        </a:solidFill>
                        <a:latin typeface="Cambria Math" panose="02040503050406030204" pitchFamily="18" charset="0"/>
                      </a:rPr>
                      <m:t>𝑻</m:t>
                    </m:r>
                    <m:r>
                      <a:rPr lang="en-US" altLang="en-US" sz="2800" b="1" i="1" dirty="0">
                        <a:solidFill>
                          <a:schemeClr val="tx1">
                            <a:lumMod val="60000"/>
                            <a:lumOff val="40000"/>
                          </a:schemeClr>
                        </a:solidFill>
                        <a:latin typeface="Cambria Math" panose="02040503050406030204" pitchFamily="18" charset="0"/>
                      </a:rPr>
                      <m:t>)</m:t>
                    </m:r>
                  </m:oMath>
                </a14:m>
                <a:endParaRPr lang="es-AR" altLang="en-US" sz="2500" dirty="0">
                  <a:solidFill>
                    <a:srgbClr val="000000"/>
                  </a:solidFill>
                </a:endParaRPr>
              </a:p>
              <a:p>
                <a:pPr>
                  <a:defRPr/>
                </a:pPr>
                <a:r>
                  <a:rPr lang="es-AR" altLang="en-US" sz="2500" dirty="0">
                    <a:solidFill>
                      <a:srgbClr val="000000"/>
                    </a:solidFill>
                  </a:rPr>
                  <a:t>Un </a:t>
                </a:r>
                <a:r>
                  <a:rPr lang="es-AR" altLang="en-US" sz="2500" dirty="0">
                    <a:solidFill>
                      <a:schemeClr val="tx1">
                        <a:lumMod val="60000"/>
                        <a:lumOff val="40000"/>
                      </a:schemeClr>
                    </a:solidFill>
                  </a:rPr>
                  <a:t>precio fijo</a:t>
                </a:r>
                <a:r>
                  <a:rPr lang="es-AR" altLang="en-US" sz="2500" dirty="0">
                    <a:solidFill>
                      <a:srgbClr val="000000"/>
                    </a:solidFill>
                  </a:rPr>
                  <a:t>: </a:t>
                </a:r>
                <a14:m>
                  <m:oMath xmlns:m="http://schemas.openxmlformats.org/officeDocument/2006/math">
                    <m:r>
                      <a:rPr lang="es-AR" altLang="en-US" sz="2500" i="1" dirty="0" smtClean="0">
                        <a:solidFill>
                          <a:srgbClr val="000000"/>
                        </a:solidFill>
                        <a:latin typeface="Cambria Math" panose="02040503050406030204" pitchFamily="18" charset="0"/>
                      </a:rPr>
                      <m:t>𝐹</m:t>
                    </m:r>
                    <m:r>
                      <a:rPr lang="es-AR" altLang="en-US" sz="2500" i="1" dirty="0" smtClean="0">
                        <a:solidFill>
                          <a:srgbClr val="000000"/>
                        </a:solidFill>
                        <a:latin typeface="Cambria Math" panose="02040503050406030204" pitchFamily="18" charset="0"/>
                      </a:rPr>
                      <m:t>= 315 </m:t>
                    </m:r>
                  </m:oMath>
                </a14:m>
                <a:r>
                  <a:rPr lang="es-AR" altLang="en-US" sz="2500" dirty="0">
                    <a:solidFill>
                      <a:srgbClr val="000000"/>
                    </a:solidFill>
                  </a:rPr>
                  <a:t>dólares</a:t>
                </a:r>
              </a:p>
              <a:p>
                <a:pPr>
                  <a:defRPr/>
                </a:pPr>
                <a:r>
                  <a:rPr lang="es-AR" altLang="en-US" sz="2500" dirty="0">
                    <a:solidFill>
                      <a:srgbClr val="000000"/>
                    </a:solidFill>
                  </a:rPr>
                  <a:t>Un </a:t>
                </a:r>
                <a:r>
                  <a:rPr lang="es-AR" altLang="en-US" sz="2500" dirty="0">
                    <a:solidFill>
                      <a:schemeClr val="tx1">
                        <a:lumMod val="60000"/>
                        <a:lumOff val="40000"/>
                      </a:schemeClr>
                    </a:solidFill>
                  </a:rPr>
                  <a:t>activo de referencia</a:t>
                </a:r>
                <a:r>
                  <a:rPr lang="es-AR" altLang="en-US" sz="2500" dirty="0">
                    <a:solidFill>
                      <a:srgbClr val="000000"/>
                    </a:solidFill>
                  </a:rPr>
                  <a:t>: un quintal de soja</a:t>
                </a:r>
              </a:p>
              <a:p>
                <a:pPr lvl="1" eaLnBrk="1" hangingPunct="1">
                  <a:defRPr/>
                </a:pPr>
                <a:endParaRPr lang="es-AR" altLang="en-US" sz="2500" dirty="0">
                  <a:solidFill>
                    <a:srgbClr val="000000"/>
                  </a:solidFill>
                </a:endParaRPr>
              </a:p>
              <a:p>
                <a:pPr eaLnBrk="1" hangingPunct="1">
                  <a:defRPr/>
                </a:pPr>
                <a:r>
                  <a:rPr lang="es-AR" altLang="en-US" sz="2500" dirty="0">
                    <a:solidFill>
                      <a:srgbClr val="000000"/>
                    </a:solidFill>
                  </a:rPr>
                  <a:t>El </a:t>
                </a:r>
                <a:r>
                  <a:rPr lang="es-AR" altLang="en-US" sz="2500" dirty="0">
                    <a:solidFill>
                      <a:schemeClr val="tx1">
                        <a:lumMod val="60000"/>
                        <a:lumOff val="40000"/>
                      </a:schemeClr>
                    </a:solidFill>
                  </a:rPr>
                  <a:t>comprador</a:t>
                </a:r>
                <a:r>
                  <a:rPr lang="es-AR" altLang="en-US" sz="2500" dirty="0">
                    <a:solidFill>
                      <a:srgbClr val="000000"/>
                    </a:solidFill>
                  </a:rPr>
                  <a:t> del contrato forward se </a:t>
                </a:r>
                <a:r>
                  <a:rPr lang="es-AR" altLang="en-US" sz="2500" dirty="0">
                    <a:solidFill>
                      <a:srgbClr val="FF0000"/>
                    </a:solidFill>
                  </a:rPr>
                  <a:t>compromete</a:t>
                </a:r>
                <a:r>
                  <a:rPr lang="es-AR" altLang="en-US" sz="2500" dirty="0">
                    <a:solidFill>
                      <a:srgbClr val="000000"/>
                    </a:solidFill>
                  </a:rPr>
                  <a:t> hoy a entregar </a:t>
                </a:r>
                <a:r>
                  <a:rPr lang="es-AR" altLang="en-US" sz="2500" i="1" dirty="0">
                    <a:solidFill>
                      <a:srgbClr val="000000"/>
                    </a:solidFill>
                  </a:rPr>
                  <a:t>F</a:t>
                </a:r>
                <a:r>
                  <a:rPr lang="es-AR" altLang="en-US" sz="2500" dirty="0">
                    <a:solidFill>
                      <a:srgbClr val="000000"/>
                    </a:solidFill>
                  </a:rPr>
                  <a:t> dólares (fijado hoy </a:t>
                </a:r>
                <a14:m>
                  <m:oMath xmlns:m="http://schemas.openxmlformats.org/officeDocument/2006/math">
                    <m:r>
                      <a:rPr lang="en-US" altLang="en-US" sz="2800" b="1" i="1" dirty="0" smtClean="0">
                        <a:solidFill>
                          <a:schemeClr val="tx1">
                            <a:lumMod val="60000"/>
                            <a:lumOff val="40000"/>
                          </a:schemeClr>
                        </a:solidFill>
                        <a:latin typeface="Cambria Math" panose="02040503050406030204" pitchFamily="18" charset="0"/>
                      </a:rPr>
                      <m:t>(</m:t>
                    </m:r>
                    <m:r>
                      <a:rPr lang="en-US" altLang="en-US" sz="2800" b="1" i="1" dirty="0" smtClean="0">
                        <a:solidFill>
                          <a:schemeClr val="tx1">
                            <a:lumMod val="60000"/>
                            <a:lumOff val="40000"/>
                          </a:schemeClr>
                        </a:solidFill>
                        <a:latin typeface="Cambria Math" panose="02040503050406030204" pitchFamily="18" charset="0"/>
                      </a:rPr>
                      <m:t>𝒕</m:t>
                    </m:r>
                    <m:r>
                      <a:rPr lang="en-US" altLang="en-US" sz="2800" b="1" i="1" dirty="0" smtClean="0">
                        <a:solidFill>
                          <a:schemeClr val="tx1">
                            <a:lumMod val="60000"/>
                            <a:lumOff val="40000"/>
                          </a:schemeClr>
                        </a:solidFill>
                        <a:latin typeface="Cambria Math" panose="02040503050406030204" pitchFamily="18" charset="0"/>
                      </a:rPr>
                      <m:t>=</m:t>
                    </m:r>
                    <m:r>
                      <a:rPr lang="en-US" altLang="en-US" sz="2800" b="1" i="1" dirty="0" smtClean="0">
                        <a:solidFill>
                          <a:schemeClr val="tx1">
                            <a:lumMod val="60000"/>
                            <a:lumOff val="40000"/>
                          </a:schemeClr>
                        </a:solidFill>
                        <a:latin typeface="Cambria Math" panose="02040503050406030204" pitchFamily="18" charset="0"/>
                      </a:rPr>
                      <m:t>𝟎</m:t>
                    </m:r>
                    <m:r>
                      <a:rPr lang="en-US" altLang="en-US" sz="2800" b="1" i="1" dirty="0">
                        <a:solidFill>
                          <a:schemeClr val="tx1">
                            <a:lumMod val="60000"/>
                            <a:lumOff val="40000"/>
                          </a:schemeClr>
                        </a:solidFill>
                        <a:latin typeface="Cambria Math" panose="02040503050406030204" pitchFamily="18" charset="0"/>
                      </a:rPr>
                      <m:t>)</m:t>
                    </m:r>
                  </m:oMath>
                </a14:m>
                <a:r>
                  <a:rPr lang="es-AR" altLang="en-US" sz="2500" dirty="0">
                    <a:solidFill>
                      <a:srgbClr val="000000"/>
                    </a:solidFill>
                  </a:rPr>
                  <a:t>) el 15/09/2022</a:t>
                </a:r>
                <a:r>
                  <a:rPr lang="es-AR" altLang="en-US" sz="2500" i="1" dirty="0">
                    <a:solidFill>
                      <a:srgbClr val="000000"/>
                    </a:solidFill>
                  </a:rPr>
                  <a:t>.</a:t>
                </a:r>
              </a:p>
              <a:p>
                <a:pPr eaLnBrk="1" hangingPunct="1">
                  <a:defRPr/>
                </a:pPr>
                <a:r>
                  <a:rPr lang="es-AR" altLang="en-US" sz="2500" dirty="0">
                    <a:solidFill>
                      <a:srgbClr val="000000"/>
                    </a:solidFill>
                  </a:rPr>
                  <a:t>El </a:t>
                </a:r>
                <a:r>
                  <a:rPr lang="es-AR" altLang="en-US" sz="2500" dirty="0">
                    <a:solidFill>
                      <a:schemeClr val="tx1">
                        <a:lumMod val="60000"/>
                        <a:lumOff val="40000"/>
                      </a:schemeClr>
                    </a:solidFill>
                  </a:rPr>
                  <a:t>vendedor</a:t>
                </a:r>
                <a:r>
                  <a:rPr lang="es-AR" altLang="en-US" sz="2500" dirty="0">
                    <a:solidFill>
                      <a:srgbClr val="000000"/>
                    </a:solidFill>
                  </a:rPr>
                  <a:t> del contrato forward, se </a:t>
                </a:r>
                <a:r>
                  <a:rPr lang="es-AR" altLang="en-US" sz="2500" dirty="0">
                    <a:solidFill>
                      <a:srgbClr val="FF0000"/>
                    </a:solidFill>
                  </a:rPr>
                  <a:t>compromete</a:t>
                </a:r>
                <a:r>
                  <a:rPr lang="es-AR" altLang="en-US" sz="2500" dirty="0">
                    <a:solidFill>
                      <a:srgbClr val="000000"/>
                    </a:solidFill>
                  </a:rPr>
                  <a:t> a entregar:</a:t>
                </a:r>
              </a:p>
              <a:p>
                <a:pPr lvl="1" eaLnBrk="1" hangingPunct="1">
                  <a:defRPr/>
                </a:pPr>
                <a:r>
                  <a:rPr lang="es-AR" altLang="en-US" sz="2500" dirty="0">
                    <a:solidFill>
                      <a:srgbClr val="000000"/>
                    </a:solidFill>
                  </a:rPr>
                  <a:t>un quintal de soja el 15/09/2022 </a:t>
                </a:r>
                <a14:m>
                  <m:oMath xmlns:m="http://schemas.openxmlformats.org/officeDocument/2006/math">
                    <m:r>
                      <a:rPr lang="en-US" altLang="en-US" sz="2800" b="1" i="1" dirty="0" smtClean="0">
                        <a:solidFill>
                          <a:schemeClr val="tx1">
                            <a:lumMod val="60000"/>
                            <a:lumOff val="40000"/>
                          </a:schemeClr>
                        </a:solidFill>
                        <a:latin typeface="Cambria Math" panose="02040503050406030204" pitchFamily="18" charset="0"/>
                      </a:rPr>
                      <m:t>(</m:t>
                    </m:r>
                    <m:r>
                      <a:rPr lang="en-US" altLang="en-US" sz="2800" b="1" i="1" dirty="0" smtClean="0">
                        <a:solidFill>
                          <a:schemeClr val="tx1">
                            <a:lumMod val="60000"/>
                            <a:lumOff val="40000"/>
                          </a:schemeClr>
                        </a:solidFill>
                        <a:latin typeface="Cambria Math" panose="02040503050406030204" pitchFamily="18" charset="0"/>
                      </a:rPr>
                      <m:t>𝒕</m:t>
                    </m:r>
                    <m:r>
                      <a:rPr lang="en-US" altLang="en-US" sz="2800" b="1" i="1" dirty="0" smtClean="0">
                        <a:solidFill>
                          <a:schemeClr val="tx1">
                            <a:lumMod val="60000"/>
                            <a:lumOff val="40000"/>
                          </a:schemeClr>
                        </a:solidFill>
                        <a:latin typeface="Cambria Math" panose="02040503050406030204" pitchFamily="18" charset="0"/>
                      </a:rPr>
                      <m:t>=</m:t>
                    </m:r>
                    <m:r>
                      <a:rPr lang="en-US" altLang="en-US" sz="2800" b="1" i="1" dirty="0" smtClean="0">
                        <a:solidFill>
                          <a:schemeClr val="tx1">
                            <a:lumMod val="60000"/>
                            <a:lumOff val="40000"/>
                          </a:schemeClr>
                        </a:solidFill>
                        <a:latin typeface="Cambria Math" panose="02040503050406030204" pitchFamily="18" charset="0"/>
                      </a:rPr>
                      <m:t>𝑻</m:t>
                    </m:r>
                    <m:r>
                      <a:rPr lang="en-US" altLang="en-US" sz="2800" b="1" i="1" dirty="0">
                        <a:solidFill>
                          <a:schemeClr val="tx1">
                            <a:lumMod val="60000"/>
                            <a:lumOff val="40000"/>
                          </a:schemeClr>
                        </a:solidFill>
                        <a:latin typeface="Cambria Math" panose="02040503050406030204" pitchFamily="18" charset="0"/>
                      </a:rPr>
                      <m:t>)</m:t>
                    </m:r>
                  </m:oMath>
                </a14:m>
                <a:r>
                  <a:rPr lang="es-AR" altLang="en-US" sz="2500" dirty="0">
                    <a:solidFill>
                      <a:srgbClr val="000000"/>
                    </a:solidFill>
                  </a:rPr>
                  <a:t> - </a:t>
                </a:r>
                <a:r>
                  <a:rPr lang="es-AR" altLang="en-US" sz="2500" i="1" dirty="0" err="1">
                    <a:solidFill>
                      <a:srgbClr val="000000"/>
                    </a:solidFill>
                  </a:rPr>
                  <a:t>settlement</a:t>
                </a:r>
                <a:r>
                  <a:rPr lang="es-AR" altLang="en-US" sz="2500" i="1" dirty="0">
                    <a:solidFill>
                      <a:srgbClr val="000000"/>
                    </a:solidFill>
                  </a:rPr>
                  <a:t> físico</a:t>
                </a:r>
                <a:r>
                  <a:rPr lang="es-AR" altLang="en-US" sz="2500" dirty="0">
                    <a:solidFill>
                      <a:srgbClr val="000000"/>
                    </a:solidFill>
                  </a:rPr>
                  <a:t> </a:t>
                </a:r>
              </a:p>
              <a:p>
                <a:pPr lvl="1" eaLnBrk="1" hangingPunct="1">
                  <a:defRPr/>
                </a:pPr>
                <a:r>
                  <a:rPr lang="es-AR" altLang="en-US" sz="2500" dirty="0">
                    <a:solidFill>
                      <a:srgbClr val="000000"/>
                    </a:solidFill>
                  </a:rPr>
                  <a:t>o su valor en dólares vigente en ese momento- </a:t>
                </a:r>
                <a:r>
                  <a:rPr lang="es-AR" altLang="en-US" sz="2500" i="1" dirty="0">
                    <a:solidFill>
                      <a:srgbClr val="000000"/>
                    </a:solidFill>
                  </a:rPr>
                  <a:t>cash </a:t>
                </a:r>
                <a:r>
                  <a:rPr lang="es-AR" altLang="en-US" sz="2500" i="1" dirty="0" err="1">
                    <a:solidFill>
                      <a:srgbClr val="000000"/>
                    </a:solidFill>
                  </a:rPr>
                  <a:t>settlement</a:t>
                </a:r>
                <a:r>
                  <a:rPr lang="es-AR" altLang="en-US" sz="2500" dirty="0">
                    <a:solidFill>
                      <a:srgbClr val="000000"/>
                    </a:solidFill>
                  </a:rPr>
                  <a:t>.</a:t>
                </a:r>
                <a:endParaRPr lang="es-AR" altLang="en-US" sz="2500" i="1" dirty="0">
                  <a:solidFill>
                    <a:srgbClr val="000000"/>
                  </a:solidFill>
                </a:endParaRPr>
              </a:p>
              <a:p>
                <a:pPr eaLnBrk="1" hangingPunct="1">
                  <a:buClr>
                    <a:srgbClr val="000000"/>
                  </a:buClr>
                  <a:defRPr/>
                </a:pPr>
                <a:r>
                  <a:rPr lang="es-AR" altLang="en-US" sz="2500" dirty="0">
                    <a:solidFill>
                      <a:srgbClr val="000000"/>
                    </a:solidFill>
                  </a:rPr>
                  <a:t>El comprador (vendedor) del contrato esta “</a:t>
                </a:r>
                <a:r>
                  <a:rPr lang="es-AR" altLang="en-US" sz="2500" i="1" dirty="0" err="1">
                    <a:solidFill>
                      <a:srgbClr val="000000"/>
                    </a:solidFill>
                  </a:rPr>
                  <a:t>long</a:t>
                </a:r>
                <a:r>
                  <a:rPr lang="es-AR" altLang="en-US" sz="2500" dirty="0">
                    <a:solidFill>
                      <a:srgbClr val="000000"/>
                    </a:solidFill>
                  </a:rPr>
                  <a:t>”(“</a:t>
                </a:r>
                <a:r>
                  <a:rPr lang="es-AR" altLang="en-US" sz="2500" i="1" dirty="0">
                    <a:solidFill>
                      <a:srgbClr val="000000"/>
                    </a:solidFill>
                  </a:rPr>
                  <a:t>short</a:t>
                </a:r>
                <a:r>
                  <a:rPr lang="es-AR" altLang="en-US" sz="2500" dirty="0">
                    <a:solidFill>
                      <a:srgbClr val="000000"/>
                    </a:solidFill>
                  </a:rPr>
                  <a:t>”)</a:t>
                </a:r>
              </a:p>
              <a:p>
                <a:pPr lvl="1" eaLnBrk="1" hangingPunct="1">
                  <a:defRPr/>
                </a:pPr>
                <a:endParaRPr lang="es-AR" altLang="en-US" dirty="0">
                  <a:solidFill>
                    <a:srgbClr val="000000"/>
                  </a:solidFill>
                </a:endParaRPr>
              </a:p>
              <a:p>
                <a:pPr lvl="1" eaLnBrk="1" hangingPunct="1">
                  <a:buFont typeface="Wingdings" panose="05000000000000000000" pitchFamily="2" charset="2"/>
                  <a:buNone/>
                  <a:defRPr/>
                </a:pPr>
                <a:endParaRPr lang="es-AR" altLang="en-US" dirty="0">
                  <a:solidFill>
                    <a:srgbClr val="000000"/>
                  </a:solidFill>
                </a:endParaRPr>
              </a:p>
            </p:txBody>
          </p:sp>
        </mc:Choice>
        <mc:Fallback>
          <p:sp>
            <p:nvSpPr>
              <p:cNvPr id="15364" name="Rectangle 3">
                <a:extLst>
                  <a:ext uri="{FF2B5EF4-FFF2-40B4-BE49-F238E27FC236}">
                    <a16:creationId xmlns:a16="http://schemas.microsoft.com/office/drawing/2014/main" id="{92F3009D-AEAE-4C13-84E6-57DC8A1F7F7B}"/>
                  </a:ext>
                </a:extLst>
              </p:cNvPr>
              <p:cNvSpPr>
                <a:spLocks noGrp="1" noRot="1" noChangeAspect="1" noMove="1" noResize="1" noEditPoints="1" noAdjustHandles="1" noChangeArrowheads="1" noChangeShapeType="1" noTextEdit="1"/>
              </p:cNvSpPr>
              <p:nvPr>
                <p:ph type="body" idx="4294967295"/>
              </p:nvPr>
            </p:nvSpPr>
            <p:spPr>
              <a:xfrm>
                <a:off x="1774825" y="1268413"/>
                <a:ext cx="8458200" cy="5257800"/>
              </a:xfrm>
              <a:blipFill>
                <a:blip r:embed="rId3"/>
                <a:stretch>
                  <a:fillRect l="-865" t="-1738" r="-937"/>
                </a:stretch>
              </a:blipFill>
            </p:spPr>
            <p:txBody>
              <a:bodyPr/>
              <a:lstStyle/>
              <a:p>
                <a:r>
                  <a:rPr lang="en-US">
                    <a:noFill/>
                  </a:rPr>
                  <a:t> </a:t>
                </a:r>
              </a:p>
            </p:txBody>
          </p:sp>
        </mc:Fallback>
      </mc:AlternateContent>
    </p:spTree>
    <p:extLst>
      <p:ext uri="{BB962C8B-B14F-4D97-AF65-F5344CB8AC3E}">
        <p14:creationId xmlns:p14="http://schemas.microsoft.com/office/powerpoint/2010/main" val="18378824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A2ED6339-D2DE-4010-83B9-5C680A4ED87E}"/>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C6895CCF-2475-4009-A57D-F7684AB504CE}" type="slidenum">
              <a:rPr lang="en-US" altLang="en-US" sz="1400"/>
              <a:pPr algn="r">
                <a:spcBef>
                  <a:spcPct val="0"/>
                </a:spcBef>
                <a:buClrTx/>
                <a:buFontTx/>
                <a:buNone/>
              </a:pPr>
              <a:t>15</a:t>
            </a:fld>
            <a:endParaRPr lang="en-US" altLang="en-US" sz="1400"/>
          </a:p>
        </p:txBody>
      </p:sp>
      <p:sp>
        <p:nvSpPr>
          <p:cNvPr id="34819" name="Rectangle 2">
            <a:extLst>
              <a:ext uri="{FF2B5EF4-FFF2-40B4-BE49-F238E27FC236}">
                <a16:creationId xmlns:a16="http://schemas.microsoft.com/office/drawing/2014/main" id="{51B6811A-DF78-4DC7-ACFF-AD9FCD0BF360}"/>
              </a:ext>
            </a:extLst>
          </p:cNvPr>
          <p:cNvSpPr>
            <a:spLocks noGrp="1" noChangeArrowheads="1"/>
          </p:cNvSpPr>
          <p:nvPr>
            <p:ph type="title" idx="4294967295"/>
          </p:nvPr>
        </p:nvSpPr>
        <p:spPr>
          <a:xfrm>
            <a:off x="2351089" y="0"/>
            <a:ext cx="7240587" cy="1143000"/>
          </a:xfrm>
        </p:spPr>
        <p:txBody>
          <a:bodyPr/>
          <a:lstStyle/>
          <a:p>
            <a:pPr eaLnBrk="1" hangingPunct="1"/>
            <a:r>
              <a:rPr lang="es-AR" altLang="en-US" sz="3200" dirty="0">
                <a:solidFill>
                  <a:srgbClr val="000000"/>
                </a:solidFill>
              </a:rPr>
              <a:t>Flujos de pago de un contrato forward</a:t>
            </a:r>
          </a:p>
        </p:txBody>
      </p:sp>
      <mc:AlternateContent xmlns:mc="http://schemas.openxmlformats.org/markup-compatibility/2006">
        <mc:Choice xmlns:a14="http://schemas.microsoft.com/office/drawing/2010/main" Requires="a14">
          <p:sp>
            <p:nvSpPr>
              <p:cNvPr id="17412" name="Rectangle 3">
                <a:extLst>
                  <a:ext uri="{FF2B5EF4-FFF2-40B4-BE49-F238E27FC236}">
                    <a16:creationId xmlns:a16="http://schemas.microsoft.com/office/drawing/2014/main" id="{2FC22A35-EB35-4515-BAA0-0E4D2813339C}"/>
                  </a:ext>
                </a:extLst>
              </p:cNvPr>
              <p:cNvSpPr>
                <a:spLocks noGrp="1" noChangeArrowheads="1"/>
              </p:cNvSpPr>
              <p:nvPr>
                <p:ph type="body" idx="4294967295"/>
              </p:nvPr>
            </p:nvSpPr>
            <p:spPr>
              <a:xfrm>
                <a:off x="1774825" y="1196975"/>
                <a:ext cx="8458200" cy="5257800"/>
              </a:xfrm>
            </p:spPr>
            <p:txBody>
              <a:bodyPr>
                <a:noAutofit/>
              </a:bodyPr>
              <a:lstStyle/>
              <a:p>
                <a:pPr marL="0" indent="0" eaLnBrk="1" hangingPunct="1">
                  <a:buNone/>
                  <a:defRPr/>
                </a:pPr>
                <a:r>
                  <a:rPr lang="es-AR" altLang="en-US" sz="2300" b="1" dirty="0">
                    <a:solidFill>
                      <a:srgbClr val="000000"/>
                    </a:solidFill>
                  </a:rPr>
                  <a:t>Cashflows</a:t>
                </a:r>
                <a:r>
                  <a:rPr lang="es-AR" altLang="en-US" sz="2300" dirty="0">
                    <a:solidFill>
                      <a:srgbClr val="000000"/>
                    </a:solidFill>
                  </a:rPr>
                  <a:t>:</a:t>
                </a:r>
              </a:p>
              <a:p>
                <a:pPr>
                  <a:defRPr/>
                </a:pPr>
                <a:r>
                  <a:rPr lang="es-AR" altLang="en-US" sz="2300" dirty="0">
                    <a:solidFill>
                      <a:srgbClr val="000000"/>
                    </a:solidFill>
                  </a:rPr>
                  <a:t>Hoy - </a:t>
                </a:r>
                <a14:m>
                  <m:oMath xmlns:m="http://schemas.openxmlformats.org/officeDocument/2006/math">
                    <m:r>
                      <a:rPr lang="en-US" altLang="en-US" sz="2300" b="1" i="1" dirty="0" smtClean="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𝒕</m:t>
                    </m:r>
                    <m:r>
                      <a:rPr lang="en-US" altLang="en-US" sz="2300" b="1" i="1" dirty="0" smtClean="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𝟎</m:t>
                    </m:r>
                    <m:r>
                      <a:rPr lang="en-US" altLang="en-US" sz="2300" b="1" i="1" dirty="0">
                        <a:solidFill>
                          <a:schemeClr val="tx1">
                            <a:lumMod val="60000"/>
                            <a:lumOff val="40000"/>
                          </a:schemeClr>
                        </a:solidFill>
                        <a:latin typeface="Cambria Math" panose="02040503050406030204" pitchFamily="18" charset="0"/>
                      </a:rPr>
                      <m:t>) </m:t>
                    </m:r>
                  </m:oMath>
                </a14:m>
                <a:r>
                  <a:rPr lang="es-AR" altLang="en-US" sz="2300" dirty="0">
                    <a:solidFill>
                      <a:srgbClr val="000000"/>
                    </a:solidFill>
                  </a:rPr>
                  <a:t>: </a:t>
                </a:r>
                <a:r>
                  <a:rPr lang="es-AR" altLang="en-US" sz="2300" i="1" dirty="0">
                    <a:solidFill>
                      <a:schemeClr val="tx1">
                        <a:lumMod val="60000"/>
                        <a:lumOff val="40000"/>
                      </a:schemeClr>
                    </a:solidFill>
                  </a:rPr>
                  <a:t>una pequeña garantía</a:t>
                </a:r>
                <a:r>
                  <a:rPr lang="es-AR" altLang="en-US" sz="2300" dirty="0">
                    <a:solidFill>
                      <a:srgbClr val="000000"/>
                    </a:solidFill>
                  </a:rPr>
                  <a:t>. Un contrato forward se entra a </a:t>
                </a:r>
                <a:r>
                  <a:rPr lang="es-AR" altLang="en-US" sz="2300" b="1" dirty="0">
                    <a:solidFill>
                      <a:srgbClr val="000000"/>
                    </a:solidFill>
                  </a:rPr>
                  <a:t>costo inicial básicamente cero</a:t>
                </a:r>
              </a:p>
              <a:p>
                <a:pPr>
                  <a:defRPr/>
                </a:pPr>
                <a:r>
                  <a:rPr lang="es-AR" altLang="en-US" sz="2300" dirty="0">
                    <a:solidFill>
                      <a:srgbClr val="000000"/>
                    </a:solidFill>
                  </a:rPr>
                  <a:t>A </a:t>
                </a:r>
                <a:r>
                  <a:rPr lang="es-AR" altLang="en-US" sz="2300" i="1" dirty="0" err="1">
                    <a:solidFill>
                      <a:srgbClr val="000000"/>
                    </a:solidFill>
                  </a:rPr>
                  <a:t>finish</a:t>
                </a:r>
                <a:r>
                  <a:rPr lang="es-AR" altLang="en-US" sz="2300" dirty="0">
                    <a:solidFill>
                      <a:srgbClr val="000000"/>
                    </a:solidFill>
                  </a:rPr>
                  <a:t> </a:t>
                </a:r>
                <a14:m>
                  <m:oMath xmlns:m="http://schemas.openxmlformats.org/officeDocument/2006/math">
                    <m:r>
                      <a:rPr lang="en-US" altLang="en-US" sz="2300" b="1" i="1" dirty="0" smtClean="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𝒕</m:t>
                    </m:r>
                    <m:r>
                      <a:rPr lang="en-US" altLang="en-US" sz="2300" b="1" i="1" dirty="0" smtClean="0">
                        <a:solidFill>
                          <a:schemeClr val="tx1">
                            <a:lumMod val="60000"/>
                            <a:lumOff val="40000"/>
                          </a:schemeClr>
                        </a:solidFill>
                        <a:latin typeface="Cambria Math" panose="02040503050406030204" pitchFamily="18" charset="0"/>
                      </a:rPr>
                      <m:t>=</m:t>
                    </m:r>
                    <m:r>
                      <a:rPr lang="en-US" altLang="en-US" sz="2300" b="1" i="1" dirty="0" smtClean="0">
                        <a:solidFill>
                          <a:schemeClr val="tx1">
                            <a:lumMod val="60000"/>
                            <a:lumOff val="40000"/>
                          </a:schemeClr>
                        </a:solidFill>
                        <a:latin typeface="Cambria Math" panose="02040503050406030204" pitchFamily="18" charset="0"/>
                      </a:rPr>
                      <m:t>𝑻</m:t>
                    </m:r>
                    <m:r>
                      <a:rPr lang="en-US" altLang="en-US" sz="2300" b="1" i="1" dirty="0">
                        <a:solidFill>
                          <a:schemeClr val="tx1">
                            <a:lumMod val="60000"/>
                            <a:lumOff val="40000"/>
                          </a:schemeClr>
                        </a:solidFill>
                        <a:latin typeface="Cambria Math" panose="02040503050406030204" pitchFamily="18" charset="0"/>
                      </a:rPr>
                      <m:t>)</m:t>
                    </m:r>
                  </m:oMath>
                </a14:m>
                <a:r>
                  <a:rPr lang="es-AR" altLang="en-US" sz="2300" dirty="0">
                    <a:solidFill>
                      <a:srgbClr val="000000"/>
                    </a:solidFill>
                  </a:rPr>
                  <a:t>(Septiembre 2021). </a:t>
                </a:r>
              </a:p>
              <a:p>
                <a:pPr lvl="1">
                  <a:defRPr/>
                </a:pPr>
                <a:r>
                  <a:rPr lang="es-AR" altLang="en-US" sz="2300" dirty="0">
                    <a:solidFill>
                      <a:srgbClr val="000000"/>
                    </a:solidFill>
                  </a:rPr>
                  <a:t>El </a:t>
                </a:r>
                <a:r>
                  <a:rPr lang="es-AR" altLang="en-US" sz="2300" dirty="0">
                    <a:solidFill>
                      <a:schemeClr val="tx1">
                        <a:lumMod val="60000"/>
                        <a:lumOff val="40000"/>
                      </a:schemeClr>
                    </a:solidFill>
                  </a:rPr>
                  <a:t>comprador recibe un quintal de soja </a:t>
                </a:r>
                <a:r>
                  <a:rPr lang="es-AR" altLang="en-US" sz="2300" dirty="0">
                    <a:solidFill>
                      <a:srgbClr val="000000"/>
                    </a:solidFill>
                  </a:rPr>
                  <a:t>(o </a:t>
                </a:r>
                <a:r>
                  <a:rPr lang="es-AR" altLang="en-US" sz="2300" dirty="0" err="1">
                    <a:solidFill>
                      <a:srgbClr val="000000"/>
                    </a:solidFill>
                  </a:rPr>
                  <a:t>usd</a:t>
                </a:r>
                <a:r>
                  <a:rPr lang="es-AR" altLang="en-US" sz="2300" dirty="0">
                    <a:solidFill>
                      <a:srgbClr val="000000"/>
                    </a:solidFill>
                  </a:rPr>
                  <a:t>), y </a:t>
                </a:r>
                <a:r>
                  <a:rPr lang="es-AR" altLang="en-US" sz="2300" dirty="0">
                    <a:solidFill>
                      <a:srgbClr val="FF0000"/>
                    </a:solidFill>
                  </a:rPr>
                  <a:t>paga F</a:t>
                </a:r>
                <a:r>
                  <a:rPr lang="es-AR" altLang="en-US" sz="2300" dirty="0">
                    <a:solidFill>
                      <a:srgbClr val="000000"/>
                    </a:solidFill>
                  </a:rPr>
                  <a:t>.</a:t>
                </a:r>
              </a:p>
              <a:p>
                <a:pPr lvl="1">
                  <a:defRPr/>
                </a:pPr>
                <a:r>
                  <a:rPr lang="es-AR" altLang="en-US" sz="2300" dirty="0">
                    <a:solidFill>
                      <a:srgbClr val="000000"/>
                    </a:solidFill>
                  </a:rPr>
                  <a:t>El </a:t>
                </a:r>
                <a:r>
                  <a:rPr lang="es-AR" altLang="en-US" sz="2300" dirty="0">
                    <a:solidFill>
                      <a:srgbClr val="FF0000"/>
                    </a:solidFill>
                  </a:rPr>
                  <a:t>vendedor entrega un quintal de soja </a:t>
                </a:r>
                <a:r>
                  <a:rPr lang="es-AR" altLang="en-US" sz="2300" dirty="0">
                    <a:solidFill>
                      <a:srgbClr val="000000"/>
                    </a:solidFill>
                  </a:rPr>
                  <a:t>(o </a:t>
                </a:r>
                <a:r>
                  <a:rPr lang="es-AR" altLang="en-US" sz="2300" dirty="0" err="1">
                    <a:solidFill>
                      <a:srgbClr val="000000"/>
                    </a:solidFill>
                  </a:rPr>
                  <a:t>usd</a:t>
                </a:r>
                <a:r>
                  <a:rPr lang="es-AR" altLang="en-US" sz="2300" dirty="0">
                    <a:solidFill>
                      <a:srgbClr val="000000"/>
                    </a:solidFill>
                  </a:rPr>
                  <a:t>), y </a:t>
                </a:r>
                <a:r>
                  <a:rPr lang="es-AR" altLang="en-US" sz="2300" dirty="0">
                    <a:solidFill>
                      <a:schemeClr val="tx1">
                        <a:lumMod val="60000"/>
                        <a:lumOff val="40000"/>
                      </a:schemeClr>
                    </a:solidFill>
                  </a:rPr>
                  <a:t>recibe F</a:t>
                </a:r>
                <a:r>
                  <a:rPr lang="es-AR" altLang="en-US" sz="2300" dirty="0">
                    <a:solidFill>
                      <a:srgbClr val="000000"/>
                    </a:solidFill>
                  </a:rPr>
                  <a:t>.</a:t>
                </a:r>
              </a:p>
              <a:p>
                <a:pPr defTabSz="457200">
                  <a:buClr>
                    <a:schemeClr val="tx1"/>
                  </a:buClr>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s-AR" altLang="en-US" sz="2300" dirty="0">
                    <a:solidFill>
                      <a:srgbClr val="000000"/>
                    </a:solidFill>
                  </a:rPr>
                  <a:t>Las partes del contrato forward se aseguran HOY un precio FIJO por un quintal de soja en el futuro</a:t>
                </a:r>
              </a:p>
              <a:p>
                <a:pPr defTabSz="457200">
                  <a:buClr>
                    <a:schemeClr val="tx1"/>
                  </a:buClr>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s-AR" altLang="en-US" sz="2300" i="1" dirty="0">
                    <a:solidFill>
                      <a:srgbClr val="000000"/>
                    </a:solidFill>
                  </a:rPr>
                  <a:t>En T= 15/09/2022, la soja tendrá un precio spot S(T) </a:t>
                </a:r>
                <a:r>
                  <a:rPr lang="es-AR" altLang="en-US" sz="2300" b="1" i="1" dirty="0">
                    <a:solidFill>
                      <a:srgbClr val="FF0000"/>
                    </a:solidFill>
                  </a:rPr>
                  <a:t>(incierto) </a:t>
                </a:r>
              </a:p>
              <a:p>
                <a:pPr defTabSz="457200">
                  <a:buClr>
                    <a:schemeClr val="tx1"/>
                  </a:buClr>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s-AR" altLang="en-US" sz="2300" dirty="0">
                    <a:solidFill>
                      <a:srgbClr val="000000"/>
                    </a:solidFill>
                  </a:rPr>
                  <a:t>El resultado neto (</a:t>
                </a:r>
                <a:r>
                  <a:rPr lang="es-AR" altLang="en-US" sz="2300" i="1" dirty="0" err="1">
                    <a:solidFill>
                      <a:srgbClr val="000000"/>
                    </a:solidFill>
                  </a:rPr>
                  <a:t>payoff</a:t>
                </a:r>
                <a:r>
                  <a:rPr lang="es-AR" altLang="en-US" sz="2300" dirty="0">
                    <a:solidFill>
                      <a:srgbClr val="000000"/>
                    </a:solidFill>
                  </a:rPr>
                  <a:t>) del comprador del contrato forward es:</a:t>
                </a:r>
              </a:p>
              <a:p>
                <a:pPr marL="0" indent="0" defTabSz="457200">
                  <a:buClr>
                    <a:schemeClr val="tx1"/>
                  </a:buClr>
                  <a:buNone/>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s-AR" altLang="en-US" sz="2300" dirty="0">
                    <a:solidFill>
                      <a:srgbClr val="000000"/>
                    </a:solidFill>
                  </a:rPr>
                  <a:t>			           </a:t>
                </a:r>
                <a14:m>
                  <m:oMath xmlns:m="http://schemas.openxmlformats.org/officeDocument/2006/math">
                    <m:r>
                      <a:rPr lang="es-AR" altLang="en-US" sz="2300" b="1" i="1" dirty="0" smtClean="0">
                        <a:solidFill>
                          <a:srgbClr val="FF0000"/>
                        </a:solidFill>
                        <a:latin typeface="Cambria Math" panose="02040503050406030204" pitchFamily="18" charset="0"/>
                      </a:rPr>
                      <m:t>𝑺</m:t>
                    </m:r>
                    <m:d>
                      <m:dPr>
                        <m:ctrlPr>
                          <a:rPr lang="es-AR" altLang="en-US" sz="2300" b="1" i="1" dirty="0" smtClean="0">
                            <a:solidFill>
                              <a:srgbClr val="FF0000"/>
                            </a:solidFill>
                            <a:latin typeface="Cambria Math" panose="02040503050406030204" pitchFamily="18" charset="0"/>
                          </a:rPr>
                        </m:ctrlPr>
                      </m:dPr>
                      <m:e>
                        <m:r>
                          <a:rPr lang="es-AR" altLang="en-US" sz="2300" b="1" i="1" dirty="0" smtClean="0">
                            <a:solidFill>
                              <a:srgbClr val="FF0000"/>
                            </a:solidFill>
                            <a:latin typeface="Cambria Math" panose="02040503050406030204" pitchFamily="18" charset="0"/>
                          </a:rPr>
                          <m:t>𝑻</m:t>
                        </m:r>
                      </m:e>
                    </m:d>
                    <m:r>
                      <a:rPr lang="es-AR" altLang="en-US" sz="2300" b="1" i="1" dirty="0">
                        <a:solidFill>
                          <a:srgbClr val="000000"/>
                        </a:solidFill>
                        <a:latin typeface="Cambria Math" panose="02040503050406030204" pitchFamily="18" charset="0"/>
                      </a:rPr>
                      <m:t>– </m:t>
                    </m:r>
                    <m:r>
                      <a:rPr lang="es-AR" altLang="en-US" sz="2300" b="1" i="1" dirty="0">
                        <a:solidFill>
                          <a:srgbClr val="000000"/>
                        </a:solidFill>
                        <a:latin typeface="Cambria Math" panose="02040503050406030204" pitchFamily="18" charset="0"/>
                      </a:rPr>
                      <m:t>𝑭</m:t>
                    </m:r>
                  </m:oMath>
                </a14:m>
                <a:endParaRPr lang="en-US" altLang="en-US" sz="2300" b="1" dirty="0">
                  <a:solidFill>
                    <a:srgbClr val="000000"/>
                  </a:solidFill>
                </a:endParaRPr>
              </a:p>
              <a:p>
                <a:pPr defTabSz="457200">
                  <a:buClr>
                    <a:schemeClr val="tx1"/>
                  </a:buClr>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s-AR" altLang="en-US" sz="2300" dirty="0">
                    <a:solidFill>
                      <a:srgbClr val="000000"/>
                    </a:solidFill>
                  </a:rPr>
                  <a:t>La ganancia (o pérdida) neta (</a:t>
                </a:r>
                <a:r>
                  <a:rPr lang="es-AR" altLang="en-US" sz="2300" i="1" dirty="0" err="1">
                    <a:solidFill>
                      <a:srgbClr val="000000"/>
                    </a:solidFill>
                  </a:rPr>
                  <a:t>payoff</a:t>
                </a:r>
                <a:r>
                  <a:rPr lang="es-AR" altLang="en-US" sz="2300" dirty="0">
                    <a:solidFill>
                      <a:srgbClr val="000000"/>
                    </a:solidFill>
                  </a:rPr>
                  <a:t>) del vendedor del forward es: </a:t>
                </a:r>
              </a:p>
              <a:p>
                <a:pPr marL="1371600" lvl="3" indent="0" defTabSz="457200">
                  <a:buNone/>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s-AR" altLang="en-US" sz="2300" dirty="0">
                    <a:solidFill>
                      <a:srgbClr val="000000"/>
                    </a:solidFill>
                  </a:rPr>
                  <a:t>			</a:t>
                </a:r>
                <a14:m>
                  <m:oMath xmlns:m="http://schemas.openxmlformats.org/officeDocument/2006/math">
                    <m:r>
                      <a:rPr lang="es-AR" altLang="en-US" sz="2300" b="1" i="1" dirty="0" smtClean="0">
                        <a:solidFill>
                          <a:srgbClr val="000000"/>
                        </a:solidFill>
                        <a:latin typeface="Cambria Math" panose="02040503050406030204" pitchFamily="18" charset="0"/>
                      </a:rPr>
                      <m:t>𝑭</m:t>
                    </m:r>
                    <m:r>
                      <a:rPr lang="es-AR" altLang="en-US" sz="2300" b="1" i="1" dirty="0" smtClean="0">
                        <a:solidFill>
                          <a:srgbClr val="000000"/>
                        </a:solidFill>
                        <a:latin typeface="Cambria Math" panose="02040503050406030204" pitchFamily="18" charset="0"/>
                      </a:rPr>
                      <m:t>– </m:t>
                    </m:r>
                    <m:r>
                      <a:rPr lang="es-AR" altLang="en-US" sz="2300" b="1" i="1" dirty="0">
                        <a:solidFill>
                          <a:srgbClr val="FF0000"/>
                        </a:solidFill>
                        <a:latin typeface="Cambria Math" panose="02040503050406030204" pitchFamily="18" charset="0"/>
                      </a:rPr>
                      <m:t>𝑺</m:t>
                    </m:r>
                    <m:r>
                      <a:rPr lang="es-AR" altLang="en-US" sz="2300" b="1" i="1" dirty="0">
                        <a:solidFill>
                          <a:srgbClr val="FF0000"/>
                        </a:solidFill>
                        <a:latin typeface="Cambria Math" panose="02040503050406030204" pitchFamily="18" charset="0"/>
                      </a:rPr>
                      <m:t>(</m:t>
                    </m:r>
                    <m:r>
                      <a:rPr lang="es-AR" altLang="en-US" sz="2300" b="1" i="1" dirty="0">
                        <a:solidFill>
                          <a:srgbClr val="FF0000"/>
                        </a:solidFill>
                        <a:latin typeface="Cambria Math" panose="02040503050406030204" pitchFamily="18" charset="0"/>
                      </a:rPr>
                      <m:t>𝑻</m:t>
                    </m:r>
                    <m:r>
                      <a:rPr lang="es-AR" altLang="en-US" sz="2300" b="1" i="1" dirty="0">
                        <a:solidFill>
                          <a:srgbClr val="FF0000"/>
                        </a:solidFill>
                        <a:latin typeface="Cambria Math" panose="02040503050406030204" pitchFamily="18" charset="0"/>
                      </a:rPr>
                      <m:t>)</m:t>
                    </m:r>
                  </m:oMath>
                </a14:m>
                <a:endParaRPr lang="es-AR" altLang="en-US" sz="2300" dirty="0"/>
              </a:p>
            </p:txBody>
          </p:sp>
        </mc:Choice>
        <mc:Fallback>
          <p:sp>
            <p:nvSpPr>
              <p:cNvPr id="17412" name="Rectangle 3">
                <a:extLst>
                  <a:ext uri="{FF2B5EF4-FFF2-40B4-BE49-F238E27FC236}">
                    <a16:creationId xmlns:a16="http://schemas.microsoft.com/office/drawing/2014/main" id="{2FC22A35-EB35-4515-BAA0-0E4D2813339C}"/>
                  </a:ext>
                </a:extLst>
              </p:cNvPr>
              <p:cNvSpPr>
                <a:spLocks noGrp="1" noRot="1" noChangeAspect="1" noMove="1" noResize="1" noEditPoints="1" noAdjustHandles="1" noChangeArrowheads="1" noChangeShapeType="1" noTextEdit="1"/>
              </p:cNvSpPr>
              <p:nvPr>
                <p:ph type="body" idx="4294967295"/>
              </p:nvPr>
            </p:nvSpPr>
            <p:spPr>
              <a:xfrm>
                <a:off x="1774825" y="1196975"/>
                <a:ext cx="8458200" cy="5257800"/>
              </a:xfrm>
              <a:blipFill>
                <a:blip r:embed="rId3"/>
                <a:stretch>
                  <a:fillRect l="-1009" t="-1506" r="-1729" b="-1854"/>
                </a:stretch>
              </a:blipFill>
            </p:spPr>
            <p:txBody>
              <a:bodyPr/>
              <a:lstStyle/>
              <a:p>
                <a:r>
                  <a:rPr lang="en-US">
                    <a:noFill/>
                  </a:rPr>
                  <a:t> </a:t>
                </a:r>
              </a:p>
            </p:txBody>
          </p:sp>
        </mc:Fallback>
      </mc:AlternateContent>
    </p:spTree>
    <p:extLst>
      <p:ext uri="{BB962C8B-B14F-4D97-AF65-F5344CB8AC3E}">
        <p14:creationId xmlns:p14="http://schemas.microsoft.com/office/powerpoint/2010/main" val="258590279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98844EBD-EBCF-42C2-8D15-2CC9B4C2D119}"/>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31EFDF89-1083-424C-B7F1-85EC3B577D14}" type="slidenum">
              <a:rPr lang="en-US" altLang="en-US" sz="1400"/>
              <a:pPr algn="r">
                <a:spcBef>
                  <a:spcPct val="0"/>
                </a:spcBef>
                <a:buClrTx/>
                <a:buFontTx/>
                <a:buNone/>
              </a:pPr>
              <a:t>16</a:t>
            </a:fld>
            <a:endParaRPr lang="en-US" altLang="en-US" sz="1400"/>
          </a:p>
        </p:txBody>
      </p:sp>
      <p:sp>
        <p:nvSpPr>
          <p:cNvPr id="38915" name="Rectangle 2">
            <a:extLst>
              <a:ext uri="{FF2B5EF4-FFF2-40B4-BE49-F238E27FC236}">
                <a16:creationId xmlns:a16="http://schemas.microsoft.com/office/drawing/2014/main" id="{9429769A-81B2-454A-B3D8-CAF50BE59A59}"/>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i="1" dirty="0" err="1">
                <a:solidFill>
                  <a:srgbClr val="000000"/>
                </a:solidFill>
              </a:rPr>
              <a:t>Payoff</a:t>
            </a:r>
            <a:r>
              <a:rPr lang="es-AR" altLang="en-US" sz="3200" dirty="0">
                <a:solidFill>
                  <a:srgbClr val="000000"/>
                </a:solidFill>
              </a:rPr>
              <a:t> contrato forward</a:t>
            </a:r>
          </a:p>
        </p:txBody>
      </p:sp>
      <mc:AlternateContent xmlns:mc="http://schemas.openxmlformats.org/markup-compatibility/2006" xmlns:a14="http://schemas.microsoft.com/office/drawing/2010/main">
        <mc:Choice Requires="a14">
          <p:sp>
            <p:nvSpPr>
              <p:cNvPr id="38916" name="Rectangle 3">
                <a:extLst>
                  <a:ext uri="{FF2B5EF4-FFF2-40B4-BE49-F238E27FC236}">
                    <a16:creationId xmlns:a16="http://schemas.microsoft.com/office/drawing/2014/main" id="{361189E0-F19A-4B6D-838D-E05D36A5A6E2}"/>
                  </a:ext>
                </a:extLst>
              </p:cNvPr>
              <p:cNvSpPr>
                <a:spLocks noGrp="1" noChangeArrowheads="1"/>
              </p:cNvSpPr>
              <p:nvPr>
                <p:ph type="body" idx="4294967295"/>
              </p:nvPr>
            </p:nvSpPr>
            <p:spPr>
              <a:xfrm>
                <a:off x="1774825" y="1196975"/>
                <a:ext cx="8642350" cy="5257800"/>
              </a:xfrm>
            </p:spPr>
            <p:txBody>
              <a:bodyPr/>
              <a:lstStyle/>
              <a:p>
                <a:pPr eaLnBrk="1" hangingPunct="1"/>
                <a:r>
                  <a:rPr lang="es-AR" altLang="en-US" sz="2300" dirty="0">
                    <a:solidFill>
                      <a:srgbClr val="000000"/>
                    </a:solidFill>
                  </a:rPr>
                  <a:t>En gris para el comprador de un forward</a:t>
                </a:r>
              </a:p>
              <a:p>
                <a:pPr eaLnBrk="1" hangingPunct="1"/>
                <a:r>
                  <a:rPr lang="es-AR" altLang="en-US" sz="2300" dirty="0">
                    <a:solidFill>
                      <a:srgbClr val="000000"/>
                    </a:solidFill>
                  </a:rPr>
                  <a:t>En rojo para el vendedor de un forward</a:t>
                </a:r>
              </a:p>
              <a:p>
                <a:pPr eaLnBrk="1" hangingPunct="1"/>
                <a:r>
                  <a:rPr lang="es-AR" altLang="en-US" sz="2300" dirty="0">
                    <a:solidFill>
                      <a:srgbClr val="000000"/>
                    </a:solidFill>
                  </a:rPr>
                  <a:t>El </a:t>
                </a:r>
                <a:r>
                  <a:rPr lang="es-AR" altLang="en-US" sz="2300" i="1" dirty="0" err="1">
                    <a:solidFill>
                      <a:srgbClr val="000000"/>
                    </a:solidFill>
                  </a:rPr>
                  <a:t>payoff</a:t>
                </a:r>
                <a:r>
                  <a:rPr lang="es-AR" altLang="en-US" sz="2300" dirty="0">
                    <a:solidFill>
                      <a:srgbClr val="000000"/>
                    </a:solidFill>
                  </a:rPr>
                  <a:t> depende de </a:t>
                </a:r>
                <a14:m>
                  <m:oMath xmlns:m="http://schemas.openxmlformats.org/officeDocument/2006/math">
                    <m:r>
                      <a:rPr lang="es-AR" altLang="en-US" sz="2300" i="1" dirty="0" smtClean="0">
                        <a:solidFill>
                          <a:srgbClr val="000000"/>
                        </a:solidFill>
                        <a:latin typeface="Cambria Math" panose="02040503050406030204" pitchFamily="18" charset="0"/>
                      </a:rPr>
                      <m:t>𝑆</m:t>
                    </m:r>
                    <m:r>
                      <a:rPr lang="es-AR" altLang="en-US" sz="2300" i="1" dirty="0" smtClean="0">
                        <a:solidFill>
                          <a:srgbClr val="000000"/>
                        </a:solidFill>
                        <a:latin typeface="Cambria Math" panose="02040503050406030204" pitchFamily="18" charset="0"/>
                      </a:rPr>
                      <m:t>(</m:t>
                    </m:r>
                    <m:r>
                      <a:rPr lang="es-AR" altLang="en-US" sz="2300" i="1" dirty="0" smtClean="0">
                        <a:solidFill>
                          <a:srgbClr val="000000"/>
                        </a:solidFill>
                        <a:latin typeface="Cambria Math" panose="02040503050406030204" pitchFamily="18" charset="0"/>
                      </a:rPr>
                      <m:t>𝑇</m:t>
                    </m:r>
                    <m:r>
                      <a:rPr lang="es-AR" altLang="en-US" sz="2300" i="1" dirty="0" smtClean="0">
                        <a:solidFill>
                          <a:srgbClr val="000000"/>
                        </a:solidFill>
                        <a:latin typeface="Cambria Math" panose="02040503050406030204" pitchFamily="18" charset="0"/>
                      </a:rPr>
                      <m:t>) </m:t>
                    </m:r>
                  </m:oMath>
                </a14:m>
                <a:r>
                  <a:rPr lang="es-AR" altLang="en-US" sz="2300" dirty="0">
                    <a:solidFill>
                      <a:srgbClr val="000000"/>
                    </a:solidFill>
                  </a:rPr>
                  <a:t>(el precio </a:t>
                </a:r>
                <a:r>
                  <a:rPr lang="es-AR" altLang="en-US" sz="2300" i="1" dirty="0">
                    <a:solidFill>
                      <a:srgbClr val="000000"/>
                    </a:solidFill>
                  </a:rPr>
                  <a:t>spot/disponible</a:t>
                </a:r>
                <a:r>
                  <a:rPr lang="es-AR" altLang="en-US" sz="2300" dirty="0">
                    <a:solidFill>
                      <a:srgbClr val="000000"/>
                    </a:solidFill>
                  </a:rPr>
                  <a:t> en </a:t>
                </a:r>
                <a14:m>
                  <m:oMath xmlns:m="http://schemas.openxmlformats.org/officeDocument/2006/math">
                    <m:r>
                      <a:rPr lang="es-AR" altLang="en-US" sz="2300" i="1" dirty="0" smtClean="0">
                        <a:solidFill>
                          <a:srgbClr val="000000"/>
                        </a:solidFill>
                        <a:latin typeface="Cambria Math" panose="02040503050406030204" pitchFamily="18" charset="0"/>
                      </a:rPr>
                      <m:t>𝑇</m:t>
                    </m:r>
                  </m:oMath>
                </a14:m>
                <a:r>
                  <a:rPr lang="es-AR" altLang="en-US" sz="2300" dirty="0">
                    <a:solidFill>
                      <a:srgbClr val="000000"/>
                    </a:solidFill>
                  </a:rPr>
                  <a:t>)</a:t>
                </a:r>
              </a:p>
              <a:p>
                <a:pPr eaLnBrk="1" hangingPunct="1"/>
                <a:r>
                  <a:rPr lang="es-AR" altLang="en-US" sz="2300" dirty="0">
                    <a:solidFill>
                      <a:srgbClr val="000000"/>
                    </a:solidFill>
                  </a:rPr>
                  <a:t>El contrato es un </a:t>
                </a:r>
                <a:r>
                  <a:rPr lang="es-AR" altLang="en-US" sz="2300" b="1" i="1" dirty="0">
                    <a:solidFill>
                      <a:schemeClr val="tx1">
                        <a:lumMod val="60000"/>
                        <a:lumOff val="40000"/>
                      </a:schemeClr>
                    </a:solidFill>
                  </a:rPr>
                  <a:t>derivado</a:t>
                </a:r>
                <a:r>
                  <a:rPr lang="es-AR" altLang="en-US" sz="2300" dirty="0">
                    <a:solidFill>
                      <a:srgbClr val="000000"/>
                    </a:solidFill>
                  </a:rPr>
                  <a:t> de un quintal de soja, con </a:t>
                </a:r>
                <a:r>
                  <a:rPr lang="es-AR" altLang="en-US" sz="2300" i="1" dirty="0" err="1">
                    <a:solidFill>
                      <a:srgbClr val="000000"/>
                    </a:solidFill>
                  </a:rPr>
                  <a:t>payoff</a:t>
                </a:r>
                <a:r>
                  <a:rPr lang="es-AR" altLang="en-US" sz="2300" dirty="0">
                    <a:solidFill>
                      <a:srgbClr val="000000"/>
                    </a:solidFill>
                  </a:rPr>
                  <a:t> </a:t>
                </a:r>
                <a:r>
                  <a:rPr lang="es-AR" altLang="en-US" sz="2300" i="1" dirty="0">
                    <a:solidFill>
                      <a:srgbClr val="000000"/>
                    </a:solidFill>
                  </a:rPr>
                  <a:t>lineal</a:t>
                </a:r>
              </a:p>
              <a:p>
                <a:pPr eaLnBrk="1" hangingPunct="1"/>
                <a:endParaRPr lang="es-AR" altLang="en-US" sz="2400" dirty="0">
                  <a:solidFill>
                    <a:srgbClr val="000000"/>
                  </a:solidFill>
                </a:endParaRPr>
              </a:p>
              <a:p>
                <a:pPr eaLnBrk="1" hangingPunct="1"/>
                <a:endParaRPr lang="es-AR" altLang="en-US" i="1" dirty="0">
                  <a:solidFill>
                    <a:srgbClr val="000000"/>
                  </a:solidFill>
                </a:endParaRPr>
              </a:p>
              <a:p>
                <a:pPr lvl="2">
                  <a:buNone/>
                </a:pPr>
                <a:r>
                  <a:rPr lang="es-AR" altLang="en-US" dirty="0">
                    <a:solidFill>
                      <a:srgbClr val="000000"/>
                    </a:solidFill>
                  </a:rPr>
                  <a:t>	</a:t>
                </a:r>
              </a:p>
              <a:p>
                <a:pPr eaLnBrk="1" hangingPunct="1">
                  <a:buFontTx/>
                  <a:buNone/>
                </a:pPr>
                <a:endParaRPr lang="es-AR" altLang="en-US" sz="2400" dirty="0">
                  <a:solidFill>
                    <a:srgbClr val="000000"/>
                  </a:solidFill>
                </a:endParaRPr>
              </a:p>
            </p:txBody>
          </p:sp>
        </mc:Choice>
        <mc:Fallback xmlns="">
          <p:sp>
            <p:nvSpPr>
              <p:cNvPr id="38916" name="Rectangle 3">
                <a:extLst>
                  <a:ext uri="{FF2B5EF4-FFF2-40B4-BE49-F238E27FC236}">
                    <a16:creationId xmlns:a16="http://schemas.microsoft.com/office/drawing/2014/main" id="{361189E0-F19A-4B6D-838D-E05D36A5A6E2}"/>
                  </a:ext>
                </a:extLst>
              </p:cNvPr>
              <p:cNvSpPr>
                <a:spLocks noGrp="1" noRot="1" noChangeAspect="1" noMove="1" noResize="1" noEditPoints="1" noAdjustHandles="1" noChangeArrowheads="1" noChangeShapeType="1" noTextEdit="1"/>
              </p:cNvSpPr>
              <p:nvPr>
                <p:ph type="body" idx="4294967295"/>
              </p:nvPr>
            </p:nvSpPr>
            <p:spPr>
              <a:xfrm>
                <a:off x="1774825" y="1196975"/>
                <a:ext cx="8642350" cy="5257800"/>
              </a:xfrm>
              <a:blipFill>
                <a:blip r:embed="rId3"/>
                <a:stretch>
                  <a:fillRect l="-846" t="-1506"/>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6224087C-D381-4B40-AF92-F8211A0741FE}"/>
              </a:ext>
            </a:extLst>
          </p:cNvPr>
          <p:cNvCxnSpPr/>
          <p:nvPr/>
        </p:nvCxnSpPr>
        <p:spPr>
          <a:xfrm>
            <a:off x="2309813" y="5405802"/>
            <a:ext cx="6500812"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D0998F-2EFB-4945-B1DC-055D3158FF0D}"/>
              </a:ext>
            </a:extLst>
          </p:cNvPr>
          <p:cNvCxnSpPr/>
          <p:nvPr/>
        </p:nvCxnSpPr>
        <p:spPr>
          <a:xfrm>
            <a:off x="3359150" y="4149726"/>
            <a:ext cx="4165600" cy="2136775"/>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919" name="TextBox 9">
                <a:extLst>
                  <a:ext uri="{FF2B5EF4-FFF2-40B4-BE49-F238E27FC236}">
                    <a16:creationId xmlns:a16="http://schemas.microsoft.com/office/drawing/2014/main" id="{B3CCFE62-3769-465E-806A-AD5E521994BD}"/>
                  </a:ext>
                </a:extLst>
              </p:cNvPr>
              <p:cNvSpPr txBox="1">
                <a:spLocks noChangeArrowheads="1"/>
              </p:cNvSpPr>
              <p:nvPr/>
            </p:nvSpPr>
            <p:spPr bwMode="auto">
              <a:xfrm>
                <a:off x="5595939" y="5572125"/>
                <a:ext cx="398892"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eaLnBrk="1" hangingPunct="1">
                  <a:spcBef>
                    <a:spcPct val="0"/>
                  </a:spcBef>
                  <a:buClrTx/>
                  <a:buFontTx/>
                  <a:buNone/>
                </a:pPr>
                <a14:m>
                  <m:oMathPara xmlns:m="http://schemas.openxmlformats.org/officeDocument/2006/math">
                    <m:oMathParaPr>
                      <m:jc m:val="centerGroup"/>
                    </m:oMathParaPr>
                    <m:oMath xmlns:m="http://schemas.openxmlformats.org/officeDocument/2006/math">
                      <m:r>
                        <a:rPr lang="en-US" altLang="en-US" sz="1800" i="1" dirty="0" smtClean="0">
                          <a:solidFill>
                            <a:schemeClr val="tx1"/>
                          </a:solidFill>
                          <a:latin typeface="Cambria Math" panose="02040503050406030204" pitchFamily="18" charset="0"/>
                        </a:rPr>
                        <m:t>𝐹</m:t>
                      </m:r>
                    </m:oMath>
                  </m:oMathPara>
                </a14:m>
                <a:endParaRPr lang="en-US" altLang="en-US" sz="1800" dirty="0">
                  <a:solidFill>
                    <a:schemeClr val="tx1"/>
                  </a:solidFill>
                  <a:latin typeface="Arial" panose="020B0604020202020204" pitchFamily="34" charset="0"/>
                </a:endParaRPr>
              </a:p>
            </p:txBody>
          </p:sp>
        </mc:Choice>
        <mc:Fallback xmlns="">
          <p:sp>
            <p:nvSpPr>
              <p:cNvPr id="38919" name="TextBox 9">
                <a:extLst>
                  <a:ext uri="{FF2B5EF4-FFF2-40B4-BE49-F238E27FC236}">
                    <a16:creationId xmlns:a16="http://schemas.microsoft.com/office/drawing/2014/main" id="{B3CCFE62-3769-465E-806A-AD5E521994BD}"/>
                  </a:ext>
                </a:extLst>
              </p:cNvPr>
              <p:cNvSpPr txBox="1">
                <a:spLocks noRot="1" noChangeAspect="1" noMove="1" noResize="1" noEditPoints="1" noAdjustHandles="1" noChangeArrowheads="1" noChangeShapeType="1" noTextEdit="1"/>
              </p:cNvSpPr>
              <p:nvPr/>
            </p:nvSpPr>
            <p:spPr bwMode="auto">
              <a:xfrm>
                <a:off x="5595939" y="5572125"/>
                <a:ext cx="398892" cy="369332"/>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20" name="TextBox 10">
                <a:extLst>
                  <a:ext uri="{FF2B5EF4-FFF2-40B4-BE49-F238E27FC236}">
                    <a16:creationId xmlns:a16="http://schemas.microsoft.com/office/drawing/2014/main" id="{4F9D5958-ED73-49B8-B571-AC61E44E6191}"/>
                  </a:ext>
                </a:extLst>
              </p:cNvPr>
              <p:cNvSpPr txBox="1">
                <a:spLocks noChangeArrowheads="1"/>
              </p:cNvSpPr>
              <p:nvPr/>
            </p:nvSpPr>
            <p:spPr bwMode="auto">
              <a:xfrm>
                <a:off x="7910514" y="5487988"/>
                <a:ext cx="710387"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eaLnBrk="1" hangingPunct="1">
                  <a:spcBef>
                    <a:spcPct val="0"/>
                  </a:spcBef>
                  <a:buClrTx/>
                  <a:buFontTx/>
                  <a:buNone/>
                </a:pPr>
                <a14:m>
                  <m:oMathPara xmlns:m="http://schemas.openxmlformats.org/officeDocument/2006/math">
                    <m:oMathParaPr>
                      <m:jc m:val="centerGroup"/>
                    </m:oMathParaPr>
                    <m:oMath xmlns:m="http://schemas.openxmlformats.org/officeDocument/2006/math">
                      <m:r>
                        <a:rPr lang="en-US" altLang="en-US" sz="1800" i="1" dirty="0" smtClean="0">
                          <a:solidFill>
                            <a:schemeClr val="tx1"/>
                          </a:solidFill>
                          <a:latin typeface="Cambria Math" panose="02040503050406030204" pitchFamily="18" charset="0"/>
                        </a:rPr>
                        <m:t>𝑆</m:t>
                      </m:r>
                      <m:r>
                        <a:rPr lang="en-US" altLang="en-US" sz="1800" i="1" dirty="0" smtClean="0">
                          <a:solidFill>
                            <a:schemeClr val="tx1"/>
                          </a:solidFill>
                          <a:latin typeface="Cambria Math" panose="02040503050406030204" pitchFamily="18" charset="0"/>
                        </a:rPr>
                        <m:t>(</m:t>
                      </m:r>
                      <m:r>
                        <a:rPr lang="en-US" altLang="en-US" sz="1800" i="1" dirty="0" smtClean="0">
                          <a:solidFill>
                            <a:schemeClr val="tx1"/>
                          </a:solidFill>
                          <a:latin typeface="Cambria Math" panose="02040503050406030204" pitchFamily="18" charset="0"/>
                        </a:rPr>
                        <m:t>𝑇</m:t>
                      </m:r>
                      <m:r>
                        <a:rPr lang="en-US" altLang="en-US" sz="1800" i="1" dirty="0" smtClean="0">
                          <a:solidFill>
                            <a:schemeClr val="tx1"/>
                          </a:solidFill>
                          <a:latin typeface="Cambria Math" panose="02040503050406030204" pitchFamily="18" charset="0"/>
                        </a:rPr>
                        <m:t>)</m:t>
                      </m:r>
                    </m:oMath>
                  </m:oMathPara>
                </a14:m>
                <a:endParaRPr lang="en-US" altLang="en-US" sz="1800" dirty="0">
                  <a:solidFill>
                    <a:schemeClr val="tx1"/>
                  </a:solidFill>
                  <a:latin typeface="Arial" panose="020B0604020202020204" pitchFamily="34" charset="0"/>
                </a:endParaRPr>
              </a:p>
            </p:txBody>
          </p:sp>
        </mc:Choice>
        <mc:Fallback xmlns="">
          <p:sp>
            <p:nvSpPr>
              <p:cNvPr id="38920" name="TextBox 10">
                <a:extLst>
                  <a:ext uri="{FF2B5EF4-FFF2-40B4-BE49-F238E27FC236}">
                    <a16:creationId xmlns:a16="http://schemas.microsoft.com/office/drawing/2014/main" id="{4F9D5958-ED73-49B8-B571-AC61E44E6191}"/>
                  </a:ext>
                </a:extLst>
              </p:cNvPr>
              <p:cNvSpPr txBox="1">
                <a:spLocks noRot="1" noChangeAspect="1" noMove="1" noResize="1" noEditPoints="1" noAdjustHandles="1" noChangeArrowheads="1" noChangeShapeType="1" noTextEdit="1"/>
              </p:cNvSpPr>
              <p:nvPr/>
            </p:nvSpPr>
            <p:spPr bwMode="auto">
              <a:xfrm>
                <a:off x="7910514" y="5487988"/>
                <a:ext cx="710387" cy="369332"/>
              </a:xfrm>
              <a:prstGeom prst="rect">
                <a:avLst/>
              </a:prstGeom>
              <a:blipFill>
                <a:blip r:embed="rId5"/>
                <a:stretch>
                  <a:fillRect b="-147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12F7AC8F-3C4E-4205-9293-90DABBBA1A9A}"/>
              </a:ext>
            </a:extLst>
          </p:cNvPr>
          <p:cNvCxnSpPr/>
          <p:nvPr/>
        </p:nvCxnSpPr>
        <p:spPr>
          <a:xfrm rot="16200000" flipV="1">
            <a:off x="1202533" y="4321970"/>
            <a:ext cx="2509837" cy="9525"/>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0277024-D141-48DB-BECD-8416EC75BAD7}"/>
              </a:ext>
            </a:extLst>
          </p:cNvPr>
          <p:cNvCxnSpPr/>
          <p:nvPr/>
        </p:nvCxnSpPr>
        <p:spPr>
          <a:xfrm flipV="1">
            <a:off x="3881439" y="4149726"/>
            <a:ext cx="4662487" cy="2136775"/>
          </a:xfrm>
          <a:prstGeom prst="line">
            <a:avLst/>
          </a:prstGeom>
          <a:ln w="5080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C801AE-BB19-477A-A269-014C46B18F78}"/>
                  </a:ext>
                </a:extLst>
              </p:cNvPr>
              <p:cNvSpPr txBox="1">
                <a:spLocks noChangeArrowheads="1"/>
              </p:cNvSpPr>
              <p:nvPr/>
            </p:nvSpPr>
            <p:spPr bwMode="auto">
              <a:xfrm>
                <a:off x="1403369" y="3071814"/>
                <a:ext cx="1018549"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eaLnBrk="1" hangingPunct="1">
                  <a:spcBef>
                    <a:spcPct val="0"/>
                  </a:spcBef>
                  <a:buClrTx/>
                  <a:buFontTx/>
                  <a:buNone/>
                </a:pPr>
                <a14:m>
                  <m:oMathPara xmlns:m="http://schemas.openxmlformats.org/officeDocument/2006/math">
                    <m:oMathParaPr>
                      <m:jc m:val="centerGroup"/>
                    </m:oMathParaPr>
                    <m:oMath xmlns:m="http://schemas.openxmlformats.org/officeDocument/2006/math">
                      <m:r>
                        <a:rPr lang="en-US" altLang="en-US" sz="1800" b="0" i="1" dirty="0" smtClean="0">
                          <a:solidFill>
                            <a:schemeClr val="tx1"/>
                          </a:solidFill>
                          <a:latin typeface="Cambria Math" panose="02040503050406030204" pitchFamily="18" charset="0"/>
                        </a:rPr>
                        <m:t>𝑝𝑎𝑦𝑜𝑓𝑓</m:t>
                      </m:r>
                    </m:oMath>
                  </m:oMathPara>
                </a14:m>
                <a:endParaRPr lang="en-US" altLang="en-US" sz="1800" dirty="0">
                  <a:solidFill>
                    <a:schemeClr val="tx1"/>
                  </a:solidFill>
                  <a:latin typeface="Arial" panose="020B0604020202020204" pitchFamily="34" charset="0"/>
                </a:endParaRPr>
              </a:p>
            </p:txBody>
          </p:sp>
        </mc:Choice>
        <mc:Fallback xmlns="">
          <p:sp>
            <p:nvSpPr>
              <p:cNvPr id="11" name="TextBox 10">
                <a:extLst>
                  <a:ext uri="{FF2B5EF4-FFF2-40B4-BE49-F238E27FC236}">
                    <a16:creationId xmlns:a16="http://schemas.microsoft.com/office/drawing/2014/main" id="{95C801AE-BB19-477A-A269-014C46B18F78}"/>
                  </a:ext>
                </a:extLst>
              </p:cNvPr>
              <p:cNvSpPr txBox="1">
                <a:spLocks noRot="1" noChangeAspect="1" noMove="1" noResize="1" noEditPoints="1" noAdjustHandles="1" noChangeArrowheads="1" noChangeShapeType="1" noTextEdit="1"/>
              </p:cNvSpPr>
              <p:nvPr/>
            </p:nvSpPr>
            <p:spPr bwMode="auto">
              <a:xfrm>
                <a:off x="1403369" y="3071814"/>
                <a:ext cx="1018549" cy="369332"/>
              </a:xfrm>
              <a:prstGeom prst="rect">
                <a:avLst/>
              </a:prstGeom>
              <a:blipFill>
                <a:blip r:embed="rId6"/>
                <a:stretch>
                  <a:fillRect b="-1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65151325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3">
            <a:extLst>
              <a:ext uri="{FF2B5EF4-FFF2-40B4-BE49-F238E27FC236}">
                <a16:creationId xmlns:a16="http://schemas.microsoft.com/office/drawing/2014/main" id="{B412BE2F-D29A-4B5D-8D6F-53C4744929C3}"/>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BE9CFA15-9568-404C-9ACF-5226303A806A}" type="slidenum">
              <a:rPr lang="en-US" altLang="en-US" sz="1400"/>
              <a:pPr algn="r">
                <a:spcBef>
                  <a:spcPct val="0"/>
                </a:spcBef>
                <a:buClrTx/>
                <a:buFontTx/>
                <a:buNone/>
              </a:pPr>
              <a:t>17</a:t>
            </a:fld>
            <a:endParaRPr lang="en-US" altLang="en-US" sz="1400"/>
          </a:p>
        </p:txBody>
      </p:sp>
      <p:sp>
        <p:nvSpPr>
          <p:cNvPr id="65539" name="Rectangle 2">
            <a:extLst>
              <a:ext uri="{FF2B5EF4-FFF2-40B4-BE49-F238E27FC236}">
                <a16:creationId xmlns:a16="http://schemas.microsoft.com/office/drawing/2014/main" id="{03E22588-9119-4076-A37D-D3A5336A1BA7}"/>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Valuación de un contrato forward</a:t>
            </a:r>
          </a:p>
        </p:txBody>
      </p:sp>
      <mc:AlternateContent xmlns:mc="http://schemas.openxmlformats.org/markup-compatibility/2006">
        <mc:Choice xmlns:a14="http://schemas.microsoft.com/office/drawing/2010/main" Requires="a14">
          <p:sp>
            <p:nvSpPr>
              <p:cNvPr id="32772" name="Rectangle 3">
                <a:extLst>
                  <a:ext uri="{FF2B5EF4-FFF2-40B4-BE49-F238E27FC236}">
                    <a16:creationId xmlns:a16="http://schemas.microsoft.com/office/drawing/2014/main" id="{0C374E4F-7F87-41FB-ADD6-52A00B615D9C}"/>
                  </a:ext>
                </a:extLst>
              </p:cNvPr>
              <p:cNvSpPr>
                <a:spLocks noGrp="1" noChangeArrowheads="1"/>
              </p:cNvSpPr>
              <p:nvPr>
                <p:ph type="body" idx="4294967295"/>
              </p:nvPr>
            </p:nvSpPr>
            <p:spPr>
              <a:xfrm>
                <a:off x="1030410" y="800100"/>
                <a:ext cx="8642350" cy="5257800"/>
              </a:xfrm>
            </p:spPr>
            <p:txBody>
              <a:bodyPr>
                <a:normAutofit fontScale="92500" lnSpcReduction="20000"/>
              </a:bodyPr>
              <a:lstStyle/>
              <a:p>
                <a:pPr eaLnBrk="1" hangingPunct="1">
                  <a:lnSpc>
                    <a:spcPct val="80000"/>
                  </a:lnSpc>
                  <a:defRPr/>
                </a:pPr>
                <a:endParaRPr lang="es-AR" altLang="en-US" sz="2400" dirty="0">
                  <a:solidFill>
                    <a:srgbClr val="000000"/>
                  </a:solidFill>
                </a:endParaRPr>
              </a:p>
              <a:p>
                <a:pPr eaLnBrk="1" hangingPunct="1">
                  <a:lnSpc>
                    <a:spcPct val="80000"/>
                  </a:lnSpc>
                  <a:buFontTx/>
                  <a:buNone/>
                  <a:defRPr/>
                </a:pPr>
                <a:r>
                  <a:rPr lang="es-AR" altLang="en-US" sz="2400" dirty="0">
                    <a:solidFill>
                      <a:srgbClr val="000000"/>
                    </a:solidFill>
                  </a:rPr>
                  <a:t>	</a:t>
                </a:r>
                <a:r>
                  <a:rPr lang="es-AR" altLang="en-US" sz="2300" b="1" dirty="0">
                    <a:solidFill>
                      <a:srgbClr val="000000"/>
                    </a:solidFill>
                  </a:rPr>
                  <a:t>Dos nociones de precio </a:t>
                </a:r>
                <a:r>
                  <a:rPr lang="es-AR" altLang="en-US" sz="2300" dirty="0">
                    <a:solidFill>
                      <a:srgbClr val="000000"/>
                    </a:solidFill>
                  </a:rPr>
                  <a:t>asociadas a un contrato forward:</a:t>
                </a:r>
              </a:p>
              <a:p>
                <a:pPr lvl="1" eaLnBrk="1" hangingPunct="1">
                  <a:lnSpc>
                    <a:spcPct val="80000"/>
                  </a:lnSpc>
                  <a:defRPr/>
                </a:pPr>
                <a:r>
                  <a:rPr lang="es-AR" altLang="en-US" sz="2300" dirty="0">
                    <a:solidFill>
                      <a:srgbClr val="000000"/>
                    </a:solidFill>
                  </a:rPr>
                  <a:t>El </a:t>
                </a:r>
                <a:r>
                  <a:rPr lang="es-AR" altLang="en-US" sz="2300" dirty="0">
                    <a:solidFill>
                      <a:schemeClr val="tx1">
                        <a:lumMod val="60000"/>
                        <a:lumOff val="40000"/>
                      </a:schemeClr>
                    </a:solidFill>
                  </a:rPr>
                  <a:t>precio forward del activo: </a:t>
                </a:r>
                <a14:m>
                  <m:oMath xmlns:m="http://schemas.openxmlformats.org/officeDocument/2006/math">
                    <m:r>
                      <a:rPr lang="es-AR" altLang="en-US" sz="2300" i="1" dirty="0" smtClean="0">
                        <a:solidFill>
                          <a:schemeClr val="tx1">
                            <a:lumMod val="60000"/>
                            <a:lumOff val="40000"/>
                          </a:schemeClr>
                        </a:solidFill>
                        <a:latin typeface="Cambria Math" panose="02040503050406030204" pitchFamily="18" charset="0"/>
                      </a:rPr>
                      <m:t>𝐹</m:t>
                    </m:r>
                  </m:oMath>
                </a14:m>
                <a:r>
                  <a:rPr lang="es-AR" altLang="en-US" sz="2300" dirty="0">
                    <a:solidFill>
                      <a:schemeClr val="tx1">
                        <a:lumMod val="60000"/>
                        <a:lumOff val="40000"/>
                      </a:schemeClr>
                    </a:solidFill>
                  </a:rPr>
                  <a:t> </a:t>
                </a:r>
                <a:r>
                  <a:rPr lang="es-AR" altLang="en-US" sz="2300" dirty="0">
                    <a:solidFill>
                      <a:srgbClr val="000000"/>
                    </a:solidFill>
                  </a:rPr>
                  <a:t>(la cantidad que </a:t>
                </a:r>
                <a:r>
                  <a:rPr lang="es-AR" altLang="en-US" sz="2300" dirty="0">
                    <a:solidFill>
                      <a:schemeClr val="tx1">
                        <a:lumMod val="60000"/>
                        <a:lumOff val="40000"/>
                      </a:schemeClr>
                    </a:solidFill>
                  </a:rPr>
                  <a:t>fijamos </a:t>
                </a:r>
                <a:r>
                  <a:rPr lang="es-AR" altLang="en-US" sz="2300" i="1" dirty="0">
                    <a:solidFill>
                      <a:schemeClr val="tx1">
                        <a:lumMod val="60000"/>
                        <a:lumOff val="40000"/>
                      </a:schemeClr>
                    </a:solidFill>
                  </a:rPr>
                  <a:t>hoy</a:t>
                </a:r>
                <a:r>
                  <a:rPr lang="es-AR" altLang="en-US" sz="2300" dirty="0">
                    <a:solidFill>
                      <a:srgbClr val="000000"/>
                    </a:solidFill>
                  </a:rPr>
                  <a:t> como precio de compra del activo que será entregado en septiembre de 2022). Esto </a:t>
                </a:r>
                <a:r>
                  <a:rPr lang="es-AR" altLang="en-US" sz="2300" dirty="0">
                    <a:solidFill>
                      <a:srgbClr val="FF0000"/>
                    </a:solidFill>
                  </a:rPr>
                  <a:t>NO</a:t>
                </a:r>
                <a:r>
                  <a:rPr lang="es-AR" altLang="en-US" sz="2300" dirty="0">
                    <a:solidFill>
                      <a:srgbClr val="000000"/>
                    </a:solidFill>
                  </a:rPr>
                  <a:t> es el </a:t>
                </a:r>
                <a:r>
                  <a:rPr lang="es-AR" altLang="en-US" sz="2300" dirty="0">
                    <a:solidFill>
                      <a:srgbClr val="FF0000"/>
                    </a:solidFill>
                  </a:rPr>
                  <a:t>valor</a:t>
                </a:r>
                <a:r>
                  <a:rPr lang="es-AR" altLang="en-US" sz="2300" dirty="0">
                    <a:solidFill>
                      <a:srgbClr val="000000"/>
                    </a:solidFill>
                  </a:rPr>
                  <a:t> del contrato forward. </a:t>
                </a:r>
              </a:p>
              <a:p>
                <a:pPr lvl="1" eaLnBrk="1" hangingPunct="1">
                  <a:lnSpc>
                    <a:spcPct val="80000"/>
                  </a:lnSpc>
                  <a:defRPr/>
                </a:pPr>
                <a:endParaRPr lang="es-AR" altLang="en-US" sz="2300" dirty="0">
                  <a:solidFill>
                    <a:srgbClr val="000000"/>
                  </a:solidFill>
                </a:endParaRPr>
              </a:p>
              <a:p>
                <a:pPr lvl="1" eaLnBrk="1" hangingPunct="1">
                  <a:lnSpc>
                    <a:spcPct val="80000"/>
                  </a:lnSpc>
                  <a:defRPr/>
                </a:pPr>
                <a:r>
                  <a:rPr lang="es-AR" altLang="en-US" sz="2300" dirty="0">
                    <a:solidFill>
                      <a:srgbClr val="000000"/>
                    </a:solidFill>
                  </a:rPr>
                  <a:t>El </a:t>
                </a:r>
                <a:r>
                  <a:rPr lang="es-AR" altLang="en-US" sz="2300" dirty="0">
                    <a:solidFill>
                      <a:schemeClr val="tx1">
                        <a:lumMod val="60000"/>
                        <a:lumOff val="40000"/>
                      </a:schemeClr>
                    </a:solidFill>
                  </a:rPr>
                  <a:t>valor del contrato forward, </a:t>
                </a:r>
                <a14:m>
                  <m:oMath xmlns:m="http://schemas.openxmlformats.org/officeDocument/2006/math">
                    <m:r>
                      <a:rPr lang="es-AR" altLang="en-US" sz="2300" i="1" dirty="0" smtClean="0">
                        <a:solidFill>
                          <a:schemeClr val="tx1">
                            <a:lumMod val="60000"/>
                            <a:lumOff val="40000"/>
                          </a:schemeClr>
                        </a:solidFill>
                        <a:latin typeface="Cambria Math" panose="02040503050406030204" pitchFamily="18" charset="0"/>
                      </a:rPr>
                      <m:t>𝑉</m:t>
                    </m:r>
                  </m:oMath>
                </a14:m>
                <a:r>
                  <a:rPr lang="es-AR" altLang="en-US" sz="2300" dirty="0">
                    <a:solidFill>
                      <a:srgbClr val="000000"/>
                    </a:solidFill>
                  </a:rPr>
                  <a:t>. Esto es el valor de la obligación y derecho a comprar el activo a precio </a:t>
                </a:r>
                <a14:m>
                  <m:oMath xmlns:m="http://schemas.openxmlformats.org/officeDocument/2006/math">
                    <m:r>
                      <a:rPr lang="es-AR" altLang="en-US" sz="2300" i="1" dirty="0" smtClean="0">
                        <a:solidFill>
                          <a:srgbClr val="000000"/>
                        </a:solidFill>
                        <a:latin typeface="Cambria Math" panose="02040503050406030204" pitchFamily="18" charset="0"/>
                      </a:rPr>
                      <m:t>𝐹</m:t>
                    </m:r>
                  </m:oMath>
                </a14:m>
                <a:r>
                  <a:rPr lang="es-AR" altLang="en-US" sz="2300" dirty="0">
                    <a:solidFill>
                      <a:srgbClr val="000000"/>
                    </a:solidFill>
                  </a:rPr>
                  <a:t>. </a:t>
                </a:r>
              </a:p>
              <a:p>
                <a:pPr eaLnBrk="1" hangingPunct="1">
                  <a:lnSpc>
                    <a:spcPct val="80000"/>
                  </a:lnSpc>
                  <a:defRPr/>
                </a:pPr>
                <a:endParaRPr lang="es-AR" altLang="en-US" sz="2300" dirty="0">
                  <a:solidFill>
                    <a:srgbClr val="000000"/>
                  </a:solidFill>
                </a:endParaRPr>
              </a:p>
              <a:p>
                <a:pPr eaLnBrk="1" hangingPunct="1">
                  <a:lnSpc>
                    <a:spcPct val="80000"/>
                  </a:lnSpc>
                  <a:defRPr/>
                </a:pPr>
                <a:r>
                  <a:rPr lang="es-AR" altLang="en-US" sz="2300" dirty="0">
                    <a:solidFill>
                      <a:srgbClr val="000000"/>
                    </a:solidFill>
                  </a:rPr>
                  <a:t>El </a:t>
                </a:r>
                <a:r>
                  <a:rPr lang="es-AR" altLang="en-US" sz="2300" i="1" dirty="0">
                    <a:solidFill>
                      <a:srgbClr val="000000"/>
                    </a:solidFill>
                  </a:rPr>
                  <a:t>precio forward </a:t>
                </a:r>
                <a:r>
                  <a:rPr lang="es-AR" altLang="en-US" sz="2300" dirty="0">
                    <a:solidFill>
                      <a:srgbClr val="000000"/>
                    </a:solidFill>
                  </a:rPr>
                  <a:t>del activo se fija de manera tal que el </a:t>
                </a:r>
                <a:r>
                  <a:rPr lang="es-AR" altLang="en-US" sz="2300" i="1" dirty="0">
                    <a:solidFill>
                      <a:srgbClr val="000000"/>
                    </a:solidFill>
                  </a:rPr>
                  <a:t>valor</a:t>
                </a:r>
                <a:r>
                  <a:rPr lang="es-AR" altLang="en-US" sz="2300" dirty="0">
                    <a:solidFill>
                      <a:srgbClr val="000000"/>
                    </a:solidFill>
                  </a:rPr>
                  <a:t> de un nuevo contrato forward sea igual a cero: </a:t>
                </a:r>
                <a14:m>
                  <m:oMath xmlns:m="http://schemas.openxmlformats.org/officeDocument/2006/math">
                    <m:r>
                      <a:rPr lang="es-AR" altLang="en-US" sz="2300" i="1" dirty="0" smtClean="0">
                        <a:solidFill>
                          <a:srgbClr val="000000"/>
                        </a:solidFill>
                        <a:latin typeface="Cambria Math" panose="02040503050406030204" pitchFamily="18" charset="0"/>
                      </a:rPr>
                      <m:t>𝑉</m:t>
                    </m:r>
                    <m:r>
                      <a:rPr lang="es-AR" altLang="en-US" sz="2300" i="1" dirty="0" smtClean="0">
                        <a:solidFill>
                          <a:srgbClr val="000000"/>
                        </a:solidFill>
                        <a:latin typeface="Cambria Math" panose="02040503050406030204" pitchFamily="18" charset="0"/>
                      </a:rPr>
                      <m:t>=0</m:t>
                    </m:r>
                  </m:oMath>
                </a14:m>
                <a:r>
                  <a:rPr lang="es-AR" altLang="en-US" sz="2300" dirty="0">
                    <a:solidFill>
                      <a:srgbClr val="000000"/>
                    </a:solidFill>
                  </a:rPr>
                  <a:t>. </a:t>
                </a:r>
              </a:p>
              <a:p>
                <a:pPr eaLnBrk="1" hangingPunct="1">
                  <a:lnSpc>
                    <a:spcPct val="80000"/>
                  </a:lnSpc>
                  <a:defRPr/>
                </a:pPr>
                <a:endParaRPr lang="es-AR" altLang="en-US" sz="2300" dirty="0">
                  <a:solidFill>
                    <a:srgbClr val="000000"/>
                  </a:solidFill>
                </a:endParaRPr>
              </a:p>
              <a:p>
                <a:r>
                  <a:rPr lang="es-AR" altLang="en-US" sz="2300" dirty="0">
                    <a:solidFill>
                      <a:srgbClr val="000000"/>
                    </a:solidFill>
                  </a:rPr>
                  <a:t>Cual seria un </a:t>
                </a:r>
                <a14:m>
                  <m:oMath xmlns:m="http://schemas.openxmlformats.org/officeDocument/2006/math">
                    <m:r>
                      <a:rPr lang="es-AR" altLang="en-US" sz="2300" i="1" dirty="0">
                        <a:solidFill>
                          <a:srgbClr val="000000"/>
                        </a:solidFill>
                        <a:latin typeface="Cambria Math" panose="02040503050406030204" pitchFamily="18" charset="0"/>
                      </a:rPr>
                      <m:t>𝐹</m:t>
                    </m:r>
                  </m:oMath>
                </a14:m>
                <a:r>
                  <a:rPr lang="es-AR" altLang="en-US" sz="2300" dirty="0">
                    <a:solidFill>
                      <a:srgbClr val="000000"/>
                    </a:solidFill>
                  </a:rPr>
                  <a:t> justo? Por ausencia de arbitraje, debería ser: </a:t>
                </a:r>
                <a:endParaRPr lang="en-US" altLang="en-US" sz="2300" b="1" i="1" dirty="0">
                  <a:solidFill>
                    <a:srgbClr val="000000"/>
                  </a:solidFill>
                  <a:latin typeface="Cambria Math" panose="02040503050406030204" pitchFamily="18" charset="0"/>
                </a:endParaRPr>
              </a:p>
              <a:p>
                <a:pPr marL="0" indent="0">
                  <a:buNone/>
                </a:pPr>
                <a:endParaRPr lang="en-US" altLang="en-US" sz="2300" b="1" i="1"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altLang="en-US" sz="2300" b="1" i="1" dirty="0" smtClean="0">
                          <a:solidFill>
                            <a:srgbClr val="000000"/>
                          </a:solidFill>
                          <a:latin typeface="Cambria Math" panose="02040503050406030204" pitchFamily="18" charset="0"/>
                        </a:rPr>
                        <m:t>𝑭</m:t>
                      </m:r>
                      <m:r>
                        <a:rPr lang="es-AR" altLang="en-US" sz="2300" b="1" i="1" dirty="0" smtClean="0">
                          <a:solidFill>
                            <a:srgbClr val="000000"/>
                          </a:solidFill>
                          <a:latin typeface="Cambria Math" panose="02040503050406030204" pitchFamily="18" charset="0"/>
                        </a:rPr>
                        <m:t>=</m:t>
                      </m:r>
                      <m:r>
                        <a:rPr lang="es-AR" altLang="en-US" sz="2300" b="1" i="1" dirty="0" smtClean="0">
                          <a:solidFill>
                            <a:srgbClr val="000000"/>
                          </a:solidFill>
                          <a:latin typeface="Cambria Math" panose="02040503050406030204" pitchFamily="18" charset="0"/>
                        </a:rPr>
                        <m:t>𝑺</m:t>
                      </m:r>
                      <m:r>
                        <a:rPr lang="es-AR" altLang="en-US" sz="2300" b="1" i="1" dirty="0" smtClean="0">
                          <a:solidFill>
                            <a:srgbClr val="000000"/>
                          </a:solidFill>
                          <a:latin typeface="Cambria Math" panose="02040503050406030204" pitchFamily="18" charset="0"/>
                        </a:rPr>
                        <m:t>(</m:t>
                      </m:r>
                      <m:r>
                        <a:rPr lang="es-AR" altLang="en-US" sz="2300" b="1" i="1" dirty="0" smtClean="0">
                          <a:solidFill>
                            <a:srgbClr val="000000"/>
                          </a:solidFill>
                          <a:latin typeface="Cambria Math" panose="02040503050406030204" pitchFamily="18" charset="0"/>
                        </a:rPr>
                        <m:t>𝟎</m:t>
                      </m:r>
                      <m:r>
                        <a:rPr lang="es-AR" altLang="en-US" sz="2300" b="1" i="1" dirty="0" smtClean="0">
                          <a:solidFill>
                            <a:srgbClr val="000000"/>
                          </a:solidFill>
                          <a:latin typeface="Cambria Math" panose="02040503050406030204" pitchFamily="18" charset="0"/>
                        </a:rPr>
                        <m:t>)</m:t>
                      </m:r>
                      <m:r>
                        <a:rPr lang="es-AR" altLang="en-US" sz="2300" b="1" i="1" dirty="0" err="1" smtClean="0">
                          <a:solidFill>
                            <a:srgbClr val="000000"/>
                          </a:solidFill>
                          <a:latin typeface="Cambria Math" panose="02040503050406030204" pitchFamily="18" charset="0"/>
                        </a:rPr>
                        <m:t>𝒆</m:t>
                      </m:r>
                      <m:r>
                        <a:rPr lang="es-AR" altLang="en-US" sz="2300" b="1" i="1" baseline="30000" dirty="0" err="1" smtClean="0">
                          <a:solidFill>
                            <a:srgbClr val="000000"/>
                          </a:solidFill>
                          <a:latin typeface="Cambria Math" panose="02040503050406030204" pitchFamily="18" charset="0"/>
                        </a:rPr>
                        <m:t>𝒓𝑻</m:t>
                      </m:r>
                    </m:oMath>
                  </m:oMathPara>
                </a14:m>
                <a:endParaRPr lang="es-AR" altLang="en-US" sz="2300" b="1" baseline="30000" dirty="0">
                  <a:solidFill>
                    <a:srgbClr val="000000"/>
                  </a:solidFill>
                </a:endParaRPr>
              </a:p>
              <a:p>
                <a:pPr eaLnBrk="1" hangingPunct="1">
                  <a:buFontTx/>
                  <a:buNone/>
                </a:pPr>
                <a:endParaRPr lang="es-AR" altLang="en-US" sz="2300" b="1" dirty="0">
                  <a:solidFill>
                    <a:srgbClr val="000000"/>
                  </a:solidFill>
                </a:endParaRPr>
              </a:p>
              <a:p>
                <a:pPr eaLnBrk="1" hangingPunct="1"/>
                <a:r>
                  <a:rPr lang="es-AR" altLang="en-US" sz="2300" dirty="0">
                    <a:solidFill>
                      <a:srgbClr val="000000"/>
                    </a:solidFill>
                  </a:rPr>
                  <a:t>Qué pasa si esta igualdad no se cumple en el mercado?</a:t>
                </a:r>
              </a:p>
              <a:p>
                <a:pPr eaLnBrk="1" hangingPunct="1">
                  <a:lnSpc>
                    <a:spcPct val="80000"/>
                  </a:lnSpc>
                  <a:defRPr/>
                </a:pPr>
                <a:endParaRPr lang="es-AR" altLang="en-US" sz="2300" dirty="0">
                  <a:solidFill>
                    <a:srgbClr val="000000"/>
                  </a:solidFill>
                </a:endParaRPr>
              </a:p>
              <a:p>
                <a:pPr lvl="1" eaLnBrk="1" hangingPunct="1">
                  <a:lnSpc>
                    <a:spcPct val="80000"/>
                  </a:lnSpc>
                  <a:buFont typeface="Wingdings" panose="05000000000000000000" pitchFamily="2" charset="2"/>
                  <a:buNone/>
                  <a:defRPr/>
                </a:pPr>
                <a:endParaRPr lang="es-AR" altLang="en-US" dirty="0">
                  <a:solidFill>
                    <a:srgbClr val="000000"/>
                  </a:solidFill>
                </a:endParaRPr>
              </a:p>
            </p:txBody>
          </p:sp>
        </mc:Choice>
        <mc:Fallback>
          <p:sp>
            <p:nvSpPr>
              <p:cNvPr id="32772" name="Rectangle 3">
                <a:extLst>
                  <a:ext uri="{FF2B5EF4-FFF2-40B4-BE49-F238E27FC236}">
                    <a16:creationId xmlns:a16="http://schemas.microsoft.com/office/drawing/2014/main" id="{0C374E4F-7F87-41FB-ADD6-52A00B615D9C}"/>
                  </a:ext>
                </a:extLst>
              </p:cNvPr>
              <p:cNvSpPr>
                <a:spLocks noGrp="1" noRot="1" noChangeAspect="1" noMove="1" noResize="1" noEditPoints="1" noAdjustHandles="1" noChangeArrowheads="1" noChangeShapeType="1" noTextEdit="1"/>
              </p:cNvSpPr>
              <p:nvPr>
                <p:ph type="body" idx="4294967295"/>
              </p:nvPr>
            </p:nvSpPr>
            <p:spPr>
              <a:xfrm>
                <a:off x="1030410" y="800100"/>
                <a:ext cx="8642350" cy="5257800"/>
              </a:xfrm>
              <a:blipFill>
                <a:blip r:embed="rId3"/>
                <a:stretch>
                  <a:fillRect l="-705" r="-1481"/>
                </a:stretch>
              </a:blipFill>
            </p:spPr>
            <p:txBody>
              <a:bodyPr/>
              <a:lstStyle/>
              <a:p>
                <a:r>
                  <a:rPr lang="en-US">
                    <a:noFill/>
                  </a:rPr>
                  <a:t> </a:t>
                </a:r>
              </a:p>
            </p:txBody>
          </p:sp>
        </mc:Fallback>
      </mc:AlternateContent>
    </p:spTree>
    <p:extLst>
      <p:ext uri="{BB962C8B-B14F-4D97-AF65-F5344CB8AC3E}">
        <p14:creationId xmlns:p14="http://schemas.microsoft.com/office/powerpoint/2010/main" val="72238614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a:extLst>
              <a:ext uri="{FF2B5EF4-FFF2-40B4-BE49-F238E27FC236}">
                <a16:creationId xmlns:a16="http://schemas.microsoft.com/office/drawing/2014/main" id="{FE960D66-0CAA-4865-B66E-1BB960266DA2}"/>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00ABA7F0-9A69-4130-81EB-6CAAAD440C3D}" type="slidenum">
              <a:rPr lang="en-US" altLang="en-US" sz="1400"/>
              <a:pPr algn="r">
                <a:spcBef>
                  <a:spcPct val="0"/>
                </a:spcBef>
                <a:buClrTx/>
                <a:buFontTx/>
                <a:buNone/>
              </a:pPr>
              <a:t>18</a:t>
            </a:fld>
            <a:endParaRPr lang="en-US" altLang="en-US" sz="1400"/>
          </a:p>
        </p:txBody>
      </p:sp>
      <mc:AlternateContent xmlns:mc="http://schemas.openxmlformats.org/markup-compatibility/2006" xmlns:a14="http://schemas.microsoft.com/office/drawing/2010/main">
        <mc:Choice Requires="a14">
          <p:sp>
            <p:nvSpPr>
              <p:cNvPr id="73731" name="Rectangle 2">
                <a:extLst>
                  <a:ext uri="{FF2B5EF4-FFF2-40B4-BE49-F238E27FC236}">
                    <a16:creationId xmlns:a16="http://schemas.microsoft.com/office/drawing/2014/main" id="{88682C9F-4B7D-4339-ACD4-2B459073C3A5}"/>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Supongamos que </a:t>
                </a:r>
                <a14:m>
                  <m:oMath xmlns:m="http://schemas.openxmlformats.org/officeDocument/2006/math">
                    <m:r>
                      <a:rPr lang="es-AR" altLang="en-US" sz="3200" i="1" dirty="0" smtClean="0">
                        <a:solidFill>
                          <a:srgbClr val="000000"/>
                        </a:solidFill>
                        <a:latin typeface="Cambria Math" panose="02040503050406030204" pitchFamily="18" charset="0"/>
                      </a:rPr>
                      <m:t>𝐹</m:t>
                    </m:r>
                    <m:r>
                      <a:rPr lang="es-AR" altLang="en-US" sz="3200" i="1" dirty="0" smtClean="0">
                        <a:solidFill>
                          <a:srgbClr val="000000"/>
                        </a:solidFill>
                        <a:latin typeface="Cambria Math" panose="02040503050406030204" pitchFamily="18" charset="0"/>
                      </a:rPr>
                      <m:t> &gt; </m:t>
                    </m:r>
                    <m:r>
                      <a:rPr lang="es-AR" altLang="en-US" sz="3200" i="1" dirty="0" smtClean="0">
                        <a:solidFill>
                          <a:srgbClr val="000000"/>
                        </a:solidFill>
                        <a:latin typeface="Cambria Math" panose="02040503050406030204" pitchFamily="18" charset="0"/>
                      </a:rPr>
                      <m:t>𝑆</m:t>
                    </m:r>
                    <m:r>
                      <a:rPr lang="es-AR" altLang="en-US" sz="3200" i="1" dirty="0" smtClean="0">
                        <a:solidFill>
                          <a:srgbClr val="000000"/>
                        </a:solidFill>
                        <a:latin typeface="Cambria Math" panose="02040503050406030204" pitchFamily="18" charset="0"/>
                      </a:rPr>
                      <m:t>(0)</m:t>
                    </m:r>
                    <m:r>
                      <a:rPr lang="es-AR" altLang="en-US" sz="3200" i="1" dirty="0" err="1">
                        <a:solidFill>
                          <a:srgbClr val="000000"/>
                        </a:solidFill>
                        <a:latin typeface="Cambria Math" panose="02040503050406030204" pitchFamily="18" charset="0"/>
                      </a:rPr>
                      <m:t>𝑒</m:t>
                    </m:r>
                    <m:r>
                      <a:rPr lang="es-AR" altLang="en-US" sz="3200" i="1" baseline="30000" dirty="0" err="1">
                        <a:solidFill>
                          <a:srgbClr val="000000"/>
                        </a:solidFill>
                        <a:latin typeface="Cambria Math" panose="02040503050406030204" pitchFamily="18" charset="0"/>
                      </a:rPr>
                      <m:t>𝑟𝑇</m:t>
                    </m:r>
                    <m:r>
                      <a:rPr lang="es-AR" altLang="en-US" sz="3200" b="1" i="1" dirty="0">
                        <a:solidFill>
                          <a:srgbClr val="000000"/>
                        </a:solidFill>
                        <a:latin typeface="Cambria Math" panose="02040503050406030204" pitchFamily="18" charset="0"/>
                      </a:rPr>
                      <m:t> </m:t>
                    </m:r>
                  </m:oMath>
                </a14:m>
                <a:r>
                  <a:rPr lang="es-AR" altLang="en-US" sz="3200" b="1" dirty="0">
                    <a:solidFill>
                      <a:srgbClr val="000000"/>
                    </a:solidFill>
                  </a:rPr>
                  <a:t>…</a:t>
                </a:r>
                <a:endParaRPr lang="es-AR" altLang="en-US" sz="3200" dirty="0">
                  <a:solidFill>
                    <a:srgbClr val="000000"/>
                  </a:solidFill>
                </a:endParaRPr>
              </a:p>
            </p:txBody>
          </p:sp>
        </mc:Choice>
        <mc:Fallback xmlns="">
          <p:sp>
            <p:nvSpPr>
              <p:cNvPr id="73731" name="Rectangle 2">
                <a:extLst>
                  <a:ext uri="{FF2B5EF4-FFF2-40B4-BE49-F238E27FC236}">
                    <a16:creationId xmlns:a16="http://schemas.microsoft.com/office/drawing/2014/main" id="{88682C9F-4B7D-4339-ACD4-2B459073C3A5}"/>
                  </a:ext>
                </a:extLst>
              </p:cNvPr>
              <p:cNvSpPr>
                <a:spLocks noGrp="1" noRot="1" noChangeAspect="1" noMove="1" noResize="1" noEditPoints="1" noAdjustHandles="1" noChangeArrowheads="1" noChangeShapeType="1" noTextEdit="1"/>
              </p:cNvSpPr>
              <p:nvPr>
                <p:ph type="title" idx="4294967295"/>
              </p:nvPr>
            </p:nvSpPr>
            <p:spPr>
              <a:xfrm>
                <a:off x="2743200" y="0"/>
                <a:ext cx="7240588" cy="1143000"/>
              </a:xfrm>
              <a:blipFill>
                <a:blip r:embed="rId3"/>
                <a:stretch>
                  <a:fillRect l="-21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68" name="Rectangle 3">
                <a:extLst>
                  <a:ext uri="{FF2B5EF4-FFF2-40B4-BE49-F238E27FC236}">
                    <a16:creationId xmlns:a16="http://schemas.microsoft.com/office/drawing/2014/main" id="{200999AA-5DCF-44F6-A646-4C46BB1C76F1}"/>
                  </a:ext>
                </a:extLst>
              </p:cNvPr>
              <p:cNvSpPr>
                <a:spLocks noGrp="1" noChangeArrowheads="1"/>
              </p:cNvSpPr>
              <p:nvPr>
                <p:ph type="body" idx="4294967295"/>
              </p:nvPr>
            </p:nvSpPr>
            <p:spPr>
              <a:xfrm>
                <a:off x="1774825" y="1295400"/>
                <a:ext cx="8642350" cy="4941888"/>
              </a:xfrm>
            </p:spPr>
            <p:txBody>
              <a:bodyPr>
                <a:normAutofit fontScale="85000" lnSpcReduction="20000"/>
              </a:bodyPr>
              <a:lstStyle/>
              <a:p>
                <a:pPr eaLnBrk="1" hangingPunct="1">
                  <a:lnSpc>
                    <a:spcPct val="90000"/>
                  </a:lnSpc>
                  <a:defRPr/>
                </a:pPr>
                <a:r>
                  <a:rPr lang="es-AR" altLang="en-US" sz="2300" dirty="0">
                    <a:solidFill>
                      <a:schemeClr val="tx1">
                        <a:lumMod val="60000"/>
                        <a:lumOff val="40000"/>
                      </a:schemeClr>
                    </a:solidFill>
                  </a:rPr>
                  <a:t>Hoy </a:t>
                </a:r>
                <a14:m>
                  <m:oMath xmlns:m="http://schemas.openxmlformats.org/officeDocument/2006/math">
                    <m:r>
                      <m:rPr>
                        <m:sty m:val="p"/>
                      </m:rPr>
                      <a:rPr lang="en-US" altLang="en-US" sz="2300" b="0" i="0" dirty="0" smtClean="0">
                        <a:solidFill>
                          <a:schemeClr val="tx1">
                            <a:lumMod val="60000"/>
                            <a:lumOff val="40000"/>
                          </a:schemeClr>
                        </a:solidFill>
                        <a:latin typeface="Cambria Math" panose="02040503050406030204" pitchFamily="18" charset="0"/>
                      </a:rPr>
                      <m:t>t</m:t>
                    </m:r>
                    <m:r>
                      <a:rPr lang="en-US" altLang="en-US" sz="2300" b="0" i="0" dirty="0" smtClean="0">
                        <a:solidFill>
                          <a:schemeClr val="tx1">
                            <a:lumMod val="60000"/>
                            <a:lumOff val="40000"/>
                          </a:schemeClr>
                        </a:solidFill>
                        <a:latin typeface="Cambria Math" panose="02040503050406030204" pitchFamily="18" charset="0"/>
                      </a:rPr>
                      <m:t>=</m:t>
                    </m:r>
                    <m:r>
                      <a:rPr lang="en-US" altLang="en-US" sz="2300" b="0" i="1" dirty="0" smtClean="0">
                        <a:solidFill>
                          <a:schemeClr val="tx1">
                            <a:lumMod val="60000"/>
                            <a:lumOff val="40000"/>
                          </a:schemeClr>
                        </a:solidFill>
                        <a:latin typeface="Cambria Math" panose="02040503050406030204" pitchFamily="18" charset="0"/>
                      </a:rPr>
                      <m:t>0</m:t>
                    </m:r>
                  </m:oMath>
                </a14:m>
                <a:endParaRPr lang="es-AR" altLang="en-US" sz="2300" dirty="0">
                  <a:solidFill>
                    <a:schemeClr val="tx1">
                      <a:lumMod val="60000"/>
                      <a:lumOff val="40000"/>
                    </a:schemeClr>
                  </a:solidFill>
                </a:endParaRPr>
              </a:p>
              <a:p>
                <a:pPr lvl="1">
                  <a:defRPr/>
                </a:pPr>
                <a:r>
                  <a:rPr lang="es-AR" altLang="en-US" sz="2300" dirty="0">
                    <a:solidFill>
                      <a:srgbClr val="000000"/>
                    </a:solidFill>
                  </a:rPr>
                  <a:t>Tomo prestado </a:t>
                </a:r>
                <a14:m>
                  <m:oMath xmlns:m="http://schemas.openxmlformats.org/officeDocument/2006/math">
                    <m:r>
                      <a:rPr lang="es-AR" altLang="en-US" sz="2300" i="1" dirty="0" smtClean="0">
                        <a:solidFill>
                          <a:srgbClr val="000000"/>
                        </a:solidFill>
                        <a:latin typeface="Cambria Math" panose="02040503050406030204" pitchFamily="18" charset="0"/>
                      </a:rPr>
                      <m:t>𝑆</m:t>
                    </m:r>
                    <m:r>
                      <a:rPr lang="es-AR" altLang="en-US" sz="2300" i="1" dirty="0" smtClean="0">
                        <a:solidFill>
                          <a:srgbClr val="000000"/>
                        </a:solidFill>
                        <a:latin typeface="Cambria Math" panose="02040503050406030204" pitchFamily="18" charset="0"/>
                      </a:rPr>
                      <m:t>(0) </m:t>
                    </m:r>
                  </m:oMath>
                </a14:m>
                <a:r>
                  <a:rPr lang="es-AR" altLang="en-US" sz="2300" dirty="0">
                    <a:solidFill>
                      <a:srgbClr val="000000"/>
                    </a:solidFill>
                  </a:rPr>
                  <a:t>del banco (</a:t>
                </a:r>
                <a:r>
                  <a:rPr lang="es-AR" altLang="en-US" sz="2300" i="1" dirty="0" err="1">
                    <a:solidFill>
                      <a:srgbClr val="000000"/>
                    </a:solidFill>
                  </a:rPr>
                  <a:t>moneymarket</a:t>
                </a:r>
                <a:r>
                  <a:rPr lang="es-AR" altLang="en-US" sz="2300" dirty="0">
                    <a:solidFill>
                      <a:srgbClr val="000000"/>
                    </a:solidFill>
                  </a:rPr>
                  <a:t>, </a:t>
                </a:r>
                <a14:m>
                  <m:oMath xmlns:m="http://schemas.openxmlformats.org/officeDocument/2006/math">
                    <m:r>
                      <a:rPr lang="es-AR" altLang="en-US" sz="2300" i="1" dirty="0" smtClean="0">
                        <a:solidFill>
                          <a:srgbClr val="000000"/>
                        </a:solidFill>
                        <a:latin typeface="Cambria Math" panose="02040503050406030204" pitchFamily="18" charset="0"/>
                      </a:rPr>
                      <m:t>𝐵</m:t>
                    </m:r>
                  </m:oMath>
                </a14:m>
                <a:r>
                  <a:rPr lang="es-AR" altLang="en-US" sz="2300" dirty="0">
                    <a:solidFill>
                      <a:srgbClr val="000000"/>
                    </a:solidFill>
                  </a:rPr>
                  <a:t>) [</a:t>
                </a:r>
                <a14:m>
                  <m:oMath xmlns:m="http://schemas.openxmlformats.org/officeDocument/2006/math">
                    <m:r>
                      <a:rPr lang="en-US" altLang="en-US" sz="2300" dirty="0">
                        <a:solidFill>
                          <a:srgbClr val="000000"/>
                        </a:solidFill>
                        <a:latin typeface="Cambria Math" panose="02040503050406030204" pitchFamily="18" charset="0"/>
                      </a:rPr>
                      <m:t>−</m:t>
                    </m:r>
                    <m:r>
                      <a:rPr lang="es-AR" altLang="en-US" sz="2300" i="1" dirty="0">
                        <a:solidFill>
                          <a:srgbClr val="000000"/>
                        </a:solidFill>
                        <a:latin typeface="Cambria Math" panose="02040503050406030204" pitchFamily="18" charset="0"/>
                      </a:rPr>
                      <m:t>𝑆</m:t>
                    </m:r>
                    <m:d>
                      <m:dPr>
                        <m:ctrlPr>
                          <a:rPr lang="es-AR" altLang="en-US" sz="2300" i="1" dirty="0">
                            <a:solidFill>
                              <a:srgbClr val="000000"/>
                            </a:solidFill>
                            <a:latin typeface="Cambria Math" panose="02040503050406030204" pitchFamily="18" charset="0"/>
                          </a:rPr>
                        </m:ctrlPr>
                      </m:dPr>
                      <m:e>
                        <m:r>
                          <a:rPr lang="es-AR" altLang="en-US" sz="2300" i="1" dirty="0">
                            <a:solidFill>
                              <a:srgbClr val="000000"/>
                            </a:solidFill>
                            <a:latin typeface="Cambria Math" panose="02040503050406030204" pitchFamily="18" charset="0"/>
                          </a:rPr>
                          <m:t>0</m:t>
                        </m:r>
                      </m:e>
                    </m:d>
                    <m:r>
                      <a:rPr lang="en-US" altLang="en-US" sz="2300" i="1" dirty="0">
                        <a:solidFill>
                          <a:srgbClr val="000000"/>
                        </a:solidFill>
                        <a:latin typeface="Cambria Math" panose="02040503050406030204" pitchFamily="18" charset="0"/>
                      </a:rPr>
                      <m:t>]</m:t>
                    </m:r>
                  </m:oMath>
                </a14:m>
                <a:endParaRPr lang="es-AR" altLang="en-US" sz="2300" dirty="0">
                  <a:solidFill>
                    <a:srgbClr val="000000"/>
                  </a:solidFill>
                </a:endParaRPr>
              </a:p>
              <a:p>
                <a:pPr lvl="1">
                  <a:defRPr/>
                </a:pPr>
                <a:r>
                  <a:rPr lang="es-AR" altLang="en-US" sz="2300" dirty="0">
                    <a:solidFill>
                      <a:srgbClr val="000000"/>
                    </a:solidFill>
                  </a:rPr>
                  <a:t>Compro el activo. [</a:t>
                </a:r>
                <a14:m>
                  <m:oMath xmlns:m="http://schemas.openxmlformats.org/officeDocument/2006/math">
                    <m:r>
                      <a:rPr lang="en-US" altLang="en-US" sz="2300" b="0" i="0"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𝑆</m:t>
                    </m:r>
                    <m:d>
                      <m:dPr>
                        <m:ctrlPr>
                          <a:rPr lang="en-US" altLang="en-US" sz="2300" b="0" i="1" smtClean="0">
                            <a:solidFill>
                              <a:srgbClr val="000000"/>
                            </a:solidFill>
                            <a:latin typeface="Cambria Math" panose="02040503050406030204" pitchFamily="18" charset="0"/>
                          </a:rPr>
                        </m:ctrlPr>
                      </m:dPr>
                      <m:e>
                        <m:r>
                          <a:rPr lang="en-US" altLang="en-US" sz="2300" b="0" i="1" smtClean="0">
                            <a:solidFill>
                              <a:srgbClr val="000000"/>
                            </a:solidFill>
                            <a:latin typeface="Cambria Math" panose="02040503050406030204" pitchFamily="18" charset="0"/>
                          </a:rPr>
                          <m:t>0</m:t>
                        </m:r>
                      </m:e>
                    </m:d>
                    <m:r>
                      <a:rPr lang="en-US" altLang="en-US" sz="2300" b="0" i="1" smtClean="0">
                        <a:solidFill>
                          <a:srgbClr val="000000"/>
                        </a:solidFill>
                        <a:latin typeface="Cambria Math" panose="02040503050406030204" pitchFamily="18" charset="0"/>
                      </a:rPr>
                      <m:t>]</m:t>
                    </m:r>
                  </m:oMath>
                </a14:m>
                <a:endParaRPr lang="es-AR" altLang="en-US" sz="2300" dirty="0">
                  <a:solidFill>
                    <a:srgbClr val="000000"/>
                  </a:solidFill>
                </a:endParaRPr>
              </a:p>
              <a:p>
                <a:pPr lvl="1">
                  <a:defRPr/>
                </a:pPr>
                <a:r>
                  <a:rPr lang="es-AR" altLang="en-US" sz="2300" dirty="0">
                    <a:solidFill>
                      <a:srgbClr val="000000"/>
                    </a:solidFill>
                  </a:rPr>
                  <a:t>Vendo un contrato Forward a precio </a:t>
                </a:r>
                <a14:m>
                  <m:oMath xmlns:m="http://schemas.openxmlformats.org/officeDocument/2006/math">
                    <m:r>
                      <a:rPr lang="es-AR" altLang="en-US" sz="2300" i="1" dirty="0" smtClean="0">
                        <a:solidFill>
                          <a:srgbClr val="000000"/>
                        </a:solidFill>
                        <a:latin typeface="Cambria Math" panose="02040503050406030204" pitchFamily="18" charset="0"/>
                      </a:rPr>
                      <m:t>𝐹</m:t>
                    </m:r>
                    <m:r>
                      <a:rPr lang="en-US" altLang="en-US" sz="2300" b="0" i="1" dirty="0" smtClean="0">
                        <a:solidFill>
                          <a:srgbClr val="000000"/>
                        </a:solidFill>
                        <a:latin typeface="Cambria Math" panose="02040503050406030204" pitchFamily="18" charset="0"/>
                      </a:rPr>
                      <m:t> [</m:t>
                    </m:r>
                    <m:r>
                      <a:rPr lang="en-US" altLang="en-US" sz="2300" b="0" i="1" dirty="0" smtClean="0">
                        <a:solidFill>
                          <a:srgbClr val="000000"/>
                        </a:solidFill>
                        <a:latin typeface="Cambria Math" panose="02040503050406030204" pitchFamily="18" charset="0"/>
                      </a:rPr>
                      <m:t>𝑉</m:t>
                    </m:r>
                    <m:r>
                      <a:rPr lang="en-US" altLang="en-US" sz="2300" b="0" i="1" dirty="0" smtClean="0">
                        <a:solidFill>
                          <a:srgbClr val="000000"/>
                        </a:solidFill>
                        <a:latin typeface="Cambria Math" panose="02040503050406030204" pitchFamily="18" charset="0"/>
                      </a:rPr>
                      <m:t>=0]</m:t>
                    </m:r>
                  </m:oMath>
                </a14:m>
                <a:endParaRPr lang="en-US" altLang="en-US" sz="2300" i="1" dirty="0">
                  <a:solidFill>
                    <a:srgbClr val="000000"/>
                  </a:solidFill>
                  <a:latin typeface="Cambria Math" panose="02040503050406030204" pitchFamily="18" charset="0"/>
                </a:endParaRPr>
              </a:p>
              <a:p>
                <a:pPr marL="457200" lvl="1" indent="0" algn="ctr">
                  <a:buNone/>
                  <a:defRPr/>
                </a:pPr>
                <a14:m>
                  <m:oMath xmlns:m="http://schemas.openxmlformats.org/officeDocument/2006/math">
                    <m:r>
                      <m:rPr>
                        <m:sty m:val="p"/>
                      </m:rPr>
                      <a:rPr lang="en-US" altLang="en-US" sz="2300" b="0" i="0" smtClean="0">
                        <a:solidFill>
                          <a:srgbClr val="000000"/>
                        </a:solidFill>
                        <a:latin typeface="Cambria Math" panose="02040503050406030204" pitchFamily="18" charset="0"/>
                      </a:rPr>
                      <m:t>Π</m:t>
                    </m:r>
                    <m:r>
                      <a:rPr lang="en-US" altLang="en-US" sz="2300" b="0" i="1"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𝑆</m:t>
                    </m:r>
                    <m:d>
                      <m:dPr>
                        <m:ctrlPr>
                          <a:rPr lang="en-US" altLang="en-US" sz="2300" b="0" i="1" smtClean="0">
                            <a:solidFill>
                              <a:srgbClr val="000000"/>
                            </a:solidFill>
                            <a:latin typeface="Cambria Math" panose="02040503050406030204" pitchFamily="18" charset="0"/>
                          </a:rPr>
                        </m:ctrlPr>
                      </m:dPr>
                      <m:e>
                        <m:r>
                          <a:rPr lang="en-US" altLang="en-US" sz="2300" b="0" i="1" smtClean="0">
                            <a:solidFill>
                              <a:srgbClr val="000000"/>
                            </a:solidFill>
                            <a:latin typeface="Cambria Math" panose="02040503050406030204" pitchFamily="18" charset="0"/>
                          </a:rPr>
                          <m:t>0</m:t>
                        </m:r>
                      </m:e>
                    </m:d>
                    <m:r>
                      <a:rPr lang="en-US" altLang="en-US" sz="2300" b="0" i="1"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𝐵</m:t>
                    </m:r>
                    <m:r>
                      <a:rPr lang="en-US" altLang="en-US" sz="2300" b="0" i="1" smtClean="0">
                        <a:solidFill>
                          <a:srgbClr val="000000"/>
                        </a:solidFill>
                        <a:latin typeface="Cambria Math" panose="02040503050406030204" pitchFamily="18" charset="0"/>
                      </a:rPr>
                      <m:t>+1×</m:t>
                    </m:r>
                    <m:r>
                      <a:rPr lang="en-US" altLang="en-US" sz="2300" b="0" i="1" smtClean="0">
                        <a:solidFill>
                          <a:srgbClr val="000000"/>
                        </a:solidFill>
                        <a:latin typeface="Cambria Math" panose="02040503050406030204" pitchFamily="18" charset="0"/>
                      </a:rPr>
                      <m:t>𝑆</m:t>
                    </m:r>
                    <m:r>
                      <a:rPr lang="en-US" altLang="en-US" sz="2300" b="0" i="1" smtClean="0">
                        <a:solidFill>
                          <a:srgbClr val="000000"/>
                        </a:solidFill>
                        <a:latin typeface="Cambria Math" panose="02040503050406030204" pitchFamily="18" charset="0"/>
                      </a:rPr>
                      <m:t>+1×</m:t>
                    </m:r>
                    <m:r>
                      <a:rPr lang="en-US" altLang="en-US" sz="2300" b="0" i="1" smtClean="0">
                        <a:solidFill>
                          <a:srgbClr val="000000"/>
                        </a:solidFill>
                        <a:latin typeface="Cambria Math" panose="02040503050406030204" pitchFamily="18" charset="0"/>
                      </a:rPr>
                      <m:t>𝑉</m:t>
                    </m:r>
                  </m:oMath>
                </a14:m>
                <a:r>
                  <a:rPr lang="es-AR" altLang="en-US" sz="2300" dirty="0">
                    <a:solidFill>
                      <a:srgbClr val="000000"/>
                    </a:solidFill>
                  </a:rPr>
                  <a:t> </a:t>
                </a:r>
              </a:p>
              <a:p>
                <a:pPr marL="457200" lvl="1" indent="0" algn="ctr">
                  <a:buNone/>
                  <a:defRPr/>
                </a:pPr>
                <a14:m>
                  <m:oMath xmlns:m="http://schemas.openxmlformats.org/officeDocument/2006/math">
                    <m:r>
                      <m:rPr>
                        <m:sty m:val="p"/>
                      </m:rPr>
                      <a:rPr lang="en-US" altLang="en-US" sz="2300" b="0" i="0" smtClean="0">
                        <a:solidFill>
                          <a:srgbClr val="000000"/>
                        </a:solidFill>
                        <a:latin typeface="Cambria Math" panose="02040503050406030204" pitchFamily="18" charset="0"/>
                      </a:rPr>
                      <m:t>Π</m:t>
                    </m:r>
                    <m:d>
                      <m:dPr>
                        <m:ctrlPr>
                          <a:rPr lang="en-US" altLang="en-US" sz="2300" b="0" i="1" smtClean="0">
                            <a:solidFill>
                              <a:srgbClr val="000000"/>
                            </a:solidFill>
                            <a:latin typeface="Cambria Math" panose="02040503050406030204" pitchFamily="18" charset="0"/>
                          </a:rPr>
                        </m:ctrlPr>
                      </m:dPr>
                      <m:e>
                        <m:r>
                          <a:rPr lang="en-US" altLang="en-US" sz="2300" b="0" i="0" smtClean="0">
                            <a:solidFill>
                              <a:srgbClr val="000000"/>
                            </a:solidFill>
                            <a:latin typeface="Cambria Math" panose="02040503050406030204" pitchFamily="18" charset="0"/>
                          </a:rPr>
                          <m:t>0</m:t>
                        </m:r>
                      </m:e>
                    </m:d>
                    <m:r>
                      <a:rPr lang="en-US" altLang="en-US" sz="2300" b="0" i="1"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𝑆</m:t>
                    </m:r>
                    <m:d>
                      <m:dPr>
                        <m:ctrlPr>
                          <a:rPr lang="en-US" altLang="en-US" sz="2300" b="0" i="1" smtClean="0">
                            <a:solidFill>
                              <a:srgbClr val="000000"/>
                            </a:solidFill>
                            <a:latin typeface="Cambria Math" panose="02040503050406030204" pitchFamily="18" charset="0"/>
                          </a:rPr>
                        </m:ctrlPr>
                      </m:dPr>
                      <m:e>
                        <m:r>
                          <a:rPr lang="en-US" altLang="en-US" sz="2300" b="0" i="1" smtClean="0">
                            <a:solidFill>
                              <a:srgbClr val="000000"/>
                            </a:solidFill>
                            <a:latin typeface="Cambria Math" panose="02040503050406030204" pitchFamily="18" charset="0"/>
                          </a:rPr>
                          <m:t>0</m:t>
                        </m:r>
                      </m:e>
                    </m:d>
                    <m:r>
                      <a:rPr lang="en-US" altLang="en-US" sz="2300" b="0" i="1"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𝑆</m:t>
                    </m:r>
                    <m:d>
                      <m:dPr>
                        <m:ctrlPr>
                          <a:rPr lang="en-US" altLang="en-US" sz="2300" b="0" i="1" smtClean="0">
                            <a:solidFill>
                              <a:srgbClr val="000000"/>
                            </a:solidFill>
                            <a:latin typeface="Cambria Math" panose="02040503050406030204" pitchFamily="18" charset="0"/>
                          </a:rPr>
                        </m:ctrlPr>
                      </m:dPr>
                      <m:e>
                        <m:r>
                          <a:rPr lang="en-US" altLang="en-US" sz="2300" b="0" i="1" smtClean="0">
                            <a:solidFill>
                              <a:srgbClr val="000000"/>
                            </a:solidFill>
                            <a:latin typeface="Cambria Math" panose="02040503050406030204" pitchFamily="18" charset="0"/>
                          </a:rPr>
                          <m:t>0</m:t>
                        </m:r>
                      </m:e>
                    </m:d>
                    <m:r>
                      <a:rPr lang="en-US" altLang="en-US" sz="2300" b="0" i="1" smtClean="0">
                        <a:solidFill>
                          <a:srgbClr val="000000"/>
                        </a:solidFill>
                        <a:latin typeface="Cambria Math" panose="02040503050406030204" pitchFamily="18" charset="0"/>
                      </a:rPr>
                      <m:t>=0</m:t>
                    </m:r>
                  </m:oMath>
                </a14:m>
                <a:r>
                  <a:rPr lang="es-AR" altLang="en-US" sz="2300" dirty="0">
                    <a:solidFill>
                      <a:srgbClr val="000000"/>
                    </a:solidFill>
                  </a:rPr>
                  <a:t> </a:t>
                </a:r>
              </a:p>
              <a:p>
                <a:pPr eaLnBrk="1" hangingPunct="1">
                  <a:lnSpc>
                    <a:spcPct val="90000"/>
                  </a:lnSpc>
                  <a:buFontTx/>
                  <a:buNone/>
                  <a:defRPr/>
                </a:pPr>
                <a:endParaRPr lang="es-AR" altLang="en-US" sz="2300" dirty="0">
                  <a:solidFill>
                    <a:srgbClr val="000000"/>
                  </a:solidFill>
                </a:endParaRPr>
              </a:p>
              <a:p>
                <a:pPr eaLnBrk="1" hangingPunct="1">
                  <a:lnSpc>
                    <a:spcPct val="90000"/>
                  </a:lnSpc>
                  <a:defRPr/>
                </a:pPr>
                <a:r>
                  <a:rPr lang="es-AR" altLang="en-US" sz="2300" dirty="0">
                    <a:solidFill>
                      <a:schemeClr val="tx1">
                        <a:lumMod val="60000"/>
                        <a:lumOff val="40000"/>
                      </a:schemeClr>
                    </a:solidFill>
                  </a:rPr>
                  <a:t>En </a:t>
                </a:r>
                <a14:m>
                  <m:oMath xmlns:m="http://schemas.openxmlformats.org/officeDocument/2006/math">
                    <m:r>
                      <m:rPr>
                        <m:sty m:val="p"/>
                      </m:rPr>
                      <a:rPr lang="en-US" altLang="en-US" sz="2300" b="0" i="0" dirty="0" smtClean="0">
                        <a:solidFill>
                          <a:schemeClr val="tx1">
                            <a:lumMod val="60000"/>
                            <a:lumOff val="40000"/>
                          </a:schemeClr>
                        </a:solidFill>
                        <a:latin typeface="Cambria Math" panose="02040503050406030204" pitchFamily="18" charset="0"/>
                      </a:rPr>
                      <m:t>t</m:t>
                    </m:r>
                    <m:r>
                      <a:rPr lang="en-US" altLang="en-US" sz="2300" b="0" i="0" dirty="0" smtClean="0">
                        <a:solidFill>
                          <a:schemeClr val="tx1">
                            <a:lumMod val="60000"/>
                            <a:lumOff val="40000"/>
                          </a:schemeClr>
                        </a:solidFill>
                        <a:latin typeface="Cambria Math" panose="02040503050406030204" pitchFamily="18" charset="0"/>
                      </a:rPr>
                      <m:t>=</m:t>
                    </m:r>
                    <m:r>
                      <a:rPr lang="es-AR" altLang="en-US" sz="2300" i="1" dirty="0" smtClean="0">
                        <a:solidFill>
                          <a:schemeClr val="tx1">
                            <a:lumMod val="60000"/>
                            <a:lumOff val="40000"/>
                          </a:schemeClr>
                        </a:solidFill>
                        <a:latin typeface="Cambria Math" panose="02040503050406030204" pitchFamily="18" charset="0"/>
                      </a:rPr>
                      <m:t>𝑇</m:t>
                    </m:r>
                  </m:oMath>
                </a14:m>
                <a:r>
                  <a:rPr lang="es-AR" altLang="en-US" sz="2300" dirty="0">
                    <a:solidFill>
                      <a:schemeClr val="tx1">
                        <a:lumMod val="60000"/>
                        <a:lumOff val="40000"/>
                      </a:schemeClr>
                    </a:solidFill>
                  </a:rPr>
                  <a:t>:</a:t>
                </a:r>
              </a:p>
              <a:p>
                <a:pPr lvl="1">
                  <a:defRPr/>
                </a:pPr>
                <a:r>
                  <a:rPr lang="es-AR" altLang="en-US" sz="2300" dirty="0">
                    <a:solidFill>
                      <a:srgbClr val="000000"/>
                    </a:solidFill>
                  </a:rPr>
                  <a:t>Entrego el activo a mi contraparte. [</a:t>
                </a:r>
                <a14:m>
                  <m:oMath xmlns:m="http://schemas.openxmlformats.org/officeDocument/2006/math">
                    <m:r>
                      <a:rPr lang="en-US" altLang="en-US" sz="2300" b="0" i="0"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𝑆</m:t>
                    </m:r>
                    <m:d>
                      <m:dPr>
                        <m:ctrlPr>
                          <a:rPr lang="en-US" altLang="en-US" sz="2300" b="0" i="1" smtClean="0">
                            <a:solidFill>
                              <a:srgbClr val="000000"/>
                            </a:solidFill>
                            <a:latin typeface="Cambria Math" panose="02040503050406030204" pitchFamily="18" charset="0"/>
                          </a:rPr>
                        </m:ctrlPr>
                      </m:dPr>
                      <m:e>
                        <m:r>
                          <a:rPr lang="en-US" altLang="en-US" sz="2300" b="0" i="1" smtClean="0">
                            <a:solidFill>
                              <a:srgbClr val="000000"/>
                            </a:solidFill>
                            <a:latin typeface="Cambria Math" panose="02040503050406030204" pitchFamily="18" charset="0"/>
                          </a:rPr>
                          <m:t>𝑇</m:t>
                        </m:r>
                      </m:e>
                    </m:d>
                  </m:oMath>
                </a14:m>
                <a:r>
                  <a:rPr lang="es-AR" altLang="en-US" sz="2300" dirty="0">
                    <a:solidFill>
                      <a:srgbClr val="000000"/>
                    </a:solidFill>
                  </a:rPr>
                  <a:t>]</a:t>
                </a:r>
              </a:p>
              <a:p>
                <a:pPr lvl="1">
                  <a:defRPr/>
                </a:pPr>
                <a:r>
                  <a:rPr lang="es-AR" altLang="en-US" sz="2300" dirty="0">
                    <a:solidFill>
                      <a:srgbClr val="000000"/>
                    </a:solidFill>
                  </a:rPr>
                  <a:t>Recibo </a:t>
                </a:r>
                <a14:m>
                  <m:oMath xmlns:m="http://schemas.openxmlformats.org/officeDocument/2006/math">
                    <m:r>
                      <a:rPr lang="es-AR" altLang="en-US" sz="2300" i="1" dirty="0" smtClean="0">
                        <a:solidFill>
                          <a:srgbClr val="000000"/>
                        </a:solidFill>
                        <a:latin typeface="Cambria Math" panose="02040503050406030204" pitchFamily="18" charset="0"/>
                      </a:rPr>
                      <m:t>𝐹</m:t>
                    </m:r>
                  </m:oMath>
                </a14:m>
                <a:r>
                  <a:rPr lang="es-AR" altLang="en-US" sz="2300" dirty="0">
                    <a:solidFill>
                      <a:srgbClr val="000000"/>
                    </a:solidFill>
                  </a:rPr>
                  <a:t> de mi contraparte en el contrato forward [</a:t>
                </a:r>
                <a14:m>
                  <m:oMath xmlns:m="http://schemas.openxmlformats.org/officeDocument/2006/math">
                    <m:r>
                      <a:rPr lang="en-US" altLang="en-US" sz="2300" i="1">
                        <a:solidFill>
                          <a:srgbClr val="000000"/>
                        </a:solidFill>
                        <a:latin typeface="Cambria Math" panose="02040503050406030204" pitchFamily="18" charset="0"/>
                      </a:rPr>
                      <m:t>+</m:t>
                    </m:r>
                    <m:r>
                      <a:rPr lang="en-US" altLang="en-US" sz="2300" i="1">
                        <a:solidFill>
                          <a:srgbClr val="000000"/>
                        </a:solidFill>
                        <a:latin typeface="Cambria Math" panose="02040503050406030204" pitchFamily="18" charset="0"/>
                      </a:rPr>
                      <m:t>𝐹</m:t>
                    </m:r>
                  </m:oMath>
                </a14:m>
                <a:r>
                  <a:rPr lang="es-AR" altLang="en-US" sz="2300" dirty="0">
                    <a:solidFill>
                      <a:srgbClr val="000000"/>
                    </a:solidFill>
                  </a:rPr>
                  <a:t>]</a:t>
                </a:r>
              </a:p>
              <a:p>
                <a:pPr lvl="1" eaLnBrk="1" hangingPunct="1">
                  <a:lnSpc>
                    <a:spcPct val="90000"/>
                  </a:lnSpc>
                  <a:defRPr/>
                </a:pPr>
                <a:r>
                  <a:rPr lang="es-AR" altLang="en-US" sz="2300" dirty="0">
                    <a:solidFill>
                      <a:srgbClr val="000000"/>
                    </a:solidFill>
                  </a:rPr>
                  <a:t>Devuelvo el préstamo al banco, [</a:t>
                </a:r>
                <a14:m>
                  <m:oMath xmlns:m="http://schemas.openxmlformats.org/officeDocument/2006/math">
                    <m:r>
                      <a:rPr lang="en-US" altLang="en-US" sz="2300" b="0" i="0" dirty="0" smtClean="0">
                        <a:solidFill>
                          <a:srgbClr val="000000"/>
                        </a:solidFill>
                        <a:latin typeface="Cambria Math" panose="02040503050406030204" pitchFamily="18" charset="0"/>
                      </a:rPr>
                      <m:t>−</m:t>
                    </m:r>
                    <m:r>
                      <a:rPr lang="es-AR" altLang="en-US" sz="2300" i="1" dirty="0" smtClean="0">
                        <a:solidFill>
                          <a:srgbClr val="000000"/>
                        </a:solidFill>
                        <a:latin typeface="Cambria Math" panose="02040503050406030204" pitchFamily="18" charset="0"/>
                      </a:rPr>
                      <m:t>𝑆</m:t>
                    </m:r>
                    <m:d>
                      <m:dPr>
                        <m:ctrlPr>
                          <a:rPr lang="es-AR" altLang="en-US" sz="2300" i="1" dirty="0" smtClean="0">
                            <a:solidFill>
                              <a:srgbClr val="000000"/>
                            </a:solidFill>
                            <a:latin typeface="Cambria Math" panose="02040503050406030204" pitchFamily="18" charset="0"/>
                          </a:rPr>
                        </m:ctrlPr>
                      </m:dPr>
                      <m:e>
                        <m:r>
                          <a:rPr lang="es-AR" altLang="en-US" sz="2300" i="1" dirty="0" smtClean="0">
                            <a:solidFill>
                              <a:srgbClr val="000000"/>
                            </a:solidFill>
                            <a:latin typeface="Cambria Math" panose="02040503050406030204" pitchFamily="18" charset="0"/>
                          </a:rPr>
                          <m:t>0</m:t>
                        </m:r>
                      </m:e>
                    </m:d>
                    <m:sSup>
                      <m:sSupPr>
                        <m:ctrlPr>
                          <a:rPr lang="en-US" altLang="en-US" sz="2300" b="0" i="1" dirty="0" smtClean="0">
                            <a:solidFill>
                              <a:srgbClr val="000000"/>
                            </a:solidFill>
                            <a:latin typeface="Cambria Math" panose="02040503050406030204" pitchFamily="18" charset="0"/>
                          </a:rPr>
                        </m:ctrlPr>
                      </m:sSupPr>
                      <m:e>
                        <m:r>
                          <a:rPr lang="es-AR" altLang="en-US" sz="2300" i="1" dirty="0" err="1">
                            <a:solidFill>
                              <a:srgbClr val="000000"/>
                            </a:solidFill>
                            <a:latin typeface="Cambria Math" panose="02040503050406030204" pitchFamily="18" charset="0"/>
                          </a:rPr>
                          <m:t>𝑒</m:t>
                        </m:r>
                      </m:e>
                      <m:sup>
                        <m:r>
                          <a:rPr lang="en-US" altLang="en-US" sz="2300" b="0" i="1" dirty="0" smtClean="0">
                            <a:solidFill>
                              <a:srgbClr val="000000"/>
                            </a:solidFill>
                            <a:latin typeface="Cambria Math" panose="02040503050406030204" pitchFamily="18" charset="0"/>
                          </a:rPr>
                          <m:t>𝑟𝑇</m:t>
                        </m:r>
                      </m:sup>
                    </m:sSup>
                    <m:r>
                      <a:rPr lang="en-US" altLang="en-US" sz="2300" b="0" i="1" dirty="0" smtClean="0">
                        <a:solidFill>
                          <a:srgbClr val="000000"/>
                        </a:solidFill>
                        <a:latin typeface="Cambria Math" panose="02040503050406030204" pitchFamily="18" charset="0"/>
                      </a:rPr>
                      <m:t>]</m:t>
                    </m:r>
                  </m:oMath>
                </a14:m>
                <a:endParaRPr lang="es-AR" altLang="en-US" sz="2300" baseline="30000" dirty="0">
                  <a:solidFill>
                    <a:srgbClr val="000000"/>
                  </a:solidFill>
                </a:endParaRPr>
              </a:p>
              <a:p>
                <a:pPr lvl="1" eaLnBrk="1" hangingPunct="1">
                  <a:lnSpc>
                    <a:spcPct val="90000"/>
                  </a:lnSpc>
                  <a:defRPr/>
                </a:pPr>
                <a:endParaRPr lang="es-AR" altLang="en-US" sz="2300" baseline="30000" dirty="0">
                  <a:solidFill>
                    <a:srgbClr val="000000"/>
                  </a:solidFill>
                </a:endParaRPr>
              </a:p>
              <a:p>
                <a:pPr marL="457200" lvl="1" indent="0">
                  <a:buNone/>
                  <a:defRPr/>
                </a:pPr>
                <a14:m>
                  <m:oMathPara xmlns:m="http://schemas.openxmlformats.org/officeDocument/2006/math">
                    <m:oMathParaPr>
                      <m:jc m:val="centerGroup"/>
                    </m:oMathParaPr>
                    <m:oMath xmlns:m="http://schemas.openxmlformats.org/officeDocument/2006/math">
                      <m:r>
                        <m:rPr>
                          <m:sty m:val="p"/>
                        </m:rPr>
                        <a:rPr lang="en-US" altLang="en-US" sz="2300" b="0" i="0" smtClean="0">
                          <a:solidFill>
                            <a:srgbClr val="000000"/>
                          </a:solidFill>
                          <a:latin typeface="Cambria Math" panose="02040503050406030204" pitchFamily="18" charset="0"/>
                        </a:rPr>
                        <m:t>Π</m:t>
                      </m:r>
                      <m:d>
                        <m:dPr>
                          <m:ctrlPr>
                            <a:rPr lang="en-US" altLang="en-US" sz="2300" b="0" i="1" smtClean="0">
                              <a:solidFill>
                                <a:srgbClr val="000000"/>
                              </a:solidFill>
                              <a:latin typeface="Cambria Math" panose="02040503050406030204" pitchFamily="18" charset="0"/>
                            </a:rPr>
                          </m:ctrlPr>
                        </m:dPr>
                        <m:e>
                          <m:r>
                            <m:rPr>
                              <m:sty m:val="p"/>
                            </m:rPr>
                            <a:rPr lang="en-US" altLang="en-US" sz="2300" b="0" i="0" smtClean="0">
                              <a:solidFill>
                                <a:srgbClr val="000000"/>
                              </a:solidFill>
                              <a:latin typeface="Cambria Math" panose="02040503050406030204" pitchFamily="18" charset="0"/>
                            </a:rPr>
                            <m:t>T</m:t>
                          </m:r>
                        </m:e>
                      </m:d>
                      <m:r>
                        <a:rPr lang="en-US" altLang="en-US" sz="2300" b="0" i="1"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𝑆</m:t>
                      </m:r>
                      <m:d>
                        <m:dPr>
                          <m:ctrlPr>
                            <a:rPr lang="en-US" altLang="en-US" sz="2300" b="0" i="1" smtClean="0">
                              <a:solidFill>
                                <a:srgbClr val="000000"/>
                              </a:solidFill>
                              <a:latin typeface="Cambria Math" panose="02040503050406030204" pitchFamily="18" charset="0"/>
                            </a:rPr>
                          </m:ctrlPr>
                        </m:dPr>
                        <m:e>
                          <m:r>
                            <a:rPr lang="en-US" altLang="en-US" sz="2300" b="0" i="1" smtClean="0">
                              <a:solidFill>
                                <a:srgbClr val="000000"/>
                              </a:solidFill>
                              <a:latin typeface="Cambria Math" panose="02040503050406030204" pitchFamily="18" charset="0"/>
                            </a:rPr>
                            <m:t>0</m:t>
                          </m:r>
                        </m:e>
                      </m:d>
                      <m:sSup>
                        <m:sSupPr>
                          <m:ctrlPr>
                            <a:rPr lang="en-US" altLang="en-US" sz="2300" b="0" i="1" smtClean="0">
                              <a:solidFill>
                                <a:srgbClr val="000000"/>
                              </a:solidFill>
                              <a:latin typeface="Cambria Math" panose="02040503050406030204" pitchFamily="18" charset="0"/>
                            </a:rPr>
                          </m:ctrlPr>
                        </m:sSupPr>
                        <m:e>
                          <m:r>
                            <a:rPr lang="en-US" altLang="en-US" sz="2300" b="0" i="1" smtClean="0">
                              <a:solidFill>
                                <a:srgbClr val="000000"/>
                              </a:solidFill>
                              <a:latin typeface="Cambria Math" panose="02040503050406030204" pitchFamily="18" charset="0"/>
                            </a:rPr>
                            <m:t>𝑒</m:t>
                          </m:r>
                        </m:e>
                        <m:sup>
                          <m:r>
                            <a:rPr lang="en-US" altLang="en-US" sz="2300" b="0" i="1" smtClean="0">
                              <a:solidFill>
                                <a:srgbClr val="000000"/>
                              </a:solidFill>
                              <a:latin typeface="Cambria Math" panose="02040503050406030204" pitchFamily="18" charset="0"/>
                            </a:rPr>
                            <m:t>𝑟𝑇</m:t>
                          </m:r>
                        </m:sup>
                      </m:sSup>
                      <m:r>
                        <a:rPr lang="en-US" altLang="en-US" sz="2300" b="0" i="1" smtClean="0">
                          <a:solidFill>
                            <a:srgbClr val="000000"/>
                          </a:solidFill>
                          <a:latin typeface="Cambria Math" panose="02040503050406030204" pitchFamily="18" charset="0"/>
                        </a:rPr>
                        <m:t> +</m:t>
                      </m:r>
                      <m:r>
                        <a:rPr lang="en-US" altLang="en-US" sz="2300" b="0" i="1" smtClean="0">
                          <a:solidFill>
                            <a:srgbClr val="000000"/>
                          </a:solidFill>
                          <a:latin typeface="Cambria Math" panose="02040503050406030204" pitchFamily="18" charset="0"/>
                        </a:rPr>
                        <m:t>𝑆</m:t>
                      </m:r>
                      <m:d>
                        <m:dPr>
                          <m:ctrlPr>
                            <a:rPr lang="en-US" altLang="en-US" sz="2300" b="0" i="1" smtClean="0">
                              <a:solidFill>
                                <a:srgbClr val="000000"/>
                              </a:solidFill>
                              <a:latin typeface="Cambria Math" panose="02040503050406030204" pitchFamily="18" charset="0"/>
                            </a:rPr>
                          </m:ctrlPr>
                        </m:dPr>
                        <m:e>
                          <m:r>
                            <a:rPr lang="en-US" altLang="en-US" sz="2300" b="0" i="1" smtClean="0">
                              <a:solidFill>
                                <a:srgbClr val="000000"/>
                              </a:solidFill>
                              <a:latin typeface="Cambria Math" panose="02040503050406030204" pitchFamily="18" charset="0"/>
                            </a:rPr>
                            <m:t>𝑇</m:t>
                          </m:r>
                        </m:e>
                      </m:d>
                      <m:r>
                        <a:rPr lang="en-US" altLang="en-US" sz="2300" b="0" i="1" smtClean="0">
                          <a:solidFill>
                            <a:srgbClr val="000000"/>
                          </a:solidFill>
                          <a:latin typeface="Cambria Math" panose="02040503050406030204" pitchFamily="18" charset="0"/>
                        </a:rPr>
                        <m:t>+</m:t>
                      </m:r>
                      <m:r>
                        <a:rPr lang="en-US" altLang="en-US" sz="2300" b="0" i="1" smtClean="0">
                          <a:solidFill>
                            <a:srgbClr val="000000"/>
                          </a:solidFill>
                          <a:latin typeface="Cambria Math" panose="02040503050406030204" pitchFamily="18" charset="0"/>
                        </a:rPr>
                        <m:t>𝐹</m:t>
                      </m:r>
                      <m:r>
                        <a:rPr lang="en-US" altLang="en-US" sz="2300" b="0" i="1" smtClean="0">
                          <a:solidFill>
                            <a:srgbClr val="000000"/>
                          </a:solidFill>
                          <a:latin typeface="Cambria Math" panose="02040503050406030204" pitchFamily="18" charset="0"/>
                        </a:rPr>
                        <m:t>=−</m:t>
                      </m:r>
                      <m:r>
                        <a:rPr lang="en-US" altLang="en-US" sz="2300" i="1">
                          <a:solidFill>
                            <a:srgbClr val="000000"/>
                          </a:solidFill>
                          <a:latin typeface="Cambria Math" panose="02040503050406030204" pitchFamily="18" charset="0"/>
                        </a:rPr>
                        <m:t>𝑆</m:t>
                      </m:r>
                      <m:d>
                        <m:dPr>
                          <m:ctrlPr>
                            <a:rPr lang="en-US" altLang="en-US" sz="2300" i="1">
                              <a:solidFill>
                                <a:srgbClr val="000000"/>
                              </a:solidFill>
                              <a:latin typeface="Cambria Math" panose="02040503050406030204" pitchFamily="18" charset="0"/>
                            </a:rPr>
                          </m:ctrlPr>
                        </m:dPr>
                        <m:e>
                          <m:r>
                            <a:rPr lang="en-US" altLang="en-US" sz="2300" i="1">
                              <a:solidFill>
                                <a:srgbClr val="000000"/>
                              </a:solidFill>
                              <a:latin typeface="Cambria Math" panose="02040503050406030204" pitchFamily="18" charset="0"/>
                            </a:rPr>
                            <m:t>0</m:t>
                          </m:r>
                        </m:e>
                      </m:d>
                      <m:sSup>
                        <m:sSupPr>
                          <m:ctrlPr>
                            <a:rPr lang="en-US" altLang="en-US" sz="2300" i="1">
                              <a:solidFill>
                                <a:srgbClr val="000000"/>
                              </a:solidFill>
                              <a:latin typeface="Cambria Math" panose="02040503050406030204" pitchFamily="18" charset="0"/>
                            </a:rPr>
                          </m:ctrlPr>
                        </m:sSupPr>
                        <m:e>
                          <m:r>
                            <a:rPr lang="en-US" altLang="en-US" sz="2300" i="1">
                              <a:solidFill>
                                <a:srgbClr val="000000"/>
                              </a:solidFill>
                              <a:latin typeface="Cambria Math" panose="02040503050406030204" pitchFamily="18" charset="0"/>
                            </a:rPr>
                            <m:t>𝑒</m:t>
                          </m:r>
                        </m:e>
                        <m:sup>
                          <m:r>
                            <a:rPr lang="en-US" altLang="en-US" sz="2300" i="1">
                              <a:solidFill>
                                <a:srgbClr val="000000"/>
                              </a:solidFill>
                              <a:latin typeface="Cambria Math" panose="02040503050406030204" pitchFamily="18" charset="0"/>
                            </a:rPr>
                            <m:t>𝑟𝑇</m:t>
                          </m:r>
                        </m:sup>
                      </m:sSup>
                      <m:r>
                        <a:rPr lang="en-US" altLang="en-US" sz="2300" i="1">
                          <a:solidFill>
                            <a:srgbClr val="000000"/>
                          </a:solidFill>
                          <a:latin typeface="Cambria Math" panose="02040503050406030204" pitchFamily="18" charset="0"/>
                        </a:rPr>
                        <m:t> +</m:t>
                      </m:r>
                      <m:r>
                        <a:rPr lang="en-US" altLang="en-US" sz="2300" i="1">
                          <a:solidFill>
                            <a:srgbClr val="000000"/>
                          </a:solidFill>
                          <a:latin typeface="Cambria Math" panose="02040503050406030204" pitchFamily="18" charset="0"/>
                        </a:rPr>
                        <m:t>𝐹</m:t>
                      </m:r>
                      <m:r>
                        <a:rPr lang="en-US" altLang="en-US" sz="2300" b="0" i="1" smtClean="0">
                          <a:solidFill>
                            <a:srgbClr val="000000"/>
                          </a:solidFill>
                          <a:latin typeface="Cambria Math" panose="02040503050406030204" pitchFamily="18" charset="0"/>
                        </a:rPr>
                        <m:t>&gt;0</m:t>
                      </m:r>
                    </m:oMath>
                  </m:oMathPara>
                </a14:m>
                <a:endParaRPr lang="es-AR" altLang="en-US" sz="2300" baseline="30000" dirty="0">
                  <a:solidFill>
                    <a:srgbClr val="000000"/>
                  </a:solidFill>
                </a:endParaRPr>
              </a:p>
              <a:p>
                <a:pPr eaLnBrk="1" hangingPunct="1">
                  <a:lnSpc>
                    <a:spcPct val="90000"/>
                  </a:lnSpc>
                  <a:buFontTx/>
                  <a:buNone/>
                  <a:defRPr/>
                </a:pPr>
                <a:endParaRPr lang="es-AR" altLang="en-US" sz="2300" dirty="0">
                  <a:solidFill>
                    <a:srgbClr val="000000"/>
                  </a:solidFill>
                </a:endParaRPr>
              </a:p>
              <a:p>
                <a:pPr eaLnBrk="1" hangingPunct="1">
                  <a:lnSpc>
                    <a:spcPct val="90000"/>
                  </a:lnSpc>
                  <a:buFontTx/>
                  <a:buNone/>
                  <a:defRPr/>
                </a:pPr>
                <a:r>
                  <a:rPr lang="es-AR" altLang="en-US" sz="2300" dirty="0">
                    <a:solidFill>
                      <a:srgbClr val="000000"/>
                    </a:solidFill>
                  </a:rPr>
                  <a:t>Mi neto: </a:t>
                </a:r>
                <a14:m>
                  <m:oMath xmlns:m="http://schemas.openxmlformats.org/officeDocument/2006/math">
                    <m:r>
                      <a:rPr lang="es-AR" altLang="en-US" sz="2300" i="1" dirty="0" smtClean="0">
                        <a:solidFill>
                          <a:srgbClr val="000000"/>
                        </a:solidFill>
                        <a:latin typeface="Cambria Math" panose="02040503050406030204" pitchFamily="18" charset="0"/>
                      </a:rPr>
                      <m:t>𝐹</m:t>
                    </m:r>
                    <m:r>
                      <a:rPr lang="es-AR" altLang="en-US" sz="2300" i="1" dirty="0" smtClean="0">
                        <a:solidFill>
                          <a:srgbClr val="000000"/>
                        </a:solidFill>
                        <a:latin typeface="Cambria Math" panose="02040503050406030204" pitchFamily="18" charset="0"/>
                      </a:rPr>
                      <m:t>− </m:t>
                    </m:r>
                    <m:r>
                      <a:rPr lang="es-AR" altLang="en-US" sz="2300" i="1" dirty="0" smtClean="0">
                        <a:solidFill>
                          <a:srgbClr val="000000"/>
                        </a:solidFill>
                        <a:latin typeface="Cambria Math" panose="02040503050406030204" pitchFamily="18" charset="0"/>
                      </a:rPr>
                      <m:t>𝑆</m:t>
                    </m:r>
                    <m:r>
                      <a:rPr lang="es-AR" altLang="en-US" sz="2300" i="1" dirty="0" smtClean="0">
                        <a:solidFill>
                          <a:srgbClr val="000000"/>
                        </a:solidFill>
                        <a:latin typeface="Cambria Math" panose="02040503050406030204" pitchFamily="18" charset="0"/>
                      </a:rPr>
                      <m:t>(0)</m:t>
                    </m:r>
                    <m:r>
                      <a:rPr lang="es-AR" altLang="en-US" sz="2300" i="1" dirty="0" err="1">
                        <a:solidFill>
                          <a:srgbClr val="000000"/>
                        </a:solidFill>
                        <a:latin typeface="Cambria Math" panose="02040503050406030204" pitchFamily="18" charset="0"/>
                      </a:rPr>
                      <m:t>𝑒</m:t>
                    </m:r>
                    <m:r>
                      <a:rPr lang="es-AR" altLang="en-US" sz="2300" i="1" baseline="30000" dirty="0" err="1">
                        <a:solidFill>
                          <a:srgbClr val="000000"/>
                        </a:solidFill>
                        <a:latin typeface="Cambria Math" panose="02040503050406030204" pitchFamily="18" charset="0"/>
                      </a:rPr>
                      <m:t>𝑟𝑇</m:t>
                    </m:r>
                    <m:r>
                      <a:rPr lang="es-AR" altLang="en-US" sz="2300" i="1" dirty="0">
                        <a:solidFill>
                          <a:srgbClr val="000000"/>
                        </a:solidFill>
                        <a:latin typeface="Cambria Math" panose="02040503050406030204" pitchFamily="18" charset="0"/>
                      </a:rPr>
                      <m:t>       </m:t>
                    </m:r>
                  </m:oMath>
                </a14:m>
                <a:r>
                  <a:rPr lang="es-AR" altLang="en-US" sz="2300" dirty="0">
                    <a:solidFill>
                      <a:srgbClr val="000000"/>
                    </a:solidFill>
                  </a:rPr>
                  <a:t>Pero esto es mayor que cero. Ganancia </a:t>
                </a:r>
              </a:p>
              <a:p>
                <a:pPr eaLnBrk="1" hangingPunct="1">
                  <a:lnSpc>
                    <a:spcPct val="90000"/>
                  </a:lnSpc>
                  <a:buFontTx/>
                  <a:buNone/>
                  <a:defRPr/>
                </a:pPr>
                <a:r>
                  <a:rPr lang="es-AR" altLang="en-US" sz="2300" dirty="0">
                    <a:solidFill>
                      <a:srgbClr val="000000"/>
                    </a:solidFill>
                  </a:rPr>
                  <a:t>				        sin riesgo y sin capital inicial! </a:t>
                </a:r>
              </a:p>
            </p:txBody>
          </p:sp>
        </mc:Choice>
        <mc:Fallback xmlns="">
          <p:sp>
            <p:nvSpPr>
              <p:cNvPr id="36868" name="Rectangle 3">
                <a:extLst>
                  <a:ext uri="{FF2B5EF4-FFF2-40B4-BE49-F238E27FC236}">
                    <a16:creationId xmlns:a16="http://schemas.microsoft.com/office/drawing/2014/main" id="{200999AA-5DCF-44F6-A646-4C46BB1C76F1}"/>
                  </a:ext>
                </a:extLst>
              </p:cNvPr>
              <p:cNvSpPr>
                <a:spLocks noGrp="1" noRot="1" noChangeAspect="1" noMove="1" noResize="1" noEditPoints="1" noAdjustHandles="1" noChangeArrowheads="1" noChangeShapeType="1" noTextEdit="1"/>
              </p:cNvSpPr>
              <p:nvPr>
                <p:ph type="body" idx="4294967295"/>
              </p:nvPr>
            </p:nvSpPr>
            <p:spPr>
              <a:xfrm>
                <a:off x="1774825" y="1295400"/>
                <a:ext cx="8642350" cy="4941888"/>
              </a:xfrm>
              <a:blipFill>
                <a:blip r:embed="rId4"/>
                <a:stretch>
                  <a:fillRect l="-705" t="-2346"/>
                </a:stretch>
              </a:blipFill>
            </p:spPr>
            <p:txBody>
              <a:bodyPr/>
              <a:lstStyle/>
              <a:p>
                <a:r>
                  <a:rPr lang="en-US">
                    <a:noFill/>
                  </a:rPr>
                  <a:t> </a:t>
                </a:r>
              </a:p>
            </p:txBody>
          </p:sp>
        </mc:Fallback>
      </mc:AlternateContent>
    </p:spTree>
    <p:extLst>
      <p:ext uri="{BB962C8B-B14F-4D97-AF65-F5344CB8AC3E}">
        <p14:creationId xmlns:p14="http://schemas.microsoft.com/office/powerpoint/2010/main" val="352072378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3">
            <a:extLst>
              <a:ext uri="{FF2B5EF4-FFF2-40B4-BE49-F238E27FC236}">
                <a16:creationId xmlns:a16="http://schemas.microsoft.com/office/drawing/2014/main" id="{F2B84162-6431-428B-93B2-7EAD21FF2CAB}"/>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AE9C7AD1-8E05-449D-843A-C7A51603FC8C}" type="slidenum">
              <a:rPr lang="en-US" altLang="en-US" sz="1400"/>
              <a:pPr algn="r">
                <a:spcBef>
                  <a:spcPct val="0"/>
                </a:spcBef>
                <a:buClrTx/>
                <a:buFontTx/>
                <a:buNone/>
              </a:pPr>
              <a:t>19</a:t>
            </a:fld>
            <a:endParaRPr lang="en-US" altLang="en-US" sz="1400"/>
          </a:p>
        </p:txBody>
      </p:sp>
      <mc:AlternateContent xmlns:mc="http://schemas.openxmlformats.org/markup-compatibility/2006" xmlns:a14="http://schemas.microsoft.com/office/drawing/2010/main">
        <mc:Choice Requires="a14">
          <p:sp>
            <p:nvSpPr>
              <p:cNvPr id="75779" name="Rectangle 2">
                <a:extLst>
                  <a:ext uri="{FF2B5EF4-FFF2-40B4-BE49-F238E27FC236}">
                    <a16:creationId xmlns:a16="http://schemas.microsoft.com/office/drawing/2014/main" id="{BBD5F0F7-5100-4780-947D-AA3FA70BE9F7}"/>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Supongamos que </a:t>
                </a:r>
                <a14:m>
                  <m:oMath xmlns:m="http://schemas.openxmlformats.org/officeDocument/2006/math">
                    <m:r>
                      <a:rPr lang="es-AR" altLang="en-US" sz="3200" i="1" dirty="0" smtClean="0">
                        <a:solidFill>
                          <a:srgbClr val="000000"/>
                        </a:solidFill>
                        <a:latin typeface="Cambria Math" panose="02040503050406030204" pitchFamily="18" charset="0"/>
                      </a:rPr>
                      <m:t>𝐹</m:t>
                    </m:r>
                    <m:r>
                      <a:rPr lang="es-AR" altLang="en-US" sz="3200" i="1" dirty="0" smtClean="0">
                        <a:solidFill>
                          <a:srgbClr val="000000"/>
                        </a:solidFill>
                        <a:latin typeface="Cambria Math" panose="02040503050406030204" pitchFamily="18" charset="0"/>
                      </a:rPr>
                      <m:t> &lt; </m:t>
                    </m:r>
                    <m:r>
                      <a:rPr lang="es-AR" altLang="en-US" sz="3200" i="1" dirty="0" smtClean="0">
                        <a:solidFill>
                          <a:srgbClr val="000000"/>
                        </a:solidFill>
                        <a:latin typeface="Cambria Math" panose="02040503050406030204" pitchFamily="18" charset="0"/>
                      </a:rPr>
                      <m:t>𝑆</m:t>
                    </m:r>
                    <m:r>
                      <a:rPr lang="es-AR" altLang="en-US" sz="3200" i="1" dirty="0" smtClean="0">
                        <a:solidFill>
                          <a:srgbClr val="000000"/>
                        </a:solidFill>
                        <a:latin typeface="Cambria Math" panose="02040503050406030204" pitchFamily="18" charset="0"/>
                      </a:rPr>
                      <m:t>(0)</m:t>
                    </m:r>
                    <m:r>
                      <a:rPr lang="es-AR" altLang="en-US" sz="3200" i="1" dirty="0" err="1">
                        <a:solidFill>
                          <a:srgbClr val="000000"/>
                        </a:solidFill>
                        <a:latin typeface="Cambria Math" panose="02040503050406030204" pitchFamily="18" charset="0"/>
                      </a:rPr>
                      <m:t>𝑒</m:t>
                    </m:r>
                    <m:r>
                      <a:rPr lang="es-AR" altLang="en-US" sz="3200" i="1" baseline="30000" dirty="0" err="1">
                        <a:solidFill>
                          <a:srgbClr val="000000"/>
                        </a:solidFill>
                        <a:latin typeface="Cambria Math" panose="02040503050406030204" pitchFamily="18" charset="0"/>
                      </a:rPr>
                      <m:t>𝑟𝑇</m:t>
                    </m:r>
                    <m:r>
                      <a:rPr lang="es-AR" altLang="en-US" sz="3200" b="1" i="1" dirty="0">
                        <a:solidFill>
                          <a:srgbClr val="000000"/>
                        </a:solidFill>
                        <a:latin typeface="Cambria Math" panose="02040503050406030204" pitchFamily="18" charset="0"/>
                      </a:rPr>
                      <m:t> </m:t>
                    </m:r>
                  </m:oMath>
                </a14:m>
                <a:r>
                  <a:rPr lang="es-AR" altLang="en-US" sz="3200" dirty="0">
                    <a:solidFill>
                      <a:srgbClr val="000000"/>
                    </a:solidFill>
                  </a:rPr>
                  <a:t>…</a:t>
                </a:r>
              </a:p>
            </p:txBody>
          </p:sp>
        </mc:Choice>
        <mc:Fallback xmlns="">
          <p:sp>
            <p:nvSpPr>
              <p:cNvPr id="75779" name="Rectangle 2">
                <a:extLst>
                  <a:ext uri="{FF2B5EF4-FFF2-40B4-BE49-F238E27FC236}">
                    <a16:creationId xmlns:a16="http://schemas.microsoft.com/office/drawing/2014/main" id="{BBD5F0F7-5100-4780-947D-AA3FA70BE9F7}"/>
                  </a:ext>
                </a:extLst>
              </p:cNvPr>
              <p:cNvSpPr>
                <a:spLocks noGrp="1" noRot="1" noChangeAspect="1" noMove="1" noResize="1" noEditPoints="1" noAdjustHandles="1" noChangeArrowheads="1" noChangeShapeType="1" noTextEdit="1"/>
              </p:cNvSpPr>
              <p:nvPr>
                <p:ph type="title" idx="4294967295"/>
              </p:nvPr>
            </p:nvSpPr>
            <p:spPr>
              <a:xfrm>
                <a:off x="2743200" y="0"/>
                <a:ext cx="7240588" cy="1143000"/>
              </a:xfrm>
              <a:blipFill>
                <a:blip r:embed="rId3"/>
                <a:stretch>
                  <a:fillRect l="-21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892" name="Rectangle 3">
                <a:extLst>
                  <a:ext uri="{FF2B5EF4-FFF2-40B4-BE49-F238E27FC236}">
                    <a16:creationId xmlns:a16="http://schemas.microsoft.com/office/drawing/2014/main" id="{085FEC8F-0AA0-425A-99E8-3F91B8342F6F}"/>
                  </a:ext>
                </a:extLst>
              </p:cNvPr>
              <p:cNvSpPr>
                <a:spLocks noGrp="1" noChangeArrowheads="1"/>
              </p:cNvSpPr>
              <p:nvPr>
                <p:ph type="body" idx="4294967295"/>
              </p:nvPr>
            </p:nvSpPr>
            <p:spPr>
              <a:xfrm>
                <a:off x="1774825" y="1196975"/>
                <a:ext cx="8642350" cy="5257800"/>
              </a:xfrm>
            </p:spPr>
            <p:txBody>
              <a:bodyPr/>
              <a:lstStyle/>
              <a:p>
                <a:pPr eaLnBrk="1" hangingPunct="1">
                  <a:defRPr/>
                </a:pPr>
                <a:r>
                  <a:rPr lang="es-AR" altLang="en-US" sz="2300" dirty="0">
                    <a:solidFill>
                      <a:schemeClr val="tx1">
                        <a:lumMod val="60000"/>
                        <a:lumOff val="40000"/>
                      </a:schemeClr>
                    </a:solidFill>
                  </a:rPr>
                  <a:t>Hoy </a:t>
                </a:r>
                <a14:m>
                  <m:oMath xmlns:m="http://schemas.openxmlformats.org/officeDocument/2006/math">
                    <m:r>
                      <m:rPr>
                        <m:sty m:val="p"/>
                      </m:rPr>
                      <a:rPr lang="en-US" altLang="en-US" sz="2300" b="0" i="0" dirty="0" smtClean="0">
                        <a:solidFill>
                          <a:schemeClr val="tx1">
                            <a:lumMod val="60000"/>
                            <a:lumOff val="40000"/>
                          </a:schemeClr>
                        </a:solidFill>
                        <a:latin typeface="Cambria Math" panose="02040503050406030204" pitchFamily="18" charset="0"/>
                      </a:rPr>
                      <m:t>t</m:t>
                    </m:r>
                    <m:r>
                      <a:rPr lang="en-US" altLang="en-US" sz="2300" b="0" i="0" dirty="0" smtClean="0">
                        <a:solidFill>
                          <a:schemeClr val="tx1">
                            <a:lumMod val="60000"/>
                            <a:lumOff val="40000"/>
                          </a:schemeClr>
                        </a:solidFill>
                        <a:latin typeface="Cambria Math" panose="02040503050406030204" pitchFamily="18" charset="0"/>
                      </a:rPr>
                      <m:t>=0</m:t>
                    </m:r>
                  </m:oMath>
                </a14:m>
                <a:endParaRPr lang="es-AR" altLang="en-US" sz="2300" dirty="0">
                  <a:solidFill>
                    <a:schemeClr val="tx1">
                      <a:lumMod val="60000"/>
                      <a:lumOff val="40000"/>
                    </a:schemeClr>
                  </a:solidFill>
                </a:endParaRPr>
              </a:p>
              <a:p>
                <a:pPr lvl="1" eaLnBrk="1" hangingPunct="1">
                  <a:defRPr/>
                </a:pPr>
                <a:r>
                  <a:rPr lang="es-AR" altLang="en-US" sz="2300" dirty="0">
                    <a:solidFill>
                      <a:srgbClr val="000000"/>
                    </a:solidFill>
                  </a:rPr>
                  <a:t>Compro el activo forward a precio </a:t>
                </a:r>
                <a14:m>
                  <m:oMath xmlns:m="http://schemas.openxmlformats.org/officeDocument/2006/math">
                    <m:r>
                      <a:rPr lang="es-AR" altLang="en-US" sz="2300" i="1" dirty="0" smtClean="0">
                        <a:solidFill>
                          <a:srgbClr val="000000"/>
                        </a:solidFill>
                        <a:latin typeface="Cambria Math" panose="02040503050406030204" pitchFamily="18" charset="0"/>
                      </a:rPr>
                      <m:t>𝐹</m:t>
                    </m:r>
                  </m:oMath>
                </a14:m>
                <a:r>
                  <a:rPr lang="es-AR" altLang="en-US" sz="2300" dirty="0">
                    <a:solidFill>
                      <a:srgbClr val="000000"/>
                    </a:solidFill>
                  </a:rPr>
                  <a:t>.</a:t>
                </a:r>
              </a:p>
              <a:p>
                <a:pPr lvl="1" eaLnBrk="1" hangingPunct="1">
                  <a:defRPr/>
                </a:pPr>
                <a:r>
                  <a:rPr lang="es-AR" altLang="en-US" sz="2300" dirty="0">
                    <a:solidFill>
                      <a:srgbClr val="000000"/>
                    </a:solidFill>
                  </a:rPr>
                  <a:t>Tomo prestado el activo, y lo vendo en el acto.</a:t>
                </a:r>
              </a:p>
              <a:p>
                <a:pPr lvl="1" eaLnBrk="1" hangingPunct="1">
                  <a:defRPr/>
                </a:pPr>
                <a:r>
                  <a:rPr lang="es-AR" altLang="en-US" sz="2300" dirty="0">
                    <a:solidFill>
                      <a:srgbClr val="000000"/>
                    </a:solidFill>
                  </a:rPr>
                  <a:t>Recibo </a:t>
                </a:r>
                <a14:m>
                  <m:oMath xmlns:m="http://schemas.openxmlformats.org/officeDocument/2006/math">
                    <m:r>
                      <a:rPr lang="es-AR" altLang="en-US" sz="2300" i="1" dirty="0" smtClean="0">
                        <a:solidFill>
                          <a:srgbClr val="000000"/>
                        </a:solidFill>
                        <a:latin typeface="Cambria Math" panose="02040503050406030204" pitchFamily="18" charset="0"/>
                      </a:rPr>
                      <m:t>𝑆</m:t>
                    </m:r>
                    <m:r>
                      <a:rPr lang="es-AR" altLang="en-US" sz="2300" i="1" dirty="0" smtClean="0">
                        <a:solidFill>
                          <a:srgbClr val="000000"/>
                        </a:solidFill>
                        <a:latin typeface="Cambria Math" panose="02040503050406030204" pitchFamily="18" charset="0"/>
                      </a:rPr>
                      <m:t>(0) </m:t>
                    </m:r>
                  </m:oMath>
                </a14:m>
                <a:r>
                  <a:rPr lang="es-AR" altLang="en-US" sz="2300" dirty="0">
                    <a:solidFill>
                      <a:srgbClr val="000000"/>
                    </a:solidFill>
                  </a:rPr>
                  <a:t>de la venta y lo invierto en el banco.</a:t>
                </a:r>
              </a:p>
              <a:p>
                <a:pPr eaLnBrk="1" hangingPunct="1">
                  <a:buFontTx/>
                  <a:buNone/>
                  <a:defRPr/>
                </a:pPr>
                <a:endParaRPr lang="es-AR" altLang="en-US" sz="2300" dirty="0">
                  <a:solidFill>
                    <a:srgbClr val="000000"/>
                  </a:solidFill>
                </a:endParaRPr>
              </a:p>
              <a:p>
                <a:pPr eaLnBrk="1" hangingPunct="1">
                  <a:defRPr/>
                </a:pPr>
                <a:r>
                  <a:rPr lang="es-AR" altLang="en-US" sz="2300" dirty="0">
                    <a:solidFill>
                      <a:schemeClr val="tx1">
                        <a:lumMod val="60000"/>
                        <a:lumOff val="40000"/>
                      </a:schemeClr>
                    </a:solidFill>
                  </a:rPr>
                  <a:t>En </a:t>
                </a:r>
                <a14:m>
                  <m:oMath xmlns:m="http://schemas.openxmlformats.org/officeDocument/2006/math">
                    <m:r>
                      <m:rPr>
                        <m:sty m:val="p"/>
                      </m:rPr>
                      <a:rPr lang="en-US" altLang="en-US" sz="2300" b="0" i="0" dirty="0" smtClean="0">
                        <a:solidFill>
                          <a:schemeClr val="tx1">
                            <a:lumMod val="60000"/>
                            <a:lumOff val="40000"/>
                          </a:schemeClr>
                        </a:solidFill>
                        <a:latin typeface="Cambria Math" panose="02040503050406030204" pitchFamily="18" charset="0"/>
                      </a:rPr>
                      <m:t>t</m:t>
                    </m:r>
                    <m:r>
                      <a:rPr lang="en-US" altLang="en-US" sz="2300" b="0" i="0" dirty="0" smtClean="0">
                        <a:solidFill>
                          <a:schemeClr val="tx1">
                            <a:lumMod val="60000"/>
                            <a:lumOff val="40000"/>
                          </a:schemeClr>
                        </a:solidFill>
                        <a:latin typeface="Cambria Math" panose="02040503050406030204" pitchFamily="18" charset="0"/>
                      </a:rPr>
                      <m:t>=</m:t>
                    </m:r>
                    <m:r>
                      <a:rPr lang="es-AR" altLang="en-US" sz="2300" i="1" dirty="0" smtClean="0">
                        <a:solidFill>
                          <a:schemeClr val="tx1">
                            <a:lumMod val="60000"/>
                            <a:lumOff val="40000"/>
                          </a:schemeClr>
                        </a:solidFill>
                        <a:latin typeface="Cambria Math" panose="02040503050406030204" pitchFamily="18" charset="0"/>
                      </a:rPr>
                      <m:t>𝑇</m:t>
                    </m:r>
                    <m:r>
                      <a:rPr lang="es-AR" altLang="en-US" sz="2300" i="1" dirty="0" smtClean="0">
                        <a:solidFill>
                          <a:schemeClr val="tx1">
                            <a:lumMod val="60000"/>
                            <a:lumOff val="40000"/>
                          </a:schemeClr>
                        </a:solidFill>
                        <a:latin typeface="Cambria Math" panose="02040503050406030204" pitchFamily="18" charset="0"/>
                      </a:rPr>
                      <m:t> </m:t>
                    </m:r>
                  </m:oMath>
                </a14:m>
                <a:r>
                  <a:rPr lang="es-AR" altLang="en-US" sz="2300" dirty="0">
                    <a:solidFill>
                      <a:srgbClr val="000000"/>
                    </a:solidFill>
                  </a:rPr>
                  <a:t>:</a:t>
                </a:r>
              </a:p>
              <a:p>
                <a:pPr lvl="1" eaLnBrk="1" hangingPunct="1">
                  <a:defRPr/>
                </a:pPr>
                <a:r>
                  <a:rPr lang="es-AR" altLang="en-US" sz="2300" dirty="0">
                    <a:solidFill>
                      <a:srgbClr val="000000"/>
                    </a:solidFill>
                  </a:rPr>
                  <a:t>Recibo </a:t>
                </a:r>
                <a14:m>
                  <m:oMath xmlns:m="http://schemas.openxmlformats.org/officeDocument/2006/math">
                    <m:r>
                      <a:rPr lang="es-AR" altLang="en-US" sz="2300" i="1" dirty="0" smtClean="0">
                        <a:solidFill>
                          <a:srgbClr val="000000"/>
                        </a:solidFill>
                        <a:latin typeface="Cambria Math" panose="02040503050406030204" pitchFamily="18" charset="0"/>
                      </a:rPr>
                      <m:t>𝑆</m:t>
                    </m:r>
                    <m:r>
                      <a:rPr lang="es-AR" altLang="en-US" sz="2300" i="1" dirty="0" smtClean="0">
                        <a:solidFill>
                          <a:srgbClr val="000000"/>
                        </a:solidFill>
                        <a:latin typeface="Cambria Math" panose="02040503050406030204" pitchFamily="18" charset="0"/>
                      </a:rPr>
                      <m:t>(0)</m:t>
                    </m:r>
                    <m:r>
                      <a:rPr lang="es-AR" altLang="en-US" sz="2300" i="1" dirty="0" err="1">
                        <a:solidFill>
                          <a:srgbClr val="000000"/>
                        </a:solidFill>
                        <a:latin typeface="Cambria Math" panose="02040503050406030204" pitchFamily="18" charset="0"/>
                      </a:rPr>
                      <m:t>𝑒</m:t>
                    </m:r>
                    <m:r>
                      <a:rPr lang="es-AR" altLang="en-US" sz="2300" i="1" baseline="30000" dirty="0" err="1">
                        <a:solidFill>
                          <a:srgbClr val="000000"/>
                        </a:solidFill>
                        <a:latin typeface="Cambria Math" panose="02040503050406030204" pitchFamily="18" charset="0"/>
                      </a:rPr>
                      <m:t>𝑟𝑇</m:t>
                    </m:r>
                    <m:r>
                      <a:rPr lang="es-AR" altLang="en-US" sz="2300" b="1" i="1" dirty="0">
                        <a:solidFill>
                          <a:srgbClr val="000000"/>
                        </a:solidFill>
                        <a:latin typeface="Cambria Math" panose="02040503050406030204" pitchFamily="18" charset="0"/>
                      </a:rPr>
                      <m:t> </m:t>
                    </m:r>
                  </m:oMath>
                </a14:m>
                <a:r>
                  <a:rPr lang="es-AR" altLang="en-US" sz="2300" dirty="0">
                    <a:solidFill>
                      <a:srgbClr val="000000"/>
                    </a:solidFill>
                  </a:rPr>
                  <a:t>del banco.</a:t>
                </a:r>
              </a:p>
              <a:p>
                <a:pPr lvl="1" eaLnBrk="1" hangingPunct="1">
                  <a:defRPr/>
                </a:pPr>
                <a:r>
                  <a:rPr lang="es-AR" altLang="en-US" sz="2300" dirty="0">
                    <a:solidFill>
                      <a:srgbClr val="000000"/>
                    </a:solidFill>
                  </a:rPr>
                  <a:t>Recibo el activo de mi contraparte en el forward.</a:t>
                </a:r>
              </a:p>
              <a:p>
                <a:pPr lvl="1" eaLnBrk="1" hangingPunct="1">
                  <a:defRPr/>
                </a:pPr>
                <a:r>
                  <a:rPr lang="es-AR" altLang="en-US" sz="2300" dirty="0">
                    <a:solidFill>
                      <a:srgbClr val="000000"/>
                    </a:solidFill>
                  </a:rPr>
                  <a:t>Pago </a:t>
                </a:r>
                <a14:m>
                  <m:oMath xmlns:m="http://schemas.openxmlformats.org/officeDocument/2006/math">
                    <m:r>
                      <a:rPr lang="es-AR" altLang="en-US" sz="2300" i="1" dirty="0" smtClean="0">
                        <a:solidFill>
                          <a:srgbClr val="000000"/>
                        </a:solidFill>
                        <a:latin typeface="Cambria Math" panose="02040503050406030204" pitchFamily="18" charset="0"/>
                      </a:rPr>
                      <m:t>𝐹</m:t>
                    </m:r>
                  </m:oMath>
                </a14:m>
                <a:r>
                  <a:rPr lang="es-AR" altLang="en-US" sz="2300" dirty="0">
                    <a:solidFill>
                      <a:srgbClr val="000000"/>
                    </a:solidFill>
                  </a:rPr>
                  <a:t> a mi contraparte en el forward.</a:t>
                </a:r>
              </a:p>
              <a:p>
                <a:pPr lvl="1" eaLnBrk="1" hangingPunct="1">
                  <a:defRPr/>
                </a:pPr>
                <a:r>
                  <a:rPr lang="es-AR" altLang="en-US" sz="2300" dirty="0">
                    <a:solidFill>
                      <a:srgbClr val="000000"/>
                    </a:solidFill>
                  </a:rPr>
                  <a:t>Devuelvo el activo a quien me lo presto.</a:t>
                </a:r>
              </a:p>
              <a:p>
                <a:pPr eaLnBrk="1" hangingPunct="1">
                  <a:buFontTx/>
                  <a:buNone/>
                  <a:defRPr/>
                </a:pPr>
                <a:endParaRPr lang="es-AR" altLang="en-US" sz="2300" dirty="0">
                  <a:solidFill>
                    <a:srgbClr val="000000"/>
                  </a:solidFill>
                </a:endParaRPr>
              </a:p>
              <a:p>
                <a:pPr eaLnBrk="1" hangingPunct="1">
                  <a:buFontTx/>
                  <a:buNone/>
                  <a:defRPr/>
                </a:pPr>
                <a:r>
                  <a:rPr lang="es-AR" altLang="en-US" sz="2300" dirty="0">
                    <a:solidFill>
                      <a:srgbClr val="000000"/>
                    </a:solidFill>
                  </a:rPr>
                  <a:t>Mi neto: </a:t>
                </a:r>
                <a14:m>
                  <m:oMath xmlns:m="http://schemas.openxmlformats.org/officeDocument/2006/math">
                    <m:r>
                      <a:rPr lang="es-AR" altLang="en-US" sz="2300" i="1" dirty="0" smtClean="0">
                        <a:solidFill>
                          <a:srgbClr val="000000"/>
                        </a:solidFill>
                        <a:latin typeface="Cambria Math" panose="02040503050406030204" pitchFamily="18" charset="0"/>
                      </a:rPr>
                      <m:t>𝑆</m:t>
                    </m:r>
                    <m:r>
                      <a:rPr lang="es-AR" altLang="en-US" sz="2300" i="1" dirty="0" smtClean="0">
                        <a:solidFill>
                          <a:srgbClr val="000000"/>
                        </a:solidFill>
                        <a:latin typeface="Cambria Math" panose="02040503050406030204" pitchFamily="18" charset="0"/>
                      </a:rPr>
                      <m:t>(0) </m:t>
                    </m:r>
                    <m:r>
                      <a:rPr lang="es-AR" altLang="en-US" sz="2300" i="1" dirty="0" err="1">
                        <a:solidFill>
                          <a:srgbClr val="000000"/>
                        </a:solidFill>
                        <a:latin typeface="Cambria Math" panose="02040503050406030204" pitchFamily="18" charset="0"/>
                      </a:rPr>
                      <m:t>𝑒</m:t>
                    </m:r>
                    <m:r>
                      <a:rPr lang="es-AR" altLang="en-US" sz="2300" i="1" baseline="30000" dirty="0" err="1">
                        <a:solidFill>
                          <a:srgbClr val="000000"/>
                        </a:solidFill>
                        <a:latin typeface="Cambria Math" panose="02040503050406030204" pitchFamily="18" charset="0"/>
                      </a:rPr>
                      <m:t>𝑟𝑇</m:t>
                    </m:r>
                    <m:r>
                      <a:rPr lang="es-AR" altLang="en-US" sz="2300" b="1" i="1" dirty="0">
                        <a:solidFill>
                          <a:srgbClr val="000000"/>
                        </a:solidFill>
                        <a:latin typeface="Cambria Math" panose="02040503050406030204" pitchFamily="18" charset="0"/>
                      </a:rPr>
                      <m:t> </m:t>
                    </m:r>
                    <m:r>
                      <a:rPr lang="es-AR" altLang="en-US" sz="2300" i="1" dirty="0">
                        <a:solidFill>
                          <a:srgbClr val="000000"/>
                        </a:solidFill>
                        <a:latin typeface="Cambria Math" panose="02040503050406030204" pitchFamily="18" charset="0"/>
                      </a:rPr>
                      <m:t>−</m:t>
                    </m:r>
                    <m:r>
                      <a:rPr lang="es-AR" altLang="en-US" sz="2300" i="1" dirty="0">
                        <a:solidFill>
                          <a:srgbClr val="000000"/>
                        </a:solidFill>
                        <a:latin typeface="Cambria Math" panose="02040503050406030204" pitchFamily="18" charset="0"/>
                      </a:rPr>
                      <m:t>𝐹</m:t>
                    </m:r>
                    <m:r>
                      <a:rPr lang="es-AR" altLang="en-US" sz="2300" i="1" dirty="0">
                        <a:solidFill>
                          <a:srgbClr val="000000"/>
                        </a:solidFill>
                        <a:latin typeface="Cambria Math" panose="02040503050406030204" pitchFamily="18" charset="0"/>
                      </a:rPr>
                      <m:t>       </m:t>
                    </m:r>
                  </m:oMath>
                </a14:m>
                <a:r>
                  <a:rPr lang="es-AR" altLang="en-US" sz="2300" dirty="0">
                    <a:solidFill>
                      <a:srgbClr val="000000"/>
                    </a:solidFill>
                  </a:rPr>
                  <a:t>Ganancia sin riesgo y sin capital inicial! </a:t>
                </a:r>
              </a:p>
            </p:txBody>
          </p:sp>
        </mc:Choice>
        <mc:Fallback xmlns="">
          <p:sp>
            <p:nvSpPr>
              <p:cNvPr id="37892" name="Rectangle 3">
                <a:extLst>
                  <a:ext uri="{FF2B5EF4-FFF2-40B4-BE49-F238E27FC236}">
                    <a16:creationId xmlns:a16="http://schemas.microsoft.com/office/drawing/2014/main" id="{085FEC8F-0AA0-425A-99E8-3F91B8342F6F}"/>
                  </a:ext>
                </a:extLst>
              </p:cNvPr>
              <p:cNvSpPr>
                <a:spLocks noGrp="1" noRot="1" noChangeAspect="1" noMove="1" noResize="1" noEditPoints="1" noAdjustHandles="1" noChangeArrowheads="1" noChangeShapeType="1" noTextEdit="1"/>
              </p:cNvSpPr>
              <p:nvPr>
                <p:ph type="body" idx="4294967295"/>
              </p:nvPr>
            </p:nvSpPr>
            <p:spPr>
              <a:xfrm>
                <a:off x="1774825" y="1196975"/>
                <a:ext cx="8642350" cy="5257800"/>
              </a:xfrm>
              <a:blipFill>
                <a:blip r:embed="rId4"/>
                <a:stretch>
                  <a:fillRect l="-987" t="-1506"/>
                </a:stretch>
              </a:blipFill>
            </p:spPr>
            <p:txBody>
              <a:bodyPr/>
              <a:lstStyle/>
              <a:p>
                <a:r>
                  <a:rPr lang="en-US">
                    <a:noFill/>
                  </a:rPr>
                  <a:t> </a:t>
                </a:r>
              </a:p>
            </p:txBody>
          </p:sp>
        </mc:Fallback>
      </mc:AlternateContent>
    </p:spTree>
    <p:extLst>
      <p:ext uri="{BB962C8B-B14F-4D97-AF65-F5344CB8AC3E}">
        <p14:creationId xmlns:p14="http://schemas.microsoft.com/office/powerpoint/2010/main" val="324508959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3">
            <a:extLst>
              <a:ext uri="{FF2B5EF4-FFF2-40B4-BE49-F238E27FC236}">
                <a16:creationId xmlns:a16="http://schemas.microsoft.com/office/drawing/2014/main" id="{C68F3487-1E0F-4086-9365-6464C762ED9E}"/>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877DAD9E-319C-49AA-89FF-5C086E229458}" type="slidenum">
              <a:rPr lang="en-US" altLang="en-US" sz="1400"/>
              <a:pPr algn="r">
                <a:spcBef>
                  <a:spcPct val="0"/>
                </a:spcBef>
                <a:buClrTx/>
                <a:buFontTx/>
                <a:buNone/>
              </a:pPr>
              <a:t>20</a:t>
            </a:fld>
            <a:endParaRPr lang="en-US" altLang="en-US" sz="1400"/>
          </a:p>
        </p:txBody>
      </p:sp>
      <p:sp>
        <p:nvSpPr>
          <p:cNvPr id="77827" name="Rectangle 2">
            <a:extLst>
              <a:ext uri="{FF2B5EF4-FFF2-40B4-BE49-F238E27FC236}">
                <a16:creationId xmlns:a16="http://schemas.microsoft.com/office/drawing/2014/main" id="{E0F730DE-205F-440E-8226-B845AF8A91B3}"/>
              </a:ext>
            </a:extLst>
          </p:cNvPr>
          <p:cNvSpPr>
            <a:spLocks noGrp="1" noChangeArrowheads="1"/>
          </p:cNvSpPr>
          <p:nvPr>
            <p:ph type="title" idx="4294967295"/>
          </p:nvPr>
        </p:nvSpPr>
        <p:spPr>
          <a:xfrm>
            <a:off x="2495550" y="0"/>
            <a:ext cx="7488238" cy="1143000"/>
          </a:xfrm>
        </p:spPr>
        <p:txBody>
          <a:bodyPr/>
          <a:lstStyle/>
          <a:p>
            <a:pPr eaLnBrk="1" hangingPunct="1"/>
            <a:r>
              <a:rPr lang="es-AR" altLang="en-US" sz="3200">
                <a:solidFill>
                  <a:srgbClr val="000000"/>
                </a:solidFill>
              </a:rPr>
              <a:t>Precio forward que elimina arbitrage…</a:t>
            </a:r>
          </a:p>
        </p:txBody>
      </p:sp>
      <mc:AlternateContent xmlns:mc="http://schemas.openxmlformats.org/markup-compatibility/2006" xmlns:a14="http://schemas.microsoft.com/office/drawing/2010/main">
        <mc:Choice Requires="a14">
          <p:sp>
            <p:nvSpPr>
              <p:cNvPr id="77828" name="Rectangle 3">
                <a:extLst>
                  <a:ext uri="{FF2B5EF4-FFF2-40B4-BE49-F238E27FC236}">
                    <a16:creationId xmlns:a16="http://schemas.microsoft.com/office/drawing/2014/main" id="{FF456013-B12B-41CF-84A2-DC816157AF1B}"/>
                  </a:ext>
                </a:extLst>
              </p:cNvPr>
              <p:cNvSpPr>
                <a:spLocks noGrp="1" noChangeArrowheads="1"/>
              </p:cNvSpPr>
              <p:nvPr>
                <p:ph type="body" idx="4294967295"/>
              </p:nvPr>
            </p:nvSpPr>
            <p:spPr>
              <a:xfrm>
                <a:off x="1847851" y="1412876"/>
                <a:ext cx="8353425" cy="4970463"/>
              </a:xfrm>
            </p:spPr>
            <p:txBody>
              <a:bodyPr/>
              <a:lstStyle/>
              <a:p>
                <a:pPr eaLnBrk="1" hangingPunct="1"/>
                <a:endParaRPr lang="es-AR" altLang="en-US" sz="2300" dirty="0">
                  <a:solidFill>
                    <a:srgbClr val="000000"/>
                  </a:solidFill>
                </a:endParaRPr>
              </a:p>
              <a:p>
                <a:pPr eaLnBrk="1" hangingPunct="1"/>
                <a:r>
                  <a:rPr lang="es-AR" altLang="en-US" sz="2300" dirty="0">
                    <a:solidFill>
                      <a:srgbClr val="000000"/>
                    </a:solidFill>
                  </a:rPr>
                  <a:t>Si </a:t>
                </a:r>
                <a14:m>
                  <m:oMath xmlns:m="http://schemas.openxmlformats.org/officeDocument/2006/math">
                    <m:r>
                      <a:rPr lang="es-AR" altLang="en-US" sz="2300" i="1" dirty="0" smtClean="0">
                        <a:solidFill>
                          <a:srgbClr val="000000"/>
                        </a:solidFill>
                        <a:latin typeface="Cambria Math" panose="02040503050406030204" pitchFamily="18" charset="0"/>
                      </a:rPr>
                      <m:t>𝐹</m:t>
                    </m:r>
                    <m:r>
                      <a:rPr lang="es-AR" altLang="en-US" sz="2300" i="1" dirty="0" smtClean="0">
                        <a:solidFill>
                          <a:srgbClr val="000000"/>
                        </a:solidFill>
                        <a:latin typeface="Cambria Math" panose="02040503050406030204" pitchFamily="18" charset="0"/>
                      </a:rPr>
                      <m:t> &lt; </m:t>
                    </m:r>
                    <m:r>
                      <a:rPr lang="es-AR" altLang="en-US" sz="2300" i="1" dirty="0" smtClean="0">
                        <a:solidFill>
                          <a:srgbClr val="000000"/>
                        </a:solidFill>
                        <a:latin typeface="Cambria Math" panose="02040503050406030204" pitchFamily="18" charset="0"/>
                      </a:rPr>
                      <m:t>𝑆</m:t>
                    </m:r>
                    <m:d>
                      <m:dPr>
                        <m:ctrlPr>
                          <a:rPr lang="es-AR" altLang="en-US" sz="2300" i="1" dirty="0" smtClean="0">
                            <a:solidFill>
                              <a:srgbClr val="000000"/>
                            </a:solidFill>
                            <a:latin typeface="Cambria Math" panose="02040503050406030204" pitchFamily="18" charset="0"/>
                          </a:rPr>
                        </m:ctrlPr>
                      </m:dPr>
                      <m:e>
                        <m:r>
                          <a:rPr lang="es-AR" altLang="en-US" sz="2300" i="1" dirty="0" smtClean="0">
                            <a:solidFill>
                              <a:srgbClr val="000000"/>
                            </a:solidFill>
                            <a:latin typeface="Cambria Math" panose="02040503050406030204" pitchFamily="18" charset="0"/>
                          </a:rPr>
                          <m:t>0</m:t>
                        </m:r>
                      </m:e>
                    </m:d>
                    <m:r>
                      <a:rPr lang="es-AR" altLang="en-US" sz="2300" i="1" dirty="0" err="1">
                        <a:solidFill>
                          <a:srgbClr val="000000"/>
                        </a:solidFill>
                        <a:latin typeface="Cambria Math" panose="02040503050406030204" pitchFamily="18" charset="0"/>
                      </a:rPr>
                      <m:t>𝑒</m:t>
                    </m:r>
                    <m:r>
                      <a:rPr lang="es-AR" altLang="en-US" sz="2300" i="1" baseline="30000" dirty="0" err="1">
                        <a:solidFill>
                          <a:srgbClr val="000000"/>
                        </a:solidFill>
                        <a:latin typeface="Cambria Math" panose="02040503050406030204" pitchFamily="18" charset="0"/>
                      </a:rPr>
                      <m:t>𝑟𝑇</m:t>
                    </m:r>
                  </m:oMath>
                </a14:m>
                <a:r>
                  <a:rPr lang="es-AR" altLang="en-US" sz="2300" dirty="0">
                    <a:solidFill>
                      <a:srgbClr val="000000"/>
                    </a:solidFill>
                  </a:rPr>
                  <a:t>, ganancia sin riesgo ni capital inicial</a:t>
                </a:r>
              </a:p>
              <a:p>
                <a:pPr lvl="1"/>
                <a:r>
                  <a:rPr lang="es-AR" altLang="en-US" sz="2300" dirty="0">
                    <a:solidFill>
                      <a:srgbClr val="000000"/>
                    </a:solidFill>
                  </a:rPr>
                  <a:t>Presencia de arbitraje</a:t>
                </a:r>
              </a:p>
              <a:p>
                <a:pPr eaLnBrk="1" hangingPunct="1"/>
                <a:r>
                  <a:rPr lang="es-AR" altLang="en-US" sz="2300" dirty="0">
                    <a:solidFill>
                      <a:srgbClr val="000000"/>
                    </a:solidFill>
                  </a:rPr>
                  <a:t>Si </a:t>
                </a:r>
                <a14:m>
                  <m:oMath xmlns:m="http://schemas.openxmlformats.org/officeDocument/2006/math">
                    <m:r>
                      <a:rPr lang="es-AR" altLang="en-US" sz="2300" i="1" dirty="0" smtClean="0">
                        <a:solidFill>
                          <a:srgbClr val="000000"/>
                        </a:solidFill>
                        <a:latin typeface="Cambria Math" panose="02040503050406030204" pitchFamily="18" charset="0"/>
                      </a:rPr>
                      <m:t>𝐹</m:t>
                    </m:r>
                    <m:r>
                      <a:rPr lang="es-AR" altLang="en-US" sz="2300" i="1" dirty="0" smtClean="0">
                        <a:solidFill>
                          <a:srgbClr val="000000"/>
                        </a:solidFill>
                        <a:latin typeface="Cambria Math" panose="02040503050406030204" pitchFamily="18" charset="0"/>
                      </a:rPr>
                      <m:t> &gt; </m:t>
                    </m:r>
                    <m:r>
                      <a:rPr lang="es-AR" altLang="en-US" sz="2300" i="1" dirty="0" smtClean="0">
                        <a:solidFill>
                          <a:srgbClr val="000000"/>
                        </a:solidFill>
                        <a:latin typeface="Cambria Math" panose="02040503050406030204" pitchFamily="18" charset="0"/>
                      </a:rPr>
                      <m:t>𝑆</m:t>
                    </m:r>
                    <m:d>
                      <m:dPr>
                        <m:ctrlPr>
                          <a:rPr lang="es-AR" altLang="en-US" sz="2300" i="1" dirty="0" smtClean="0">
                            <a:solidFill>
                              <a:srgbClr val="000000"/>
                            </a:solidFill>
                            <a:latin typeface="Cambria Math" panose="02040503050406030204" pitchFamily="18" charset="0"/>
                          </a:rPr>
                        </m:ctrlPr>
                      </m:dPr>
                      <m:e>
                        <m:r>
                          <a:rPr lang="es-AR" altLang="en-US" sz="2300" i="1" dirty="0" smtClean="0">
                            <a:solidFill>
                              <a:srgbClr val="000000"/>
                            </a:solidFill>
                            <a:latin typeface="Cambria Math" panose="02040503050406030204" pitchFamily="18" charset="0"/>
                          </a:rPr>
                          <m:t>0</m:t>
                        </m:r>
                      </m:e>
                    </m:d>
                    <m:r>
                      <a:rPr lang="es-AR" altLang="en-US" sz="2300" i="1" dirty="0" err="1">
                        <a:solidFill>
                          <a:srgbClr val="000000"/>
                        </a:solidFill>
                        <a:latin typeface="Cambria Math" panose="02040503050406030204" pitchFamily="18" charset="0"/>
                      </a:rPr>
                      <m:t>𝑒</m:t>
                    </m:r>
                    <m:r>
                      <a:rPr lang="es-AR" altLang="en-US" sz="2300" i="1" baseline="30000" dirty="0" err="1">
                        <a:solidFill>
                          <a:srgbClr val="000000"/>
                        </a:solidFill>
                        <a:latin typeface="Cambria Math" panose="02040503050406030204" pitchFamily="18" charset="0"/>
                      </a:rPr>
                      <m:t>𝑟𝑇</m:t>
                    </m:r>
                    <m:r>
                      <a:rPr lang="es-AR" altLang="en-US" sz="2300" b="1" i="1" dirty="0">
                        <a:solidFill>
                          <a:srgbClr val="000000"/>
                        </a:solidFill>
                        <a:latin typeface="Cambria Math" panose="02040503050406030204" pitchFamily="18" charset="0"/>
                      </a:rPr>
                      <m:t> </m:t>
                    </m:r>
                  </m:oMath>
                </a14:m>
                <a:r>
                  <a:rPr lang="es-AR" altLang="en-US" sz="2300" dirty="0">
                    <a:solidFill>
                      <a:srgbClr val="000000"/>
                    </a:solidFill>
                  </a:rPr>
                  <a:t>, ganancia sin riesgo ni capital inicial</a:t>
                </a:r>
              </a:p>
              <a:p>
                <a:pPr lvl="1"/>
                <a:r>
                  <a:rPr lang="es-AR" altLang="en-US" sz="2300" dirty="0">
                    <a:solidFill>
                      <a:srgbClr val="000000"/>
                    </a:solidFill>
                  </a:rPr>
                  <a:t>Presencia de arbitraje</a:t>
                </a:r>
              </a:p>
              <a:p>
                <a:pPr eaLnBrk="1" hangingPunct="1"/>
                <a:endParaRPr lang="es-AR" altLang="en-US" sz="2300" dirty="0">
                  <a:solidFill>
                    <a:srgbClr val="000000"/>
                  </a:solidFill>
                </a:endParaRPr>
              </a:p>
              <a:p>
                <a:pPr eaLnBrk="1" hangingPunct="1"/>
                <a:r>
                  <a:rPr lang="es-AR" altLang="en-US" sz="2300" i="1" dirty="0">
                    <a:solidFill>
                      <a:srgbClr val="000000"/>
                    </a:solidFill>
                  </a:rPr>
                  <a:t>Los </a:t>
                </a:r>
                <a:r>
                  <a:rPr lang="es-AR" altLang="en-US" sz="2300" dirty="0">
                    <a:solidFill>
                      <a:srgbClr val="000000"/>
                    </a:solidFill>
                  </a:rPr>
                  <a:t>mercados </a:t>
                </a:r>
                <a:r>
                  <a:rPr lang="es-AR" altLang="en-US" sz="2300" i="1" dirty="0">
                    <a:solidFill>
                      <a:srgbClr val="000000"/>
                    </a:solidFill>
                  </a:rPr>
                  <a:t>naturalmente </a:t>
                </a:r>
                <a:r>
                  <a:rPr lang="es-AR" altLang="en-US" sz="2300" dirty="0">
                    <a:solidFill>
                      <a:srgbClr val="000000"/>
                    </a:solidFill>
                  </a:rPr>
                  <a:t>hacen </a:t>
                </a:r>
                <a:r>
                  <a:rPr lang="es-AR" altLang="en-US" sz="2300" b="1" dirty="0">
                    <a:solidFill>
                      <a:srgbClr val="FF0000"/>
                    </a:solidFill>
                  </a:rPr>
                  <a:t>desaparecer</a:t>
                </a:r>
                <a:r>
                  <a:rPr lang="es-AR" altLang="en-US" sz="2300" dirty="0">
                    <a:solidFill>
                      <a:srgbClr val="000000"/>
                    </a:solidFill>
                  </a:rPr>
                  <a:t> oportunidades de </a:t>
                </a:r>
                <a:r>
                  <a:rPr lang="es-AR" altLang="en-US" sz="2300" dirty="0" err="1">
                    <a:solidFill>
                      <a:srgbClr val="000000"/>
                    </a:solidFill>
                  </a:rPr>
                  <a:t>arbitrage</a:t>
                </a:r>
                <a:r>
                  <a:rPr lang="es-AR" altLang="en-US" sz="2300" dirty="0">
                    <a:solidFill>
                      <a:srgbClr val="000000"/>
                    </a:solidFill>
                  </a:rPr>
                  <a:t>. </a:t>
                </a:r>
              </a:p>
              <a:p>
                <a:pPr eaLnBrk="1" hangingPunct="1"/>
                <a:endParaRPr lang="es-AR" altLang="en-US" sz="2300" dirty="0">
                  <a:solidFill>
                    <a:srgbClr val="000000"/>
                  </a:solidFill>
                </a:endParaRPr>
              </a:p>
              <a:p>
                <a:pPr eaLnBrk="1" hangingPunct="1"/>
                <a:r>
                  <a:rPr lang="es-AR" altLang="en-US" sz="2300" dirty="0">
                    <a:solidFill>
                      <a:srgbClr val="000000"/>
                    </a:solidFill>
                  </a:rPr>
                  <a:t>Entonces, debe cumplirse que: 	</a:t>
                </a:r>
                <a14:m>
                  <m:oMath xmlns:m="http://schemas.openxmlformats.org/officeDocument/2006/math">
                    <m:r>
                      <a:rPr lang="es-AR" altLang="en-US" sz="2300" b="1" i="1" dirty="0" smtClean="0">
                        <a:solidFill>
                          <a:srgbClr val="000000"/>
                        </a:solidFill>
                        <a:latin typeface="Cambria Math" panose="02040503050406030204" pitchFamily="18" charset="0"/>
                      </a:rPr>
                      <m:t>𝑭</m:t>
                    </m:r>
                    <m:r>
                      <a:rPr lang="en-US" altLang="en-US" sz="2300" b="1" i="1" dirty="0" smtClean="0">
                        <a:solidFill>
                          <a:srgbClr val="000000"/>
                        </a:solidFill>
                        <a:latin typeface="Cambria Math" panose="02040503050406030204" pitchFamily="18" charset="0"/>
                      </a:rPr>
                      <m:t>=</m:t>
                    </m:r>
                    <m:r>
                      <a:rPr lang="es-AR" altLang="en-US" sz="2300" b="1" i="1" dirty="0" smtClean="0">
                        <a:solidFill>
                          <a:srgbClr val="000000"/>
                        </a:solidFill>
                        <a:latin typeface="Cambria Math" panose="02040503050406030204" pitchFamily="18" charset="0"/>
                      </a:rPr>
                      <m:t> </m:t>
                    </m:r>
                    <m:r>
                      <a:rPr lang="es-AR" altLang="en-US" sz="2300" b="1" i="1" dirty="0" smtClean="0">
                        <a:solidFill>
                          <a:srgbClr val="000000"/>
                        </a:solidFill>
                        <a:latin typeface="Cambria Math" panose="02040503050406030204" pitchFamily="18" charset="0"/>
                      </a:rPr>
                      <m:t>𝑺</m:t>
                    </m:r>
                    <m:r>
                      <a:rPr lang="es-AR" altLang="en-US" sz="2300" b="1" i="1" dirty="0" smtClean="0">
                        <a:solidFill>
                          <a:srgbClr val="000000"/>
                        </a:solidFill>
                        <a:latin typeface="Cambria Math" panose="02040503050406030204" pitchFamily="18" charset="0"/>
                      </a:rPr>
                      <m:t>(</m:t>
                    </m:r>
                    <m:r>
                      <a:rPr lang="es-AR" altLang="en-US" sz="2300" b="1" i="1" dirty="0" smtClean="0">
                        <a:solidFill>
                          <a:srgbClr val="000000"/>
                        </a:solidFill>
                        <a:latin typeface="Cambria Math" panose="02040503050406030204" pitchFamily="18" charset="0"/>
                      </a:rPr>
                      <m:t>𝟎</m:t>
                    </m:r>
                    <m:r>
                      <a:rPr lang="es-AR" altLang="en-US" sz="2300" b="1" i="1" dirty="0" smtClean="0">
                        <a:solidFill>
                          <a:srgbClr val="000000"/>
                        </a:solidFill>
                        <a:latin typeface="Cambria Math" panose="02040503050406030204" pitchFamily="18" charset="0"/>
                      </a:rPr>
                      <m:t>) </m:t>
                    </m:r>
                    <m:r>
                      <a:rPr lang="es-AR" altLang="en-US" sz="2300" b="1" i="1" dirty="0" err="1">
                        <a:solidFill>
                          <a:srgbClr val="000000"/>
                        </a:solidFill>
                        <a:latin typeface="Cambria Math" panose="02040503050406030204" pitchFamily="18" charset="0"/>
                      </a:rPr>
                      <m:t>𝒆</m:t>
                    </m:r>
                    <m:r>
                      <a:rPr lang="es-AR" altLang="en-US" sz="2300" b="1" i="1" baseline="30000" dirty="0" err="1">
                        <a:solidFill>
                          <a:srgbClr val="000000"/>
                        </a:solidFill>
                        <a:latin typeface="Cambria Math" panose="02040503050406030204" pitchFamily="18" charset="0"/>
                      </a:rPr>
                      <m:t>𝒓𝑻</m:t>
                    </m:r>
                    <m:r>
                      <a:rPr lang="es-AR" altLang="en-US" sz="2300" b="1" i="1" dirty="0">
                        <a:solidFill>
                          <a:srgbClr val="000000"/>
                        </a:solidFill>
                        <a:latin typeface="Cambria Math" panose="02040503050406030204" pitchFamily="18" charset="0"/>
                      </a:rPr>
                      <m:t> </m:t>
                    </m:r>
                  </m:oMath>
                </a14:m>
                <a:endParaRPr lang="es-AR" altLang="en-US" sz="2300" b="1" dirty="0">
                  <a:solidFill>
                    <a:srgbClr val="000000"/>
                  </a:solidFill>
                </a:endParaRPr>
              </a:p>
            </p:txBody>
          </p:sp>
        </mc:Choice>
        <mc:Fallback xmlns="">
          <p:sp>
            <p:nvSpPr>
              <p:cNvPr id="77828" name="Rectangle 3">
                <a:extLst>
                  <a:ext uri="{FF2B5EF4-FFF2-40B4-BE49-F238E27FC236}">
                    <a16:creationId xmlns:a16="http://schemas.microsoft.com/office/drawing/2014/main" id="{FF456013-B12B-41CF-84A2-DC816157AF1B}"/>
                  </a:ext>
                </a:extLst>
              </p:cNvPr>
              <p:cNvSpPr>
                <a:spLocks noGrp="1" noRot="1" noChangeAspect="1" noMove="1" noResize="1" noEditPoints="1" noAdjustHandles="1" noChangeArrowheads="1" noChangeShapeType="1" noTextEdit="1"/>
              </p:cNvSpPr>
              <p:nvPr>
                <p:ph type="body" idx="4294967295"/>
              </p:nvPr>
            </p:nvSpPr>
            <p:spPr>
              <a:xfrm>
                <a:off x="1847851" y="1412876"/>
                <a:ext cx="8353425" cy="4970463"/>
              </a:xfrm>
              <a:blipFill>
                <a:blip r:embed="rId3"/>
                <a:stretch>
                  <a:fillRect l="-876" r="-438"/>
                </a:stretch>
              </a:blipFill>
            </p:spPr>
            <p:txBody>
              <a:bodyPr/>
              <a:lstStyle/>
              <a:p>
                <a:r>
                  <a:rPr lang="en-US">
                    <a:noFill/>
                  </a:rPr>
                  <a:t> </a:t>
                </a:r>
              </a:p>
            </p:txBody>
          </p:sp>
        </mc:Fallback>
      </mc:AlternateContent>
    </p:spTree>
    <p:extLst>
      <p:ext uri="{BB962C8B-B14F-4D97-AF65-F5344CB8AC3E}">
        <p14:creationId xmlns:p14="http://schemas.microsoft.com/office/powerpoint/2010/main" val="404493821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2C7BE8CF-D2C9-42C5-AEFA-E0533EB0B9EC}"/>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F791F31A-353E-45E8-90F5-B50F1F127BD2}" type="slidenum">
              <a:rPr lang="en-US" altLang="en-US" sz="1400"/>
              <a:pPr algn="r" eaLnBrk="0" fontAlgn="base" hangingPunct="0">
                <a:spcBef>
                  <a:spcPct val="0"/>
                </a:spcBef>
                <a:spcAft>
                  <a:spcPct val="0"/>
                </a:spcAft>
                <a:buClrTx/>
                <a:buNone/>
                <a:defRPr/>
              </a:pPr>
              <a:t>21</a:t>
            </a:fld>
            <a:endParaRPr lang="en-US" altLang="en-US" sz="1400"/>
          </a:p>
        </p:txBody>
      </p:sp>
      <p:sp>
        <p:nvSpPr>
          <p:cNvPr id="13315" name="Rectangle 2">
            <a:extLst>
              <a:ext uri="{FF2B5EF4-FFF2-40B4-BE49-F238E27FC236}">
                <a16:creationId xmlns:a16="http://schemas.microsoft.com/office/drawing/2014/main" id="{AF9ADADE-0B23-4FDA-B62E-8B0F3D0CE062}"/>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Derivados Lineales</a:t>
            </a:r>
          </a:p>
        </p:txBody>
      </p:sp>
      <p:pic>
        <p:nvPicPr>
          <p:cNvPr id="4" name="Picture 3">
            <a:extLst>
              <a:ext uri="{FF2B5EF4-FFF2-40B4-BE49-F238E27FC236}">
                <a16:creationId xmlns:a16="http://schemas.microsoft.com/office/drawing/2014/main" id="{9E69AC39-2CC5-4C55-B6DF-82C156A7302D}"/>
              </a:ext>
            </a:extLst>
          </p:cNvPr>
          <p:cNvPicPr>
            <a:picLocks noChangeAspect="1"/>
          </p:cNvPicPr>
          <p:nvPr/>
        </p:nvPicPr>
        <p:blipFill>
          <a:blip r:embed="rId3"/>
          <a:stretch>
            <a:fillRect/>
          </a:stretch>
        </p:blipFill>
        <p:spPr>
          <a:xfrm>
            <a:off x="1631504" y="804315"/>
            <a:ext cx="8629650" cy="6029325"/>
          </a:xfrm>
          <a:prstGeom prst="rect">
            <a:avLst/>
          </a:prstGeom>
        </p:spPr>
      </p:pic>
    </p:spTree>
    <p:extLst>
      <p:ext uri="{BB962C8B-B14F-4D97-AF65-F5344CB8AC3E}">
        <p14:creationId xmlns:p14="http://schemas.microsoft.com/office/powerpoint/2010/main" val="176172014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2C7BE8CF-D2C9-42C5-AEFA-E0533EB0B9EC}"/>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F791F31A-353E-45E8-90F5-B50F1F127BD2}" type="slidenum">
              <a:rPr lang="en-US" altLang="en-US" sz="1400"/>
              <a:pPr algn="r" eaLnBrk="0" fontAlgn="base" hangingPunct="0">
                <a:spcBef>
                  <a:spcPct val="0"/>
                </a:spcBef>
                <a:spcAft>
                  <a:spcPct val="0"/>
                </a:spcAft>
                <a:buClrTx/>
                <a:buNone/>
                <a:defRPr/>
              </a:pPr>
              <a:t>22</a:t>
            </a:fld>
            <a:endParaRPr lang="en-US" altLang="en-US" sz="1400"/>
          </a:p>
        </p:txBody>
      </p:sp>
      <p:sp>
        <p:nvSpPr>
          <p:cNvPr id="13315" name="Rectangle 2">
            <a:extLst>
              <a:ext uri="{FF2B5EF4-FFF2-40B4-BE49-F238E27FC236}">
                <a16:creationId xmlns:a16="http://schemas.microsoft.com/office/drawing/2014/main" id="{AF9ADADE-0B23-4FDA-B62E-8B0F3D0CE062}"/>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Mercados de Futuros</a:t>
            </a:r>
          </a:p>
        </p:txBody>
      </p:sp>
      <p:sp>
        <p:nvSpPr>
          <p:cNvPr id="5" name="Rectangle 3">
            <a:extLst>
              <a:ext uri="{FF2B5EF4-FFF2-40B4-BE49-F238E27FC236}">
                <a16:creationId xmlns:a16="http://schemas.microsoft.com/office/drawing/2014/main" id="{3C5B1238-F383-456D-8E54-89DF6C347581}"/>
              </a:ext>
            </a:extLst>
          </p:cNvPr>
          <p:cNvSpPr txBox="1">
            <a:spLocks noChangeArrowheads="1"/>
          </p:cNvSpPr>
          <p:nvPr/>
        </p:nvSpPr>
        <p:spPr>
          <a:xfrm>
            <a:off x="1524000" y="1195388"/>
            <a:ext cx="8458200" cy="525780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defRPr/>
            </a:pPr>
            <a:r>
              <a:rPr lang="es-AR" altLang="en-US" sz="2300" b="1" i="1" dirty="0">
                <a:solidFill>
                  <a:srgbClr val="000000"/>
                </a:solidFill>
              </a:rPr>
              <a:t> </a:t>
            </a:r>
            <a:r>
              <a:rPr lang="es-ES" altLang="en-US" sz="2600" i="1" dirty="0" err="1">
                <a:solidFill>
                  <a:srgbClr val="000000"/>
                </a:solidFill>
              </a:rPr>
              <a:t>Commodities</a:t>
            </a:r>
            <a:endParaRPr lang="es-ES" altLang="en-US" sz="2600" i="1" dirty="0">
              <a:solidFill>
                <a:srgbClr val="000000"/>
              </a:solidFill>
            </a:endParaRPr>
          </a:p>
          <a:p>
            <a:pPr>
              <a:defRPr/>
            </a:pPr>
            <a:r>
              <a:rPr lang="es-ES" altLang="en-US" sz="2600" i="1" dirty="0">
                <a:solidFill>
                  <a:srgbClr val="000000"/>
                </a:solidFill>
              </a:rPr>
              <a:t>FX</a:t>
            </a:r>
          </a:p>
          <a:p>
            <a:pPr>
              <a:defRPr/>
            </a:pPr>
            <a:r>
              <a:rPr lang="es-ES" altLang="en-US" sz="2600" i="1" dirty="0" err="1">
                <a:solidFill>
                  <a:srgbClr val="000000"/>
                </a:solidFill>
              </a:rPr>
              <a:t>Indices</a:t>
            </a:r>
            <a:endParaRPr lang="es-ES" altLang="en-US" sz="2600" i="1" dirty="0">
              <a:solidFill>
                <a:srgbClr val="000000"/>
              </a:solidFill>
            </a:endParaRPr>
          </a:p>
          <a:p>
            <a:pPr>
              <a:defRPr/>
            </a:pPr>
            <a:r>
              <a:rPr lang="es-ES" altLang="en-US" sz="2600" i="1" dirty="0" err="1">
                <a:solidFill>
                  <a:srgbClr val="000000"/>
                </a:solidFill>
              </a:rPr>
              <a:t>Crypto</a:t>
            </a:r>
            <a:r>
              <a:rPr lang="es-ES" altLang="en-US" sz="2600" i="1" dirty="0">
                <a:solidFill>
                  <a:srgbClr val="000000"/>
                </a:solidFill>
              </a:rPr>
              <a:t>...</a:t>
            </a:r>
            <a:br>
              <a:rPr lang="es-ES" altLang="en-US" sz="2600" i="1" dirty="0">
                <a:solidFill>
                  <a:srgbClr val="000000"/>
                </a:solidFill>
              </a:rPr>
            </a:br>
            <a:endParaRPr lang="es-ES" altLang="en-US" sz="2600" i="1" dirty="0">
              <a:solidFill>
                <a:srgbClr val="000000"/>
              </a:solidFill>
            </a:endParaRPr>
          </a:p>
          <a:p>
            <a:pPr>
              <a:defRPr/>
            </a:pPr>
            <a:r>
              <a:rPr lang="en-US" sz="2000" dirty="0">
                <a:hlinkClick r:id="rId3"/>
              </a:rPr>
              <a:t>https://matbarofex.primary.ventures/futuros/financieros</a:t>
            </a:r>
            <a:endParaRPr lang="en-US" sz="2000" dirty="0"/>
          </a:p>
          <a:p>
            <a:pPr>
              <a:defRPr/>
            </a:pPr>
            <a:endParaRPr lang="en-US" sz="2000" dirty="0"/>
          </a:p>
          <a:p>
            <a:pPr>
              <a:defRPr/>
            </a:pPr>
            <a:r>
              <a:rPr lang="en-US" sz="2000" dirty="0">
                <a:hlinkClick r:id="rId4"/>
              </a:rPr>
              <a:t>https://www.byma.com.ar/futuros/</a:t>
            </a:r>
            <a:endParaRPr lang="en-US" sz="2000" dirty="0"/>
          </a:p>
          <a:p>
            <a:pPr>
              <a:defRPr/>
            </a:pPr>
            <a:endParaRPr lang="en-US" sz="2000" dirty="0">
              <a:hlinkClick r:id="rId5"/>
            </a:endParaRPr>
          </a:p>
          <a:p>
            <a:pPr>
              <a:defRPr/>
            </a:pPr>
            <a:r>
              <a:rPr lang="en-US" sz="2000" dirty="0">
                <a:hlinkClick r:id="rId5"/>
              </a:rPr>
              <a:t>https://www.barchart.com/futures/heat-map</a:t>
            </a:r>
            <a:endParaRPr lang="en-US" sz="2000" dirty="0"/>
          </a:p>
          <a:p>
            <a:pPr>
              <a:defRPr/>
            </a:pPr>
            <a:endParaRPr lang="en-US" sz="2000" dirty="0">
              <a:hlinkClick r:id="rId6"/>
            </a:endParaRPr>
          </a:p>
          <a:p>
            <a:pPr>
              <a:defRPr/>
            </a:pPr>
            <a:r>
              <a:rPr lang="en-US" sz="2000" dirty="0">
                <a:hlinkClick r:id="rId6"/>
              </a:rPr>
              <a:t>https://www.binance.com/es/futures/BTCUSDT</a:t>
            </a:r>
            <a:endParaRPr lang="en-US" sz="2000" dirty="0"/>
          </a:p>
          <a:p>
            <a:pPr>
              <a:defRPr/>
            </a:pPr>
            <a:endParaRPr lang="en-US" sz="2000" dirty="0"/>
          </a:p>
          <a:p>
            <a:pPr>
              <a:defRPr/>
            </a:pPr>
            <a:endParaRPr lang="es-ES" altLang="en-US" sz="2600" i="1" dirty="0">
              <a:solidFill>
                <a:srgbClr val="000000"/>
              </a:solidFill>
            </a:endParaRPr>
          </a:p>
        </p:txBody>
      </p:sp>
    </p:spTree>
    <p:extLst>
      <p:ext uri="{BB962C8B-B14F-4D97-AF65-F5344CB8AC3E}">
        <p14:creationId xmlns:p14="http://schemas.microsoft.com/office/powerpoint/2010/main" val="32552468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2C7BE8CF-D2C9-42C5-AEFA-E0533EB0B9EC}"/>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F791F31A-353E-45E8-90F5-B50F1F127BD2}" type="slidenum">
              <a:rPr lang="en-US" altLang="en-US" sz="1400"/>
              <a:pPr algn="r" eaLnBrk="0" fontAlgn="base" hangingPunct="0">
                <a:spcBef>
                  <a:spcPct val="0"/>
                </a:spcBef>
                <a:spcAft>
                  <a:spcPct val="0"/>
                </a:spcAft>
                <a:buClrTx/>
                <a:buNone/>
                <a:defRPr/>
              </a:pPr>
              <a:t>23</a:t>
            </a:fld>
            <a:endParaRPr lang="en-US" altLang="en-US" sz="1400"/>
          </a:p>
        </p:txBody>
      </p:sp>
      <p:sp>
        <p:nvSpPr>
          <p:cNvPr id="13315" name="Rectangle 2">
            <a:extLst>
              <a:ext uri="{FF2B5EF4-FFF2-40B4-BE49-F238E27FC236}">
                <a16:creationId xmlns:a16="http://schemas.microsoft.com/office/drawing/2014/main" id="{AF9ADADE-0B23-4FDA-B62E-8B0F3D0CE062}"/>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Derivados Lineales</a:t>
            </a: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817112"/>
            <a:ext cx="8458200" cy="5257800"/>
          </a:xfrm>
        </p:spPr>
        <p:txBody>
          <a:bodyPr>
            <a:normAutofit/>
          </a:bodyPr>
          <a:lstStyle/>
          <a:p>
            <a:pPr eaLnBrk="1" hangingPunct="1">
              <a:defRPr/>
            </a:pPr>
            <a:r>
              <a:rPr lang="es-AR" altLang="en-US" sz="2300" b="1" dirty="0">
                <a:solidFill>
                  <a:schemeClr val="tx1">
                    <a:lumMod val="60000"/>
                    <a:lumOff val="40000"/>
                  </a:schemeClr>
                </a:solidFill>
              </a:rPr>
              <a:t>Swaps – van a ver mas en el siguiente modulo</a:t>
            </a:r>
            <a:r>
              <a:rPr lang="es-AR" altLang="en-US" sz="2300" b="1" i="1" dirty="0">
                <a:solidFill>
                  <a:srgbClr val="000000"/>
                </a:solidFill>
              </a:rPr>
              <a:t> </a:t>
            </a:r>
          </a:p>
          <a:p>
            <a:pPr lvl="1" eaLnBrk="1" hangingPunct="1">
              <a:defRPr/>
            </a:pPr>
            <a:r>
              <a:rPr lang="es-ES" altLang="en-US" sz="2300" i="1" dirty="0">
                <a:solidFill>
                  <a:srgbClr val="000000"/>
                </a:solidFill>
              </a:rPr>
              <a:t>Por lo general, contratos OTC que intercambian dos series de flujos de fondos durante un período en el futuro </a:t>
            </a:r>
          </a:p>
          <a:p>
            <a:pPr lvl="1" eaLnBrk="1" hangingPunct="1">
              <a:defRPr/>
            </a:pPr>
            <a:r>
              <a:rPr lang="es-ES" altLang="en-US" sz="2300" i="1" dirty="0">
                <a:solidFill>
                  <a:srgbClr val="000000"/>
                </a:solidFill>
              </a:rPr>
              <a:t>Los flujos de fondos pueden ser fijos, flotantes, en varias monedas </a:t>
            </a:r>
          </a:p>
          <a:p>
            <a:pPr lvl="1" eaLnBrk="1" hangingPunct="1">
              <a:defRPr/>
            </a:pPr>
            <a:r>
              <a:rPr lang="es-ES" altLang="en-US" sz="2300" i="1" dirty="0">
                <a:solidFill>
                  <a:srgbClr val="000000"/>
                </a:solidFill>
              </a:rPr>
              <a:t>Los flujos de fondos pueden estar condicionados a ciertos eventos</a:t>
            </a:r>
            <a:endParaRPr lang="en-US" sz="2300" dirty="0"/>
          </a:p>
        </p:txBody>
      </p:sp>
      <p:pic>
        <p:nvPicPr>
          <p:cNvPr id="2" name="Picture 1">
            <a:extLst>
              <a:ext uri="{FF2B5EF4-FFF2-40B4-BE49-F238E27FC236}">
                <a16:creationId xmlns:a16="http://schemas.microsoft.com/office/drawing/2014/main" id="{FDD3057A-4D6F-4CD2-BBEB-3334AB953980}"/>
              </a:ext>
            </a:extLst>
          </p:cNvPr>
          <p:cNvPicPr>
            <a:picLocks noChangeAspect="1"/>
          </p:cNvPicPr>
          <p:nvPr/>
        </p:nvPicPr>
        <p:blipFill>
          <a:blip r:embed="rId3"/>
          <a:stretch>
            <a:fillRect/>
          </a:stretch>
        </p:blipFill>
        <p:spPr>
          <a:xfrm>
            <a:off x="1819276" y="3473128"/>
            <a:ext cx="8162925" cy="3190875"/>
          </a:xfrm>
          <a:prstGeom prst="rect">
            <a:avLst/>
          </a:prstGeom>
        </p:spPr>
      </p:pic>
    </p:spTree>
    <p:extLst>
      <p:ext uri="{BB962C8B-B14F-4D97-AF65-F5344CB8AC3E}">
        <p14:creationId xmlns:p14="http://schemas.microsoft.com/office/powerpoint/2010/main" val="308844778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2C7BE8CF-D2C9-42C5-AEFA-E0533EB0B9EC}"/>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F791F31A-353E-45E8-90F5-B50F1F127BD2}" type="slidenum">
              <a:rPr lang="en-US" altLang="en-US" sz="1400"/>
              <a:pPr algn="r" eaLnBrk="0" fontAlgn="base" hangingPunct="0">
                <a:spcBef>
                  <a:spcPct val="0"/>
                </a:spcBef>
                <a:spcAft>
                  <a:spcPct val="0"/>
                </a:spcAft>
                <a:buClrTx/>
                <a:buNone/>
                <a:defRPr/>
              </a:pPr>
              <a:t>24</a:t>
            </a:fld>
            <a:endParaRPr lang="en-US" altLang="en-US" sz="1400"/>
          </a:p>
        </p:txBody>
      </p:sp>
      <p:sp>
        <p:nvSpPr>
          <p:cNvPr id="13315" name="Rectangle 2">
            <a:extLst>
              <a:ext uri="{FF2B5EF4-FFF2-40B4-BE49-F238E27FC236}">
                <a16:creationId xmlns:a16="http://schemas.microsoft.com/office/drawing/2014/main" id="{AF9ADADE-0B23-4FDA-B62E-8B0F3D0CE062}"/>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Derivados No Lineales</a:t>
            </a: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1" y="1125538"/>
            <a:ext cx="8569325" cy="5257800"/>
          </a:xfrm>
        </p:spPr>
        <p:txBody>
          <a:bodyPr>
            <a:normAutofit/>
          </a:bodyPr>
          <a:lstStyle/>
          <a:p>
            <a:pPr eaLnBrk="1" hangingPunct="1">
              <a:defRPr/>
            </a:pPr>
            <a:endParaRPr lang="es-AR" altLang="en-US" sz="2300" dirty="0">
              <a:solidFill>
                <a:srgbClr val="000000"/>
              </a:solidFill>
            </a:endParaRPr>
          </a:p>
          <a:p>
            <a:pPr>
              <a:defRPr/>
            </a:pPr>
            <a:r>
              <a:rPr lang="es-ES" sz="2300" dirty="0">
                <a:solidFill>
                  <a:srgbClr val="000000"/>
                </a:solidFill>
              </a:rPr>
              <a:t>Por lo general, cualquier tipo de </a:t>
            </a:r>
            <a:r>
              <a:rPr lang="es-ES" sz="2300" b="1" dirty="0">
                <a:solidFill>
                  <a:srgbClr val="000000"/>
                </a:solidFill>
              </a:rPr>
              <a:t>opciones</a:t>
            </a:r>
            <a:r>
              <a:rPr lang="es-ES" sz="2300" dirty="0">
                <a:solidFill>
                  <a:srgbClr val="000000"/>
                </a:solidFill>
              </a:rPr>
              <a:t> </a:t>
            </a:r>
          </a:p>
          <a:p>
            <a:pPr>
              <a:defRPr/>
            </a:pPr>
            <a:endParaRPr lang="es-ES" sz="2300" dirty="0">
              <a:solidFill>
                <a:srgbClr val="000000"/>
              </a:solidFill>
            </a:endParaRPr>
          </a:p>
          <a:p>
            <a:pPr>
              <a:defRPr/>
            </a:pPr>
            <a:r>
              <a:rPr lang="es-ES" sz="2300" dirty="0">
                <a:solidFill>
                  <a:srgbClr val="000000"/>
                </a:solidFill>
              </a:rPr>
              <a:t>El valor de los productos evoluciona de forma no lineal con el valor de los subyacentes </a:t>
            </a:r>
          </a:p>
          <a:p>
            <a:pPr>
              <a:defRPr/>
            </a:pPr>
            <a:endParaRPr lang="es-ES" sz="2300" dirty="0">
              <a:solidFill>
                <a:srgbClr val="000000"/>
              </a:solidFill>
            </a:endParaRPr>
          </a:p>
          <a:p>
            <a:pPr>
              <a:defRPr/>
            </a:pPr>
            <a:r>
              <a:rPr lang="es-ES" sz="2300" dirty="0">
                <a:solidFill>
                  <a:srgbClr val="000000"/>
                </a:solidFill>
              </a:rPr>
              <a:t>OTC o en </a:t>
            </a:r>
            <a:r>
              <a:rPr lang="es-ES" sz="2300" i="1" dirty="0" err="1">
                <a:solidFill>
                  <a:srgbClr val="000000"/>
                </a:solidFill>
              </a:rPr>
              <a:t>exchanges</a:t>
            </a:r>
            <a:r>
              <a:rPr lang="es-ES" sz="2300" i="1" dirty="0">
                <a:solidFill>
                  <a:srgbClr val="000000"/>
                </a:solidFill>
              </a:rPr>
              <a:t> </a:t>
            </a:r>
          </a:p>
          <a:p>
            <a:pPr>
              <a:defRPr/>
            </a:pPr>
            <a:endParaRPr lang="es-ES" sz="2300" dirty="0">
              <a:solidFill>
                <a:srgbClr val="000000"/>
              </a:solidFill>
            </a:endParaRPr>
          </a:p>
          <a:p>
            <a:pPr>
              <a:defRPr/>
            </a:pPr>
            <a:r>
              <a:rPr lang="es-ES" sz="2300" dirty="0">
                <a:solidFill>
                  <a:srgbClr val="000000"/>
                </a:solidFill>
              </a:rPr>
              <a:t>La combinación de opciones puede conducir a estrategias específicas</a:t>
            </a:r>
          </a:p>
          <a:p>
            <a:pPr eaLnBrk="1" hangingPunct="1">
              <a:defRPr/>
            </a:pPr>
            <a:endParaRPr lang="es-ES" altLang="en-US" sz="2300" dirty="0">
              <a:solidFill>
                <a:srgbClr val="000000"/>
              </a:solidFill>
            </a:endParaRPr>
          </a:p>
          <a:p>
            <a:pPr eaLnBrk="1" hangingPunct="1">
              <a:defRPr/>
            </a:pPr>
            <a:r>
              <a:rPr lang="es-ES" altLang="en-US" sz="2300" dirty="0">
                <a:solidFill>
                  <a:srgbClr val="000000"/>
                </a:solidFill>
              </a:rPr>
              <a:t>Ejemplos: Opciones, convertibles, </a:t>
            </a:r>
            <a:r>
              <a:rPr lang="es-ES" altLang="en-US" sz="2300" i="1" dirty="0">
                <a:solidFill>
                  <a:srgbClr val="000000"/>
                </a:solidFill>
              </a:rPr>
              <a:t>warrants</a:t>
            </a:r>
            <a:r>
              <a:rPr lang="es-ES" altLang="en-US" sz="2300" dirty="0">
                <a:solidFill>
                  <a:srgbClr val="000000"/>
                </a:solidFill>
              </a:rPr>
              <a:t>, </a:t>
            </a:r>
            <a:r>
              <a:rPr lang="es-ES" altLang="en-US" sz="2300" i="1" dirty="0" err="1">
                <a:solidFill>
                  <a:srgbClr val="000000"/>
                </a:solidFill>
              </a:rPr>
              <a:t>callable</a:t>
            </a:r>
            <a:r>
              <a:rPr lang="es-ES" altLang="en-US" sz="2300" i="1" dirty="0">
                <a:solidFill>
                  <a:srgbClr val="000000"/>
                </a:solidFill>
              </a:rPr>
              <a:t> </a:t>
            </a:r>
            <a:r>
              <a:rPr lang="es-ES" altLang="en-US" sz="2300" i="1" dirty="0" err="1">
                <a:solidFill>
                  <a:srgbClr val="000000"/>
                </a:solidFill>
              </a:rPr>
              <a:t>bonds</a:t>
            </a:r>
            <a:endParaRPr lang="es-ES" altLang="en-US" sz="2300" i="1" dirty="0">
              <a:solidFill>
                <a:srgbClr val="000000"/>
              </a:solidFill>
            </a:endParaRPr>
          </a:p>
        </p:txBody>
      </p:sp>
    </p:spTree>
    <p:extLst>
      <p:ext uri="{BB962C8B-B14F-4D97-AF65-F5344CB8AC3E}">
        <p14:creationId xmlns:p14="http://schemas.microsoft.com/office/powerpoint/2010/main" val="232332165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D5F4B6B1-8A42-45D5-9B2D-4DBF0B87FAAD}"/>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834AFF18-52DA-4DE5-BE48-1CA568330EB1}" type="slidenum">
              <a:rPr lang="en-US" altLang="en-US" sz="1400"/>
              <a:pPr algn="r" eaLnBrk="0" fontAlgn="base" hangingPunct="0">
                <a:spcBef>
                  <a:spcPct val="0"/>
                </a:spcBef>
                <a:spcAft>
                  <a:spcPct val="0"/>
                </a:spcAft>
                <a:buClrTx/>
                <a:buNone/>
                <a:defRPr/>
              </a:pPr>
              <a:t>25</a:t>
            </a:fld>
            <a:endParaRPr lang="en-US" altLang="en-US" sz="1400"/>
          </a:p>
        </p:txBody>
      </p:sp>
      <p:sp>
        <p:nvSpPr>
          <p:cNvPr id="15363" name="Rectangle 2">
            <a:extLst>
              <a:ext uri="{FF2B5EF4-FFF2-40B4-BE49-F238E27FC236}">
                <a16:creationId xmlns:a16="http://schemas.microsoft.com/office/drawing/2014/main" id="{886B1E3A-161C-4755-B539-A68584D6E156}"/>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Otros Derivados</a:t>
            </a:r>
          </a:p>
        </p:txBody>
      </p:sp>
      <p:sp>
        <p:nvSpPr>
          <p:cNvPr id="8196" name="Rectangle 3">
            <a:extLst>
              <a:ext uri="{FF2B5EF4-FFF2-40B4-BE49-F238E27FC236}">
                <a16:creationId xmlns:a16="http://schemas.microsoft.com/office/drawing/2014/main" id="{5E95E330-DAB6-4CEA-A601-822AFE242950}"/>
              </a:ext>
            </a:extLst>
          </p:cNvPr>
          <p:cNvSpPr>
            <a:spLocks noGrp="1" noChangeArrowheads="1"/>
          </p:cNvSpPr>
          <p:nvPr>
            <p:ph type="body" idx="4294967295"/>
          </p:nvPr>
        </p:nvSpPr>
        <p:spPr>
          <a:xfrm>
            <a:off x="1524000" y="614364"/>
            <a:ext cx="8458200" cy="5983287"/>
          </a:xfrm>
        </p:spPr>
        <p:txBody>
          <a:bodyPr>
            <a:normAutofit fontScale="85000" lnSpcReduction="10000"/>
          </a:bodyPr>
          <a:lstStyle/>
          <a:p>
            <a:pPr eaLnBrk="1" hangingPunct="1">
              <a:defRPr/>
            </a:pPr>
            <a:endParaRPr lang="es-AR" altLang="en-US" sz="2500" b="1" i="1" dirty="0">
              <a:solidFill>
                <a:schemeClr val="tx1">
                  <a:lumMod val="60000"/>
                  <a:lumOff val="40000"/>
                </a:schemeClr>
              </a:solidFill>
            </a:endParaRPr>
          </a:p>
          <a:p>
            <a:pPr eaLnBrk="1" hangingPunct="1">
              <a:defRPr/>
            </a:pPr>
            <a:r>
              <a:rPr lang="es-AR" altLang="en-US" sz="2500" b="1" i="1" dirty="0">
                <a:solidFill>
                  <a:schemeClr val="tx1">
                    <a:lumMod val="60000"/>
                    <a:lumOff val="40000"/>
                  </a:schemeClr>
                </a:solidFill>
              </a:rPr>
              <a:t>Productos Estructurados</a:t>
            </a:r>
            <a:r>
              <a:rPr lang="es-AR" altLang="en-US" sz="2500" b="1" i="1" dirty="0">
                <a:solidFill>
                  <a:srgbClr val="000000"/>
                </a:solidFill>
              </a:rPr>
              <a:t> </a:t>
            </a:r>
          </a:p>
          <a:p>
            <a:pPr lvl="1" eaLnBrk="1" hangingPunct="1">
              <a:defRPr/>
            </a:pPr>
            <a:r>
              <a:rPr lang="es-ES" sz="2500" dirty="0">
                <a:solidFill>
                  <a:srgbClr val="000000"/>
                </a:solidFill>
              </a:rPr>
              <a:t>Emitidos por un banco de inversión </a:t>
            </a:r>
          </a:p>
          <a:p>
            <a:pPr lvl="1" eaLnBrk="1" hangingPunct="1">
              <a:defRPr/>
            </a:pPr>
            <a:r>
              <a:rPr lang="es-ES" sz="2500" dirty="0">
                <a:solidFill>
                  <a:srgbClr val="000000"/>
                </a:solidFill>
              </a:rPr>
              <a:t>Estructurados en dos productos diferentes: </a:t>
            </a:r>
          </a:p>
          <a:p>
            <a:pPr lvl="2" eaLnBrk="1" hangingPunct="1">
              <a:defRPr/>
            </a:pPr>
            <a:r>
              <a:rPr lang="es-ES" sz="2500" dirty="0">
                <a:solidFill>
                  <a:srgbClr val="000000"/>
                </a:solidFill>
              </a:rPr>
              <a:t>Un Bono para proporcionar protección total o parcial</a:t>
            </a:r>
          </a:p>
          <a:p>
            <a:pPr lvl="2" eaLnBrk="1" hangingPunct="1">
              <a:defRPr/>
            </a:pPr>
            <a:r>
              <a:rPr lang="es-ES" sz="2500" dirty="0">
                <a:solidFill>
                  <a:srgbClr val="000000"/>
                </a:solidFill>
              </a:rPr>
              <a:t>Un Derivado (por ejemplo, opción) para aumentar el rendimiento </a:t>
            </a:r>
          </a:p>
          <a:p>
            <a:pPr lvl="1" eaLnBrk="1" hangingPunct="1">
              <a:defRPr/>
            </a:pPr>
            <a:r>
              <a:rPr lang="es-ES" sz="2500" dirty="0">
                <a:solidFill>
                  <a:srgbClr val="000000"/>
                </a:solidFill>
              </a:rPr>
              <a:t>Producto OTC </a:t>
            </a:r>
          </a:p>
          <a:p>
            <a:pPr lvl="1" eaLnBrk="1" hangingPunct="1">
              <a:defRPr/>
            </a:pPr>
            <a:r>
              <a:rPr lang="es-ES" sz="2500" dirty="0">
                <a:solidFill>
                  <a:srgbClr val="000000"/>
                </a:solidFill>
              </a:rPr>
              <a:t>Basado en las necesidades del inversor que no están cubiertas por productos estándar </a:t>
            </a:r>
          </a:p>
          <a:p>
            <a:pPr lvl="1" eaLnBrk="1" hangingPunct="1">
              <a:defRPr/>
            </a:pPr>
            <a:r>
              <a:rPr lang="es-ES" sz="2500" dirty="0">
                <a:solidFill>
                  <a:srgbClr val="000000"/>
                </a:solidFill>
              </a:rPr>
              <a:t>Habilitar inversores particulares para tomar exposiciones a las que generalmente no tendrían acceso</a:t>
            </a:r>
          </a:p>
          <a:p>
            <a:pPr lvl="1" eaLnBrk="1" hangingPunct="1">
              <a:defRPr/>
            </a:pPr>
            <a:endParaRPr lang="es-AR" altLang="en-US" sz="2500" dirty="0">
              <a:solidFill>
                <a:srgbClr val="000000"/>
              </a:solidFill>
            </a:endParaRPr>
          </a:p>
          <a:p>
            <a:pPr>
              <a:defRPr/>
            </a:pPr>
            <a:r>
              <a:rPr lang="es-AR" altLang="en-US" sz="2500" b="1" i="1" dirty="0">
                <a:solidFill>
                  <a:schemeClr val="tx1">
                    <a:lumMod val="60000"/>
                    <a:lumOff val="40000"/>
                  </a:schemeClr>
                </a:solidFill>
              </a:rPr>
              <a:t>Productos Híbridos</a:t>
            </a:r>
            <a:r>
              <a:rPr lang="es-ES" sz="2500" dirty="0"/>
              <a:t> </a:t>
            </a:r>
          </a:p>
          <a:p>
            <a:pPr lvl="1">
              <a:defRPr/>
            </a:pPr>
            <a:r>
              <a:rPr lang="es-ES" sz="2500" dirty="0">
                <a:solidFill>
                  <a:srgbClr val="000000"/>
                </a:solidFill>
              </a:rPr>
              <a:t>Productos que constituyen una combinación de varias exposiciones </a:t>
            </a:r>
          </a:p>
          <a:p>
            <a:pPr lvl="1">
              <a:defRPr/>
            </a:pPr>
            <a:r>
              <a:rPr lang="es-ES" sz="2500" dirty="0">
                <a:solidFill>
                  <a:srgbClr val="000000"/>
                </a:solidFill>
              </a:rPr>
              <a:t>Son más que solo la suma de varios componentes </a:t>
            </a:r>
          </a:p>
          <a:p>
            <a:pPr lvl="1">
              <a:defRPr/>
            </a:pPr>
            <a:r>
              <a:rPr lang="es-ES" sz="2500" dirty="0">
                <a:solidFill>
                  <a:srgbClr val="000000"/>
                </a:solidFill>
              </a:rPr>
              <a:t>En general OTC</a:t>
            </a:r>
          </a:p>
          <a:p>
            <a:pPr lvl="1">
              <a:defRPr/>
            </a:pPr>
            <a:r>
              <a:rPr lang="es-ES" sz="2500" dirty="0">
                <a:solidFill>
                  <a:srgbClr val="000000"/>
                </a:solidFill>
              </a:rPr>
              <a:t>Ejemplo: bonos convertibles que pueden comportarse como un bono o como un patrimonio según las condiciones del mercado</a:t>
            </a:r>
            <a:endParaRPr lang="es-AR" altLang="en-US" sz="2500" dirty="0">
              <a:solidFill>
                <a:srgbClr val="000000"/>
              </a:solidFill>
            </a:endParaRPr>
          </a:p>
          <a:p>
            <a:pPr eaLnBrk="1" hangingPunct="1">
              <a:defRPr/>
            </a:pPr>
            <a:endParaRPr lang="es-AR" altLang="en-US" sz="2400" i="1" dirty="0">
              <a:solidFill>
                <a:srgbClr val="000000"/>
              </a:solidFill>
            </a:endParaRPr>
          </a:p>
          <a:p>
            <a:pPr eaLnBrk="1" hangingPunct="1">
              <a:defRPr/>
            </a:pPr>
            <a:endParaRPr lang="es-AR" altLang="en-US" sz="2400" i="1" dirty="0">
              <a:solidFill>
                <a:srgbClr val="000000"/>
              </a:solidFill>
            </a:endParaRPr>
          </a:p>
          <a:p>
            <a:pPr lvl="1" eaLnBrk="1" hangingPunct="1">
              <a:defRPr/>
            </a:pPr>
            <a:endParaRPr lang="es-AR" altLang="en-US" sz="2000" dirty="0">
              <a:solidFill>
                <a:srgbClr val="000000"/>
              </a:solidFill>
            </a:endParaRPr>
          </a:p>
        </p:txBody>
      </p:sp>
    </p:spTree>
    <p:extLst>
      <p:ext uri="{BB962C8B-B14F-4D97-AF65-F5344CB8AC3E}">
        <p14:creationId xmlns:p14="http://schemas.microsoft.com/office/powerpoint/2010/main" val="203097178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4935CA3D-189F-4967-A1EC-EC6ED29465FE}" type="slidenum">
              <a:rPr lang="en-US" altLang="en-US" sz="1400"/>
              <a:pPr algn="r" eaLnBrk="0" fontAlgn="base" hangingPunct="0">
                <a:spcBef>
                  <a:spcPct val="0"/>
                </a:spcBef>
                <a:spcAft>
                  <a:spcPct val="0"/>
                </a:spcAft>
                <a:buClrTx/>
                <a:buNone/>
                <a:defRPr/>
              </a:pPr>
              <a:t>26</a:t>
            </a:fld>
            <a:endParaRPr lang="en-US" altLang="en-US" sz="140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1524000" y="41031"/>
            <a:ext cx="8891954" cy="1143000"/>
          </a:xfrm>
        </p:spPr>
        <p:txBody>
          <a:bodyPr/>
          <a:lstStyle/>
          <a:p>
            <a:pPr eaLnBrk="1" hangingPunct="1"/>
            <a:r>
              <a:rPr lang="es-AR" altLang="en-US" sz="3200" dirty="0">
                <a:solidFill>
                  <a:srgbClr val="000000"/>
                </a:solidFill>
              </a:rPr>
              <a:t>Opciones – </a:t>
            </a:r>
            <a:r>
              <a:rPr lang="es-AR" altLang="en-US" sz="3200" i="1" dirty="0">
                <a:solidFill>
                  <a:srgbClr val="000000"/>
                </a:solidFill>
              </a:rPr>
              <a:t>nuestro objeto de estudio estas clases</a:t>
            </a: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524000" y="1163638"/>
            <a:ext cx="8642350" cy="5257800"/>
          </a:xfrm>
        </p:spPr>
        <p:txBody>
          <a:bodyPr>
            <a:normAutofit fontScale="85000" lnSpcReduction="20000"/>
          </a:bodyPr>
          <a:lstStyle/>
          <a:p>
            <a:pPr>
              <a:defRPr/>
            </a:pPr>
            <a:endParaRPr lang="es-AR" altLang="en-US" sz="2900" b="1" dirty="0">
              <a:solidFill>
                <a:srgbClr val="000000"/>
              </a:solidFill>
            </a:endParaRPr>
          </a:p>
          <a:p>
            <a:pPr marL="0" indent="0">
              <a:buNone/>
              <a:defRPr/>
            </a:pPr>
            <a:r>
              <a:rPr lang="es-AR" altLang="en-US" sz="2900" b="1" dirty="0">
                <a:solidFill>
                  <a:srgbClr val="000000"/>
                </a:solidFill>
              </a:rPr>
              <a:t>Definición</a:t>
            </a:r>
            <a:r>
              <a:rPr lang="es-AR" altLang="en-US" sz="2900" dirty="0">
                <a:solidFill>
                  <a:srgbClr val="000000"/>
                </a:solidFill>
              </a:rPr>
              <a:t> </a:t>
            </a:r>
          </a:p>
          <a:p>
            <a:pPr marL="0" indent="0">
              <a:buNone/>
              <a:defRPr/>
            </a:pPr>
            <a:r>
              <a:rPr lang="es-ES" sz="2900" dirty="0">
                <a:solidFill>
                  <a:srgbClr val="000000"/>
                </a:solidFill>
              </a:rPr>
              <a:t>Una </a:t>
            </a:r>
            <a:r>
              <a:rPr lang="es-ES" sz="2900" b="1" dirty="0">
                <a:solidFill>
                  <a:schemeClr val="tx1">
                    <a:lumMod val="60000"/>
                    <a:lumOff val="40000"/>
                  </a:schemeClr>
                </a:solidFill>
              </a:rPr>
              <a:t>opción</a:t>
            </a:r>
            <a:r>
              <a:rPr lang="es-ES" sz="2900" dirty="0">
                <a:solidFill>
                  <a:srgbClr val="000000"/>
                </a:solidFill>
              </a:rPr>
              <a:t> es un contrato que le da al dueño el </a:t>
            </a:r>
            <a:r>
              <a:rPr lang="es-ES" sz="2900" b="1" dirty="0">
                <a:solidFill>
                  <a:srgbClr val="000000"/>
                </a:solidFill>
              </a:rPr>
              <a:t>derecho</a:t>
            </a:r>
            <a:r>
              <a:rPr lang="es-ES" sz="2900" dirty="0">
                <a:solidFill>
                  <a:srgbClr val="000000"/>
                </a:solidFill>
              </a:rPr>
              <a:t>, pero no la obligación, de negociar un activo predeterminado, llamado también el </a:t>
            </a:r>
            <a:r>
              <a:rPr lang="es-ES" sz="2900" b="1" dirty="0">
                <a:solidFill>
                  <a:schemeClr val="tx1">
                    <a:lumMod val="60000"/>
                    <a:lumOff val="40000"/>
                  </a:schemeClr>
                </a:solidFill>
              </a:rPr>
              <a:t>activo subyacente </a:t>
            </a:r>
            <a:r>
              <a:rPr lang="es-ES" sz="2900" dirty="0">
                <a:solidFill>
                  <a:srgbClr val="000000"/>
                </a:solidFill>
              </a:rPr>
              <a:t>por un precio determinado, llamado también </a:t>
            </a:r>
            <a:r>
              <a:rPr lang="es-ES" sz="2900" b="1" dirty="0">
                <a:solidFill>
                  <a:schemeClr val="tx1">
                    <a:lumMod val="60000"/>
                    <a:lumOff val="40000"/>
                  </a:schemeClr>
                </a:solidFill>
              </a:rPr>
              <a:t>precio de ejercicio </a:t>
            </a:r>
            <a:r>
              <a:rPr lang="es-ES" sz="2900" dirty="0">
                <a:solidFill>
                  <a:srgbClr val="000000"/>
                </a:solidFill>
              </a:rPr>
              <a:t>en un tiempo en el futuro, llamada la </a:t>
            </a:r>
            <a:r>
              <a:rPr lang="es-ES" sz="2900" b="1" dirty="0">
                <a:solidFill>
                  <a:schemeClr val="tx1">
                    <a:lumMod val="60000"/>
                    <a:lumOff val="40000"/>
                  </a:schemeClr>
                </a:solidFill>
              </a:rPr>
              <a:t>fecha de expiración</a:t>
            </a:r>
            <a:r>
              <a:rPr lang="es-ES" sz="2900" dirty="0">
                <a:solidFill>
                  <a:srgbClr val="000000"/>
                </a:solidFill>
              </a:rPr>
              <a:t>. Una opción </a:t>
            </a:r>
            <a:r>
              <a:rPr lang="es-ES" sz="2900" b="1" i="1" dirty="0" err="1">
                <a:solidFill>
                  <a:schemeClr val="tx1">
                    <a:lumMod val="60000"/>
                    <a:lumOff val="40000"/>
                  </a:schemeClr>
                </a:solidFill>
              </a:rPr>
              <a:t>call</a:t>
            </a:r>
            <a:r>
              <a:rPr lang="es-ES" sz="2900" dirty="0">
                <a:solidFill>
                  <a:srgbClr val="000000"/>
                </a:solidFill>
              </a:rPr>
              <a:t> da al dueño el derecho a comprar y una </a:t>
            </a:r>
            <a:r>
              <a:rPr lang="es-ES" sz="2900" b="1" i="1" dirty="0" err="1">
                <a:solidFill>
                  <a:schemeClr val="tx1">
                    <a:lumMod val="60000"/>
                    <a:lumOff val="40000"/>
                  </a:schemeClr>
                </a:solidFill>
              </a:rPr>
              <a:t>put</a:t>
            </a:r>
            <a:r>
              <a:rPr lang="es-ES" sz="2900" dirty="0">
                <a:solidFill>
                  <a:srgbClr val="000000"/>
                </a:solidFill>
              </a:rPr>
              <a:t>, el derecho a vender</a:t>
            </a:r>
            <a:r>
              <a:rPr lang="es-AR" altLang="en-US" sz="2900" dirty="0">
                <a:solidFill>
                  <a:srgbClr val="000000"/>
                </a:solidFill>
              </a:rPr>
              <a:t>.</a:t>
            </a:r>
          </a:p>
          <a:p>
            <a:pPr marL="0" indent="0">
              <a:buNone/>
              <a:defRPr/>
            </a:pPr>
            <a:endParaRPr lang="es-AR" altLang="en-US" sz="2500" dirty="0">
              <a:solidFill>
                <a:srgbClr val="000000"/>
              </a:solidFill>
            </a:endParaRPr>
          </a:p>
          <a:p>
            <a:pPr marL="0" indent="0">
              <a:buNone/>
              <a:defRPr/>
            </a:pPr>
            <a:r>
              <a:rPr lang="es-AR" altLang="en-US" sz="2500" dirty="0">
                <a:solidFill>
                  <a:srgbClr val="000000"/>
                </a:solidFill>
              </a:rPr>
              <a:t>Jerga en ingles – lenguaje en el que encontrarán la mayoría de la </a:t>
            </a:r>
            <a:r>
              <a:rPr lang="es-AR" altLang="en-US" sz="2500" dirty="0" err="1">
                <a:solidFill>
                  <a:srgbClr val="000000"/>
                </a:solidFill>
              </a:rPr>
              <a:t>bib</a:t>
            </a:r>
            <a:r>
              <a:rPr lang="es-AR" altLang="en-US" sz="2500" dirty="0">
                <a:solidFill>
                  <a:srgbClr val="000000"/>
                </a:solidFill>
              </a:rPr>
              <a:t>.:</a:t>
            </a:r>
          </a:p>
          <a:p>
            <a:pPr>
              <a:defRPr/>
            </a:pPr>
            <a:r>
              <a:rPr lang="es-AR" altLang="en-US" sz="2500" dirty="0">
                <a:solidFill>
                  <a:srgbClr val="000000"/>
                </a:solidFill>
              </a:rPr>
              <a:t>Activo subyacente – </a:t>
            </a:r>
            <a:r>
              <a:rPr lang="en-US" altLang="en-US" sz="2500" i="1" dirty="0">
                <a:solidFill>
                  <a:srgbClr val="000000"/>
                </a:solidFill>
              </a:rPr>
              <a:t>Underlying asset</a:t>
            </a:r>
          </a:p>
          <a:p>
            <a:pPr>
              <a:defRPr/>
            </a:pPr>
            <a:r>
              <a:rPr lang="es-AR" altLang="en-US" sz="2500" dirty="0">
                <a:solidFill>
                  <a:srgbClr val="000000"/>
                </a:solidFill>
              </a:rPr>
              <a:t>Precio de ejercicio – </a:t>
            </a:r>
            <a:r>
              <a:rPr lang="es-AR" altLang="en-US" sz="2500" i="1" dirty="0">
                <a:solidFill>
                  <a:srgbClr val="000000"/>
                </a:solidFill>
              </a:rPr>
              <a:t>Strike Price</a:t>
            </a:r>
          </a:p>
          <a:p>
            <a:pPr>
              <a:defRPr/>
            </a:pPr>
            <a:r>
              <a:rPr lang="es-AR" altLang="en-US" sz="2500" dirty="0">
                <a:solidFill>
                  <a:srgbClr val="000000"/>
                </a:solidFill>
              </a:rPr>
              <a:t>Fecha de expiración – </a:t>
            </a:r>
            <a:r>
              <a:rPr lang="en-US" altLang="en-US" sz="2500" i="1" dirty="0">
                <a:solidFill>
                  <a:srgbClr val="000000"/>
                </a:solidFill>
              </a:rPr>
              <a:t>Expiry/Maturity</a:t>
            </a:r>
          </a:p>
          <a:p>
            <a:pPr eaLnBrk="1" hangingPunct="1">
              <a:defRPr/>
            </a:pPr>
            <a:endParaRPr lang="es-AR" altLang="en-US" sz="2400" dirty="0">
              <a:solidFill>
                <a:srgbClr val="000000"/>
              </a:solidFill>
            </a:endParaRPr>
          </a:p>
          <a:p>
            <a:pPr eaLnBrk="1" hangingPunct="1">
              <a:defRPr/>
            </a:pPr>
            <a:endParaRPr lang="es-AR" altLang="en-US" i="1" dirty="0">
              <a:solidFill>
                <a:srgbClr val="000000"/>
              </a:solidFill>
            </a:endParaRPr>
          </a:p>
          <a:p>
            <a:pPr lvl="2">
              <a:buNone/>
              <a:defRPr/>
            </a:pPr>
            <a:r>
              <a:rPr lang="es-AR" altLang="en-US" dirty="0">
                <a:solidFill>
                  <a:srgbClr val="000000"/>
                </a:solidFill>
              </a:rPr>
              <a:t>	</a:t>
            </a:r>
          </a:p>
          <a:p>
            <a:pPr eaLnBrk="1" hangingPunct="1">
              <a:buFontTx/>
              <a:buNone/>
              <a:defRPr/>
            </a:pPr>
            <a:endParaRPr lang="es-AR" altLang="en-US" sz="2400" dirty="0">
              <a:solidFill>
                <a:srgbClr val="000000"/>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4935CA3D-189F-4967-A1EC-EC6ED29465FE}" type="slidenum">
              <a:rPr lang="en-US" altLang="en-US" sz="1400"/>
              <a:pPr algn="r" eaLnBrk="0" fontAlgn="base" hangingPunct="0">
                <a:spcBef>
                  <a:spcPct val="0"/>
                </a:spcBef>
                <a:spcAft>
                  <a:spcPct val="0"/>
                </a:spcAft>
                <a:buClrTx/>
                <a:buNone/>
                <a:defRPr/>
              </a:pPr>
              <a:t>27</a:t>
            </a:fld>
            <a:endParaRPr lang="en-US" altLang="en-US" sz="140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1610337" y="20638"/>
            <a:ext cx="7240587" cy="1143000"/>
          </a:xfrm>
        </p:spPr>
        <p:txBody>
          <a:bodyPr/>
          <a:lstStyle/>
          <a:p>
            <a:pPr eaLnBrk="1" hangingPunct="1"/>
            <a:r>
              <a:rPr lang="es-AR" altLang="en-US" sz="3200" dirty="0">
                <a:solidFill>
                  <a:srgbClr val="000000"/>
                </a:solidFill>
              </a:rPr>
              <a:t>Opciones </a:t>
            </a:r>
            <a:r>
              <a:rPr lang="es-AR" altLang="en-US" sz="3200" i="1" dirty="0" err="1">
                <a:solidFill>
                  <a:srgbClr val="000000"/>
                </a:solidFill>
              </a:rPr>
              <a:t>call</a:t>
            </a:r>
            <a:endParaRPr lang="es-AR" altLang="en-US" sz="3200" i="1" dirty="0">
              <a:solidFill>
                <a:srgbClr val="000000"/>
              </a:solidFill>
            </a:endParaRP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524000" y="1163638"/>
            <a:ext cx="8642350" cy="5257800"/>
          </a:xfrm>
        </p:spPr>
        <p:txBody>
          <a:bodyPr>
            <a:normAutofit fontScale="92500" lnSpcReduction="10000"/>
          </a:bodyPr>
          <a:lstStyle/>
          <a:p>
            <a:pPr>
              <a:defRPr/>
            </a:pPr>
            <a:endParaRPr lang="es-AR" altLang="en-US" sz="2300" b="1" dirty="0">
              <a:solidFill>
                <a:srgbClr val="000000"/>
              </a:solidFill>
            </a:endParaRPr>
          </a:p>
          <a:p>
            <a:pPr marL="0" indent="0">
              <a:buNone/>
              <a:defRPr/>
            </a:pPr>
            <a:r>
              <a:rPr lang="es-AR" altLang="en-US" sz="2300" b="1" dirty="0">
                <a:solidFill>
                  <a:srgbClr val="000000"/>
                </a:solidFill>
              </a:rPr>
              <a:t>Parangón - </a:t>
            </a:r>
            <a:r>
              <a:rPr lang="es-AR" altLang="en-US" sz="2300" b="1" dirty="0">
                <a:solidFill>
                  <a:schemeClr val="tx1">
                    <a:lumMod val="60000"/>
                    <a:lumOff val="40000"/>
                  </a:schemeClr>
                </a:solidFill>
              </a:rPr>
              <a:t>Depósito para compra de vivienda</a:t>
            </a:r>
            <a:r>
              <a:rPr lang="es-AR" altLang="en-US" sz="2300" dirty="0">
                <a:solidFill>
                  <a:srgbClr val="000000"/>
                </a:solidFill>
              </a:rPr>
              <a:t> </a:t>
            </a:r>
          </a:p>
          <a:p>
            <a:pPr marL="0" indent="0">
              <a:buNone/>
              <a:defRPr/>
            </a:pPr>
            <a:r>
              <a:rPr lang="es-AR" sz="2300" dirty="0">
                <a:solidFill>
                  <a:srgbClr val="000000"/>
                </a:solidFill>
              </a:rPr>
              <a:t>Supongamos que nos interesa comprar una casa valuada en 400K USD. El dueño requiere un depósito (</a:t>
            </a:r>
            <a:r>
              <a:rPr lang="es-AR" sz="2300" i="1" dirty="0" err="1">
                <a:solidFill>
                  <a:srgbClr val="000000"/>
                </a:solidFill>
              </a:rPr>
              <a:t>down</a:t>
            </a:r>
            <a:r>
              <a:rPr lang="es-AR" sz="2300" i="1" dirty="0">
                <a:solidFill>
                  <a:srgbClr val="000000"/>
                </a:solidFill>
              </a:rPr>
              <a:t> </a:t>
            </a:r>
            <a:r>
              <a:rPr lang="es-AR" sz="2300" i="1" dirty="0" err="1">
                <a:solidFill>
                  <a:srgbClr val="000000"/>
                </a:solidFill>
              </a:rPr>
              <a:t>payment</a:t>
            </a:r>
            <a:r>
              <a:rPr lang="es-AR" sz="2300" i="1" dirty="0">
                <a:solidFill>
                  <a:srgbClr val="000000"/>
                </a:solidFill>
              </a:rPr>
              <a:t>) </a:t>
            </a:r>
            <a:r>
              <a:rPr lang="es-AR" sz="2300" dirty="0">
                <a:solidFill>
                  <a:srgbClr val="000000"/>
                </a:solidFill>
              </a:rPr>
              <a:t>de 20KUSD (5%) a modo de depósito de intención y se fija un plazo en el tiempo para que se complete la operación:</a:t>
            </a:r>
          </a:p>
          <a:p>
            <a:pPr marL="0" indent="0">
              <a:buNone/>
              <a:defRPr/>
            </a:pPr>
            <a:endParaRPr lang="es-AR" altLang="en-US" sz="2300" i="1" dirty="0">
              <a:solidFill>
                <a:srgbClr val="000000"/>
              </a:solidFill>
            </a:endParaRPr>
          </a:p>
          <a:p>
            <a:pPr>
              <a:defRPr/>
            </a:pPr>
            <a:r>
              <a:rPr lang="es-AR" altLang="en-US" sz="2300" dirty="0">
                <a:solidFill>
                  <a:srgbClr val="000000"/>
                </a:solidFill>
              </a:rPr>
              <a:t>Si decido comprar (cuando me va a convenir?): El dueño conserva el </a:t>
            </a:r>
            <a:r>
              <a:rPr lang="es-AR" altLang="en-US" sz="2300" i="1" dirty="0">
                <a:solidFill>
                  <a:srgbClr val="000000"/>
                </a:solidFill>
              </a:rPr>
              <a:t>depósito </a:t>
            </a:r>
            <a:r>
              <a:rPr lang="es-AR" altLang="en-US" sz="2300" dirty="0">
                <a:solidFill>
                  <a:srgbClr val="000000"/>
                </a:solidFill>
              </a:rPr>
              <a:t>y tiene la </a:t>
            </a:r>
            <a:r>
              <a:rPr lang="es-AR" altLang="en-US" sz="2300" dirty="0">
                <a:solidFill>
                  <a:schemeClr val="tx1">
                    <a:lumMod val="60000"/>
                    <a:lumOff val="40000"/>
                  </a:schemeClr>
                </a:solidFill>
              </a:rPr>
              <a:t>obligación</a:t>
            </a:r>
            <a:r>
              <a:rPr lang="es-AR" altLang="en-US" sz="2300" dirty="0">
                <a:solidFill>
                  <a:srgbClr val="000000"/>
                </a:solidFill>
              </a:rPr>
              <a:t> de vendernos la casa. Nosotros pagamos el </a:t>
            </a:r>
            <a:r>
              <a:rPr lang="es-AR" altLang="en-US" sz="2300" i="1" dirty="0">
                <a:solidFill>
                  <a:srgbClr val="000000"/>
                </a:solidFill>
              </a:rPr>
              <a:t>depósito </a:t>
            </a:r>
            <a:r>
              <a:rPr lang="es-AR" altLang="en-US" sz="2300" dirty="0">
                <a:solidFill>
                  <a:srgbClr val="000000"/>
                </a:solidFill>
              </a:rPr>
              <a:t>y tenemos el </a:t>
            </a:r>
            <a:r>
              <a:rPr lang="es-AR" altLang="en-US" sz="2300" dirty="0">
                <a:solidFill>
                  <a:schemeClr val="tx1">
                    <a:lumMod val="60000"/>
                    <a:lumOff val="40000"/>
                  </a:schemeClr>
                </a:solidFill>
              </a:rPr>
              <a:t>derecho</a:t>
            </a:r>
            <a:r>
              <a:rPr lang="es-AR" altLang="en-US" sz="2300" dirty="0">
                <a:solidFill>
                  <a:srgbClr val="000000"/>
                </a:solidFill>
              </a:rPr>
              <a:t> de comprarla.</a:t>
            </a:r>
          </a:p>
          <a:p>
            <a:pPr>
              <a:defRPr/>
            </a:pPr>
            <a:r>
              <a:rPr lang="es-AR" altLang="en-US" sz="2300" dirty="0">
                <a:solidFill>
                  <a:srgbClr val="000000"/>
                </a:solidFill>
              </a:rPr>
              <a:t>Si decidimos NO comprar (cuando me va a convenir?)</a:t>
            </a:r>
            <a:r>
              <a:rPr lang="es-AR" altLang="en-US" sz="2300" i="1" dirty="0">
                <a:solidFill>
                  <a:srgbClr val="000000"/>
                </a:solidFill>
              </a:rPr>
              <a:t>: </a:t>
            </a:r>
            <a:r>
              <a:rPr lang="es-AR" altLang="en-US" sz="2300" dirty="0">
                <a:solidFill>
                  <a:srgbClr val="000000"/>
                </a:solidFill>
              </a:rPr>
              <a:t>El dueño conserva el depósito</a:t>
            </a:r>
            <a:r>
              <a:rPr lang="es-AR" altLang="en-US" sz="2300" i="1" dirty="0">
                <a:solidFill>
                  <a:srgbClr val="000000"/>
                </a:solidFill>
              </a:rPr>
              <a:t>, </a:t>
            </a:r>
            <a:r>
              <a:rPr lang="es-AR" altLang="en-US" sz="2300" dirty="0">
                <a:solidFill>
                  <a:srgbClr val="000000"/>
                </a:solidFill>
              </a:rPr>
              <a:t>Nosotros pagamos el depósito</a:t>
            </a:r>
            <a:r>
              <a:rPr lang="es-AR" altLang="en-US" sz="2300" i="1" dirty="0">
                <a:solidFill>
                  <a:srgbClr val="000000"/>
                </a:solidFill>
              </a:rPr>
              <a:t>.</a:t>
            </a:r>
          </a:p>
          <a:p>
            <a:pPr marL="0" indent="0">
              <a:buNone/>
              <a:defRPr/>
            </a:pPr>
            <a:endParaRPr lang="es-AR" altLang="en-US" sz="2300" i="1" dirty="0">
              <a:solidFill>
                <a:srgbClr val="000000"/>
              </a:solidFill>
            </a:endParaRPr>
          </a:p>
          <a:p>
            <a:pPr eaLnBrk="1" hangingPunct="1">
              <a:defRPr/>
            </a:pPr>
            <a:endParaRPr lang="es-AR" altLang="en-US" i="1" dirty="0">
              <a:solidFill>
                <a:srgbClr val="000000"/>
              </a:solidFill>
            </a:endParaRPr>
          </a:p>
          <a:p>
            <a:pPr lvl="2">
              <a:buNone/>
              <a:defRPr/>
            </a:pPr>
            <a:r>
              <a:rPr lang="es-AR" altLang="en-US" dirty="0">
                <a:solidFill>
                  <a:srgbClr val="000000"/>
                </a:solidFill>
              </a:rPr>
              <a:t>	</a:t>
            </a:r>
          </a:p>
          <a:p>
            <a:pPr eaLnBrk="1" hangingPunct="1">
              <a:buFontTx/>
              <a:buNone/>
              <a:defRPr/>
            </a:pPr>
            <a:endParaRPr lang="es-AR" altLang="en-US" sz="2400" dirty="0">
              <a:solidFill>
                <a:srgbClr val="000000"/>
              </a:solidFill>
            </a:endParaRPr>
          </a:p>
        </p:txBody>
      </p:sp>
    </p:spTree>
    <p:extLst>
      <p:ext uri="{BB962C8B-B14F-4D97-AF65-F5344CB8AC3E}">
        <p14:creationId xmlns:p14="http://schemas.microsoft.com/office/powerpoint/2010/main" val="359571875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4935CA3D-189F-4967-A1EC-EC6ED29465FE}" type="slidenum">
              <a:rPr lang="en-US" altLang="en-US" sz="1400"/>
              <a:pPr algn="r" eaLnBrk="0" fontAlgn="base" hangingPunct="0">
                <a:spcBef>
                  <a:spcPct val="0"/>
                </a:spcBef>
                <a:spcAft>
                  <a:spcPct val="0"/>
                </a:spcAft>
                <a:buClrTx/>
                <a:buNone/>
                <a:defRPr/>
              </a:pPr>
              <a:t>28</a:t>
            </a:fld>
            <a:endParaRPr lang="en-US" altLang="en-US" sz="140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1633783" y="93785"/>
            <a:ext cx="7240587" cy="1143000"/>
          </a:xfrm>
        </p:spPr>
        <p:txBody>
          <a:bodyPr/>
          <a:lstStyle/>
          <a:p>
            <a:pPr eaLnBrk="1" hangingPunct="1"/>
            <a:r>
              <a:rPr lang="es-AR" altLang="en-US" sz="3200" dirty="0">
                <a:solidFill>
                  <a:srgbClr val="000000"/>
                </a:solidFill>
              </a:rPr>
              <a:t>Opciones </a:t>
            </a:r>
            <a:r>
              <a:rPr lang="es-AR" altLang="en-US" sz="3200" i="1" dirty="0" err="1">
                <a:solidFill>
                  <a:srgbClr val="000000"/>
                </a:solidFill>
              </a:rPr>
              <a:t>put</a:t>
            </a:r>
            <a:endParaRPr lang="es-AR" altLang="en-US" sz="3200" i="1" dirty="0">
              <a:solidFill>
                <a:srgbClr val="000000"/>
              </a:solidFill>
            </a:endParaRP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524000" y="1163638"/>
            <a:ext cx="8642350" cy="5257800"/>
          </a:xfrm>
        </p:spPr>
        <p:txBody>
          <a:bodyPr>
            <a:normAutofit/>
          </a:bodyPr>
          <a:lstStyle/>
          <a:p>
            <a:pPr>
              <a:defRPr/>
            </a:pPr>
            <a:endParaRPr lang="es-AR" altLang="en-US" sz="2300" b="1" dirty="0">
              <a:solidFill>
                <a:srgbClr val="000000"/>
              </a:solidFill>
            </a:endParaRPr>
          </a:p>
          <a:p>
            <a:pPr marL="0" indent="0">
              <a:buNone/>
              <a:defRPr/>
            </a:pPr>
            <a:r>
              <a:rPr lang="es-AR" altLang="en-US" sz="2300" b="1" dirty="0">
                <a:solidFill>
                  <a:srgbClr val="000000"/>
                </a:solidFill>
              </a:rPr>
              <a:t>Parangón - </a:t>
            </a:r>
            <a:r>
              <a:rPr lang="es-AR" altLang="en-US" sz="2300" b="1" dirty="0">
                <a:solidFill>
                  <a:schemeClr val="tx1">
                    <a:lumMod val="60000"/>
                    <a:lumOff val="40000"/>
                  </a:schemeClr>
                </a:solidFill>
              </a:rPr>
              <a:t>Seguro de vivienda</a:t>
            </a:r>
          </a:p>
          <a:p>
            <a:pPr>
              <a:defRPr/>
            </a:pPr>
            <a:r>
              <a:rPr lang="es-AR" altLang="en-US" sz="2300" dirty="0">
                <a:solidFill>
                  <a:srgbClr val="000000"/>
                </a:solidFill>
              </a:rPr>
              <a:t>Se paga una prima.</a:t>
            </a:r>
          </a:p>
          <a:p>
            <a:pPr>
              <a:defRPr/>
            </a:pPr>
            <a:r>
              <a:rPr lang="es-AR" altLang="en-US" sz="2300" dirty="0">
                <a:solidFill>
                  <a:srgbClr val="000000"/>
                </a:solidFill>
              </a:rPr>
              <a:t>Se recibe una protección (seguro, </a:t>
            </a:r>
            <a:r>
              <a:rPr lang="es-AR" altLang="en-US" sz="2300" i="1" dirty="0" err="1">
                <a:solidFill>
                  <a:srgbClr val="000000"/>
                </a:solidFill>
              </a:rPr>
              <a:t>policy</a:t>
            </a:r>
            <a:r>
              <a:rPr lang="es-AR" altLang="en-US" sz="2300" dirty="0">
                <a:solidFill>
                  <a:srgbClr val="000000"/>
                </a:solidFill>
              </a:rPr>
              <a:t>)</a:t>
            </a:r>
          </a:p>
          <a:p>
            <a:pPr>
              <a:defRPr/>
            </a:pPr>
            <a:endParaRPr lang="es-AR" altLang="en-US" sz="2300" i="1" dirty="0">
              <a:solidFill>
                <a:srgbClr val="000000"/>
              </a:solidFill>
            </a:endParaRPr>
          </a:p>
          <a:p>
            <a:pPr>
              <a:defRPr/>
            </a:pPr>
            <a:r>
              <a:rPr lang="es-AR" altLang="en-US" sz="2300" dirty="0">
                <a:solidFill>
                  <a:srgbClr val="000000"/>
                </a:solidFill>
              </a:rPr>
              <a:t>Si hubo daños en la vivienda: La aseguradora se queda con la prima y paga las reparaciones. Nosotros pagamos la prima y recibimos el dinero para los arreglos</a:t>
            </a:r>
          </a:p>
          <a:p>
            <a:pPr>
              <a:defRPr/>
            </a:pPr>
            <a:endParaRPr lang="es-AR" altLang="en-US" sz="2300" dirty="0">
              <a:solidFill>
                <a:srgbClr val="000000"/>
              </a:solidFill>
            </a:endParaRPr>
          </a:p>
          <a:p>
            <a:pPr>
              <a:defRPr/>
            </a:pPr>
            <a:r>
              <a:rPr lang="es-AR" altLang="en-US" sz="2300" dirty="0">
                <a:solidFill>
                  <a:srgbClr val="000000"/>
                </a:solidFill>
              </a:rPr>
              <a:t>Si NO hubo daños en la vivienda: La aseguradora se queda con la prima. Nosotros pagamos la prima.</a:t>
            </a:r>
          </a:p>
          <a:p>
            <a:pPr marL="0" indent="0">
              <a:buNone/>
              <a:defRPr/>
            </a:pPr>
            <a:endParaRPr lang="es-AR" altLang="en-US" sz="2300" i="1" dirty="0">
              <a:solidFill>
                <a:srgbClr val="000000"/>
              </a:solidFill>
            </a:endParaRPr>
          </a:p>
          <a:p>
            <a:pPr lvl="2">
              <a:buNone/>
              <a:defRPr/>
            </a:pPr>
            <a:r>
              <a:rPr lang="es-AR" altLang="en-US" dirty="0">
                <a:solidFill>
                  <a:srgbClr val="000000"/>
                </a:solidFill>
              </a:rPr>
              <a:t>	</a:t>
            </a:r>
          </a:p>
          <a:p>
            <a:pPr eaLnBrk="1" hangingPunct="1">
              <a:buFontTx/>
              <a:buNone/>
              <a:defRPr/>
            </a:pPr>
            <a:endParaRPr lang="es-AR" altLang="en-US" sz="2400" dirty="0">
              <a:solidFill>
                <a:srgbClr val="000000"/>
              </a:solidFill>
            </a:endParaRPr>
          </a:p>
        </p:txBody>
      </p:sp>
    </p:spTree>
    <p:extLst>
      <p:ext uri="{BB962C8B-B14F-4D97-AF65-F5344CB8AC3E}">
        <p14:creationId xmlns:p14="http://schemas.microsoft.com/office/powerpoint/2010/main" val="408484175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89B45C3B-17F9-4E6B-AA57-E3F6C831083A}"/>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CF6D0CBD-BE83-44A5-95A3-B29304609BB6}" type="slidenum">
              <a:rPr lang="en-US" altLang="en-US" sz="1400"/>
              <a:pPr algn="r" eaLnBrk="0" fontAlgn="base" hangingPunct="0">
                <a:spcBef>
                  <a:spcPct val="0"/>
                </a:spcBef>
                <a:spcAft>
                  <a:spcPct val="0"/>
                </a:spcAft>
                <a:buClrTx/>
                <a:buNone/>
                <a:defRPr/>
              </a:pPr>
              <a:t>29</a:t>
            </a:fld>
            <a:endParaRPr lang="en-US" altLang="en-US" sz="1400"/>
          </a:p>
        </p:txBody>
      </p:sp>
      <p:sp>
        <p:nvSpPr>
          <p:cNvPr id="18435" name="Rectangle 2">
            <a:extLst>
              <a:ext uri="{FF2B5EF4-FFF2-40B4-BE49-F238E27FC236}">
                <a16:creationId xmlns:a16="http://schemas.microsoft.com/office/drawing/2014/main" id="{2A270438-FB87-4AA6-B43A-4FD4F26C9B59}"/>
              </a:ext>
            </a:extLst>
          </p:cNvPr>
          <p:cNvSpPr>
            <a:spLocks noGrp="1" noChangeArrowheads="1"/>
          </p:cNvSpPr>
          <p:nvPr>
            <p:ph type="title" idx="4294967295"/>
          </p:nvPr>
        </p:nvSpPr>
        <p:spPr>
          <a:xfrm>
            <a:off x="1616198" y="20638"/>
            <a:ext cx="7240587" cy="1143000"/>
          </a:xfrm>
        </p:spPr>
        <p:txBody>
          <a:bodyPr/>
          <a:lstStyle/>
          <a:p>
            <a:pPr eaLnBrk="1" hangingPunct="1"/>
            <a:r>
              <a:rPr lang="es-AR" altLang="en-US" sz="3200" dirty="0">
                <a:solidFill>
                  <a:srgbClr val="000000"/>
                </a:solidFill>
              </a:rPr>
              <a:t>¿Para qué se usan?</a:t>
            </a: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524000" y="1163638"/>
            <a:ext cx="8642350" cy="5257800"/>
          </a:xfrm>
        </p:spPr>
        <p:txBody>
          <a:bodyPr>
            <a:normAutofit/>
          </a:bodyPr>
          <a:lstStyle/>
          <a:p>
            <a:pPr>
              <a:defRPr/>
            </a:pPr>
            <a:endParaRPr lang="es-AR" altLang="en-US" sz="2300" b="1" dirty="0">
              <a:solidFill>
                <a:srgbClr val="000000"/>
              </a:solidFill>
            </a:endParaRPr>
          </a:p>
          <a:p>
            <a:pPr marL="0" indent="0">
              <a:buNone/>
              <a:defRPr/>
            </a:pPr>
            <a:r>
              <a:rPr lang="es-ES" sz="2300" dirty="0">
                <a:solidFill>
                  <a:srgbClr val="000000"/>
                </a:solidFill>
              </a:rPr>
              <a:t>Es claro de la definición, que el comprador de opciones obtiene un riesgo limitado, ya que goza de un derecho y no una obligación. En cambio, el vendedor o emisor de la opción asume un compromiso que debe honrar si el poseedor de la opción lo requiere, y por lo tanto su riesgo es mucho mayor.</a:t>
            </a:r>
          </a:p>
          <a:p>
            <a:pPr marL="0" indent="0">
              <a:buNone/>
              <a:defRPr/>
            </a:pPr>
            <a:r>
              <a:rPr lang="es-ES" sz="2300" b="1" dirty="0">
                <a:solidFill>
                  <a:schemeClr val="tx1">
                    <a:lumMod val="60000"/>
                    <a:lumOff val="40000"/>
                  </a:schemeClr>
                </a:solidFill>
              </a:rPr>
              <a:t>Algunos usos</a:t>
            </a:r>
            <a:r>
              <a:rPr lang="es-ES" sz="2300" dirty="0">
                <a:solidFill>
                  <a:srgbClr val="000000"/>
                </a:solidFill>
              </a:rPr>
              <a:t>:</a:t>
            </a:r>
          </a:p>
          <a:p>
            <a:pPr>
              <a:defRPr/>
            </a:pPr>
            <a:r>
              <a:rPr lang="es-AR" sz="2300" dirty="0">
                <a:solidFill>
                  <a:srgbClr val="000000"/>
                </a:solidFill>
              </a:rPr>
              <a:t>Cobertura contra potenciales movimientos de precios</a:t>
            </a:r>
          </a:p>
          <a:p>
            <a:pPr>
              <a:defRPr/>
            </a:pPr>
            <a:r>
              <a:rPr lang="es-AR" sz="2300" dirty="0">
                <a:solidFill>
                  <a:srgbClr val="000000"/>
                </a:solidFill>
              </a:rPr>
              <a:t>Beneficio ante un movimiento del subyacente</a:t>
            </a:r>
          </a:p>
          <a:p>
            <a:pPr>
              <a:defRPr/>
            </a:pPr>
            <a:r>
              <a:rPr lang="es-AR" sz="2300" dirty="0">
                <a:solidFill>
                  <a:srgbClr val="000000"/>
                </a:solidFill>
              </a:rPr>
              <a:t>Apalancamiento y replicación de posiciones a través de productos sintéticos</a:t>
            </a:r>
          </a:p>
          <a:p>
            <a:pPr>
              <a:defRPr/>
            </a:pPr>
            <a:r>
              <a:rPr lang="es-AR" sz="2300" dirty="0">
                <a:solidFill>
                  <a:srgbClr val="000000"/>
                </a:solidFill>
              </a:rPr>
              <a:t>Múltiples estrategias combinando diversas opciones</a:t>
            </a:r>
            <a:endParaRPr lang="es-AR" altLang="en-US" sz="2300" dirty="0">
              <a:solidFill>
                <a:srgbClr val="000000"/>
              </a:solidFill>
            </a:endParaRPr>
          </a:p>
          <a:p>
            <a:pPr lvl="2">
              <a:buNone/>
              <a:defRPr/>
            </a:pPr>
            <a:r>
              <a:rPr lang="es-AR" altLang="en-US" sz="2300" dirty="0">
                <a:solidFill>
                  <a:srgbClr val="000000"/>
                </a:solidFill>
              </a:rPr>
              <a:t>	</a:t>
            </a:r>
          </a:p>
          <a:p>
            <a:pPr eaLnBrk="1" hangingPunct="1">
              <a:buFontTx/>
              <a:buNone/>
              <a:defRPr/>
            </a:pPr>
            <a:endParaRPr lang="es-AR" altLang="en-US" sz="2400" dirty="0">
              <a:solidFill>
                <a:srgbClr val="000000"/>
              </a:solidFill>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6FF6E87-699A-4515-891B-8691CF911158}"/>
              </a:ext>
            </a:extLst>
          </p:cNvPr>
          <p:cNvSpPr>
            <a:spLocks noGrp="1" noChangeArrowheads="1"/>
          </p:cNvSpPr>
          <p:nvPr>
            <p:ph type="title"/>
          </p:nvPr>
        </p:nvSpPr>
        <p:spPr>
          <a:xfrm>
            <a:off x="1969771" y="637126"/>
            <a:ext cx="2851707" cy="5256371"/>
          </a:xfrm>
        </p:spPr>
        <p:txBody>
          <a:bodyPr>
            <a:normAutofit/>
          </a:bodyPr>
          <a:lstStyle/>
          <a:p>
            <a:r>
              <a:rPr lang="es-ES" altLang="en-US" sz="4200"/>
              <a:t>Opciones:  Mercados</a:t>
            </a:r>
          </a:p>
        </p:txBody>
      </p:sp>
      <p:graphicFrame>
        <p:nvGraphicFramePr>
          <p:cNvPr id="244744" name="Rectangle 3">
            <a:extLst>
              <a:ext uri="{FF2B5EF4-FFF2-40B4-BE49-F238E27FC236}">
                <a16:creationId xmlns:a16="http://schemas.microsoft.com/office/drawing/2014/main" id="{601CD3DB-E58A-440B-9967-5685869A31B5}"/>
              </a:ext>
            </a:extLst>
          </p:cNvPr>
          <p:cNvGraphicFramePr>
            <a:graphicFrameLocks noGrp="1"/>
          </p:cNvGraphicFramePr>
          <p:nvPr>
            <p:ph idx="1"/>
          </p:nvPr>
        </p:nvGraphicFramePr>
        <p:xfrm>
          <a:off x="5399239" y="303592"/>
          <a:ext cx="4941519" cy="58967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A53171B0-42FD-4380-B2D5-82F91038BE1F}"/>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34775335-642A-4F45-87B3-64088C7750C6}" type="slidenum">
              <a:rPr lang="en-US" altLang="en-US" sz="1400"/>
              <a:pPr algn="r" eaLnBrk="0" fontAlgn="base" hangingPunct="0">
                <a:spcBef>
                  <a:spcPct val="0"/>
                </a:spcBef>
                <a:spcAft>
                  <a:spcPct val="0"/>
                </a:spcAft>
                <a:buClrTx/>
                <a:buNone/>
                <a:defRPr/>
              </a:pPr>
              <a:t>31</a:t>
            </a:fld>
            <a:endParaRPr lang="en-US" altLang="en-US" sz="1400"/>
          </a:p>
        </p:txBody>
      </p:sp>
      <p:sp>
        <p:nvSpPr>
          <p:cNvPr id="19459" name="Rectangle 2">
            <a:extLst>
              <a:ext uri="{FF2B5EF4-FFF2-40B4-BE49-F238E27FC236}">
                <a16:creationId xmlns:a16="http://schemas.microsoft.com/office/drawing/2014/main" id="{4420A2ED-5ADB-4403-A20F-85785B7F6C90}"/>
              </a:ext>
            </a:extLst>
          </p:cNvPr>
          <p:cNvSpPr>
            <a:spLocks noGrp="1" noChangeArrowheads="1"/>
          </p:cNvSpPr>
          <p:nvPr>
            <p:ph type="title" idx="4294967295"/>
          </p:nvPr>
        </p:nvSpPr>
        <p:spPr>
          <a:xfrm>
            <a:off x="1524000" y="0"/>
            <a:ext cx="7240588" cy="1143000"/>
          </a:xfrm>
        </p:spPr>
        <p:txBody>
          <a:bodyPr/>
          <a:lstStyle/>
          <a:p>
            <a:pPr eaLnBrk="1" hangingPunct="1"/>
            <a:r>
              <a:rPr lang="es-AR" altLang="en-US" sz="3200" dirty="0">
                <a:solidFill>
                  <a:srgbClr val="000000"/>
                </a:solidFill>
              </a:rPr>
              <a:t>¿Opciones sobre qué?</a:t>
            </a:r>
          </a:p>
        </p:txBody>
      </p:sp>
      <p:sp>
        <p:nvSpPr>
          <p:cNvPr id="7172" name="Rectangle 3">
            <a:extLst>
              <a:ext uri="{FF2B5EF4-FFF2-40B4-BE49-F238E27FC236}">
                <a16:creationId xmlns:a16="http://schemas.microsoft.com/office/drawing/2014/main" id="{FD309712-7C08-45E9-BE95-1475ACA11A51}"/>
              </a:ext>
            </a:extLst>
          </p:cNvPr>
          <p:cNvSpPr>
            <a:spLocks noGrp="1" noChangeArrowheads="1"/>
          </p:cNvSpPr>
          <p:nvPr>
            <p:ph type="body" idx="4294967295"/>
          </p:nvPr>
        </p:nvSpPr>
        <p:spPr>
          <a:xfrm>
            <a:off x="2209800" y="1268413"/>
            <a:ext cx="8458200" cy="5257800"/>
          </a:xfrm>
        </p:spPr>
        <p:txBody>
          <a:bodyPr>
            <a:normAutofit lnSpcReduction="10000"/>
          </a:bodyPr>
          <a:lstStyle/>
          <a:p>
            <a:pPr marL="0" indent="0">
              <a:buNone/>
              <a:defRPr/>
            </a:pPr>
            <a:r>
              <a:rPr lang="es-AR" altLang="en-US" sz="2300" dirty="0">
                <a:solidFill>
                  <a:srgbClr val="000000"/>
                </a:solidFill>
                <a:latin typeface="+mj-lt"/>
              </a:rPr>
              <a:t>El espectro de subyacentes que tienen opciones es similar a aquel del mercado de Futuros.</a:t>
            </a:r>
          </a:p>
          <a:p>
            <a:pPr marL="0" indent="0">
              <a:buNone/>
              <a:defRPr/>
            </a:pPr>
            <a:endParaRPr lang="es-AR" altLang="en-US" sz="2300" dirty="0">
              <a:solidFill>
                <a:srgbClr val="000000"/>
              </a:solidFill>
              <a:latin typeface="+mj-lt"/>
            </a:endParaRPr>
          </a:p>
          <a:p>
            <a:pPr eaLnBrk="1" hangingPunct="1">
              <a:defRPr/>
            </a:pPr>
            <a:r>
              <a:rPr lang="es-AR" altLang="en-US" sz="2300" dirty="0">
                <a:solidFill>
                  <a:srgbClr val="000000"/>
                </a:solidFill>
                <a:latin typeface="+mj-lt"/>
              </a:rPr>
              <a:t>Opciones sobre acciones (</a:t>
            </a:r>
            <a:r>
              <a:rPr lang="es-AR" altLang="en-US" sz="2300" dirty="0" err="1">
                <a:solidFill>
                  <a:srgbClr val="000000"/>
                </a:solidFill>
                <a:latin typeface="+mj-lt"/>
              </a:rPr>
              <a:t>Equity</a:t>
            </a:r>
            <a:r>
              <a:rPr lang="es-AR" altLang="en-US" sz="2300" dirty="0">
                <a:solidFill>
                  <a:srgbClr val="000000"/>
                </a:solidFill>
                <a:latin typeface="+mj-lt"/>
              </a:rPr>
              <a:t>).</a:t>
            </a:r>
          </a:p>
          <a:p>
            <a:pPr lvl="1" eaLnBrk="1" hangingPunct="1">
              <a:defRPr/>
            </a:pPr>
            <a:r>
              <a:rPr lang="es-AR" altLang="en-US" sz="1900" dirty="0">
                <a:solidFill>
                  <a:srgbClr val="000000"/>
                </a:solidFill>
                <a:latin typeface="+mj-lt"/>
              </a:rPr>
              <a:t>Argentina: Opciones MERVAL (BYMA) -  </a:t>
            </a:r>
            <a:r>
              <a:rPr lang="en-US" sz="2000" dirty="0">
                <a:hlinkClick r:id="rId3"/>
              </a:rPr>
              <a:t>https://www.byma.com.ar/opciones/</a:t>
            </a:r>
            <a:endParaRPr lang="en-US" sz="2000" dirty="0"/>
          </a:p>
          <a:p>
            <a:pPr lvl="1">
              <a:defRPr/>
            </a:pPr>
            <a:r>
              <a:rPr lang="es-AR" altLang="en-US" sz="2000" dirty="0">
                <a:solidFill>
                  <a:srgbClr val="000000"/>
                </a:solidFill>
              </a:rPr>
              <a:t>US: Muchos mercados = </a:t>
            </a:r>
            <a:r>
              <a:rPr lang="en-US" sz="2000" dirty="0">
                <a:hlinkClick r:id="rId4"/>
              </a:rPr>
              <a:t>https://finance.yahoo.com/quote/AAPL/</a:t>
            </a:r>
            <a:endParaRPr lang="en-US" sz="2000" dirty="0"/>
          </a:p>
          <a:p>
            <a:pPr eaLnBrk="1" hangingPunct="1">
              <a:defRPr/>
            </a:pPr>
            <a:endParaRPr lang="es-AR" altLang="en-US" sz="2300" dirty="0">
              <a:solidFill>
                <a:srgbClr val="000000"/>
              </a:solidFill>
              <a:latin typeface="+mj-lt"/>
            </a:endParaRPr>
          </a:p>
          <a:p>
            <a:pPr eaLnBrk="1" hangingPunct="1">
              <a:defRPr/>
            </a:pPr>
            <a:endParaRPr lang="es-AR" altLang="en-US" sz="2300" dirty="0">
              <a:solidFill>
                <a:srgbClr val="000000"/>
              </a:solidFill>
              <a:latin typeface="+mj-lt"/>
            </a:endParaRPr>
          </a:p>
          <a:p>
            <a:pPr eaLnBrk="1" hangingPunct="1">
              <a:defRPr/>
            </a:pPr>
            <a:r>
              <a:rPr lang="es-AR" altLang="en-US" sz="2300" dirty="0">
                <a:solidFill>
                  <a:srgbClr val="000000"/>
                </a:solidFill>
                <a:latin typeface="+mj-lt"/>
              </a:rPr>
              <a:t>Opciones sobre FX (</a:t>
            </a:r>
            <a:r>
              <a:rPr lang="es-AR" altLang="en-US" sz="2300" dirty="0" err="1">
                <a:solidFill>
                  <a:srgbClr val="000000"/>
                </a:solidFill>
                <a:latin typeface="+mj-lt"/>
              </a:rPr>
              <a:t>Ej</a:t>
            </a:r>
            <a:r>
              <a:rPr lang="es-AR" altLang="en-US" sz="2300" dirty="0">
                <a:solidFill>
                  <a:srgbClr val="000000"/>
                </a:solidFill>
                <a:latin typeface="+mj-lt"/>
              </a:rPr>
              <a:t>: USDARS)</a:t>
            </a:r>
          </a:p>
          <a:p>
            <a:pPr eaLnBrk="1" hangingPunct="1">
              <a:defRPr/>
            </a:pPr>
            <a:r>
              <a:rPr lang="es-AR" altLang="en-US" sz="2300" dirty="0">
                <a:solidFill>
                  <a:srgbClr val="000000"/>
                </a:solidFill>
                <a:latin typeface="+mj-lt"/>
              </a:rPr>
              <a:t>Opciones sobre Índices (</a:t>
            </a:r>
            <a:r>
              <a:rPr lang="es-AR" altLang="en-US" sz="2300" dirty="0" err="1">
                <a:solidFill>
                  <a:srgbClr val="000000"/>
                </a:solidFill>
                <a:latin typeface="+mj-lt"/>
              </a:rPr>
              <a:t>Ej</a:t>
            </a:r>
            <a:r>
              <a:rPr lang="es-AR" altLang="en-US" sz="2300" dirty="0">
                <a:solidFill>
                  <a:srgbClr val="000000"/>
                </a:solidFill>
                <a:latin typeface="+mj-lt"/>
              </a:rPr>
              <a:t>: ROFEX20)</a:t>
            </a:r>
          </a:p>
          <a:p>
            <a:pPr eaLnBrk="1" hangingPunct="1">
              <a:defRPr/>
            </a:pPr>
            <a:r>
              <a:rPr lang="es-AR" altLang="en-US" sz="2300" dirty="0">
                <a:solidFill>
                  <a:srgbClr val="000000"/>
                </a:solidFill>
                <a:latin typeface="+mj-lt"/>
              </a:rPr>
              <a:t>Opciones sobre </a:t>
            </a:r>
            <a:r>
              <a:rPr lang="es-AR" altLang="en-US" sz="2300" dirty="0" err="1">
                <a:solidFill>
                  <a:srgbClr val="000000"/>
                </a:solidFill>
                <a:latin typeface="+mj-lt"/>
              </a:rPr>
              <a:t>Commodities</a:t>
            </a:r>
            <a:r>
              <a:rPr lang="es-AR" altLang="en-US" sz="2300" dirty="0">
                <a:solidFill>
                  <a:srgbClr val="000000"/>
                </a:solidFill>
                <a:latin typeface="+mj-lt"/>
              </a:rPr>
              <a:t> (</a:t>
            </a:r>
            <a:r>
              <a:rPr lang="es-AR" altLang="en-US" sz="2300" dirty="0" err="1">
                <a:solidFill>
                  <a:srgbClr val="000000"/>
                </a:solidFill>
                <a:latin typeface="+mj-lt"/>
              </a:rPr>
              <a:t>Ej</a:t>
            </a:r>
            <a:r>
              <a:rPr lang="es-AR" altLang="en-US" sz="2300" dirty="0">
                <a:solidFill>
                  <a:srgbClr val="000000"/>
                </a:solidFill>
                <a:latin typeface="+mj-lt"/>
              </a:rPr>
              <a:t>: Soja, </a:t>
            </a:r>
            <a:r>
              <a:rPr lang="es-AR" altLang="en-US" sz="2300" dirty="0" err="1">
                <a:solidFill>
                  <a:srgbClr val="000000"/>
                </a:solidFill>
                <a:latin typeface="+mj-lt"/>
              </a:rPr>
              <a:t>Maiz</a:t>
            </a:r>
            <a:r>
              <a:rPr lang="es-AR" altLang="en-US" sz="2300" dirty="0">
                <a:solidFill>
                  <a:srgbClr val="000000"/>
                </a:solidFill>
                <a:latin typeface="+mj-lt"/>
              </a:rPr>
              <a:t>, Trigo, Oro)</a:t>
            </a:r>
          </a:p>
          <a:p>
            <a:pPr lvl="1" eaLnBrk="1" hangingPunct="1">
              <a:defRPr/>
            </a:pPr>
            <a:r>
              <a:rPr lang="es-AR" altLang="en-US" sz="2000" dirty="0">
                <a:solidFill>
                  <a:srgbClr val="000000"/>
                </a:solidFill>
              </a:rPr>
              <a:t>Argentina: Opciones ROFEX/MATBA – </a:t>
            </a:r>
            <a:r>
              <a:rPr lang="en-US" sz="2000" dirty="0">
                <a:hlinkClick r:id="rId5"/>
              </a:rPr>
              <a:t>https://rofex.primary.ventures/rofex/opciones</a:t>
            </a:r>
            <a:r>
              <a:rPr lang="es-AR" altLang="en-US" sz="2000" dirty="0">
                <a:hlinkClick r:id="rId5"/>
              </a:rPr>
              <a:t> </a:t>
            </a:r>
            <a:endParaRPr lang="es-AR" altLang="en-US" sz="2000" dirty="0"/>
          </a:p>
          <a:p>
            <a:pPr lvl="1" eaLnBrk="1" hangingPunct="1">
              <a:defRPr/>
            </a:pPr>
            <a:endParaRPr lang="es-AR" altLang="en-US" sz="2000" dirty="0"/>
          </a:p>
          <a:p>
            <a:pPr marL="0" indent="0">
              <a:buNone/>
              <a:defRPr/>
            </a:pPr>
            <a:endParaRPr lang="es-AR" altLang="en-US" sz="2300" dirty="0">
              <a:solidFill>
                <a:srgbClr val="000000"/>
              </a:solidFill>
              <a:latin typeface="+mj-lt"/>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4935CA3D-189F-4967-A1EC-EC6ED29465FE}" type="slidenum">
              <a:rPr lang="en-US" altLang="en-US" sz="1400"/>
              <a:pPr algn="r">
                <a:spcBef>
                  <a:spcPct val="0"/>
                </a:spcBef>
                <a:buClrTx/>
                <a:buFontTx/>
                <a:buNone/>
              </a:pPr>
              <a:t>32</a:t>
            </a:fld>
            <a:endParaRPr lang="en-US" altLang="en-US" sz="1400" dirty="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Ejercicio (1/2)</a:t>
            </a:r>
            <a:endParaRPr lang="es-AR" altLang="en-US" sz="3200" i="1" dirty="0">
              <a:solidFill>
                <a:srgbClr val="000000"/>
              </a:solidFill>
            </a:endParaRP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774825" y="1163638"/>
            <a:ext cx="8642350" cy="5257800"/>
          </a:xfrm>
        </p:spPr>
        <p:txBody>
          <a:bodyPr/>
          <a:lstStyle/>
          <a:p>
            <a:pPr>
              <a:defRPr/>
            </a:pPr>
            <a:endParaRPr lang="es-AR" altLang="en-US" sz="2300" b="1" dirty="0">
              <a:solidFill>
                <a:srgbClr val="000000"/>
              </a:solidFill>
            </a:endParaRPr>
          </a:p>
          <a:p>
            <a:pPr marL="0" indent="0">
              <a:buNone/>
              <a:defRPr/>
            </a:pPr>
            <a:r>
              <a:rPr lang="es-AR" altLang="en-US" sz="2300" dirty="0">
                <a:solidFill>
                  <a:srgbClr val="000000"/>
                </a:solidFill>
              </a:rPr>
              <a:t>Hay dos principales</a:t>
            </a:r>
            <a:r>
              <a:rPr lang="es-AR" altLang="en-US" sz="2300" b="1" dirty="0">
                <a:solidFill>
                  <a:srgbClr val="000000"/>
                </a:solidFill>
              </a:rPr>
              <a:t> </a:t>
            </a:r>
            <a:r>
              <a:rPr lang="es-AR" altLang="en-US" sz="2300" b="1" dirty="0">
                <a:solidFill>
                  <a:schemeClr val="tx1">
                    <a:lumMod val="60000"/>
                    <a:lumOff val="40000"/>
                  </a:schemeClr>
                </a:solidFill>
              </a:rPr>
              <a:t>tipos de ejercicio </a:t>
            </a:r>
            <a:r>
              <a:rPr lang="es-AR" altLang="en-US" sz="2300" dirty="0">
                <a:solidFill>
                  <a:srgbClr val="000000"/>
                </a:solidFill>
              </a:rPr>
              <a:t>–</a:t>
            </a:r>
            <a:r>
              <a:rPr lang="es-AR" altLang="en-US" sz="2300" dirty="0">
                <a:solidFill>
                  <a:schemeClr val="tx1">
                    <a:lumMod val="60000"/>
                    <a:lumOff val="40000"/>
                  </a:schemeClr>
                </a:solidFill>
              </a:rPr>
              <a:t> </a:t>
            </a:r>
            <a:r>
              <a:rPr lang="es-AR" altLang="en-US" sz="2300" dirty="0">
                <a:solidFill>
                  <a:srgbClr val="000000"/>
                </a:solidFill>
              </a:rPr>
              <a:t>es decir el momento en el cual el poseedor del derecho puede hacer uso del mismo (ejercer)  </a:t>
            </a:r>
          </a:p>
          <a:p>
            <a:pPr>
              <a:defRPr/>
            </a:pPr>
            <a:endParaRPr lang="es-AR" altLang="en-US" sz="2300" dirty="0">
              <a:solidFill>
                <a:srgbClr val="000000"/>
              </a:solidFill>
            </a:endParaRPr>
          </a:p>
          <a:p>
            <a:pPr>
              <a:defRPr/>
            </a:pPr>
            <a:r>
              <a:rPr lang="es-AR" altLang="en-US" sz="2300" dirty="0">
                <a:solidFill>
                  <a:srgbClr val="000000"/>
                </a:solidFill>
              </a:rPr>
              <a:t>Europeo – </a:t>
            </a:r>
            <a:r>
              <a:rPr lang="es-AR" altLang="en-US" sz="2300" b="1" dirty="0">
                <a:solidFill>
                  <a:schemeClr val="tx1">
                    <a:lumMod val="60000"/>
                    <a:lumOff val="40000"/>
                  </a:schemeClr>
                </a:solidFill>
              </a:rPr>
              <a:t>Solamente</a:t>
            </a:r>
            <a:r>
              <a:rPr lang="es-AR" altLang="en-US" sz="2300" dirty="0">
                <a:solidFill>
                  <a:srgbClr val="000000"/>
                </a:solidFill>
              </a:rPr>
              <a:t> se puede ejercer la opción en el </a:t>
            </a:r>
            <a:r>
              <a:rPr lang="es-AR" altLang="en-US" sz="2300" b="1" dirty="0">
                <a:solidFill>
                  <a:schemeClr val="tx1">
                    <a:lumMod val="60000"/>
                    <a:lumOff val="40000"/>
                  </a:schemeClr>
                </a:solidFill>
              </a:rPr>
              <a:t>vencimiento</a:t>
            </a:r>
          </a:p>
          <a:p>
            <a:pPr>
              <a:defRPr/>
            </a:pPr>
            <a:endParaRPr lang="es-AR" altLang="en-US" sz="2300" b="1" dirty="0">
              <a:solidFill>
                <a:schemeClr val="tx1">
                  <a:lumMod val="60000"/>
                  <a:lumOff val="40000"/>
                </a:schemeClr>
              </a:solidFill>
            </a:endParaRPr>
          </a:p>
          <a:p>
            <a:pPr>
              <a:defRPr/>
            </a:pPr>
            <a:r>
              <a:rPr lang="es-AR" altLang="en-US" sz="2300" dirty="0">
                <a:solidFill>
                  <a:srgbClr val="000000"/>
                </a:solidFill>
              </a:rPr>
              <a:t>Americano – Se puede ejercer la opción </a:t>
            </a:r>
            <a:r>
              <a:rPr lang="es-AR" altLang="en-US" sz="2300" b="1" dirty="0">
                <a:solidFill>
                  <a:schemeClr val="tx1">
                    <a:lumMod val="60000"/>
                    <a:lumOff val="40000"/>
                  </a:schemeClr>
                </a:solidFill>
              </a:rPr>
              <a:t>en todo momento</a:t>
            </a:r>
          </a:p>
          <a:p>
            <a:pPr>
              <a:defRPr/>
            </a:pPr>
            <a:endParaRPr lang="es-AR" altLang="en-US" sz="2300" b="1" dirty="0">
              <a:solidFill>
                <a:schemeClr val="tx1">
                  <a:lumMod val="60000"/>
                  <a:lumOff val="40000"/>
                </a:schemeClr>
              </a:solidFill>
            </a:endParaRPr>
          </a:p>
          <a:p>
            <a:pPr marL="0" indent="0">
              <a:buNone/>
              <a:defRPr/>
            </a:pPr>
            <a:r>
              <a:rPr lang="es-AR" altLang="en-US" sz="2300" dirty="0">
                <a:solidFill>
                  <a:srgbClr val="000000"/>
                </a:solidFill>
              </a:rPr>
              <a:t>Hay otros tipos de ejercicio intermedios (Ejemplo: </a:t>
            </a:r>
            <a:r>
              <a:rPr lang="es-AR" altLang="en-US" sz="2300" i="1" dirty="0">
                <a:solidFill>
                  <a:srgbClr val="000000"/>
                </a:solidFill>
              </a:rPr>
              <a:t>Bermuda</a:t>
            </a:r>
            <a:r>
              <a:rPr lang="es-AR" altLang="en-US" sz="2300" dirty="0">
                <a:solidFill>
                  <a:srgbClr val="000000"/>
                </a:solidFill>
              </a:rPr>
              <a:t>)</a:t>
            </a:r>
          </a:p>
          <a:p>
            <a:pPr marL="0" indent="0">
              <a:buNone/>
              <a:defRPr/>
            </a:pPr>
            <a:endParaRPr lang="es-AR" altLang="en-US" sz="2300" b="1" dirty="0">
              <a:solidFill>
                <a:schemeClr val="tx1">
                  <a:lumMod val="60000"/>
                  <a:lumOff val="40000"/>
                </a:schemeClr>
              </a:solidFill>
            </a:endParaRPr>
          </a:p>
          <a:p>
            <a:pPr eaLnBrk="1" hangingPunct="1">
              <a:buFontTx/>
              <a:buNone/>
              <a:defRPr/>
            </a:pPr>
            <a:r>
              <a:rPr lang="es-AR" altLang="en-US" sz="2300" dirty="0">
                <a:solidFill>
                  <a:srgbClr val="000000"/>
                </a:solidFill>
              </a:rPr>
              <a:t>Las opciones listadas en los mercados de </a:t>
            </a:r>
            <a:r>
              <a:rPr lang="es-AR" altLang="en-US" sz="2300" i="1" dirty="0">
                <a:solidFill>
                  <a:srgbClr val="000000"/>
                </a:solidFill>
              </a:rPr>
              <a:t>Equity, Commodities</a:t>
            </a:r>
            <a:r>
              <a:rPr lang="es-AR" altLang="en-US" sz="2300" dirty="0">
                <a:solidFill>
                  <a:srgbClr val="000000"/>
                </a:solidFill>
              </a:rPr>
              <a:t>:</a:t>
            </a:r>
          </a:p>
          <a:p>
            <a:pPr eaLnBrk="1" hangingPunct="1">
              <a:buFontTx/>
              <a:buNone/>
              <a:defRPr/>
            </a:pPr>
            <a:r>
              <a:rPr lang="es-AR" altLang="en-US" sz="2300" b="1" dirty="0">
                <a:solidFill>
                  <a:schemeClr val="tx1">
                    <a:lumMod val="60000"/>
                    <a:lumOff val="40000"/>
                  </a:schemeClr>
                </a:solidFill>
              </a:rPr>
              <a:t>Suelen*</a:t>
            </a:r>
            <a:r>
              <a:rPr lang="es-AR" altLang="en-US" sz="2300" dirty="0">
                <a:solidFill>
                  <a:srgbClr val="000000"/>
                </a:solidFill>
              </a:rPr>
              <a:t> ser Americanas - es decir permiten el ejercicio temprano.</a:t>
            </a:r>
          </a:p>
        </p:txBody>
      </p:sp>
    </p:spTree>
    <p:extLst>
      <p:ext uri="{BB962C8B-B14F-4D97-AF65-F5344CB8AC3E}">
        <p14:creationId xmlns:p14="http://schemas.microsoft.com/office/powerpoint/2010/main" val="363087210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4935CA3D-189F-4967-A1EC-EC6ED29465FE}" type="slidenum">
              <a:rPr lang="en-US" altLang="en-US" sz="1400"/>
              <a:pPr algn="r">
                <a:spcBef>
                  <a:spcPct val="0"/>
                </a:spcBef>
                <a:buClrTx/>
                <a:buFontTx/>
                <a:buNone/>
              </a:pPr>
              <a:t>33</a:t>
            </a:fld>
            <a:endParaRPr lang="en-US" altLang="en-US" sz="1400" dirty="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Ejercicio (2/2)</a:t>
            </a:r>
            <a:endParaRPr lang="es-AR" altLang="en-US" sz="3200" i="1" dirty="0">
              <a:solidFill>
                <a:srgbClr val="000000"/>
              </a:solidFill>
            </a:endParaRP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774825" y="1163638"/>
            <a:ext cx="8642350" cy="5257800"/>
          </a:xfrm>
        </p:spPr>
        <p:txBody>
          <a:bodyPr/>
          <a:lstStyle/>
          <a:p>
            <a:pPr>
              <a:defRPr/>
            </a:pPr>
            <a:endParaRPr lang="es-AR" altLang="en-US" sz="2300" b="1" dirty="0">
              <a:solidFill>
                <a:srgbClr val="000000"/>
              </a:solidFill>
            </a:endParaRPr>
          </a:p>
          <a:p>
            <a:pPr marL="0" indent="0">
              <a:buNone/>
              <a:defRPr/>
            </a:pPr>
            <a:r>
              <a:rPr lang="es-AR" altLang="en-US" sz="2300" dirty="0">
                <a:solidFill>
                  <a:srgbClr val="000000"/>
                </a:solidFill>
              </a:rPr>
              <a:t>La operatoria en el ejercicio (temprano o a vencimiento) en BYMA :</a:t>
            </a:r>
          </a:p>
          <a:p>
            <a:pPr marL="0" indent="0">
              <a:buNone/>
              <a:defRPr/>
            </a:pPr>
            <a:endParaRPr lang="es-AR" altLang="en-US" sz="2300" dirty="0">
              <a:solidFill>
                <a:srgbClr val="000000"/>
              </a:solidFill>
            </a:endParaRPr>
          </a:p>
          <a:p>
            <a:pPr>
              <a:defRPr/>
            </a:pPr>
            <a:endParaRPr lang="es-AR" altLang="en-US" sz="2300" dirty="0">
              <a:solidFill>
                <a:srgbClr val="000000"/>
              </a:solidFill>
            </a:endParaRPr>
          </a:p>
        </p:txBody>
      </p:sp>
      <p:grpSp>
        <p:nvGrpSpPr>
          <p:cNvPr id="4" name="Group 3">
            <a:extLst>
              <a:ext uri="{FF2B5EF4-FFF2-40B4-BE49-F238E27FC236}">
                <a16:creationId xmlns:a16="http://schemas.microsoft.com/office/drawing/2014/main" id="{9C14612C-6F72-4E17-A0C4-88E2B30D8F54}"/>
              </a:ext>
            </a:extLst>
          </p:cNvPr>
          <p:cNvGrpSpPr/>
          <p:nvPr/>
        </p:nvGrpSpPr>
        <p:grpSpPr>
          <a:xfrm>
            <a:off x="2855641" y="2132856"/>
            <a:ext cx="5781675" cy="4104456"/>
            <a:chOff x="1331640" y="2132856"/>
            <a:chExt cx="5781675" cy="4104456"/>
          </a:xfrm>
        </p:grpSpPr>
        <p:pic>
          <p:nvPicPr>
            <p:cNvPr id="2" name="Picture 1">
              <a:extLst>
                <a:ext uri="{FF2B5EF4-FFF2-40B4-BE49-F238E27FC236}">
                  <a16:creationId xmlns:a16="http://schemas.microsoft.com/office/drawing/2014/main" id="{83969631-80D9-4443-BB97-D2B199E34117}"/>
                </a:ext>
              </a:extLst>
            </p:cNvPr>
            <p:cNvPicPr>
              <a:picLocks noChangeAspect="1"/>
            </p:cNvPicPr>
            <p:nvPr/>
          </p:nvPicPr>
          <p:blipFill>
            <a:blip r:embed="rId3"/>
            <a:stretch>
              <a:fillRect/>
            </a:stretch>
          </p:blipFill>
          <p:spPr>
            <a:xfrm>
              <a:off x="1331640" y="2132856"/>
              <a:ext cx="5781675" cy="3876675"/>
            </a:xfrm>
            <a:prstGeom prst="rect">
              <a:avLst/>
            </a:prstGeom>
          </p:spPr>
        </p:pic>
        <p:sp>
          <p:nvSpPr>
            <p:cNvPr id="3" name="TextBox 2">
              <a:extLst>
                <a:ext uri="{FF2B5EF4-FFF2-40B4-BE49-F238E27FC236}">
                  <a16:creationId xmlns:a16="http://schemas.microsoft.com/office/drawing/2014/main" id="{ED49CE09-F72D-4474-BCE2-6B92EFA14760}"/>
                </a:ext>
              </a:extLst>
            </p:cNvPr>
            <p:cNvSpPr txBox="1"/>
            <p:nvPr/>
          </p:nvSpPr>
          <p:spPr>
            <a:xfrm>
              <a:off x="2277616" y="5960313"/>
              <a:ext cx="4094584" cy="276999"/>
            </a:xfrm>
            <a:prstGeom prst="rect">
              <a:avLst/>
            </a:prstGeom>
            <a:noFill/>
          </p:spPr>
          <p:txBody>
            <a:bodyPr wrap="square" rtlCol="0">
              <a:spAutoFit/>
            </a:bodyPr>
            <a:lstStyle/>
            <a:p>
              <a:r>
                <a:rPr lang="en-US" sz="1200" dirty="0">
                  <a:solidFill>
                    <a:schemeClr val="accent6">
                      <a:lumMod val="60000"/>
                      <a:lumOff val="40000"/>
                    </a:schemeClr>
                  </a:solidFill>
                </a:rPr>
                <a:t>Fuente: https://www.byma.com.ar/productos/opcionesp/</a:t>
              </a:r>
            </a:p>
          </p:txBody>
        </p:sp>
      </p:grpSp>
    </p:spTree>
    <p:extLst>
      <p:ext uri="{BB962C8B-B14F-4D97-AF65-F5344CB8AC3E}">
        <p14:creationId xmlns:p14="http://schemas.microsoft.com/office/powerpoint/2010/main" val="66585730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a:extLst>
              <a:ext uri="{FF2B5EF4-FFF2-40B4-BE49-F238E27FC236}">
                <a16:creationId xmlns:a16="http://schemas.microsoft.com/office/drawing/2014/main" id="{545FFA29-9F44-4B4D-82F6-AF989252EB4B}"/>
              </a:ext>
            </a:extLst>
          </p:cNvPr>
          <p:cNvSpPr>
            <a:spLocks noGrp="1" noChangeArrowheads="1"/>
          </p:cNvSpPr>
          <p:nvPr>
            <p:ph type="sldNum" sz="quarter" idx="10"/>
          </p:nvPr>
        </p:nvSpPr>
        <p:spPr>
          <a:xfrm>
            <a:off x="8534400" y="6553200"/>
            <a:ext cx="2133600" cy="4953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defRPr/>
            </a:pPr>
            <a:fld id="{E0DD322A-CBA2-434E-8356-3C860229AB8F}" type="slidenum">
              <a:rPr lang="en-US" altLang="en-US" kern="1200">
                <a:solidFill>
                  <a:srgbClr val="4D4D4D"/>
                </a:solidFill>
                <a:latin typeface="Calibri" panose="020F0502020204030204" pitchFamily="34" charset="0"/>
                <a:ea typeface="+mn-ea"/>
                <a:cs typeface="+mn-cs"/>
              </a:rPr>
              <a:pPr>
                <a:spcAft>
                  <a:spcPts val="600"/>
                </a:spcAft>
                <a:defRPr/>
              </a:pPr>
              <a:t>34</a:t>
            </a:fld>
            <a:endParaRPr lang="en-US" altLang="en-US" kern="1200" dirty="0">
              <a:solidFill>
                <a:srgbClr val="4D4D4D"/>
              </a:solidFill>
              <a:latin typeface="Calibri" panose="020F0502020204030204" pitchFamily="34" charset="0"/>
              <a:ea typeface="+mn-ea"/>
              <a:cs typeface="+mn-cs"/>
            </a:endParaRPr>
          </a:p>
        </p:txBody>
      </p:sp>
      <p:graphicFrame>
        <p:nvGraphicFramePr>
          <p:cNvPr id="2" name="Table 3">
            <a:extLst>
              <a:ext uri="{FF2B5EF4-FFF2-40B4-BE49-F238E27FC236}">
                <a16:creationId xmlns:a16="http://schemas.microsoft.com/office/drawing/2014/main" id="{8F37408A-1558-4C44-A9E3-1B4EE00290B9}"/>
              </a:ext>
            </a:extLst>
          </p:cNvPr>
          <p:cNvGraphicFramePr>
            <a:graphicFrameLocks noGrp="1"/>
          </p:cNvGraphicFramePr>
          <p:nvPr/>
        </p:nvGraphicFramePr>
        <p:xfrm>
          <a:off x="2497725" y="1556792"/>
          <a:ext cx="7196550" cy="2600816"/>
        </p:xfrm>
        <a:graphic>
          <a:graphicData uri="http://schemas.openxmlformats.org/drawingml/2006/table">
            <a:tbl>
              <a:tblPr firstRow="1" bandRow="1">
                <a:tableStyleId>{0505E3EF-67EA-436B-97B2-0124C06EBD24}</a:tableStyleId>
              </a:tblPr>
              <a:tblGrid>
                <a:gridCol w="2950203">
                  <a:extLst>
                    <a:ext uri="{9D8B030D-6E8A-4147-A177-3AD203B41FA5}">
                      <a16:colId xmlns:a16="http://schemas.microsoft.com/office/drawing/2014/main" val="1552959218"/>
                    </a:ext>
                  </a:extLst>
                </a:gridCol>
                <a:gridCol w="2016224">
                  <a:extLst>
                    <a:ext uri="{9D8B030D-6E8A-4147-A177-3AD203B41FA5}">
                      <a16:colId xmlns:a16="http://schemas.microsoft.com/office/drawing/2014/main" val="3324991800"/>
                    </a:ext>
                  </a:extLst>
                </a:gridCol>
                <a:gridCol w="2230123">
                  <a:extLst>
                    <a:ext uri="{9D8B030D-6E8A-4147-A177-3AD203B41FA5}">
                      <a16:colId xmlns:a16="http://schemas.microsoft.com/office/drawing/2014/main" val="2350655866"/>
                    </a:ext>
                  </a:extLst>
                </a:gridCol>
              </a:tblGrid>
              <a:tr h="890887">
                <a:tc>
                  <a:txBody>
                    <a:bodyPr/>
                    <a:lstStyle/>
                    <a:p>
                      <a:r>
                        <a:rPr lang="es-AR" sz="2800" b="0" cap="none" spc="0" noProof="0" dirty="0">
                          <a:solidFill>
                            <a:schemeClr val="tx1"/>
                          </a:solidFill>
                        </a:rPr>
                        <a:t>Apuesta\Posición</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b="0" cap="none" spc="0" noProof="0" dirty="0">
                          <a:solidFill>
                            <a:schemeClr val="tx1"/>
                          </a:solidFill>
                        </a:rPr>
                        <a:t>Comprado</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b="0" cap="none" spc="0" noProof="0" dirty="0">
                          <a:solidFill>
                            <a:schemeClr val="tx1"/>
                          </a:solidFill>
                        </a:rPr>
                        <a:t>Vendido</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6000594"/>
                  </a:ext>
                </a:extLst>
              </a:tr>
              <a:tr h="890887">
                <a:tc>
                  <a:txBody>
                    <a:bodyPr/>
                    <a:lstStyle/>
                    <a:p>
                      <a:r>
                        <a:rPr lang="es-AR" sz="2800" cap="none" spc="0" noProof="0">
                          <a:solidFill>
                            <a:schemeClr val="tx1"/>
                          </a:solidFill>
                        </a:rPr>
                        <a:t>Al alza</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i="1" cap="none" spc="0" noProof="0" dirty="0">
                          <a:solidFill>
                            <a:schemeClr val="tx1"/>
                          </a:solidFill>
                        </a:rPr>
                        <a:t>Long </a:t>
                      </a:r>
                      <a:r>
                        <a:rPr lang="es-AR" sz="2800" i="1" cap="none" spc="0" noProof="0" dirty="0" err="1">
                          <a:solidFill>
                            <a:schemeClr val="tx1"/>
                          </a:solidFill>
                        </a:rPr>
                        <a:t>Call</a:t>
                      </a:r>
                      <a:endParaRPr lang="es-AR" sz="2800" i="1" cap="none" spc="0" noProof="0" dirty="0">
                        <a:solidFill>
                          <a:schemeClr val="tx1"/>
                        </a:solidFill>
                      </a:endParaRP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i="1" cap="none" spc="0" noProof="0" dirty="0">
                          <a:solidFill>
                            <a:schemeClr val="tx1"/>
                          </a:solidFill>
                        </a:rPr>
                        <a:t>Short </a:t>
                      </a:r>
                      <a:r>
                        <a:rPr lang="es-AR" sz="2800" i="1" cap="none" spc="0" noProof="0" dirty="0" err="1">
                          <a:solidFill>
                            <a:schemeClr val="tx1"/>
                          </a:solidFill>
                        </a:rPr>
                        <a:t>Put</a:t>
                      </a:r>
                      <a:endParaRPr lang="es-AR" sz="2800" i="1" cap="none" spc="0" noProof="0" dirty="0">
                        <a:solidFill>
                          <a:schemeClr val="tx1"/>
                        </a:solidFill>
                      </a:endParaRP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198783"/>
                  </a:ext>
                </a:extLst>
              </a:tr>
              <a:tr h="819042">
                <a:tc>
                  <a:txBody>
                    <a:bodyPr/>
                    <a:lstStyle/>
                    <a:p>
                      <a:r>
                        <a:rPr lang="es-AR" sz="2800" cap="none" spc="0" noProof="0">
                          <a:solidFill>
                            <a:schemeClr val="tx1"/>
                          </a:solidFill>
                        </a:rPr>
                        <a:t>A la baja</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i="1" cap="none" spc="0" noProof="0" dirty="0">
                          <a:solidFill>
                            <a:schemeClr val="tx1"/>
                          </a:solidFill>
                        </a:rPr>
                        <a:t>Long </a:t>
                      </a:r>
                      <a:r>
                        <a:rPr lang="es-AR" sz="2800" i="1" cap="none" spc="0" noProof="0" dirty="0" err="1">
                          <a:solidFill>
                            <a:schemeClr val="tx1"/>
                          </a:solidFill>
                        </a:rPr>
                        <a:t>Put</a:t>
                      </a:r>
                      <a:endParaRPr lang="es-AR" sz="2800" i="1" cap="none" spc="0" noProof="0" dirty="0">
                        <a:solidFill>
                          <a:schemeClr val="tx1"/>
                        </a:solidFill>
                      </a:endParaRP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i="1" cap="none" spc="0" noProof="0" dirty="0">
                          <a:solidFill>
                            <a:schemeClr val="tx1"/>
                          </a:solidFill>
                        </a:rPr>
                        <a:t>Short Call</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886108"/>
                  </a:ext>
                </a:extLst>
              </a:tr>
            </a:tbl>
          </a:graphicData>
        </a:graphic>
      </p:graphicFrame>
      <p:graphicFrame>
        <p:nvGraphicFramePr>
          <p:cNvPr id="4" name="Table 3">
            <a:extLst>
              <a:ext uri="{FF2B5EF4-FFF2-40B4-BE49-F238E27FC236}">
                <a16:creationId xmlns:a16="http://schemas.microsoft.com/office/drawing/2014/main" id="{DADD13AF-01B3-4D53-8911-54EA3B8699A1}"/>
              </a:ext>
            </a:extLst>
          </p:cNvPr>
          <p:cNvGraphicFramePr>
            <a:graphicFrameLocks noGrp="1"/>
          </p:cNvGraphicFramePr>
          <p:nvPr/>
        </p:nvGraphicFramePr>
        <p:xfrm>
          <a:off x="2469722" y="4445528"/>
          <a:ext cx="7196550" cy="1709929"/>
        </p:xfrm>
        <a:graphic>
          <a:graphicData uri="http://schemas.openxmlformats.org/drawingml/2006/table">
            <a:tbl>
              <a:tblPr firstRow="1" bandRow="1">
                <a:tableStyleId>{0505E3EF-67EA-436B-97B2-0124C06EBD24}</a:tableStyleId>
              </a:tblPr>
              <a:tblGrid>
                <a:gridCol w="2978206">
                  <a:extLst>
                    <a:ext uri="{9D8B030D-6E8A-4147-A177-3AD203B41FA5}">
                      <a16:colId xmlns:a16="http://schemas.microsoft.com/office/drawing/2014/main" val="1552959218"/>
                    </a:ext>
                  </a:extLst>
                </a:gridCol>
                <a:gridCol w="2016224">
                  <a:extLst>
                    <a:ext uri="{9D8B030D-6E8A-4147-A177-3AD203B41FA5}">
                      <a16:colId xmlns:a16="http://schemas.microsoft.com/office/drawing/2014/main" val="3324991800"/>
                    </a:ext>
                  </a:extLst>
                </a:gridCol>
                <a:gridCol w="2202120">
                  <a:extLst>
                    <a:ext uri="{9D8B030D-6E8A-4147-A177-3AD203B41FA5}">
                      <a16:colId xmlns:a16="http://schemas.microsoft.com/office/drawing/2014/main" val="2350655866"/>
                    </a:ext>
                  </a:extLst>
                </a:gridCol>
              </a:tblGrid>
              <a:tr h="890887">
                <a:tc>
                  <a:txBody>
                    <a:bodyPr/>
                    <a:lstStyle/>
                    <a:p>
                      <a:r>
                        <a:rPr lang="es-AR" sz="2800" b="0" cap="none" spc="0" noProof="0" dirty="0">
                          <a:solidFill>
                            <a:srgbClr val="7030A0"/>
                          </a:solidFill>
                        </a:rPr>
                        <a:t>Pago\Recibo</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b="0" cap="none" spc="0" noProof="0" dirty="0">
                          <a:solidFill>
                            <a:srgbClr val="FF0000"/>
                          </a:solidFill>
                        </a:rPr>
                        <a:t>Pago</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b="0" cap="none" spc="0" noProof="0" dirty="0">
                          <a:solidFill>
                            <a:srgbClr val="00B050"/>
                          </a:solidFill>
                        </a:rPr>
                        <a:t>Recibo</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198783"/>
                  </a:ext>
                </a:extLst>
              </a:tr>
              <a:tr h="819042">
                <a:tc>
                  <a:txBody>
                    <a:bodyPr/>
                    <a:lstStyle/>
                    <a:p>
                      <a:r>
                        <a:rPr lang="es-AR" sz="2800" b="0" cap="none" spc="0" noProof="0" dirty="0">
                          <a:solidFill>
                            <a:srgbClr val="7030A0"/>
                          </a:solidFill>
                        </a:rPr>
                        <a:t>Máxima Perdida</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b="0" cap="none" spc="0" noProof="0" dirty="0">
                          <a:solidFill>
                            <a:srgbClr val="0070C0"/>
                          </a:solidFill>
                        </a:rPr>
                        <a:t>Prima</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2800" b="0" cap="none" spc="0" noProof="0" dirty="0">
                          <a:solidFill>
                            <a:srgbClr val="FF0000"/>
                          </a:solidFill>
                        </a:rPr>
                        <a:t>!!!</a:t>
                      </a:r>
                    </a:p>
                  </a:txBody>
                  <a:tcPr marL="215537" marR="215537" marT="150876" marB="150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886108"/>
                  </a:ext>
                </a:extLst>
              </a:tr>
            </a:tbl>
          </a:graphicData>
        </a:graphic>
      </p:graphicFrame>
      <p:sp>
        <p:nvSpPr>
          <p:cNvPr id="7" name="Title 4">
            <a:extLst>
              <a:ext uri="{FF2B5EF4-FFF2-40B4-BE49-F238E27FC236}">
                <a16:creationId xmlns:a16="http://schemas.microsoft.com/office/drawing/2014/main" id="{FEF714F3-CDBB-4067-8EDC-6EBC49A97C1F}"/>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rPr>
            </a:br>
            <a:r>
              <a:rPr lang="es-AR" sz="3200" kern="0" dirty="0">
                <a:solidFill>
                  <a:srgbClr val="000000"/>
                </a:solidFill>
              </a:rPr>
              <a:t>Posiciones de una opción</a:t>
            </a:r>
            <a:br>
              <a:rPr lang="es-AR" altLang="en-US" kern="0" dirty="0">
                <a:solidFill>
                  <a:srgbClr val="000000"/>
                </a:solidFill>
              </a:rPr>
            </a:br>
            <a:endParaRPr lang="en-US" kern="0" dirty="0"/>
          </a:p>
        </p:txBody>
      </p:sp>
    </p:spTree>
    <p:extLst>
      <p:ext uri="{BB962C8B-B14F-4D97-AF65-F5344CB8AC3E}">
        <p14:creationId xmlns:p14="http://schemas.microsoft.com/office/powerpoint/2010/main" val="466947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8FF13C92-1FEC-4C37-AB6C-F086078D4E95}"/>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FA75C0A6-F28E-47A6-844C-6CCF898FFF48}" type="slidenum">
              <a:rPr lang="en-US" altLang="en-US" sz="1400"/>
              <a:pPr algn="r" eaLnBrk="0" fontAlgn="base" hangingPunct="0">
                <a:spcBef>
                  <a:spcPct val="0"/>
                </a:spcBef>
                <a:spcAft>
                  <a:spcPct val="0"/>
                </a:spcAft>
                <a:buClrTx/>
                <a:buNone/>
                <a:defRPr/>
              </a:pPr>
              <a:t>35</a:t>
            </a:fld>
            <a:endParaRPr lang="en-US" altLang="en-US" sz="1400"/>
          </a:p>
        </p:txBody>
      </p:sp>
      <p:sp>
        <p:nvSpPr>
          <p:cNvPr id="7172" name="Rectangle 3">
            <a:extLst>
              <a:ext uri="{FF2B5EF4-FFF2-40B4-BE49-F238E27FC236}">
                <a16:creationId xmlns:a16="http://schemas.microsoft.com/office/drawing/2014/main" id="{FD309712-7C08-45E9-BE95-1475ACA11A51}"/>
              </a:ext>
            </a:extLst>
          </p:cNvPr>
          <p:cNvSpPr>
            <a:spLocks noGrp="1" noChangeArrowheads="1"/>
          </p:cNvSpPr>
          <p:nvPr>
            <p:ph type="body" idx="4294967295"/>
          </p:nvPr>
        </p:nvSpPr>
        <p:spPr>
          <a:xfrm>
            <a:off x="2209800" y="1268413"/>
            <a:ext cx="8458200" cy="5257800"/>
          </a:xfrm>
        </p:spPr>
        <p:txBody>
          <a:bodyPr/>
          <a:lstStyle/>
          <a:p>
            <a:pPr marL="0" indent="0">
              <a:buNone/>
              <a:defRPr/>
            </a:pPr>
            <a:r>
              <a:rPr lang="es-AR" altLang="en-US" sz="2300" dirty="0">
                <a:solidFill>
                  <a:srgbClr val="000000"/>
                </a:solidFill>
              </a:rPr>
              <a:t>Para cada contrato de opciones hay dos patas:</a:t>
            </a:r>
          </a:p>
          <a:p>
            <a:pPr eaLnBrk="1" hangingPunct="1">
              <a:defRPr/>
            </a:pPr>
            <a:r>
              <a:rPr lang="es-AR" altLang="en-US" sz="2300" dirty="0">
                <a:solidFill>
                  <a:srgbClr val="000000"/>
                </a:solidFill>
              </a:rPr>
              <a:t>Posición </a:t>
            </a:r>
            <a:r>
              <a:rPr lang="es-AR" altLang="en-US" sz="2300" b="1" i="1" dirty="0">
                <a:solidFill>
                  <a:schemeClr val="tx1">
                    <a:lumMod val="60000"/>
                    <a:lumOff val="40000"/>
                  </a:schemeClr>
                </a:solidFill>
              </a:rPr>
              <a:t>LONG</a:t>
            </a:r>
            <a:r>
              <a:rPr lang="es-AR" altLang="en-US" sz="2300" dirty="0">
                <a:solidFill>
                  <a:srgbClr val="000000"/>
                </a:solidFill>
              </a:rPr>
              <a:t>: Compro la opción</a:t>
            </a:r>
            <a:endParaRPr lang="es-AR" altLang="en-US" sz="2300" i="1" dirty="0">
              <a:solidFill>
                <a:srgbClr val="000000"/>
              </a:solidFill>
            </a:endParaRPr>
          </a:p>
          <a:p>
            <a:pPr eaLnBrk="1" hangingPunct="1">
              <a:defRPr/>
            </a:pPr>
            <a:r>
              <a:rPr lang="es-AR" altLang="en-US" sz="2300" dirty="0">
                <a:solidFill>
                  <a:srgbClr val="000000"/>
                </a:solidFill>
              </a:rPr>
              <a:t>Posición </a:t>
            </a:r>
            <a:r>
              <a:rPr lang="es-AR" altLang="en-US" sz="2300" b="1" i="1" dirty="0">
                <a:solidFill>
                  <a:schemeClr val="tx1">
                    <a:lumMod val="60000"/>
                    <a:lumOff val="40000"/>
                  </a:schemeClr>
                </a:solidFill>
              </a:rPr>
              <a:t>SHORT</a:t>
            </a:r>
            <a:r>
              <a:rPr lang="es-AR" altLang="en-US" sz="2300" dirty="0">
                <a:solidFill>
                  <a:srgbClr val="000000"/>
                </a:solidFill>
              </a:rPr>
              <a:t>: Vendo o </a:t>
            </a:r>
            <a:r>
              <a:rPr lang="es-AR" altLang="en-US" sz="2300" i="1" dirty="0">
                <a:solidFill>
                  <a:srgbClr val="000000"/>
                </a:solidFill>
              </a:rPr>
              <a:t>escribo </a:t>
            </a:r>
            <a:r>
              <a:rPr lang="es-AR" altLang="en-US" sz="2300" dirty="0">
                <a:solidFill>
                  <a:srgbClr val="000000"/>
                </a:solidFill>
              </a:rPr>
              <a:t>la opción </a:t>
            </a:r>
          </a:p>
          <a:p>
            <a:pPr marL="0" indent="0">
              <a:buNone/>
              <a:defRPr/>
            </a:pPr>
            <a:r>
              <a:rPr lang="es-AR" altLang="en-US" sz="2300" dirty="0">
                <a:solidFill>
                  <a:srgbClr val="000000"/>
                </a:solidFill>
              </a:rPr>
              <a:t>Por ejemplo, el que escribió la opción recibe dinero </a:t>
            </a:r>
            <a:r>
              <a:rPr lang="es-AR" altLang="en-US" sz="2300" i="1" dirty="0">
                <a:solidFill>
                  <a:srgbClr val="000000"/>
                </a:solidFill>
              </a:rPr>
              <a:t>up-</a:t>
            </a:r>
            <a:r>
              <a:rPr lang="es-AR" altLang="en-US" sz="2300" i="1" dirty="0" err="1">
                <a:solidFill>
                  <a:srgbClr val="000000"/>
                </a:solidFill>
              </a:rPr>
              <a:t>front</a:t>
            </a:r>
            <a:r>
              <a:rPr lang="es-AR" altLang="en-US" sz="2300" dirty="0">
                <a:solidFill>
                  <a:srgbClr val="000000"/>
                </a:solidFill>
              </a:rPr>
              <a:t>, pero tiene </a:t>
            </a:r>
            <a:r>
              <a:rPr lang="es-AR" altLang="en-US" sz="2300" b="1" dirty="0">
                <a:solidFill>
                  <a:srgbClr val="000000"/>
                </a:solidFill>
              </a:rPr>
              <a:t>potenciales riesgos</a:t>
            </a:r>
            <a:r>
              <a:rPr lang="es-AR" altLang="en-US" sz="2300" dirty="0">
                <a:solidFill>
                  <a:srgbClr val="000000"/>
                </a:solidFill>
              </a:rPr>
              <a:t>. Veamos el grafico de la ganancia del vendedor de la opción (escritor) con respecto al precio final del activo subyacente:</a:t>
            </a:r>
          </a:p>
          <a:p>
            <a:pPr marL="0" indent="0">
              <a:buNone/>
              <a:defRPr/>
            </a:pPr>
            <a:endParaRPr lang="es-AR" altLang="en-US" sz="2300" dirty="0">
              <a:solidFill>
                <a:srgbClr val="000000"/>
              </a:solidFill>
            </a:endParaRPr>
          </a:p>
          <a:p>
            <a:pPr marL="0" indent="0">
              <a:buNone/>
              <a:defRPr/>
            </a:pPr>
            <a:endParaRPr lang="es-AR" altLang="en-US" sz="2300" dirty="0">
              <a:solidFill>
                <a:srgbClr val="000000"/>
              </a:solidFill>
            </a:endParaRPr>
          </a:p>
          <a:p>
            <a:pPr eaLnBrk="1" hangingPunct="1">
              <a:defRPr/>
            </a:pPr>
            <a:endParaRPr lang="es-AR" altLang="en-US" sz="2300" dirty="0">
              <a:solidFill>
                <a:srgbClr val="000000"/>
              </a:solidFill>
              <a:latin typeface="+mj-lt"/>
            </a:endParaRPr>
          </a:p>
        </p:txBody>
      </p:sp>
      <p:pic>
        <p:nvPicPr>
          <p:cNvPr id="23556" name="Picture 1">
            <a:extLst>
              <a:ext uri="{FF2B5EF4-FFF2-40B4-BE49-F238E27FC236}">
                <a16:creationId xmlns:a16="http://schemas.microsoft.com/office/drawing/2014/main" id="{1240BF84-F7A9-4ABC-A3A7-A6E2234A0C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7794" y="4025901"/>
            <a:ext cx="4418012"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Box 3">
            <a:extLst>
              <a:ext uri="{FF2B5EF4-FFF2-40B4-BE49-F238E27FC236}">
                <a16:creationId xmlns:a16="http://schemas.microsoft.com/office/drawing/2014/main" id="{F3C1D8CA-46FE-480A-B9F3-6DB430B017DF}"/>
              </a:ext>
            </a:extLst>
          </p:cNvPr>
          <p:cNvSpPr txBox="1">
            <a:spLocks noChangeArrowheads="1"/>
          </p:cNvSpPr>
          <p:nvPr/>
        </p:nvSpPr>
        <p:spPr bwMode="auto">
          <a:xfrm>
            <a:off x="6229351" y="3865996"/>
            <a:ext cx="3978275"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0" fontAlgn="base" hangingPunct="0">
              <a:spcBef>
                <a:spcPct val="0"/>
              </a:spcBef>
              <a:spcAft>
                <a:spcPct val="0"/>
              </a:spcAft>
              <a:defRPr/>
            </a:pPr>
            <a:r>
              <a:rPr lang="es-AR" altLang="en-US" sz="2300" dirty="0">
                <a:solidFill>
                  <a:prstClr val="black"/>
                </a:solidFill>
                <a:latin typeface="Calibri" panose="020F0502020204030204"/>
              </a:rPr>
              <a:t>Ganancia luego de escribir una opción europea </a:t>
            </a:r>
            <a:r>
              <a:rPr lang="es-AR" altLang="en-US" sz="2300" i="1" dirty="0" err="1">
                <a:solidFill>
                  <a:prstClr val="black"/>
                </a:solidFill>
                <a:latin typeface="Calibri" panose="020F0502020204030204"/>
              </a:rPr>
              <a:t>call</a:t>
            </a:r>
            <a:r>
              <a:rPr lang="es-AR" altLang="en-US" sz="2300" dirty="0">
                <a:solidFill>
                  <a:prstClr val="black"/>
                </a:solidFill>
                <a:latin typeface="Calibri" panose="020F0502020204030204"/>
              </a:rPr>
              <a:t> .</a:t>
            </a:r>
          </a:p>
          <a:p>
            <a:pPr eaLnBrk="0" fontAlgn="base" hangingPunct="0">
              <a:spcBef>
                <a:spcPct val="0"/>
              </a:spcBef>
              <a:spcAft>
                <a:spcPct val="0"/>
              </a:spcAft>
              <a:defRPr/>
            </a:pPr>
            <a:r>
              <a:rPr lang="es-AR" altLang="en-US" sz="2300" dirty="0">
                <a:solidFill>
                  <a:prstClr val="black"/>
                </a:solidFill>
                <a:latin typeface="Calibri" panose="020F0502020204030204"/>
              </a:rPr>
              <a:t>Precio de la opción = 5$</a:t>
            </a:r>
          </a:p>
          <a:p>
            <a:pPr eaLnBrk="0" fontAlgn="base" hangingPunct="0">
              <a:spcBef>
                <a:spcPct val="0"/>
              </a:spcBef>
              <a:spcAft>
                <a:spcPct val="0"/>
              </a:spcAft>
              <a:defRPr/>
            </a:pPr>
            <a:r>
              <a:rPr lang="es-AR" altLang="en-US" sz="2300" dirty="0">
                <a:solidFill>
                  <a:prstClr val="black"/>
                </a:solidFill>
                <a:latin typeface="Calibri" panose="020F0502020204030204"/>
              </a:rPr>
              <a:t>Precio de ejercicio = 100$</a:t>
            </a:r>
          </a:p>
        </p:txBody>
      </p:sp>
      <p:sp>
        <p:nvSpPr>
          <p:cNvPr id="23558" name="TextBox 6">
            <a:extLst>
              <a:ext uri="{FF2B5EF4-FFF2-40B4-BE49-F238E27FC236}">
                <a16:creationId xmlns:a16="http://schemas.microsoft.com/office/drawing/2014/main" id="{7A4622F6-967E-4E32-B8BF-DEDF4CD11DB2}"/>
              </a:ext>
            </a:extLst>
          </p:cNvPr>
          <p:cNvSpPr txBox="1">
            <a:spLocks noChangeArrowheads="1"/>
          </p:cNvSpPr>
          <p:nvPr/>
        </p:nvSpPr>
        <p:spPr bwMode="auto">
          <a:xfrm>
            <a:off x="6242050" y="5265738"/>
            <a:ext cx="4243388"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0" fontAlgn="base" hangingPunct="0">
              <a:spcBef>
                <a:spcPct val="0"/>
              </a:spcBef>
              <a:spcAft>
                <a:spcPct val="0"/>
              </a:spcAft>
              <a:defRPr/>
            </a:pPr>
            <a:r>
              <a:rPr lang="es-AR" altLang="en-US" sz="2300" dirty="0">
                <a:solidFill>
                  <a:srgbClr val="000000"/>
                </a:solidFill>
                <a:latin typeface="Calibri" panose="020F0502020204030204"/>
              </a:rPr>
              <a:t>El escritor del </a:t>
            </a:r>
            <a:r>
              <a:rPr lang="es-AR" altLang="en-US" sz="2300" i="1" dirty="0" err="1">
                <a:solidFill>
                  <a:srgbClr val="000000"/>
                </a:solidFill>
                <a:latin typeface="Calibri" panose="020F0502020204030204"/>
              </a:rPr>
              <a:t>call</a:t>
            </a:r>
            <a:r>
              <a:rPr lang="es-AR" altLang="en-US" sz="2300" dirty="0">
                <a:solidFill>
                  <a:srgbClr val="000000"/>
                </a:solidFill>
                <a:latin typeface="Calibri" panose="020F0502020204030204"/>
              </a:rPr>
              <a:t> podría estar </a:t>
            </a:r>
            <a:r>
              <a:rPr lang="es-AR" altLang="en-US" sz="2300" i="1" dirty="0" err="1">
                <a:solidFill>
                  <a:srgbClr val="000000"/>
                </a:solidFill>
                <a:latin typeface="Calibri" panose="020F0502020204030204"/>
              </a:rPr>
              <a:t>long</a:t>
            </a:r>
            <a:r>
              <a:rPr lang="es-AR" altLang="en-US" sz="2300" dirty="0">
                <a:solidFill>
                  <a:srgbClr val="000000"/>
                </a:solidFill>
                <a:latin typeface="Calibri" panose="020F0502020204030204"/>
              </a:rPr>
              <a:t> el activo y se necesitaría cubrir ante una bajada del mismo</a:t>
            </a:r>
          </a:p>
        </p:txBody>
      </p:sp>
      <p:sp>
        <p:nvSpPr>
          <p:cNvPr id="11" name="Title 4">
            <a:extLst>
              <a:ext uri="{FF2B5EF4-FFF2-40B4-BE49-F238E27FC236}">
                <a16:creationId xmlns:a16="http://schemas.microsoft.com/office/drawing/2014/main" id="{0743D750-622C-4697-94FE-CA7D23174106}"/>
              </a:ext>
            </a:extLst>
          </p:cNvPr>
          <p:cNvSpPr txBox="1">
            <a:spLocks/>
          </p:cNvSpPr>
          <p:nvPr/>
        </p:nvSpPr>
        <p:spPr>
          <a:xfrm>
            <a:off x="1828800" y="1"/>
            <a:ext cx="8534400" cy="1103313"/>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endParaRPr lang="es-AR" sz="3200" kern="0" dirty="0">
              <a:solidFill>
                <a:srgbClr val="000000"/>
              </a:solidFill>
              <a:latin typeface="Calibri Light" panose="020F0302020204030204"/>
            </a:endParaRPr>
          </a:p>
          <a:p>
            <a:pPr>
              <a:defRPr/>
            </a:pPr>
            <a:r>
              <a:rPr lang="es-AR" sz="3200" kern="0" dirty="0">
                <a:solidFill>
                  <a:srgbClr val="000000"/>
                </a:solidFill>
                <a:latin typeface="Calibri Light" panose="020F0302020204030204"/>
              </a:rPr>
              <a:t>Posiciones de una opción (1/2)</a:t>
            </a:r>
            <a:endParaRPr lang="en-US" kern="0" dirty="0">
              <a:latin typeface="Calibri Light" panose="020F0302020204030204"/>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3">
            <a:extLst>
              <a:ext uri="{FF2B5EF4-FFF2-40B4-BE49-F238E27FC236}">
                <a16:creationId xmlns:a16="http://schemas.microsoft.com/office/drawing/2014/main" id="{5E4F974F-AC26-423F-8AB2-C60F7FD7742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eaLnBrk="0" fontAlgn="base" hangingPunct="0">
              <a:spcBef>
                <a:spcPct val="0"/>
              </a:spcBef>
              <a:spcAft>
                <a:spcPct val="0"/>
              </a:spcAft>
              <a:buClrTx/>
              <a:buNone/>
              <a:defRPr/>
            </a:pPr>
            <a:fld id="{C898449C-3F71-4D9C-A9EE-CF7EB9F53AC2}" type="slidenum">
              <a:rPr lang="en-US" altLang="en-US" sz="1400"/>
              <a:pPr algn="r" eaLnBrk="0" fontAlgn="base" hangingPunct="0">
                <a:spcBef>
                  <a:spcPct val="0"/>
                </a:spcBef>
                <a:spcAft>
                  <a:spcPct val="0"/>
                </a:spcAft>
                <a:buClrTx/>
                <a:buNone/>
                <a:defRPr/>
              </a:pPr>
              <a:t>36</a:t>
            </a:fld>
            <a:endParaRPr lang="en-US" altLang="en-US" sz="1400"/>
          </a:p>
        </p:txBody>
      </p:sp>
      <p:sp>
        <p:nvSpPr>
          <p:cNvPr id="25604" name="TextBox 4">
            <a:extLst>
              <a:ext uri="{FF2B5EF4-FFF2-40B4-BE49-F238E27FC236}">
                <a16:creationId xmlns:a16="http://schemas.microsoft.com/office/drawing/2014/main" id="{E6C15B46-FBAC-4E92-AF96-9272E0CA37C0}"/>
              </a:ext>
            </a:extLst>
          </p:cNvPr>
          <p:cNvSpPr txBox="1">
            <a:spLocks noChangeArrowheads="1"/>
          </p:cNvSpPr>
          <p:nvPr/>
        </p:nvSpPr>
        <p:spPr bwMode="auto">
          <a:xfrm>
            <a:off x="6414520" y="2941638"/>
            <a:ext cx="3978275"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0" fontAlgn="base" hangingPunct="0">
              <a:spcBef>
                <a:spcPct val="0"/>
              </a:spcBef>
              <a:spcAft>
                <a:spcPct val="0"/>
              </a:spcAft>
              <a:defRPr/>
            </a:pPr>
            <a:r>
              <a:rPr lang="es-AR" altLang="en-US" sz="2300" dirty="0">
                <a:solidFill>
                  <a:prstClr val="black"/>
                </a:solidFill>
                <a:latin typeface="Calibri" panose="020F0502020204030204"/>
              </a:rPr>
              <a:t>Ganancia luego de escribir una opción europea </a:t>
            </a:r>
            <a:r>
              <a:rPr lang="es-AR" altLang="en-US" sz="2300" i="1" dirty="0" err="1">
                <a:solidFill>
                  <a:prstClr val="black"/>
                </a:solidFill>
                <a:latin typeface="Calibri" panose="020F0502020204030204"/>
              </a:rPr>
              <a:t>put</a:t>
            </a:r>
            <a:r>
              <a:rPr lang="es-AR" altLang="en-US" sz="2300" dirty="0">
                <a:solidFill>
                  <a:prstClr val="black"/>
                </a:solidFill>
                <a:latin typeface="Calibri" panose="020F0502020204030204"/>
              </a:rPr>
              <a:t>.</a:t>
            </a:r>
          </a:p>
          <a:p>
            <a:pPr eaLnBrk="0" fontAlgn="base" hangingPunct="0">
              <a:spcBef>
                <a:spcPct val="0"/>
              </a:spcBef>
              <a:spcAft>
                <a:spcPct val="0"/>
              </a:spcAft>
              <a:defRPr/>
            </a:pPr>
            <a:endParaRPr lang="es-AR" altLang="en-US" sz="2300" dirty="0">
              <a:solidFill>
                <a:prstClr val="black"/>
              </a:solidFill>
              <a:latin typeface="Calibri" panose="020F0502020204030204"/>
            </a:endParaRPr>
          </a:p>
          <a:p>
            <a:pPr eaLnBrk="0" fontAlgn="base" hangingPunct="0">
              <a:spcBef>
                <a:spcPct val="0"/>
              </a:spcBef>
              <a:spcAft>
                <a:spcPct val="0"/>
              </a:spcAft>
              <a:defRPr/>
            </a:pPr>
            <a:r>
              <a:rPr lang="es-AR" altLang="en-US" sz="2300" dirty="0">
                <a:solidFill>
                  <a:prstClr val="black"/>
                </a:solidFill>
                <a:latin typeface="Calibri" panose="020F0502020204030204"/>
              </a:rPr>
              <a:t>Precio de la opción = 7$</a:t>
            </a:r>
          </a:p>
          <a:p>
            <a:pPr eaLnBrk="0" fontAlgn="base" hangingPunct="0">
              <a:spcBef>
                <a:spcPct val="0"/>
              </a:spcBef>
              <a:spcAft>
                <a:spcPct val="0"/>
              </a:spcAft>
              <a:defRPr/>
            </a:pPr>
            <a:r>
              <a:rPr lang="es-AR" altLang="en-US" sz="2300" dirty="0">
                <a:solidFill>
                  <a:prstClr val="black"/>
                </a:solidFill>
                <a:latin typeface="Calibri" panose="020F0502020204030204"/>
              </a:rPr>
              <a:t>Precio de ejercicio = 70$</a:t>
            </a:r>
          </a:p>
        </p:txBody>
      </p:sp>
      <p:sp>
        <p:nvSpPr>
          <p:cNvPr id="25605" name="TextBox 5">
            <a:extLst>
              <a:ext uri="{FF2B5EF4-FFF2-40B4-BE49-F238E27FC236}">
                <a16:creationId xmlns:a16="http://schemas.microsoft.com/office/drawing/2014/main" id="{7336DAFF-19E4-4B0A-A61C-E943EEB47E6A}"/>
              </a:ext>
            </a:extLst>
          </p:cNvPr>
          <p:cNvSpPr txBox="1">
            <a:spLocks noChangeArrowheads="1"/>
          </p:cNvSpPr>
          <p:nvPr/>
        </p:nvSpPr>
        <p:spPr bwMode="auto">
          <a:xfrm>
            <a:off x="6249466" y="4891744"/>
            <a:ext cx="4239022"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0" fontAlgn="base" hangingPunct="0">
              <a:spcBef>
                <a:spcPct val="0"/>
              </a:spcBef>
              <a:spcAft>
                <a:spcPct val="0"/>
              </a:spcAft>
              <a:defRPr/>
            </a:pPr>
            <a:r>
              <a:rPr lang="es-AR" altLang="en-US" sz="2300" dirty="0">
                <a:solidFill>
                  <a:srgbClr val="000000"/>
                </a:solidFill>
                <a:latin typeface="Calibri" panose="020F0502020204030204"/>
              </a:rPr>
              <a:t>El escritor del </a:t>
            </a:r>
            <a:r>
              <a:rPr lang="es-AR" altLang="en-US" sz="2300" i="1" dirty="0" err="1">
                <a:solidFill>
                  <a:srgbClr val="000000"/>
                </a:solidFill>
                <a:latin typeface="Calibri" panose="020F0502020204030204"/>
              </a:rPr>
              <a:t>put</a:t>
            </a:r>
            <a:r>
              <a:rPr lang="es-AR" altLang="en-US" sz="2300" dirty="0">
                <a:solidFill>
                  <a:srgbClr val="000000"/>
                </a:solidFill>
                <a:latin typeface="Calibri" panose="020F0502020204030204"/>
              </a:rPr>
              <a:t> podría estar SHORT el activo y se necesitaría cubrir ante una subida del mismo</a:t>
            </a:r>
          </a:p>
        </p:txBody>
      </p:sp>
      <p:sp>
        <p:nvSpPr>
          <p:cNvPr id="7" name="Rectangle 6">
            <a:extLst>
              <a:ext uri="{FF2B5EF4-FFF2-40B4-BE49-F238E27FC236}">
                <a16:creationId xmlns:a16="http://schemas.microsoft.com/office/drawing/2014/main" id="{379EE3F2-1154-4E5D-B710-17E99426FF21}"/>
              </a:ext>
            </a:extLst>
          </p:cNvPr>
          <p:cNvSpPr/>
          <p:nvPr/>
        </p:nvSpPr>
        <p:spPr>
          <a:xfrm>
            <a:off x="2063751" y="1268414"/>
            <a:ext cx="8208963" cy="1508125"/>
          </a:xfrm>
          <a:prstGeom prst="rect">
            <a:avLst/>
          </a:prstGeom>
        </p:spPr>
        <p:txBody>
          <a:bodyPr>
            <a:spAutoFit/>
          </a:bodyPr>
          <a:lstStyle/>
          <a:p>
            <a:pPr eaLnBrk="0" fontAlgn="base" hangingPunct="0">
              <a:spcBef>
                <a:spcPct val="0"/>
              </a:spcBef>
              <a:spcAft>
                <a:spcPct val="0"/>
              </a:spcAft>
              <a:defRPr/>
            </a:pPr>
            <a:r>
              <a:rPr lang="es-AR" altLang="en-US" sz="2300" dirty="0">
                <a:solidFill>
                  <a:srgbClr val="000000"/>
                </a:solidFill>
                <a:latin typeface="Calibri" panose="020F0502020204030204"/>
              </a:rPr>
              <a:t>El escritor de una </a:t>
            </a:r>
            <a:r>
              <a:rPr lang="es-AR" altLang="en-US" sz="2300" i="1" dirty="0" err="1">
                <a:solidFill>
                  <a:srgbClr val="000000"/>
                </a:solidFill>
                <a:latin typeface="Calibri" panose="020F0502020204030204"/>
              </a:rPr>
              <a:t>put</a:t>
            </a:r>
            <a:r>
              <a:rPr lang="es-AR" altLang="en-US" sz="2300" dirty="0">
                <a:solidFill>
                  <a:srgbClr val="000000"/>
                </a:solidFill>
                <a:latin typeface="Calibri" panose="020F0502020204030204"/>
              </a:rPr>
              <a:t> Europea, en cambio también recibe dinero </a:t>
            </a:r>
            <a:r>
              <a:rPr lang="es-AR" altLang="en-US" sz="2300" i="1" dirty="0">
                <a:solidFill>
                  <a:srgbClr val="000000"/>
                </a:solidFill>
                <a:latin typeface="Calibri" panose="020F0502020204030204"/>
              </a:rPr>
              <a:t>up-</a:t>
            </a:r>
            <a:r>
              <a:rPr lang="es-AR" altLang="en-US" sz="2300" i="1" dirty="0" err="1">
                <a:solidFill>
                  <a:srgbClr val="000000"/>
                </a:solidFill>
                <a:latin typeface="Calibri" panose="020F0502020204030204"/>
              </a:rPr>
              <a:t>front</a:t>
            </a:r>
            <a:r>
              <a:rPr lang="es-AR" altLang="en-US" sz="2300" dirty="0">
                <a:solidFill>
                  <a:srgbClr val="000000"/>
                </a:solidFill>
                <a:latin typeface="Calibri" panose="020F0502020204030204"/>
              </a:rPr>
              <a:t>, pero tiene potenciales riesgos (de diferente naturaleza que el escritor del </a:t>
            </a:r>
            <a:r>
              <a:rPr lang="es-AR" altLang="en-US" sz="2300" i="1" dirty="0" err="1">
                <a:solidFill>
                  <a:srgbClr val="000000"/>
                </a:solidFill>
                <a:latin typeface="Calibri" panose="020F0502020204030204"/>
              </a:rPr>
              <a:t>call</a:t>
            </a:r>
            <a:r>
              <a:rPr lang="es-AR" altLang="en-US" sz="2300" dirty="0">
                <a:solidFill>
                  <a:srgbClr val="000000"/>
                </a:solidFill>
                <a:latin typeface="Calibri" panose="020F0502020204030204"/>
              </a:rPr>
              <a:t>). Veamos el grafico de la </a:t>
            </a:r>
            <a:r>
              <a:rPr lang="es-AR" altLang="en-US" sz="2300" b="1" dirty="0">
                <a:solidFill>
                  <a:prstClr val="black">
                    <a:lumMod val="60000"/>
                    <a:lumOff val="40000"/>
                  </a:prstClr>
                </a:solidFill>
                <a:latin typeface="Calibri" panose="020F0502020204030204"/>
              </a:rPr>
              <a:t>ganancia del vendedor de la </a:t>
            </a:r>
            <a:r>
              <a:rPr lang="es-AR" altLang="en-US" sz="2300" b="1" i="1" dirty="0" err="1">
                <a:solidFill>
                  <a:prstClr val="black">
                    <a:lumMod val="60000"/>
                    <a:lumOff val="40000"/>
                  </a:prstClr>
                </a:solidFill>
                <a:latin typeface="Calibri" panose="020F0502020204030204"/>
              </a:rPr>
              <a:t>put</a:t>
            </a:r>
            <a:r>
              <a:rPr lang="es-AR" altLang="en-US" sz="2300" dirty="0">
                <a:solidFill>
                  <a:srgbClr val="000000"/>
                </a:solidFill>
                <a:latin typeface="Calibri" panose="020F0502020204030204"/>
              </a:rPr>
              <a:t> (escritor) con respecto al precio final del activo </a:t>
            </a:r>
            <a:endParaRPr lang="en-US" sz="2300" dirty="0">
              <a:solidFill>
                <a:srgbClr val="000000"/>
              </a:solidFill>
              <a:latin typeface="Calibri" panose="020F0502020204030204"/>
            </a:endParaRPr>
          </a:p>
        </p:txBody>
      </p:sp>
      <p:pic>
        <p:nvPicPr>
          <p:cNvPr id="25607" name="Picture 7">
            <a:extLst>
              <a:ext uri="{FF2B5EF4-FFF2-40B4-BE49-F238E27FC236}">
                <a16:creationId xmlns:a16="http://schemas.microsoft.com/office/drawing/2014/main" id="{1742AA06-F2C6-4DFD-97F4-92DA14977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4864" y="3429000"/>
            <a:ext cx="402907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4">
            <a:extLst>
              <a:ext uri="{FF2B5EF4-FFF2-40B4-BE49-F238E27FC236}">
                <a16:creationId xmlns:a16="http://schemas.microsoft.com/office/drawing/2014/main" id="{1341A61F-48A0-43D5-9758-EF38256663D5}"/>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latin typeface="Calibri Light" panose="020F0302020204030204"/>
              </a:rPr>
            </a:br>
            <a:r>
              <a:rPr lang="es-AR" sz="3200" kern="0" dirty="0">
                <a:solidFill>
                  <a:srgbClr val="000000"/>
                </a:solidFill>
                <a:latin typeface="Calibri Light" panose="020F0302020204030204"/>
              </a:rPr>
              <a:t>Posiciones de una opción (2/2)</a:t>
            </a:r>
            <a:br>
              <a:rPr lang="es-AR" altLang="en-US" kern="0" dirty="0">
                <a:solidFill>
                  <a:srgbClr val="000000"/>
                </a:solidFill>
                <a:latin typeface="Calibri Light" panose="020F0302020204030204"/>
              </a:rPr>
            </a:br>
            <a:endParaRPr lang="en-US" kern="0" dirty="0">
              <a:latin typeface="Calibri Light" panose="020F03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C3AE353-1A97-4D31-94C3-DCAD0AEB1446}"/>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a:solidFill>
                  <a:srgbClr val="000000"/>
                </a:solidFill>
                <a:latin typeface="Calibri Light" panose="020F0302020204030204"/>
              </a:rPr>
            </a:br>
            <a:r>
              <a:rPr lang="es-AR" sz="3200" i="1" kern="0">
                <a:solidFill>
                  <a:srgbClr val="000000"/>
                </a:solidFill>
                <a:latin typeface="Calibri Light" panose="020F0302020204030204"/>
              </a:rPr>
              <a:t>Payoffs </a:t>
            </a:r>
            <a:r>
              <a:rPr lang="es-AR" sz="3200" kern="0">
                <a:solidFill>
                  <a:srgbClr val="000000"/>
                </a:solidFill>
                <a:latin typeface="Calibri Light" panose="020F0302020204030204"/>
              </a:rPr>
              <a:t>(1/3)</a:t>
            </a:r>
            <a:br>
              <a:rPr lang="es-AR" altLang="en-US" kern="0">
                <a:solidFill>
                  <a:srgbClr val="000000"/>
                </a:solidFill>
                <a:latin typeface="Calibri Light" panose="020F0302020204030204"/>
              </a:rPr>
            </a:br>
            <a:endParaRPr lang="en-US" kern="0" dirty="0">
              <a:latin typeface="Calibri Light" panose="020F0302020204030204"/>
            </a:endParaRPr>
          </a:p>
        </p:txBody>
      </p:sp>
      <p:sp>
        <p:nvSpPr>
          <p:cNvPr id="5" name="Rectangle 3">
            <a:extLst>
              <a:ext uri="{FF2B5EF4-FFF2-40B4-BE49-F238E27FC236}">
                <a16:creationId xmlns:a16="http://schemas.microsoft.com/office/drawing/2014/main" id="{2B7CEEBC-2392-41BD-8F16-7C7AB34D61D8}"/>
              </a:ext>
            </a:extLst>
          </p:cNvPr>
          <p:cNvSpPr txBox="1">
            <a:spLocks noChangeArrowheads="1"/>
          </p:cNvSpPr>
          <p:nvPr/>
        </p:nvSpPr>
        <p:spPr bwMode="auto">
          <a:xfrm>
            <a:off x="1919288" y="1268413"/>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eaLnBrk="1" hangingPunct="1">
              <a:buClr>
                <a:srgbClr val="954F72"/>
              </a:buClr>
              <a:buNone/>
              <a:defRPr/>
            </a:pPr>
            <a:r>
              <a:rPr lang="es-AR" altLang="en-US" sz="2300" kern="0" dirty="0">
                <a:solidFill>
                  <a:srgbClr val="000000"/>
                </a:solidFill>
                <a:latin typeface="Calibri" panose="020F0502020204030204"/>
              </a:rPr>
              <a:t>Hay </a:t>
            </a:r>
            <a:r>
              <a:rPr lang="es-AR" altLang="en-US" sz="2300" b="1" kern="0" dirty="0">
                <a:solidFill>
                  <a:prstClr val="black">
                    <a:lumMod val="60000"/>
                    <a:lumOff val="40000"/>
                  </a:prstClr>
                </a:solidFill>
                <a:latin typeface="Calibri" panose="020F0502020204030204"/>
              </a:rPr>
              <a:t>4 posiciones </a:t>
            </a:r>
            <a:r>
              <a:rPr lang="es-AR" altLang="en-US" sz="2300" kern="0" dirty="0">
                <a:solidFill>
                  <a:srgbClr val="000000"/>
                </a:solidFill>
                <a:latin typeface="Calibri" panose="020F0502020204030204"/>
              </a:rPr>
              <a:t>básicas con opciones:</a:t>
            </a:r>
          </a:p>
          <a:p>
            <a:pPr marL="0" indent="0" eaLnBrk="1" hangingPunct="1">
              <a:buClr>
                <a:srgbClr val="954F72"/>
              </a:buClr>
              <a:buNone/>
              <a:defRPr/>
            </a:pPr>
            <a:endParaRPr lang="es-AR" altLang="en-US" sz="2300"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Long</a:t>
            </a:r>
            <a:r>
              <a:rPr lang="es-AR" altLang="en-US" sz="2300" kern="0" dirty="0">
                <a:solidFill>
                  <a:srgbClr val="000000"/>
                </a:solidFill>
                <a:latin typeface="Calibri" panose="020F0502020204030204"/>
              </a:rPr>
              <a:t> en un </a:t>
            </a:r>
            <a:r>
              <a:rPr lang="es-AR" altLang="en-US" sz="2300" i="1" kern="0" dirty="0" err="1">
                <a:solidFill>
                  <a:srgbClr val="000000"/>
                </a:solidFill>
                <a:latin typeface="Calibri" panose="020F0502020204030204"/>
              </a:rPr>
              <a:t>call</a:t>
            </a:r>
            <a:endParaRPr lang="es-AR" altLang="en-US" sz="2300" i="1" kern="0" dirty="0">
              <a:solidFill>
                <a:srgbClr val="000000"/>
              </a:solidFill>
              <a:latin typeface="Calibri" panose="020F0502020204030204"/>
            </a:endParaRPr>
          </a:p>
          <a:p>
            <a:pPr eaLnBrk="1" hangingPunct="1">
              <a:buClr>
                <a:srgbClr val="954F72"/>
              </a:buClr>
              <a:defRPr/>
            </a:pPr>
            <a:endParaRPr lang="es-AR" altLang="en-US" sz="2300"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Long en un </a:t>
            </a:r>
            <a:r>
              <a:rPr lang="es-AR" altLang="en-US" sz="2300" i="1" kern="0" dirty="0" err="1">
                <a:solidFill>
                  <a:srgbClr val="000000"/>
                </a:solidFill>
                <a:latin typeface="Calibri" panose="020F0502020204030204"/>
              </a:rPr>
              <a:t>put</a:t>
            </a:r>
            <a:endParaRPr lang="es-AR" altLang="en-US" sz="2300" i="1" kern="0" dirty="0">
              <a:solidFill>
                <a:srgbClr val="000000"/>
              </a:solidFill>
              <a:latin typeface="Calibri" panose="020F0502020204030204"/>
            </a:endParaRPr>
          </a:p>
          <a:p>
            <a:pPr eaLnBrk="1" hangingPunct="1">
              <a:buClr>
                <a:srgbClr val="954F72"/>
              </a:buClr>
              <a:defRPr/>
            </a:pPr>
            <a:endParaRPr lang="es-AR" altLang="en-US" sz="2300" i="1"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Short en un </a:t>
            </a:r>
            <a:r>
              <a:rPr lang="es-AR" altLang="en-US" sz="2300" i="1" kern="0" dirty="0" err="1">
                <a:solidFill>
                  <a:srgbClr val="000000"/>
                </a:solidFill>
                <a:latin typeface="Calibri" panose="020F0502020204030204"/>
              </a:rPr>
              <a:t>call</a:t>
            </a:r>
            <a:endParaRPr lang="es-AR" altLang="en-US" sz="2300" i="1" kern="0" dirty="0">
              <a:solidFill>
                <a:srgbClr val="000000"/>
              </a:solidFill>
              <a:latin typeface="Calibri" panose="020F0502020204030204"/>
            </a:endParaRPr>
          </a:p>
          <a:p>
            <a:pPr eaLnBrk="1" hangingPunct="1">
              <a:buClr>
                <a:srgbClr val="954F72"/>
              </a:buClr>
              <a:defRPr/>
            </a:pPr>
            <a:endParaRPr lang="es-AR" altLang="en-US" sz="2300" i="1"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Short en un </a:t>
            </a:r>
            <a:r>
              <a:rPr lang="es-AR" altLang="en-US" sz="2300" i="1" kern="0" dirty="0" err="1">
                <a:solidFill>
                  <a:srgbClr val="000000"/>
                </a:solidFill>
                <a:latin typeface="Calibri" panose="020F0502020204030204"/>
              </a:rPr>
              <a:t>put</a:t>
            </a:r>
            <a:endParaRPr lang="es-AR" altLang="en-US" sz="2300" i="1" kern="0" dirty="0">
              <a:solidFill>
                <a:srgbClr val="000000"/>
              </a:solidFill>
              <a:latin typeface="Calibri" panose="020F0502020204030204"/>
            </a:endParaRPr>
          </a:p>
          <a:p>
            <a:pPr marL="0" indent="0" eaLnBrk="1" hangingPunct="1">
              <a:buClr>
                <a:srgbClr val="954F72"/>
              </a:buClr>
              <a:buNone/>
              <a:defRPr/>
            </a:pPr>
            <a:endParaRPr lang="es-AR" altLang="en-US" sz="2300" kern="0" dirty="0">
              <a:solidFill>
                <a:srgbClr val="000000"/>
              </a:solidFill>
              <a:latin typeface="Calibri" panose="020F0502020204030204"/>
            </a:endParaRPr>
          </a:p>
          <a:p>
            <a:pPr marL="0" indent="0" eaLnBrk="1" hangingPunct="1">
              <a:buClr>
                <a:srgbClr val="954F72"/>
              </a:buClr>
              <a:buNone/>
              <a:defRPr/>
            </a:pPr>
            <a:r>
              <a:rPr lang="es-AR" altLang="en-US" sz="2300" kern="0" dirty="0">
                <a:solidFill>
                  <a:srgbClr val="000000"/>
                </a:solidFill>
                <a:latin typeface="Calibri" panose="020F0502020204030204"/>
              </a:rPr>
              <a:t>Pensemos por un momento </a:t>
            </a:r>
            <a:r>
              <a:rPr lang="es-AR" altLang="en-US" sz="2300" b="1" kern="0" dirty="0">
                <a:solidFill>
                  <a:prstClr val="black">
                    <a:lumMod val="60000"/>
                    <a:lumOff val="40000"/>
                  </a:prstClr>
                </a:solidFill>
                <a:latin typeface="Calibri" panose="020F0502020204030204"/>
              </a:rPr>
              <a:t>por que </a:t>
            </a:r>
            <a:r>
              <a:rPr lang="es-AR" altLang="en-US" sz="2300" kern="0" dirty="0">
                <a:solidFill>
                  <a:srgbClr val="000000"/>
                </a:solidFill>
                <a:latin typeface="Calibri" panose="020F0502020204030204"/>
              </a:rPr>
              <a:t>un inversor tomaría alguna de las posiciones anteriores</a:t>
            </a:r>
          </a:p>
          <a:p>
            <a:pPr marL="0" indent="0" eaLnBrk="1" hangingPunct="1">
              <a:buClr>
                <a:srgbClr val="954F72"/>
              </a:buClr>
              <a:buNone/>
              <a:defRPr/>
            </a:pPr>
            <a:endParaRPr lang="es-AR" altLang="en-US" sz="2300" kern="0" dirty="0">
              <a:solidFill>
                <a:srgbClr val="000000"/>
              </a:solidFill>
              <a:latin typeface="Calibri" panose="020F0502020204030204"/>
            </a:endParaRPr>
          </a:p>
          <a:p>
            <a:pPr marL="0" indent="0" eaLnBrk="1" hangingPunct="1">
              <a:buClr>
                <a:srgbClr val="954F72"/>
              </a:buClr>
              <a:buNone/>
              <a:defRPr/>
            </a:pPr>
            <a:endParaRPr lang="es-AR" altLang="en-US" sz="2300" kern="0" dirty="0">
              <a:solidFill>
                <a:srgbClr val="000000"/>
              </a:solidFill>
              <a:latin typeface="Calibri" panose="020F0502020204030204"/>
            </a:endParaRPr>
          </a:p>
          <a:p>
            <a:pPr eaLnBrk="1" hangingPunct="1">
              <a:buClr>
                <a:srgbClr val="954F72"/>
              </a:buClr>
              <a:defRPr/>
            </a:pPr>
            <a:endParaRPr lang="es-AR" altLang="en-US" sz="2300" kern="0" dirty="0">
              <a:solidFill>
                <a:srgbClr val="000000"/>
              </a:solidFill>
              <a:latin typeface="Calibri Light" panose="020F03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C3AE353-1A97-4D31-94C3-DCAD0AEB1446}"/>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latin typeface="Calibri Light" panose="020F0302020204030204"/>
              </a:rPr>
            </a:br>
            <a:r>
              <a:rPr lang="es-AR" sz="3200" i="1" kern="0" dirty="0" err="1">
                <a:solidFill>
                  <a:srgbClr val="000000"/>
                </a:solidFill>
                <a:latin typeface="Calibri Light" panose="020F0302020204030204"/>
              </a:rPr>
              <a:t>Payoffs</a:t>
            </a:r>
            <a:r>
              <a:rPr lang="es-AR" sz="3200" kern="0" dirty="0">
                <a:solidFill>
                  <a:srgbClr val="000000"/>
                </a:solidFill>
                <a:latin typeface="Calibri Light" panose="020F0302020204030204"/>
              </a:rPr>
              <a:t> (2/3)</a:t>
            </a:r>
            <a:endParaRPr lang="en-US" sz="3200" kern="0" dirty="0">
              <a:latin typeface="Calibri Light" panose="020F0302020204030204"/>
            </a:endParaRPr>
          </a:p>
        </p:txBody>
      </p:sp>
      <p:sp>
        <p:nvSpPr>
          <p:cNvPr id="6" name="Rectangle 3">
            <a:extLst>
              <a:ext uri="{FF2B5EF4-FFF2-40B4-BE49-F238E27FC236}">
                <a16:creationId xmlns:a16="http://schemas.microsoft.com/office/drawing/2014/main" id="{00912394-3A78-47AC-BCEB-16485D7B6BE3}"/>
              </a:ext>
            </a:extLst>
          </p:cNvPr>
          <p:cNvSpPr txBox="1">
            <a:spLocks noChangeArrowheads="1"/>
          </p:cNvSpPr>
          <p:nvPr/>
        </p:nvSpPr>
        <p:spPr bwMode="auto">
          <a:xfrm>
            <a:off x="1919288" y="1268413"/>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eaLnBrk="1" hangingPunct="1">
              <a:buClr>
                <a:srgbClr val="954F72"/>
              </a:buClr>
              <a:buNone/>
              <a:defRPr/>
            </a:pPr>
            <a:r>
              <a:rPr lang="es-AR" altLang="en-US" sz="2300" kern="0" dirty="0">
                <a:solidFill>
                  <a:srgbClr val="000000"/>
                </a:solidFill>
                <a:latin typeface="Calibri" panose="020F0502020204030204"/>
              </a:rPr>
              <a:t>Veamos el </a:t>
            </a:r>
            <a:r>
              <a:rPr lang="es-AR" altLang="en-US" sz="2300" i="1" kern="0" dirty="0" err="1">
                <a:solidFill>
                  <a:srgbClr val="000000"/>
                </a:solidFill>
                <a:latin typeface="Calibri" panose="020F0502020204030204"/>
              </a:rPr>
              <a:t>payoff</a:t>
            </a:r>
            <a:r>
              <a:rPr lang="es-AR" altLang="en-US" sz="2300" kern="0" dirty="0">
                <a:solidFill>
                  <a:srgbClr val="000000"/>
                </a:solidFill>
                <a:latin typeface="Calibri" panose="020F0502020204030204"/>
              </a:rPr>
              <a:t> de cada una de estas posiciones:</a:t>
            </a:r>
          </a:p>
          <a:p>
            <a:pPr eaLnBrk="1" hangingPunct="1">
              <a:buClr>
                <a:srgbClr val="954F72"/>
              </a:buClr>
              <a:defRPr/>
            </a:pPr>
            <a:endParaRPr lang="es-AR" altLang="en-US" sz="2300"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Long</a:t>
            </a:r>
            <a:r>
              <a:rPr lang="es-AR" altLang="en-US" sz="2300" kern="0" dirty="0">
                <a:solidFill>
                  <a:srgbClr val="000000"/>
                </a:solidFill>
                <a:latin typeface="Calibri" panose="020F0502020204030204"/>
              </a:rPr>
              <a:t> en un </a:t>
            </a:r>
            <a:r>
              <a:rPr lang="es-AR" altLang="en-US" sz="2300" i="1" kern="0" dirty="0" err="1">
                <a:solidFill>
                  <a:srgbClr val="000000"/>
                </a:solidFill>
                <a:latin typeface="Calibri" panose="020F0502020204030204"/>
              </a:rPr>
              <a:t>call</a:t>
            </a:r>
            <a:r>
              <a:rPr lang="es-AR" altLang="en-US" sz="2300" kern="0" dirty="0">
                <a:solidFill>
                  <a:srgbClr val="000000"/>
                </a:solidFill>
                <a:latin typeface="Calibri" panose="020F0502020204030204"/>
              </a:rPr>
              <a:t>:</a:t>
            </a:r>
          </a:p>
          <a:p>
            <a:pPr eaLnBrk="1" hangingPunct="1">
              <a:buClr>
                <a:srgbClr val="954F72"/>
              </a:buClr>
              <a:defRPr/>
            </a:pPr>
            <a:endParaRPr lang="es-AR" altLang="en-US" sz="2300"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Long</a:t>
            </a:r>
            <a:r>
              <a:rPr lang="es-AR" altLang="en-US" sz="2300" kern="0" dirty="0">
                <a:solidFill>
                  <a:srgbClr val="000000"/>
                </a:solidFill>
                <a:latin typeface="Calibri" panose="020F0502020204030204"/>
              </a:rPr>
              <a:t> en un </a:t>
            </a:r>
            <a:r>
              <a:rPr lang="es-AR" altLang="en-US" sz="2300" i="1" kern="0" dirty="0" err="1">
                <a:solidFill>
                  <a:srgbClr val="000000"/>
                </a:solidFill>
                <a:latin typeface="Calibri" panose="020F0502020204030204"/>
              </a:rPr>
              <a:t>put</a:t>
            </a:r>
            <a:r>
              <a:rPr lang="es-AR" altLang="en-US" sz="2300" kern="0" dirty="0">
                <a:solidFill>
                  <a:srgbClr val="000000"/>
                </a:solidFill>
                <a:latin typeface="Calibri" panose="020F0502020204030204"/>
              </a:rPr>
              <a:t>:</a:t>
            </a:r>
          </a:p>
          <a:p>
            <a:pPr eaLnBrk="1" hangingPunct="1">
              <a:buClr>
                <a:srgbClr val="954F72"/>
              </a:buClr>
              <a:defRPr/>
            </a:pPr>
            <a:endParaRPr lang="es-AR" altLang="en-US" sz="2300"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Short</a:t>
            </a:r>
            <a:r>
              <a:rPr lang="es-AR" altLang="en-US" sz="2300" kern="0" dirty="0">
                <a:solidFill>
                  <a:srgbClr val="000000"/>
                </a:solidFill>
                <a:latin typeface="Calibri" panose="020F0502020204030204"/>
              </a:rPr>
              <a:t> en un </a:t>
            </a:r>
            <a:r>
              <a:rPr lang="es-AR" altLang="en-US" sz="2300" i="1" kern="0" dirty="0" err="1">
                <a:solidFill>
                  <a:srgbClr val="000000"/>
                </a:solidFill>
                <a:latin typeface="Calibri" panose="020F0502020204030204"/>
              </a:rPr>
              <a:t>call</a:t>
            </a:r>
            <a:r>
              <a:rPr lang="es-AR" altLang="en-US" sz="2300" kern="0" dirty="0">
                <a:solidFill>
                  <a:srgbClr val="000000"/>
                </a:solidFill>
                <a:latin typeface="Calibri" panose="020F0502020204030204"/>
              </a:rPr>
              <a:t>:</a:t>
            </a:r>
          </a:p>
          <a:p>
            <a:pPr eaLnBrk="1" hangingPunct="1">
              <a:buClr>
                <a:srgbClr val="954F72"/>
              </a:buClr>
              <a:defRPr/>
            </a:pPr>
            <a:endParaRPr lang="es-AR" altLang="en-US" sz="2300" kern="0" dirty="0">
              <a:solidFill>
                <a:srgbClr val="000000"/>
              </a:solidFill>
              <a:latin typeface="Calibri" panose="020F0502020204030204"/>
            </a:endParaRPr>
          </a:p>
          <a:p>
            <a:pPr eaLnBrk="1" hangingPunct="1">
              <a:buClr>
                <a:srgbClr val="954F72"/>
              </a:buClr>
              <a:defRPr/>
            </a:pPr>
            <a:r>
              <a:rPr lang="es-AR" altLang="en-US" sz="2300" i="1" kern="0" dirty="0">
                <a:solidFill>
                  <a:srgbClr val="000000"/>
                </a:solidFill>
                <a:latin typeface="Calibri" panose="020F0502020204030204"/>
              </a:rPr>
              <a:t>Short</a:t>
            </a:r>
            <a:r>
              <a:rPr lang="es-AR" altLang="en-US" sz="2300" kern="0" dirty="0">
                <a:solidFill>
                  <a:srgbClr val="000000"/>
                </a:solidFill>
                <a:latin typeface="Calibri" panose="020F0502020204030204"/>
              </a:rPr>
              <a:t> en un </a:t>
            </a:r>
            <a:r>
              <a:rPr lang="es-AR" altLang="en-US" sz="2300" i="1" kern="0" dirty="0" err="1">
                <a:solidFill>
                  <a:srgbClr val="000000"/>
                </a:solidFill>
                <a:latin typeface="Calibri" panose="020F0502020204030204"/>
              </a:rPr>
              <a:t>put</a:t>
            </a:r>
            <a:r>
              <a:rPr lang="es-AR" altLang="en-US" sz="2300" kern="0" dirty="0">
                <a:solidFill>
                  <a:srgbClr val="000000"/>
                </a:solidFill>
                <a:latin typeface="Calibri" panose="020F0502020204030204"/>
              </a:rPr>
              <a:t>:</a:t>
            </a:r>
          </a:p>
          <a:p>
            <a:pPr eaLnBrk="1" hangingPunct="1">
              <a:buClr>
                <a:srgbClr val="954F72"/>
              </a:buClr>
              <a:defRPr/>
            </a:pPr>
            <a:endParaRPr lang="es-AR" altLang="en-US" sz="2300" kern="0" dirty="0">
              <a:solidFill>
                <a:srgbClr val="000000"/>
              </a:solidFill>
              <a:latin typeface="Calibri" panose="020F0502020204030204"/>
            </a:endParaRPr>
          </a:p>
          <a:p>
            <a:pPr marL="0" indent="0" eaLnBrk="1" hangingPunct="1">
              <a:buClr>
                <a:srgbClr val="954F72"/>
              </a:buClr>
              <a:buNone/>
              <a:defRPr/>
            </a:pPr>
            <a:r>
              <a:rPr lang="es-AR" altLang="en-US" sz="2300" kern="0" dirty="0">
                <a:solidFill>
                  <a:srgbClr val="000000"/>
                </a:solidFill>
                <a:latin typeface="Calibri" panose="020F0502020204030204"/>
              </a:rPr>
              <a:t>Veamos los </a:t>
            </a:r>
            <a:r>
              <a:rPr lang="es-AR" altLang="en-US" sz="2300" b="1" kern="0" dirty="0">
                <a:solidFill>
                  <a:prstClr val="black">
                    <a:lumMod val="60000"/>
                    <a:lumOff val="40000"/>
                  </a:prstClr>
                </a:solidFill>
                <a:latin typeface="Calibri" panose="020F0502020204030204"/>
              </a:rPr>
              <a:t>gráficos de los 4 </a:t>
            </a:r>
            <a:r>
              <a:rPr lang="es-AR" altLang="en-US" sz="2300" b="1" i="1" kern="0" dirty="0" err="1">
                <a:solidFill>
                  <a:prstClr val="black">
                    <a:lumMod val="60000"/>
                    <a:lumOff val="40000"/>
                  </a:prstClr>
                </a:solidFill>
                <a:latin typeface="Calibri" panose="020F0502020204030204"/>
              </a:rPr>
              <a:t>payoffs</a:t>
            </a:r>
            <a:endParaRPr lang="es-AR" altLang="en-US" sz="2300" b="1" i="1" kern="0" dirty="0">
              <a:solidFill>
                <a:prstClr val="black">
                  <a:lumMod val="60000"/>
                  <a:lumOff val="40000"/>
                </a:prstClr>
              </a:solidFill>
              <a:latin typeface="Calibri" panose="020F0502020204030204"/>
            </a:endParaRPr>
          </a:p>
        </p:txBody>
      </p:sp>
      <p:pic>
        <p:nvPicPr>
          <p:cNvPr id="2" name="Picture 1">
            <a:extLst>
              <a:ext uri="{FF2B5EF4-FFF2-40B4-BE49-F238E27FC236}">
                <a16:creationId xmlns:a16="http://schemas.microsoft.com/office/drawing/2014/main" id="{EC1AD0E3-9687-42CE-A2FC-B9A2228DA544}"/>
              </a:ext>
            </a:extLst>
          </p:cNvPr>
          <p:cNvPicPr>
            <a:picLocks noChangeAspect="1"/>
          </p:cNvPicPr>
          <p:nvPr/>
        </p:nvPicPr>
        <p:blipFill>
          <a:blip r:embed="rId2"/>
          <a:stretch>
            <a:fillRect/>
          </a:stretch>
        </p:blipFill>
        <p:spPr>
          <a:xfrm>
            <a:off x="5087889" y="2060848"/>
            <a:ext cx="2886075" cy="3086100"/>
          </a:xfrm>
          <a:prstGeom prst="rect">
            <a:avLst/>
          </a:prstGeom>
        </p:spPr>
      </p:pic>
    </p:spTree>
    <p:extLst>
      <p:ext uri="{BB962C8B-B14F-4D97-AF65-F5344CB8AC3E}">
        <p14:creationId xmlns:p14="http://schemas.microsoft.com/office/powerpoint/2010/main" val="1405962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C3AE353-1A97-4D31-94C3-DCAD0AEB1446}"/>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latin typeface="Calibri Light" panose="020F0302020204030204"/>
              </a:rPr>
            </a:br>
            <a:r>
              <a:rPr lang="es-AR" sz="3200" i="1" kern="0" dirty="0" err="1">
                <a:solidFill>
                  <a:srgbClr val="000000"/>
                </a:solidFill>
                <a:latin typeface="Calibri Light" panose="020F0302020204030204"/>
              </a:rPr>
              <a:t>Payoffs</a:t>
            </a:r>
            <a:r>
              <a:rPr lang="es-AR" sz="3200" kern="0" dirty="0">
                <a:solidFill>
                  <a:srgbClr val="000000"/>
                </a:solidFill>
                <a:latin typeface="Calibri Light" panose="020F0302020204030204"/>
              </a:rPr>
              <a:t> (3/3)</a:t>
            </a:r>
            <a:br>
              <a:rPr lang="es-AR" altLang="en-US" kern="0" dirty="0">
                <a:solidFill>
                  <a:srgbClr val="000000"/>
                </a:solidFill>
                <a:latin typeface="Calibri Light" panose="020F0302020204030204"/>
              </a:rPr>
            </a:br>
            <a:endParaRPr lang="en-US" kern="0" dirty="0">
              <a:latin typeface="Calibri Light" panose="020F0302020204030204"/>
            </a:endParaRPr>
          </a:p>
        </p:txBody>
      </p:sp>
      <p:sp>
        <p:nvSpPr>
          <p:cNvPr id="5" name="Rectangle 3">
            <a:extLst>
              <a:ext uri="{FF2B5EF4-FFF2-40B4-BE49-F238E27FC236}">
                <a16:creationId xmlns:a16="http://schemas.microsoft.com/office/drawing/2014/main" id="{2B7CEEBC-2392-41BD-8F16-7C7AB34D61D8}"/>
              </a:ext>
            </a:extLst>
          </p:cNvPr>
          <p:cNvSpPr txBox="1">
            <a:spLocks noChangeArrowheads="1"/>
          </p:cNvSpPr>
          <p:nvPr/>
        </p:nvSpPr>
        <p:spPr bwMode="auto">
          <a:xfrm>
            <a:off x="1919288" y="1268413"/>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eaLnBrk="1" hangingPunct="1">
              <a:buClr>
                <a:srgbClr val="954F72"/>
              </a:buClr>
              <a:buNone/>
              <a:defRPr/>
            </a:pPr>
            <a:r>
              <a:rPr lang="es-AR" altLang="en-US" sz="2300" kern="0" dirty="0">
                <a:solidFill>
                  <a:srgbClr val="000000"/>
                </a:solidFill>
                <a:latin typeface="Calibri" panose="020F0502020204030204"/>
              </a:rPr>
              <a:t>Veamos el </a:t>
            </a:r>
            <a:r>
              <a:rPr lang="es-AR" altLang="en-US" sz="2300" i="1" kern="0" dirty="0" err="1">
                <a:solidFill>
                  <a:srgbClr val="000000"/>
                </a:solidFill>
                <a:latin typeface="Calibri" panose="020F0502020204030204"/>
              </a:rPr>
              <a:t>payoff</a:t>
            </a:r>
            <a:r>
              <a:rPr lang="es-AR" altLang="en-US" sz="2300" kern="0" dirty="0">
                <a:solidFill>
                  <a:srgbClr val="000000"/>
                </a:solidFill>
                <a:latin typeface="Calibri" panose="020F0502020204030204"/>
              </a:rPr>
              <a:t> de cada una de estas posiciones:</a:t>
            </a:r>
          </a:p>
          <a:p>
            <a:pPr marL="0" indent="0" eaLnBrk="1" hangingPunct="1">
              <a:buClr>
                <a:srgbClr val="954F72"/>
              </a:buClr>
              <a:buNone/>
              <a:defRPr/>
            </a:pPr>
            <a:endParaRPr lang="es-AR" altLang="en-US" sz="2300" kern="0" dirty="0">
              <a:solidFill>
                <a:srgbClr val="000000"/>
              </a:solidFill>
              <a:latin typeface="Calibri" panose="020F0502020204030204"/>
            </a:endParaRPr>
          </a:p>
          <a:p>
            <a:pPr marL="0" indent="0" eaLnBrk="1" hangingPunct="1">
              <a:buClr>
                <a:srgbClr val="954F72"/>
              </a:buClr>
              <a:buNone/>
              <a:defRPr/>
            </a:pPr>
            <a:endParaRPr lang="es-AR" altLang="en-US" sz="2300" kern="0" dirty="0">
              <a:solidFill>
                <a:srgbClr val="000000"/>
              </a:solidFill>
              <a:latin typeface="Calibri" panose="020F0502020204030204"/>
            </a:endParaRPr>
          </a:p>
          <a:p>
            <a:pPr marL="0" indent="0" eaLnBrk="1" hangingPunct="1">
              <a:buClr>
                <a:srgbClr val="954F72"/>
              </a:buClr>
              <a:buNone/>
              <a:defRPr/>
            </a:pPr>
            <a:endParaRPr lang="es-AR" altLang="en-US" sz="2300" kern="0" dirty="0">
              <a:solidFill>
                <a:srgbClr val="000000"/>
              </a:solidFill>
              <a:latin typeface="Calibri" panose="020F0502020204030204"/>
            </a:endParaRPr>
          </a:p>
          <a:p>
            <a:pPr eaLnBrk="1" hangingPunct="1">
              <a:buClr>
                <a:srgbClr val="954F72"/>
              </a:buClr>
              <a:defRPr/>
            </a:pPr>
            <a:endParaRPr lang="es-AR" altLang="en-US" sz="2300" kern="0" dirty="0">
              <a:solidFill>
                <a:srgbClr val="000000"/>
              </a:solidFill>
              <a:latin typeface="Calibri Light" panose="020F0302020204030204"/>
            </a:endParaRPr>
          </a:p>
        </p:txBody>
      </p:sp>
      <p:pic>
        <p:nvPicPr>
          <p:cNvPr id="28677" name="Picture 3">
            <a:extLst>
              <a:ext uri="{FF2B5EF4-FFF2-40B4-BE49-F238E27FC236}">
                <a16:creationId xmlns:a16="http://schemas.microsoft.com/office/drawing/2014/main" id="{D0C1C812-0A62-451A-B515-0C0D4C4CB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1" y="1628776"/>
            <a:ext cx="5057775"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FEE8111-B911-44D2-9D5F-9FB64D56840B}"/>
              </a:ext>
            </a:extLst>
          </p:cNvPr>
          <p:cNvSpPr txBox="1"/>
          <p:nvPr/>
        </p:nvSpPr>
        <p:spPr>
          <a:xfrm>
            <a:off x="7636819" y="2031831"/>
            <a:ext cx="2449512" cy="3908762"/>
          </a:xfrm>
          <a:prstGeom prst="rect">
            <a:avLst/>
          </a:prstGeom>
          <a:noFill/>
        </p:spPr>
        <p:txBody>
          <a:bodyPr>
            <a:spAutoFit/>
          </a:bodyPr>
          <a:lstStyle/>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Long CALL</a:t>
            </a: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Short CALL</a:t>
            </a: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Long PUT</a:t>
            </a: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Short PUT</a:t>
            </a:r>
          </a:p>
          <a:p>
            <a:pPr eaLnBrk="0" fontAlgn="base" hangingPunct="0">
              <a:spcBef>
                <a:spcPct val="0"/>
              </a:spcBef>
              <a:spcAft>
                <a:spcPct val="0"/>
              </a:spcAft>
              <a:defRPr/>
            </a:pPr>
            <a:endParaRPr lang="en-US" dirty="0">
              <a:solidFill>
                <a:prstClr val="black"/>
              </a:solidFill>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C3AE353-1A97-4D31-94C3-DCAD0AEB1446}"/>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endParaRPr lang="es-AR" sz="3200" kern="0" dirty="0">
              <a:solidFill>
                <a:srgbClr val="000000"/>
              </a:solidFill>
              <a:latin typeface="Calibri Light" panose="020F0302020204030204"/>
            </a:endParaRPr>
          </a:p>
          <a:p>
            <a:pPr>
              <a:defRPr/>
            </a:pPr>
            <a:r>
              <a:rPr lang="es-AR" sz="3200" i="1" kern="0" dirty="0" err="1">
                <a:solidFill>
                  <a:srgbClr val="000000"/>
                </a:solidFill>
                <a:latin typeface="Calibri Light" panose="020F0302020204030204"/>
              </a:rPr>
              <a:t>PnL</a:t>
            </a:r>
            <a:endParaRPr lang="en-US" sz="3200" i="1" kern="0" dirty="0">
              <a:latin typeface="Calibri Light" panose="020F0302020204030204"/>
            </a:endParaRP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2B7CEEBC-2392-41BD-8F16-7C7AB34D61D8}"/>
                  </a:ext>
                </a:extLst>
              </p:cNvPr>
              <p:cNvSpPr txBox="1">
                <a:spLocks noChangeArrowheads="1"/>
              </p:cNvSpPr>
              <p:nvPr/>
            </p:nvSpPr>
            <p:spPr bwMode="auto">
              <a:xfrm>
                <a:off x="1919288" y="941145"/>
                <a:ext cx="8458200" cy="56378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eaLnBrk="1" hangingPunct="1">
                  <a:buClr>
                    <a:srgbClr val="954F72"/>
                  </a:buClr>
                  <a:buNone/>
                  <a:defRPr/>
                </a:pPr>
                <a:r>
                  <a:rPr lang="es-AR" altLang="en-US" sz="2300" kern="0" dirty="0">
                    <a:solidFill>
                      <a:srgbClr val="000000"/>
                    </a:solidFill>
                    <a:latin typeface="Calibri" panose="020F0502020204030204"/>
                  </a:rPr>
                  <a:t>Veamos por ultimo el </a:t>
                </a:r>
                <a:r>
                  <a:rPr lang="es-AR" altLang="en-US" sz="2300" b="1" i="1" kern="0" dirty="0" err="1">
                    <a:solidFill>
                      <a:prstClr val="black">
                        <a:lumMod val="60000"/>
                        <a:lumOff val="40000"/>
                      </a:prstClr>
                    </a:solidFill>
                    <a:latin typeface="Calibri" panose="020F0502020204030204"/>
                  </a:rPr>
                  <a:t>Profit</a:t>
                </a:r>
                <a:r>
                  <a:rPr lang="es-AR" altLang="en-US" sz="2300" b="1" i="1" kern="0" dirty="0">
                    <a:solidFill>
                      <a:prstClr val="black">
                        <a:lumMod val="60000"/>
                        <a:lumOff val="40000"/>
                      </a:prstClr>
                    </a:solidFill>
                    <a:latin typeface="Calibri" panose="020F0502020204030204"/>
                  </a:rPr>
                  <a:t> &amp; </a:t>
                </a:r>
                <a:r>
                  <a:rPr lang="es-AR" altLang="en-US" sz="2300" b="1" i="1" kern="0" dirty="0" err="1">
                    <a:solidFill>
                      <a:prstClr val="black">
                        <a:lumMod val="60000"/>
                        <a:lumOff val="40000"/>
                      </a:prstClr>
                    </a:solidFill>
                    <a:latin typeface="Calibri" panose="020F0502020204030204"/>
                  </a:rPr>
                  <a:t>Loss</a:t>
                </a:r>
                <a:r>
                  <a:rPr lang="es-AR" altLang="en-US" sz="2300" b="1" i="1" kern="0" dirty="0">
                    <a:solidFill>
                      <a:prstClr val="black">
                        <a:lumMod val="60000"/>
                        <a:lumOff val="40000"/>
                      </a:prstClr>
                    </a:solidFill>
                    <a:latin typeface="Calibri" panose="020F0502020204030204"/>
                  </a:rPr>
                  <a:t> </a:t>
                </a:r>
                <a:r>
                  <a:rPr lang="es-AR" altLang="en-US" sz="2300" kern="0" dirty="0">
                    <a:solidFill>
                      <a:srgbClr val="000000"/>
                    </a:solidFill>
                    <a:latin typeface="Calibri" panose="020F0502020204030204"/>
                  </a:rPr>
                  <a:t>de cada una de estas posiciones:</a:t>
                </a:r>
              </a:p>
              <a:p>
                <a:pPr marL="0" indent="0" eaLnBrk="1" hangingPunct="1">
                  <a:buClr>
                    <a:srgbClr val="954F72"/>
                  </a:buClr>
                  <a:buNone/>
                  <a:defRPr/>
                </a:pPr>
                <a14:m>
                  <m:oMathPara xmlns:m="http://schemas.openxmlformats.org/officeDocument/2006/math">
                    <m:oMathParaPr>
                      <m:jc m:val="centerGroup"/>
                    </m:oMathParaPr>
                    <m:oMath xmlns:m="http://schemas.openxmlformats.org/officeDocument/2006/math">
                      <m:r>
                        <a:rPr lang="es-AR" altLang="en-US" sz="2300" i="1" kern="0" dirty="0" smtClean="0">
                          <a:solidFill>
                            <a:srgbClr val="000000"/>
                          </a:solidFill>
                          <a:latin typeface="Cambria Math" panose="02040503050406030204" pitchFamily="18" charset="0"/>
                        </a:rPr>
                        <m:t>𝑃𝑛𝐿</m:t>
                      </m:r>
                      <m:r>
                        <a:rPr lang="es-AR" altLang="en-US" sz="2300" i="1" kern="0" dirty="0" smtClean="0">
                          <a:solidFill>
                            <a:srgbClr val="000000"/>
                          </a:solidFill>
                          <a:latin typeface="Cambria Math" panose="02040503050406030204" pitchFamily="18" charset="0"/>
                        </a:rPr>
                        <m:t> = </m:t>
                      </m:r>
                      <m:r>
                        <a:rPr lang="es-AR" altLang="en-US" sz="2300" i="1" kern="0" dirty="0" err="1" smtClean="0">
                          <a:solidFill>
                            <a:srgbClr val="000000"/>
                          </a:solidFill>
                          <a:latin typeface="Cambria Math" panose="02040503050406030204" pitchFamily="18" charset="0"/>
                        </a:rPr>
                        <m:t>𝑃𝑎𝑦𝑜𝑓𝑓</m:t>
                      </m:r>
                      <m:r>
                        <a:rPr lang="es-AR" altLang="en-US" sz="2300" i="1" kern="0" dirty="0">
                          <a:solidFill>
                            <a:srgbClr val="000000"/>
                          </a:solidFill>
                          <a:latin typeface="Cambria Math" panose="02040503050406030204" pitchFamily="18" charset="0"/>
                        </a:rPr>
                        <m:t> </m:t>
                      </m:r>
                      <m:r>
                        <a:rPr lang="es-AR" altLang="en-US" sz="2300" i="1" kern="0" dirty="0" smtClean="0">
                          <a:solidFill>
                            <a:srgbClr val="000000"/>
                          </a:solidFill>
                          <a:latin typeface="Cambria Math" panose="02040503050406030204" pitchFamily="18" charset="0"/>
                        </a:rPr>
                        <m:t>−</m:t>
                      </m:r>
                      <m:r>
                        <a:rPr lang="es-AR" altLang="en-US" sz="2300" i="1" kern="0" dirty="0">
                          <a:solidFill>
                            <a:srgbClr val="000000"/>
                          </a:solidFill>
                          <a:latin typeface="Cambria Math" panose="02040503050406030204" pitchFamily="18" charset="0"/>
                        </a:rPr>
                        <m:t> </m:t>
                      </m:r>
                      <m:r>
                        <a:rPr lang="es-AR" altLang="en-US" sz="2300" i="1" kern="0" dirty="0" smtClean="0">
                          <a:solidFill>
                            <a:srgbClr val="000000"/>
                          </a:solidFill>
                          <a:latin typeface="Cambria Math" panose="02040503050406030204" pitchFamily="18" charset="0"/>
                        </a:rPr>
                        <m:t>𝑝𝑟𝑖𝑚</m:t>
                      </m:r>
                      <m:r>
                        <a:rPr lang="es-AR" altLang="en-US" sz="2300" i="1" kern="0" dirty="0">
                          <a:solidFill>
                            <a:srgbClr val="000000"/>
                          </a:solidFill>
                          <a:latin typeface="Cambria Math" panose="02040503050406030204" pitchFamily="18" charset="0"/>
                        </a:rPr>
                        <m:t>𝑎</m:t>
                      </m:r>
                    </m:oMath>
                  </m:oMathPara>
                </a14:m>
                <a:endParaRPr lang="es-AR" altLang="en-US" sz="2300" kern="0" dirty="0">
                  <a:solidFill>
                    <a:srgbClr val="000000"/>
                  </a:solidFill>
                  <a:latin typeface="Calibri" panose="020F0502020204030204"/>
                </a:endParaRPr>
              </a:p>
              <a:p>
                <a:pPr marL="0" indent="0" eaLnBrk="1" hangingPunct="1">
                  <a:buClr>
                    <a:srgbClr val="954F72"/>
                  </a:buClr>
                  <a:buNone/>
                  <a:defRPr/>
                </a:pPr>
                <a:endParaRPr lang="es-AR" altLang="en-US" sz="2300" kern="0" dirty="0">
                  <a:solidFill>
                    <a:srgbClr val="000000"/>
                  </a:solidFill>
                  <a:latin typeface="Calibri" panose="020F0502020204030204"/>
                </a:endParaRPr>
              </a:p>
              <a:p>
                <a:pPr marL="0" indent="0" eaLnBrk="1" hangingPunct="1">
                  <a:buClr>
                    <a:srgbClr val="954F72"/>
                  </a:buClr>
                  <a:buNone/>
                  <a:defRPr/>
                </a:pPr>
                <a:endParaRPr lang="es-AR" altLang="en-US" sz="2300" kern="0" dirty="0">
                  <a:solidFill>
                    <a:srgbClr val="000000"/>
                  </a:solidFill>
                  <a:latin typeface="Calibri" panose="020F0502020204030204"/>
                </a:endParaRPr>
              </a:p>
              <a:p>
                <a:pPr marL="0" indent="0" eaLnBrk="1" hangingPunct="1">
                  <a:buClr>
                    <a:srgbClr val="954F72"/>
                  </a:buClr>
                  <a:buNone/>
                  <a:defRPr/>
                </a:pPr>
                <a:endParaRPr lang="es-AR" altLang="en-US" sz="2300" kern="0" dirty="0">
                  <a:solidFill>
                    <a:srgbClr val="000000"/>
                  </a:solidFill>
                  <a:latin typeface="Calibri" panose="020F0502020204030204"/>
                </a:endParaRPr>
              </a:p>
              <a:p>
                <a:pPr eaLnBrk="1" hangingPunct="1">
                  <a:buClr>
                    <a:srgbClr val="954F72"/>
                  </a:buClr>
                  <a:defRPr/>
                </a:pPr>
                <a:endParaRPr lang="es-AR" altLang="en-US" sz="2300" kern="0" dirty="0">
                  <a:solidFill>
                    <a:srgbClr val="000000"/>
                  </a:solidFill>
                  <a:latin typeface="Calibri Light" panose="020F0302020204030204"/>
                </a:endParaRPr>
              </a:p>
            </p:txBody>
          </p:sp>
        </mc:Choice>
        <mc:Fallback xmlns="">
          <p:sp>
            <p:nvSpPr>
              <p:cNvPr id="5" name="Rectangle 3">
                <a:extLst>
                  <a:ext uri="{FF2B5EF4-FFF2-40B4-BE49-F238E27FC236}">
                    <a16:creationId xmlns:a16="http://schemas.microsoft.com/office/drawing/2014/main" id="{2B7CEEBC-2392-41BD-8F16-7C7AB34D61D8}"/>
                  </a:ext>
                </a:extLst>
              </p:cNvPr>
              <p:cNvSpPr txBox="1">
                <a:spLocks noRot="1" noChangeAspect="1" noMove="1" noResize="1" noEditPoints="1" noAdjustHandles="1" noChangeArrowheads="1" noChangeShapeType="1" noTextEdit="1"/>
              </p:cNvSpPr>
              <p:nvPr/>
            </p:nvSpPr>
            <p:spPr bwMode="auto">
              <a:xfrm>
                <a:off x="1919288" y="941145"/>
                <a:ext cx="8458200" cy="5637823"/>
              </a:xfrm>
              <a:prstGeom prst="rect">
                <a:avLst/>
              </a:prstGeom>
              <a:blipFill>
                <a:blip r:embed="rId2"/>
                <a:stretch>
                  <a:fillRect l="-1081" t="-7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 name="TextBox 5">
            <a:extLst>
              <a:ext uri="{FF2B5EF4-FFF2-40B4-BE49-F238E27FC236}">
                <a16:creationId xmlns:a16="http://schemas.microsoft.com/office/drawing/2014/main" id="{2FEE8111-B911-44D2-9D5F-9FB64D56840B}"/>
              </a:ext>
            </a:extLst>
          </p:cNvPr>
          <p:cNvSpPr txBox="1"/>
          <p:nvPr/>
        </p:nvSpPr>
        <p:spPr>
          <a:xfrm>
            <a:off x="7823200" y="2283586"/>
            <a:ext cx="2449512" cy="3908762"/>
          </a:xfrm>
          <a:prstGeom prst="rect">
            <a:avLst/>
          </a:prstGeom>
          <a:noFill/>
        </p:spPr>
        <p:txBody>
          <a:bodyPr>
            <a:spAutoFit/>
          </a:bodyPr>
          <a:lstStyle/>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Long CALL</a:t>
            </a: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Short CALL</a:t>
            </a: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Long PUT</a:t>
            </a: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endParaRPr lang="en-US" sz="2300" i="1" dirty="0">
              <a:solidFill>
                <a:prstClr val="black"/>
              </a:solidFill>
              <a:latin typeface="Calibri" panose="020F0502020204030204"/>
            </a:endParaRPr>
          </a:p>
          <a:p>
            <a:pPr marL="342900" indent="-342900" eaLnBrk="0" fontAlgn="base" hangingPunct="0">
              <a:spcBef>
                <a:spcPct val="0"/>
              </a:spcBef>
              <a:spcAft>
                <a:spcPct val="0"/>
              </a:spcAft>
              <a:buFontTx/>
              <a:buAutoNum type="alphaLcParenR"/>
              <a:defRPr/>
            </a:pPr>
            <a:r>
              <a:rPr lang="en-US" sz="2300" i="1" dirty="0">
                <a:solidFill>
                  <a:prstClr val="black"/>
                </a:solidFill>
                <a:latin typeface="Calibri" panose="020F0502020204030204"/>
              </a:rPr>
              <a:t>Short PUT</a:t>
            </a:r>
          </a:p>
          <a:p>
            <a:pPr eaLnBrk="0" fontAlgn="base" hangingPunct="0">
              <a:spcBef>
                <a:spcPct val="0"/>
              </a:spcBef>
              <a:spcAft>
                <a:spcPct val="0"/>
              </a:spcAft>
              <a:defRPr/>
            </a:pPr>
            <a:endParaRPr lang="en-US" dirty="0">
              <a:solidFill>
                <a:prstClr val="black"/>
              </a:solidFill>
              <a:latin typeface="Arial" panose="020B0604020202020204" pitchFamily="34" charset="0"/>
            </a:endParaRPr>
          </a:p>
        </p:txBody>
      </p:sp>
      <p:pic>
        <p:nvPicPr>
          <p:cNvPr id="29702" name="Picture 6">
            <a:extLst>
              <a:ext uri="{FF2B5EF4-FFF2-40B4-BE49-F238E27FC236}">
                <a16:creationId xmlns:a16="http://schemas.microsoft.com/office/drawing/2014/main" id="{77021E88-96F6-465E-870C-B61760FB3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5657" y="2055154"/>
            <a:ext cx="4586288"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C3AE353-1A97-4D31-94C3-DCAD0AEB1446}"/>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endParaRPr lang="es-AR" sz="3200" kern="0" dirty="0">
              <a:solidFill>
                <a:srgbClr val="000000"/>
              </a:solidFill>
              <a:latin typeface="Calibri Light" panose="020F0302020204030204"/>
            </a:endParaRPr>
          </a:p>
          <a:p>
            <a:pPr>
              <a:defRPr/>
            </a:pPr>
            <a:r>
              <a:rPr lang="es-AR" sz="3200" kern="0" dirty="0">
                <a:solidFill>
                  <a:srgbClr val="000000"/>
                </a:solidFill>
                <a:latin typeface="Calibri Light" panose="020F0302020204030204"/>
              </a:rPr>
              <a:t>Valor Intrínseco de una Opción</a:t>
            </a:r>
            <a:endParaRPr lang="en-US" sz="3200" kern="0" dirty="0">
              <a:latin typeface="Calibri Light" panose="020F0302020204030204"/>
            </a:endParaRPr>
          </a:p>
        </p:txBody>
      </p:sp>
      <p:sp>
        <p:nvSpPr>
          <p:cNvPr id="6" name="Rectangle 3">
            <a:extLst>
              <a:ext uri="{FF2B5EF4-FFF2-40B4-BE49-F238E27FC236}">
                <a16:creationId xmlns:a16="http://schemas.microsoft.com/office/drawing/2014/main" id="{172B6546-D203-4B56-A656-E7BB973930E6}"/>
              </a:ext>
            </a:extLst>
          </p:cNvPr>
          <p:cNvSpPr txBox="1">
            <a:spLocks noChangeArrowheads="1"/>
          </p:cNvSpPr>
          <p:nvPr/>
        </p:nvSpPr>
        <p:spPr bwMode="auto">
          <a:xfrm>
            <a:off x="1919288" y="1268413"/>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eaLnBrk="1" hangingPunct="1">
              <a:buClr>
                <a:srgbClr val="954F72"/>
              </a:buClr>
              <a:defRPr/>
            </a:pPr>
            <a:r>
              <a:rPr lang="es-AR" altLang="en-US" sz="2300" kern="0" dirty="0">
                <a:solidFill>
                  <a:srgbClr val="000000"/>
                </a:solidFill>
                <a:latin typeface="Calibri Light" panose="020F0302020204030204"/>
              </a:rPr>
              <a:t>El </a:t>
            </a:r>
            <a:r>
              <a:rPr lang="es-AR" altLang="en-US" sz="2300" b="1" dirty="0">
                <a:solidFill>
                  <a:prstClr val="black">
                    <a:lumMod val="60000"/>
                    <a:lumOff val="40000"/>
                  </a:prstClr>
                </a:solidFill>
                <a:latin typeface="Calibri" panose="020F0502020204030204"/>
              </a:rPr>
              <a:t>valor intrínseco (</a:t>
            </a:r>
            <a:r>
              <a:rPr lang="es-AR" altLang="en-US" sz="2300" b="1" i="1" dirty="0">
                <a:solidFill>
                  <a:prstClr val="black">
                    <a:lumMod val="60000"/>
                    <a:lumOff val="40000"/>
                  </a:prstClr>
                </a:solidFill>
                <a:latin typeface="Calibri" panose="020F0502020204030204"/>
              </a:rPr>
              <a:t>VI</a:t>
            </a:r>
            <a:r>
              <a:rPr lang="es-AR" altLang="en-US" sz="2300" b="1" dirty="0">
                <a:solidFill>
                  <a:prstClr val="black">
                    <a:lumMod val="60000"/>
                    <a:lumOff val="40000"/>
                  </a:prstClr>
                </a:solidFill>
                <a:latin typeface="Calibri" panose="020F0502020204030204"/>
              </a:rPr>
              <a:t>) </a:t>
            </a:r>
            <a:r>
              <a:rPr lang="es-AR" altLang="en-US" sz="2300" kern="0" dirty="0">
                <a:solidFill>
                  <a:srgbClr val="000000"/>
                </a:solidFill>
                <a:latin typeface="Calibri Light" panose="020F0302020204030204"/>
              </a:rPr>
              <a:t>de una opción es la diferencia entre el precio del activo subyacente en el mercado y el precio de ejercicio</a:t>
            </a:r>
          </a:p>
          <a:p>
            <a:pPr eaLnBrk="1" hangingPunct="1">
              <a:buClr>
                <a:srgbClr val="954F72"/>
              </a:buClr>
              <a:defRPr/>
            </a:pPr>
            <a:r>
              <a:rPr lang="es-AR" altLang="en-US" sz="2300" kern="0" dirty="0">
                <a:solidFill>
                  <a:srgbClr val="000000"/>
                </a:solidFill>
                <a:latin typeface="Calibri Light" panose="020F0302020204030204"/>
              </a:rPr>
              <a:t>El VI es siempre positivo. Si la diferencia entre precios es negativa, el VI es 0</a:t>
            </a:r>
          </a:p>
          <a:p>
            <a:pPr eaLnBrk="1" hangingPunct="1">
              <a:buClr>
                <a:srgbClr val="954F72"/>
              </a:buClr>
              <a:defRPr/>
            </a:pPr>
            <a:r>
              <a:rPr lang="es-AR" altLang="en-US" sz="2300" kern="0" dirty="0">
                <a:solidFill>
                  <a:srgbClr val="000000"/>
                </a:solidFill>
                <a:latin typeface="Calibri Light" panose="020F0302020204030204"/>
              </a:rPr>
              <a:t>Al vencimiento, el VI es el valor de la opción (</a:t>
            </a:r>
            <a:r>
              <a:rPr lang="es-AR" altLang="en-US" sz="2300" i="1" kern="0" dirty="0" err="1">
                <a:solidFill>
                  <a:srgbClr val="000000"/>
                </a:solidFill>
                <a:latin typeface="Calibri Light" panose="020F0302020204030204"/>
              </a:rPr>
              <a:t>payoff</a:t>
            </a:r>
            <a:r>
              <a:rPr lang="es-AR" altLang="en-US" sz="2300" kern="0" dirty="0">
                <a:solidFill>
                  <a:srgbClr val="000000"/>
                </a:solidFill>
                <a:latin typeface="Calibri Light" panose="020F0302020204030204"/>
              </a:rPr>
              <a:t>)</a:t>
            </a:r>
          </a:p>
          <a:p>
            <a:pPr eaLnBrk="1" hangingPunct="1">
              <a:buClr>
                <a:srgbClr val="954F72"/>
              </a:buClr>
              <a:defRPr/>
            </a:pPr>
            <a:endParaRPr lang="es-AR" altLang="en-US" sz="2300" kern="0" dirty="0">
              <a:solidFill>
                <a:srgbClr val="000000"/>
              </a:solidFill>
              <a:latin typeface="Calibri Light" panose="020F0302020204030204"/>
            </a:endParaRPr>
          </a:p>
          <a:p>
            <a:pPr eaLnBrk="1" hangingPunct="1">
              <a:buClr>
                <a:srgbClr val="954F72"/>
              </a:buClr>
              <a:defRPr/>
            </a:pPr>
            <a:r>
              <a:rPr lang="es-AR" altLang="en-US" sz="2300" kern="0" dirty="0" err="1">
                <a:solidFill>
                  <a:srgbClr val="000000"/>
                </a:solidFill>
                <a:latin typeface="Calibri Light" panose="020F0302020204030204"/>
              </a:rPr>
              <a:t>Ej</a:t>
            </a:r>
            <a:r>
              <a:rPr lang="es-AR" altLang="en-US" sz="2300" kern="0" dirty="0">
                <a:solidFill>
                  <a:srgbClr val="000000"/>
                </a:solidFill>
                <a:latin typeface="Calibri Light" panose="020F0302020204030204"/>
              </a:rPr>
              <a:t>: Para un </a:t>
            </a:r>
            <a:r>
              <a:rPr lang="es-AR" altLang="en-US" sz="2300" i="1" kern="0" dirty="0" err="1">
                <a:solidFill>
                  <a:srgbClr val="000000"/>
                </a:solidFill>
                <a:latin typeface="Calibri Light" panose="020F0302020204030204"/>
              </a:rPr>
              <a:t>call</a:t>
            </a:r>
            <a:r>
              <a:rPr lang="es-AR" altLang="en-US" sz="2300" i="1" kern="0" dirty="0">
                <a:solidFill>
                  <a:srgbClr val="000000"/>
                </a:solidFill>
                <a:latin typeface="Calibri Light" panose="020F0302020204030204"/>
              </a:rPr>
              <a:t> </a:t>
            </a:r>
            <a:r>
              <a:rPr lang="es-AR" altLang="en-US" sz="2300" i="1" kern="0" dirty="0" err="1">
                <a:solidFill>
                  <a:srgbClr val="000000"/>
                </a:solidFill>
                <a:latin typeface="Calibri Light" panose="020F0302020204030204"/>
              </a:rPr>
              <a:t>long</a:t>
            </a:r>
            <a:r>
              <a:rPr lang="es-AR" altLang="en-US" sz="2300" kern="0" dirty="0">
                <a:solidFill>
                  <a:srgbClr val="000000"/>
                </a:solidFill>
                <a:latin typeface="Calibri Light" panose="020F0302020204030204"/>
              </a:rPr>
              <a:t>:</a:t>
            </a:r>
          </a:p>
          <a:p>
            <a:pPr eaLnBrk="1" hangingPunct="1">
              <a:buClr>
                <a:srgbClr val="954F72"/>
              </a:buClr>
              <a:defRPr/>
            </a:pPr>
            <a:endParaRPr lang="es-AR" altLang="en-US" sz="2300" kern="0" dirty="0">
              <a:solidFill>
                <a:srgbClr val="000000"/>
              </a:solidFill>
              <a:latin typeface="Calibri Light" panose="020F0302020204030204"/>
            </a:endParaRPr>
          </a:p>
          <a:p>
            <a:pPr eaLnBrk="1" hangingPunct="1">
              <a:buClr>
                <a:srgbClr val="954F72"/>
              </a:buClr>
              <a:defRPr/>
            </a:pPr>
            <a:r>
              <a:rPr lang="es-AR" altLang="en-US" sz="2300" kern="0" dirty="0" err="1">
                <a:solidFill>
                  <a:srgbClr val="000000"/>
                </a:solidFill>
                <a:latin typeface="Calibri Light" panose="020F0302020204030204"/>
              </a:rPr>
              <a:t>Ej</a:t>
            </a:r>
            <a:r>
              <a:rPr lang="es-AR" altLang="en-US" sz="2300" kern="0" dirty="0">
                <a:solidFill>
                  <a:srgbClr val="000000"/>
                </a:solidFill>
                <a:latin typeface="Calibri Light" panose="020F0302020204030204"/>
              </a:rPr>
              <a:t>: Para un </a:t>
            </a:r>
            <a:r>
              <a:rPr lang="es-AR" altLang="en-US" sz="2300" i="1" kern="0" dirty="0" err="1">
                <a:solidFill>
                  <a:srgbClr val="000000"/>
                </a:solidFill>
                <a:latin typeface="Calibri Light" panose="020F0302020204030204"/>
              </a:rPr>
              <a:t>put</a:t>
            </a:r>
            <a:r>
              <a:rPr lang="es-AR" altLang="en-US" sz="2300" i="1" kern="0" dirty="0">
                <a:solidFill>
                  <a:srgbClr val="000000"/>
                </a:solidFill>
                <a:latin typeface="Calibri Light" panose="020F0302020204030204"/>
              </a:rPr>
              <a:t> </a:t>
            </a:r>
            <a:r>
              <a:rPr lang="es-AR" altLang="en-US" sz="2300" i="1" kern="0" dirty="0" err="1">
                <a:solidFill>
                  <a:srgbClr val="000000"/>
                </a:solidFill>
                <a:latin typeface="Calibri Light" panose="020F0302020204030204"/>
              </a:rPr>
              <a:t>long</a:t>
            </a:r>
            <a:r>
              <a:rPr lang="es-AR" altLang="en-US" sz="2300" kern="0" dirty="0">
                <a:solidFill>
                  <a:srgbClr val="000000"/>
                </a:solidFill>
                <a:latin typeface="Calibri Light" panose="020F0302020204030204"/>
              </a:rPr>
              <a:t>:</a:t>
            </a:r>
          </a:p>
          <a:p>
            <a:pPr eaLnBrk="1" hangingPunct="1">
              <a:buClr>
                <a:srgbClr val="954F72"/>
              </a:buClr>
              <a:defRPr/>
            </a:pPr>
            <a:endParaRPr lang="es-AR" altLang="en-US" sz="2300" kern="0" dirty="0">
              <a:solidFill>
                <a:srgbClr val="000000"/>
              </a:solidFill>
              <a:latin typeface="Calibri Light" panose="020F0302020204030204"/>
            </a:endParaRPr>
          </a:p>
          <a:p>
            <a:pPr eaLnBrk="1" hangingPunct="1">
              <a:buClr>
                <a:srgbClr val="954F72"/>
              </a:buClr>
              <a:defRPr/>
            </a:pPr>
            <a:r>
              <a:rPr lang="es-AR" altLang="en-US" sz="2300" kern="0" dirty="0">
                <a:solidFill>
                  <a:srgbClr val="000000"/>
                </a:solidFill>
                <a:latin typeface="Calibri Light" panose="020F0302020204030204"/>
              </a:rPr>
              <a:t>Se habla también de </a:t>
            </a:r>
            <a:r>
              <a:rPr lang="es-AR" altLang="en-US" sz="2300" b="1" dirty="0">
                <a:solidFill>
                  <a:prstClr val="black">
                    <a:lumMod val="60000"/>
                    <a:lumOff val="40000"/>
                  </a:prstClr>
                </a:solidFill>
                <a:latin typeface="Calibri" panose="020F0502020204030204"/>
              </a:rPr>
              <a:t>valor temporal </a:t>
            </a:r>
            <a:r>
              <a:rPr lang="es-AR" altLang="en-US" sz="2300" kern="0" dirty="0">
                <a:solidFill>
                  <a:srgbClr val="000000"/>
                </a:solidFill>
                <a:latin typeface="Calibri Light" panose="020F0302020204030204"/>
              </a:rPr>
              <a:t>de la opción:</a:t>
            </a:r>
          </a:p>
          <a:p>
            <a:pPr marL="0" indent="0" eaLnBrk="1" hangingPunct="1">
              <a:buClr>
                <a:srgbClr val="954F72"/>
              </a:buClr>
              <a:buNone/>
              <a:defRPr/>
            </a:pPr>
            <a:endParaRPr lang="es-AR" altLang="en-US" sz="2300" kern="0" dirty="0">
              <a:solidFill>
                <a:srgbClr val="000000"/>
              </a:solidFill>
              <a:latin typeface="Calibri Light" panose="020F0302020204030204"/>
            </a:endParaRPr>
          </a:p>
          <a:p>
            <a:pPr eaLnBrk="1" hangingPunct="1">
              <a:buClr>
                <a:srgbClr val="954F72"/>
              </a:buClr>
              <a:defRPr/>
            </a:pPr>
            <a:endParaRPr lang="es-AR" altLang="en-US" sz="2300" kern="0" dirty="0">
              <a:solidFill>
                <a:srgbClr val="000000"/>
              </a:solidFill>
              <a:latin typeface="Calibri Light" panose="020F0302020204030204"/>
            </a:endParaRPr>
          </a:p>
        </p:txBody>
      </p:sp>
      <p:pic>
        <p:nvPicPr>
          <p:cNvPr id="2" name="Picture 1">
            <a:extLst>
              <a:ext uri="{FF2B5EF4-FFF2-40B4-BE49-F238E27FC236}">
                <a16:creationId xmlns:a16="http://schemas.microsoft.com/office/drawing/2014/main" id="{7082DC2D-5602-40B6-A02D-B5488516C25F}"/>
              </a:ext>
            </a:extLst>
          </p:cNvPr>
          <p:cNvPicPr>
            <a:picLocks noChangeAspect="1"/>
          </p:cNvPicPr>
          <p:nvPr/>
        </p:nvPicPr>
        <p:blipFill>
          <a:blip r:embed="rId2"/>
          <a:stretch>
            <a:fillRect/>
          </a:stretch>
        </p:blipFill>
        <p:spPr>
          <a:xfrm>
            <a:off x="5159896" y="3650886"/>
            <a:ext cx="2781300" cy="1333500"/>
          </a:xfrm>
          <a:prstGeom prst="rect">
            <a:avLst/>
          </a:prstGeom>
        </p:spPr>
      </p:pic>
      <p:pic>
        <p:nvPicPr>
          <p:cNvPr id="4" name="Picture 3">
            <a:extLst>
              <a:ext uri="{FF2B5EF4-FFF2-40B4-BE49-F238E27FC236}">
                <a16:creationId xmlns:a16="http://schemas.microsoft.com/office/drawing/2014/main" id="{0931D302-6C1A-48B8-B542-A80657582236}"/>
              </a:ext>
            </a:extLst>
          </p:cNvPr>
          <p:cNvPicPr>
            <a:picLocks noChangeAspect="1"/>
          </p:cNvPicPr>
          <p:nvPr/>
        </p:nvPicPr>
        <p:blipFill>
          <a:blip r:embed="rId3"/>
          <a:stretch>
            <a:fillRect/>
          </a:stretch>
        </p:blipFill>
        <p:spPr>
          <a:xfrm>
            <a:off x="2681288" y="5896770"/>
            <a:ext cx="6934200" cy="428625"/>
          </a:xfrm>
          <a:prstGeom prst="rect">
            <a:avLst/>
          </a:prstGeom>
        </p:spPr>
      </p:pic>
    </p:spTree>
    <p:extLst>
      <p:ext uri="{BB962C8B-B14F-4D97-AF65-F5344CB8AC3E}">
        <p14:creationId xmlns:p14="http://schemas.microsoft.com/office/powerpoint/2010/main" val="15187343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C3AE353-1A97-4D31-94C3-DCAD0AEB1446}"/>
              </a:ext>
            </a:extLst>
          </p:cNvPr>
          <p:cNvSpPr txBox="1">
            <a:spLocks/>
          </p:cNvSpPr>
          <p:nvPr/>
        </p:nvSpPr>
        <p:spPr>
          <a:xfrm>
            <a:off x="1969771" y="637126"/>
            <a:ext cx="2851707" cy="5256371"/>
          </a:xfrm>
          <a:prstGeom prst="rect">
            <a:avLst/>
          </a:prstGeom>
        </p:spPr>
        <p:txBody>
          <a:bodyPr vert="horz" lIns="91440" tIns="45720" rIns="91440" bIns="45720" rtlCol="0" anchor="ctr">
            <a:normAutofit/>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lgn="l" eaLnBrk="1" hangingPunct="1">
              <a:lnSpc>
                <a:spcPct val="90000"/>
              </a:lnSpc>
              <a:spcAft>
                <a:spcPts val="600"/>
              </a:spcAft>
              <a:defRPr/>
            </a:pPr>
            <a:br>
              <a:rPr lang="en-US" sz="4200" dirty="0">
                <a:solidFill>
                  <a:schemeClr val="tx1"/>
                </a:solidFill>
              </a:rPr>
            </a:br>
            <a:r>
              <a:rPr lang="en-US" sz="4200" dirty="0">
                <a:solidFill>
                  <a:schemeClr val="tx1"/>
                </a:solidFill>
              </a:rPr>
              <a:t>Grado de </a:t>
            </a:r>
            <a:r>
              <a:rPr lang="en-US" sz="4200" dirty="0" err="1">
                <a:solidFill>
                  <a:schemeClr val="tx1"/>
                </a:solidFill>
              </a:rPr>
              <a:t>dinero</a:t>
            </a:r>
            <a:r>
              <a:rPr lang="en-US" sz="4200" dirty="0">
                <a:solidFill>
                  <a:schemeClr val="tx1"/>
                </a:solidFill>
              </a:rPr>
              <a:t> </a:t>
            </a:r>
            <a:r>
              <a:rPr lang="en-US" sz="4200" i="1" dirty="0">
                <a:solidFill>
                  <a:schemeClr val="tx1"/>
                </a:solidFill>
              </a:rPr>
              <a:t>Moneyness </a:t>
            </a:r>
            <a:r>
              <a:rPr lang="en-US" sz="4200" dirty="0">
                <a:solidFill>
                  <a:schemeClr val="tx1"/>
                </a:solidFill>
              </a:rPr>
              <a:t>de una </a:t>
            </a:r>
            <a:r>
              <a:rPr lang="en-US" sz="4200" dirty="0" err="1">
                <a:solidFill>
                  <a:schemeClr val="tx1"/>
                </a:solidFill>
              </a:rPr>
              <a:t>opción</a:t>
            </a:r>
            <a:endParaRPr lang="en-US" sz="4200" dirty="0">
              <a:solidFill>
                <a:schemeClr val="tx1"/>
              </a:solidFill>
            </a:endParaRPr>
          </a:p>
        </p:txBody>
      </p:sp>
      <p:sp>
        <p:nvSpPr>
          <p:cNvPr id="31746" name="Slide Number Placeholder 1">
            <a:extLst>
              <a:ext uri="{FF2B5EF4-FFF2-40B4-BE49-F238E27FC236}">
                <a16:creationId xmlns:a16="http://schemas.microsoft.com/office/drawing/2014/main" id="{D9CAEEB7-AF53-4BD0-957A-2B829FB5CC4F}"/>
              </a:ext>
            </a:extLst>
          </p:cNvPr>
          <p:cNvSpPr>
            <a:spLocks noGrp="1" noChangeArrowheads="1"/>
          </p:cNvSpPr>
          <p:nvPr>
            <p:ph type="sldNum" sz="quarter" idx="12"/>
          </p:nvPr>
        </p:nvSpPr>
        <p:spPr>
          <a:xfrm>
            <a:off x="7981950" y="6356352"/>
            <a:ext cx="20574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en-US"/>
            </a:defPPr>
            <a:lvl1pPr algn="r" rtl="0" eaLnBrk="0" fontAlgn="base" hangingPunct="0">
              <a:spcBef>
                <a:spcPct val="0"/>
              </a:spcBef>
              <a:spcAft>
                <a:spcPct val="0"/>
              </a:spcAft>
              <a:defRPr sz="900" kern="1200">
                <a:solidFill>
                  <a:schemeClr val="tx1">
                    <a:tint val="75000"/>
                  </a:schemeClr>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spcAft>
                <a:spcPts val="600"/>
              </a:spcAft>
              <a:defRPr/>
            </a:pPr>
            <a:fld id="{095C3A6C-2EF2-4429-8171-61B701167257}" type="slidenum">
              <a:rPr lang="en-US" altLang="en-US" smtClean="0"/>
              <a:pPr eaLnBrk="1" hangingPunct="1">
                <a:spcAft>
                  <a:spcPts val="600"/>
                </a:spcAft>
                <a:defRPr/>
              </a:pPr>
              <a:t>42</a:t>
            </a:fld>
            <a:endParaRPr lang="en-US" altLang="en-US" sz="1000">
              <a:solidFill>
                <a:srgbClr val="898989"/>
              </a:solidFill>
              <a:latin typeface="+mn-lt"/>
            </a:endParaRPr>
          </a:p>
        </p:txBody>
      </p:sp>
      <p:graphicFrame>
        <p:nvGraphicFramePr>
          <p:cNvPr id="31748" name="Rectangle 3">
            <a:extLst>
              <a:ext uri="{FF2B5EF4-FFF2-40B4-BE49-F238E27FC236}">
                <a16:creationId xmlns:a16="http://schemas.microsoft.com/office/drawing/2014/main" id="{6BE3A3DB-3716-4638-BC13-70D04F214D6E}"/>
              </a:ext>
            </a:extLst>
          </p:cNvPr>
          <p:cNvGraphicFramePr/>
          <p:nvPr/>
        </p:nvGraphicFramePr>
        <p:xfrm>
          <a:off x="5399239" y="303592"/>
          <a:ext cx="4941519"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82682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8B4669B2-1E8C-47D5-AC61-37B110FA0AD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63176D-DC89-40F6-A95D-383C0B8A0E6C}" type="slidenum">
              <a:rPr lang="en-US" altLang="en-US" smtClean="0">
                <a:solidFill>
                  <a:srgbClr val="4D4D4D"/>
                </a:solidFill>
                <a:latin typeface="Calibri" panose="020F0502020204030204" pitchFamily="34" charset="0"/>
              </a:rPr>
              <a:pPr/>
              <a:t>43</a:t>
            </a:fld>
            <a:endParaRPr lang="en-US" altLang="en-US" dirty="0">
              <a:solidFill>
                <a:srgbClr val="4D4D4D"/>
              </a:solidFill>
              <a:latin typeface="Calibri" panose="020F0502020204030204" pitchFamily="34" charset="0"/>
            </a:endParaRPr>
          </a:p>
        </p:txBody>
      </p:sp>
      <p:sp>
        <p:nvSpPr>
          <p:cNvPr id="25603" name="Slide Number Placeholder 3">
            <a:extLst>
              <a:ext uri="{FF2B5EF4-FFF2-40B4-BE49-F238E27FC236}">
                <a16:creationId xmlns:a16="http://schemas.microsoft.com/office/drawing/2014/main" id="{5E4F974F-AC26-423F-8AB2-C60F7FD7742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C898449C-3F71-4D9C-A9EE-CF7EB9F53AC2}" type="slidenum">
              <a:rPr lang="en-US" altLang="en-US" sz="1400"/>
              <a:pPr algn="r">
                <a:spcBef>
                  <a:spcPct val="0"/>
                </a:spcBef>
                <a:buClrTx/>
                <a:buFontTx/>
                <a:buNone/>
              </a:pPr>
              <a:t>43</a:t>
            </a:fld>
            <a:endParaRPr lang="en-US" altLang="en-US" sz="1400" dirty="0"/>
          </a:p>
        </p:txBody>
      </p:sp>
      <p:sp>
        <p:nvSpPr>
          <p:cNvPr id="9" name="Title 4">
            <a:extLst>
              <a:ext uri="{FF2B5EF4-FFF2-40B4-BE49-F238E27FC236}">
                <a16:creationId xmlns:a16="http://schemas.microsoft.com/office/drawing/2014/main" id="{1341A61F-48A0-43D5-9758-EF38256663D5}"/>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rPr>
            </a:br>
            <a:r>
              <a:rPr lang="es-AR" sz="3200" kern="0" dirty="0">
                <a:solidFill>
                  <a:srgbClr val="000000"/>
                </a:solidFill>
              </a:rPr>
              <a:t>Venta cubierta – Venta descubierta (</a:t>
            </a:r>
            <a:r>
              <a:rPr lang="es-AR" sz="3200" i="1" kern="0" dirty="0">
                <a:solidFill>
                  <a:srgbClr val="000000"/>
                </a:solidFill>
              </a:rPr>
              <a:t>naked</a:t>
            </a:r>
            <a:r>
              <a:rPr lang="es-AR" sz="3200" kern="0" dirty="0">
                <a:solidFill>
                  <a:srgbClr val="000000"/>
                </a:solidFill>
              </a:rPr>
              <a:t>)</a:t>
            </a:r>
            <a:br>
              <a:rPr lang="es-AR" altLang="en-US" kern="0" dirty="0">
                <a:solidFill>
                  <a:srgbClr val="000000"/>
                </a:solidFill>
              </a:rPr>
            </a:br>
            <a:endParaRPr lang="en-US" kern="0" dirty="0"/>
          </a:p>
        </p:txBody>
      </p:sp>
      <p:sp>
        <p:nvSpPr>
          <p:cNvPr id="13" name="Rectangle 3">
            <a:extLst>
              <a:ext uri="{FF2B5EF4-FFF2-40B4-BE49-F238E27FC236}">
                <a16:creationId xmlns:a16="http://schemas.microsoft.com/office/drawing/2014/main" id="{8655340F-0C6A-4ACD-BA86-B68AD9F76388}"/>
              </a:ext>
            </a:extLst>
          </p:cNvPr>
          <p:cNvSpPr txBox="1">
            <a:spLocks noChangeArrowheads="1"/>
          </p:cNvSpPr>
          <p:nvPr/>
        </p:nvSpPr>
        <p:spPr bwMode="auto">
          <a:xfrm>
            <a:off x="1774825" y="1163638"/>
            <a:ext cx="86423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a:defRPr/>
            </a:pPr>
            <a:r>
              <a:rPr lang="es-AR" altLang="en-US" sz="2300" kern="0" dirty="0">
                <a:solidFill>
                  <a:srgbClr val="000000"/>
                </a:solidFill>
              </a:rPr>
              <a:t>La venta cubierta es una típica forma de </a:t>
            </a:r>
            <a:r>
              <a:rPr lang="es-AR" altLang="en-US" sz="2300" b="1" kern="0" dirty="0">
                <a:solidFill>
                  <a:schemeClr val="accent2">
                    <a:lumMod val="60000"/>
                    <a:lumOff val="40000"/>
                  </a:schemeClr>
                </a:solidFill>
              </a:rPr>
              <a:t>cubrir riesgo </a:t>
            </a:r>
            <a:r>
              <a:rPr lang="es-AR" altLang="en-US" sz="2300" kern="0" dirty="0">
                <a:solidFill>
                  <a:srgbClr val="000000"/>
                </a:solidFill>
              </a:rPr>
              <a:t>ante una posición en el mercado.</a:t>
            </a:r>
          </a:p>
          <a:p>
            <a:pPr>
              <a:defRPr/>
            </a:pPr>
            <a:endParaRPr lang="es-AR" altLang="en-US" sz="2300" kern="0" dirty="0">
              <a:solidFill>
                <a:srgbClr val="000000"/>
              </a:solidFill>
            </a:endParaRPr>
          </a:p>
          <a:p>
            <a:pPr>
              <a:defRPr/>
            </a:pPr>
            <a:r>
              <a:rPr lang="es-AR" altLang="en-US" sz="2300" kern="0" dirty="0">
                <a:solidFill>
                  <a:srgbClr val="000000"/>
                </a:solidFill>
              </a:rPr>
              <a:t>El riesgo que se asume ante una venta descubierta es </a:t>
            </a:r>
            <a:r>
              <a:rPr lang="es-AR" altLang="en-US" sz="2300" b="1" kern="0" dirty="0">
                <a:solidFill>
                  <a:schemeClr val="accent2">
                    <a:lumMod val="60000"/>
                    <a:lumOff val="40000"/>
                  </a:schemeClr>
                </a:solidFill>
              </a:rPr>
              <a:t>mucho mayor </a:t>
            </a:r>
            <a:r>
              <a:rPr lang="es-AR" altLang="en-US" sz="2300" kern="0" dirty="0">
                <a:solidFill>
                  <a:srgbClr val="000000"/>
                </a:solidFill>
              </a:rPr>
              <a:t>al de una venta cubierta. </a:t>
            </a:r>
          </a:p>
          <a:p>
            <a:pPr>
              <a:defRPr/>
            </a:pPr>
            <a:endParaRPr lang="es-AR" altLang="en-US" sz="2300" kern="0" dirty="0">
              <a:solidFill>
                <a:srgbClr val="000000"/>
              </a:solidFill>
            </a:endParaRPr>
          </a:p>
          <a:p>
            <a:pPr>
              <a:defRPr/>
            </a:pPr>
            <a:r>
              <a:rPr lang="es-AR" altLang="en-US" sz="2300" kern="0" dirty="0">
                <a:solidFill>
                  <a:srgbClr val="000000"/>
                </a:solidFill>
              </a:rPr>
              <a:t>Muchos </a:t>
            </a:r>
            <a:r>
              <a:rPr lang="es-AR" altLang="en-US" sz="2300" i="1" kern="0" dirty="0">
                <a:solidFill>
                  <a:srgbClr val="000000"/>
                </a:solidFill>
              </a:rPr>
              <a:t>brokers</a:t>
            </a:r>
            <a:r>
              <a:rPr lang="es-AR" altLang="en-US" sz="2300" kern="0" dirty="0">
                <a:solidFill>
                  <a:srgbClr val="000000"/>
                </a:solidFill>
              </a:rPr>
              <a:t> </a:t>
            </a:r>
            <a:r>
              <a:rPr lang="es-AR" altLang="en-US" sz="2300" b="1" kern="0" dirty="0">
                <a:solidFill>
                  <a:schemeClr val="accent2">
                    <a:lumMod val="60000"/>
                    <a:lumOff val="40000"/>
                  </a:schemeClr>
                </a:solidFill>
              </a:rPr>
              <a:t>no permiten</a:t>
            </a:r>
            <a:r>
              <a:rPr lang="es-AR" altLang="en-US" sz="2300" b="1" kern="0" dirty="0">
                <a:solidFill>
                  <a:srgbClr val="000000"/>
                </a:solidFill>
              </a:rPr>
              <a:t> </a:t>
            </a:r>
            <a:r>
              <a:rPr lang="es-AR" altLang="en-US" sz="2300" kern="0" dirty="0">
                <a:solidFill>
                  <a:srgbClr val="000000"/>
                </a:solidFill>
              </a:rPr>
              <a:t>la venta descubierta (a nivel minorista)</a:t>
            </a:r>
          </a:p>
          <a:p>
            <a:pPr>
              <a:defRPr/>
            </a:pPr>
            <a:endParaRPr lang="es-AR" altLang="en-US" sz="2300" kern="0" dirty="0">
              <a:solidFill>
                <a:srgbClr val="000000"/>
              </a:solidFill>
            </a:endParaRPr>
          </a:p>
          <a:p>
            <a:pPr>
              <a:defRPr/>
            </a:pPr>
            <a:r>
              <a:rPr lang="es-AR" altLang="en-US" sz="2300" kern="0" dirty="0">
                <a:solidFill>
                  <a:srgbClr val="000000"/>
                </a:solidFill>
              </a:rPr>
              <a:t>Las opciones tienen </a:t>
            </a:r>
            <a:r>
              <a:rPr lang="es-AR" altLang="en-US" sz="2300" b="1" kern="0" dirty="0">
                <a:solidFill>
                  <a:schemeClr val="accent2">
                    <a:lumMod val="60000"/>
                    <a:lumOff val="40000"/>
                  </a:schemeClr>
                </a:solidFill>
              </a:rPr>
              <a:t>costos de transacción</a:t>
            </a:r>
            <a:r>
              <a:rPr lang="es-AR" altLang="en-US" sz="2300" b="1" kern="0" dirty="0">
                <a:solidFill>
                  <a:srgbClr val="000000"/>
                </a:solidFill>
              </a:rPr>
              <a:t> </a:t>
            </a:r>
            <a:r>
              <a:rPr lang="es-AR" altLang="en-US" sz="2300" kern="0" dirty="0">
                <a:solidFill>
                  <a:srgbClr val="000000"/>
                </a:solidFill>
              </a:rPr>
              <a:t>(</a:t>
            </a:r>
            <a:r>
              <a:rPr lang="es-AR" altLang="en-US" sz="2300" i="1" kern="0" dirty="0" err="1">
                <a:solidFill>
                  <a:srgbClr val="000000"/>
                </a:solidFill>
              </a:rPr>
              <a:t>fees</a:t>
            </a:r>
            <a:r>
              <a:rPr lang="es-AR" altLang="en-US" sz="2300" kern="0" dirty="0">
                <a:solidFill>
                  <a:srgbClr val="000000"/>
                </a:solidFill>
              </a:rPr>
              <a:t>) que suelen ir en parte a las </a:t>
            </a:r>
            <a:r>
              <a:rPr lang="es-AR" altLang="en-US" sz="2300" i="1" kern="0" dirty="0" err="1">
                <a:solidFill>
                  <a:srgbClr val="000000"/>
                </a:solidFill>
              </a:rPr>
              <a:t>clearing</a:t>
            </a:r>
            <a:r>
              <a:rPr lang="es-AR" altLang="en-US" sz="2300" i="1" kern="0" dirty="0">
                <a:solidFill>
                  <a:srgbClr val="000000"/>
                </a:solidFill>
              </a:rPr>
              <a:t> </a:t>
            </a:r>
            <a:r>
              <a:rPr lang="es-AR" altLang="en-US" sz="2300" i="1" kern="0" dirty="0" err="1">
                <a:solidFill>
                  <a:srgbClr val="000000"/>
                </a:solidFill>
              </a:rPr>
              <a:t>houses</a:t>
            </a:r>
            <a:r>
              <a:rPr lang="es-AR" altLang="en-US" sz="2300" i="1" kern="0" dirty="0">
                <a:solidFill>
                  <a:srgbClr val="000000"/>
                </a:solidFill>
              </a:rPr>
              <a:t>.</a:t>
            </a:r>
          </a:p>
          <a:p>
            <a:pPr>
              <a:defRPr/>
            </a:pPr>
            <a:endParaRPr lang="es-AR" altLang="en-US" sz="2300" kern="0" dirty="0">
              <a:solidFill>
                <a:srgbClr val="000000"/>
              </a:solidFill>
            </a:endParaRPr>
          </a:p>
          <a:p>
            <a:pPr>
              <a:defRPr/>
            </a:pPr>
            <a:r>
              <a:rPr lang="es-AR" altLang="en-US" sz="2300" kern="0" dirty="0">
                <a:solidFill>
                  <a:srgbClr val="000000"/>
                </a:solidFill>
              </a:rPr>
              <a:t>Los contratos suelen ser por </a:t>
            </a:r>
            <a:r>
              <a:rPr lang="es-AR" altLang="en-US" sz="2300" b="1" kern="0" dirty="0">
                <a:solidFill>
                  <a:schemeClr val="accent2">
                    <a:lumMod val="60000"/>
                    <a:lumOff val="40000"/>
                  </a:schemeClr>
                </a:solidFill>
              </a:rPr>
              <a:t>100 unidades del subyacente (lote)</a:t>
            </a:r>
          </a:p>
          <a:p>
            <a:pPr>
              <a:defRPr/>
            </a:pPr>
            <a:endParaRPr lang="es-AR" altLang="en-US" sz="2300" i="1" kern="0" dirty="0">
              <a:solidFill>
                <a:srgbClr val="000000"/>
              </a:solidFill>
            </a:endParaRPr>
          </a:p>
          <a:p>
            <a:pPr>
              <a:defRPr/>
            </a:pPr>
            <a:endParaRPr lang="es-AR" altLang="en-US" sz="2300" b="1" kern="0" dirty="0">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8B4669B2-1E8C-47D5-AC61-37B110FA0AD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63176D-DC89-40F6-A95D-383C0B8A0E6C}" type="slidenum">
              <a:rPr lang="en-US" altLang="en-US" smtClean="0">
                <a:solidFill>
                  <a:srgbClr val="4D4D4D"/>
                </a:solidFill>
                <a:latin typeface="Calibri" panose="020F0502020204030204" pitchFamily="34" charset="0"/>
              </a:rPr>
              <a:pPr/>
              <a:t>44</a:t>
            </a:fld>
            <a:endParaRPr lang="en-US" altLang="en-US" dirty="0">
              <a:solidFill>
                <a:srgbClr val="4D4D4D"/>
              </a:solidFill>
              <a:latin typeface="Calibri" panose="020F0502020204030204" pitchFamily="34" charset="0"/>
            </a:endParaRPr>
          </a:p>
        </p:txBody>
      </p:sp>
      <p:sp>
        <p:nvSpPr>
          <p:cNvPr id="25603" name="Slide Number Placeholder 3">
            <a:extLst>
              <a:ext uri="{FF2B5EF4-FFF2-40B4-BE49-F238E27FC236}">
                <a16:creationId xmlns:a16="http://schemas.microsoft.com/office/drawing/2014/main" id="{5E4F974F-AC26-423F-8AB2-C60F7FD7742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C898449C-3F71-4D9C-A9EE-CF7EB9F53AC2}" type="slidenum">
              <a:rPr lang="en-US" altLang="en-US" sz="1400"/>
              <a:pPr algn="r">
                <a:spcBef>
                  <a:spcPct val="0"/>
                </a:spcBef>
                <a:buClrTx/>
                <a:buFontTx/>
                <a:buNone/>
              </a:pPr>
              <a:t>44</a:t>
            </a:fld>
            <a:endParaRPr lang="en-US" altLang="en-US" sz="1400" dirty="0"/>
          </a:p>
        </p:txBody>
      </p:sp>
      <p:sp>
        <p:nvSpPr>
          <p:cNvPr id="9" name="Title 4">
            <a:extLst>
              <a:ext uri="{FF2B5EF4-FFF2-40B4-BE49-F238E27FC236}">
                <a16:creationId xmlns:a16="http://schemas.microsoft.com/office/drawing/2014/main" id="{1341A61F-48A0-43D5-9758-EF38256663D5}"/>
              </a:ext>
            </a:extLst>
          </p:cNvPr>
          <p:cNvSpPr txBox="1">
            <a:spLocks/>
          </p:cNvSpPr>
          <p:nvPr/>
        </p:nvSpPr>
        <p:spPr>
          <a:xfrm>
            <a:off x="1828800" y="-39688"/>
            <a:ext cx="8731696"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rPr>
            </a:br>
            <a:r>
              <a:rPr lang="es-AR" sz="3200" kern="0" dirty="0">
                <a:solidFill>
                  <a:srgbClr val="000000"/>
                </a:solidFill>
              </a:rPr>
              <a:t>Comentarios de la operatoria –margen (1/2)</a:t>
            </a:r>
            <a:endParaRPr lang="en-US" kern="0" dirty="0"/>
          </a:p>
        </p:txBody>
      </p:sp>
      <p:sp>
        <p:nvSpPr>
          <p:cNvPr id="13" name="Rectangle 3">
            <a:extLst>
              <a:ext uri="{FF2B5EF4-FFF2-40B4-BE49-F238E27FC236}">
                <a16:creationId xmlns:a16="http://schemas.microsoft.com/office/drawing/2014/main" id="{8655340F-0C6A-4ACD-BA86-B68AD9F76388}"/>
              </a:ext>
            </a:extLst>
          </p:cNvPr>
          <p:cNvSpPr txBox="1">
            <a:spLocks noChangeArrowheads="1"/>
          </p:cNvSpPr>
          <p:nvPr/>
        </p:nvSpPr>
        <p:spPr bwMode="auto">
          <a:xfrm>
            <a:off x="1774825" y="1118793"/>
            <a:ext cx="86423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a:defRPr/>
            </a:pPr>
            <a:endParaRPr lang="es-AR" altLang="en-US" sz="2300" kern="0" dirty="0">
              <a:solidFill>
                <a:srgbClr val="000000"/>
              </a:solidFill>
            </a:endParaRPr>
          </a:p>
          <a:p>
            <a:pPr>
              <a:defRPr/>
            </a:pPr>
            <a:r>
              <a:rPr lang="es-AR" altLang="en-US" sz="2100" kern="0" dirty="0">
                <a:solidFill>
                  <a:srgbClr val="000000"/>
                </a:solidFill>
              </a:rPr>
              <a:t>La prima de una opción </a:t>
            </a:r>
            <a:r>
              <a:rPr lang="es-AR" altLang="en-US" sz="2100" b="1" kern="0" dirty="0">
                <a:solidFill>
                  <a:schemeClr val="accent6">
                    <a:lumMod val="60000"/>
                    <a:lumOff val="40000"/>
                  </a:schemeClr>
                </a:solidFill>
              </a:rPr>
              <a:t>NO* </a:t>
            </a:r>
            <a:r>
              <a:rPr lang="es-AR" altLang="en-US" sz="2100" kern="0" dirty="0">
                <a:solidFill>
                  <a:srgbClr val="000000"/>
                </a:solidFill>
              </a:rPr>
              <a:t>puede pagarse con margen.</a:t>
            </a:r>
          </a:p>
          <a:p>
            <a:pPr>
              <a:defRPr/>
            </a:pPr>
            <a:r>
              <a:rPr lang="es-AR" altLang="en-US" sz="2100" kern="0" dirty="0">
                <a:solidFill>
                  <a:srgbClr val="000000"/>
                </a:solidFill>
              </a:rPr>
              <a:t>La venta descubierta implica la necesidad de margen y el potencial riesgo al </a:t>
            </a:r>
            <a:r>
              <a:rPr lang="es-AR" altLang="en-US" sz="2100" b="1" i="1" kern="0" dirty="0" err="1">
                <a:solidFill>
                  <a:schemeClr val="accent2">
                    <a:lumMod val="60000"/>
                    <a:lumOff val="40000"/>
                  </a:schemeClr>
                </a:solidFill>
              </a:rPr>
              <a:t>margin</a:t>
            </a:r>
            <a:r>
              <a:rPr lang="es-AR" altLang="en-US" sz="2100" b="1" i="1" kern="0" dirty="0">
                <a:solidFill>
                  <a:schemeClr val="accent2">
                    <a:lumMod val="60000"/>
                    <a:lumOff val="40000"/>
                  </a:schemeClr>
                </a:solidFill>
              </a:rPr>
              <a:t> </a:t>
            </a:r>
            <a:r>
              <a:rPr lang="es-AR" altLang="en-US" sz="2100" b="1" i="1" kern="0" dirty="0" err="1">
                <a:solidFill>
                  <a:schemeClr val="accent2">
                    <a:lumMod val="60000"/>
                    <a:lumOff val="40000"/>
                  </a:schemeClr>
                </a:solidFill>
              </a:rPr>
              <a:t>call</a:t>
            </a:r>
            <a:endParaRPr lang="es-AR" altLang="en-US" sz="2100" kern="0" dirty="0">
              <a:solidFill>
                <a:srgbClr val="000000"/>
              </a:solidFill>
            </a:endParaRPr>
          </a:p>
          <a:p>
            <a:pPr marL="0" indent="0">
              <a:buNone/>
              <a:defRPr/>
            </a:pPr>
            <a:endParaRPr lang="es-AR" altLang="en-US" sz="2100" kern="0" dirty="0">
              <a:solidFill>
                <a:srgbClr val="000000"/>
              </a:solidFill>
            </a:endParaRPr>
          </a:p>
          <a:p>
            <a:pPr marL="0" indent="0">
              <a:buNone/>
              <a:defRPr/>
            </a:pPr>
            <a:r>
              <a:rPr lang="es-AR" altLang="en-US" sz="2100" kern="0" dirty="0">
                <a:solidFill>
                  <a:srgbClr val="000000"/>
                </a:solidFill>
              </a:rPr>
              <a:t>Ejemplo de requerimientos de </a:t>
            </a:r>
            <a:r>
              <a:rPr lang="es-AR" altLang="en-US" sz="2100" b="1" kern="0" dirty="0">
                <a:solidFill>
                  <a:schemeClr val="accent2">
                    <a:lumMod val="60000"/>
                    <a:lumOff val="40000"/>
                  </a:schemeClr>
                </a:solidFill>
              </a:rPr>
              <a:t>margen</a:t>
            </a:r>
            <a:r>
              <a:rPr lang="es-AR" altLang="en-US" sz="2100" kern="0" dirty="0">
                <a:solidFill>
                  <a:srgbClr val="000000"/>
                </a:solidFill>
              </a:rPr>
              <a:t> (CBOE):</a:t>
            </a:r>
          </a:p>
          <a:p>
            <a:pPr marL="0" indent="0">
              <a:buNone/>
              <a:defRPr/>
            </a:pPr>
            <a:endParaRPr lang="es-AR" altLang="en-US" sz="2100" b="1" i="1" kern="0" dirty="0">
              <a:solidFill>
                <a:schemeClr val="accent2">
                  <a:lumMod val="60000"/>
                  <a:lumOff val="40000"/>
                </a:schemeClr>
              </a:solidFill>
            </a:endParaRPr>
          </a:p>
          <a:p>
            <a:pPr marL="0" indent="0">
              <a:buNone/>
              <a:defRPr/>
            </a:pPr>
            <a:r>
              <a:rPr lang="es-ES" altLang="en-US" sz="1800" kern="0" dirty="0">
                <a:solidFill>
                  <a:srgbClr val="000000"/>
                </a:solidFill>
              </a:rPr>
              <a:t>Una opción desnuda es una opción que no se combina con una posición activo subyacente. El margen inicial y de mantenimiento requerido por el CBOE para una opción </a:t>
            </a:r>
            <a:r>
              <a:rPr lang="es-ES" altLang="en-US" sz="1800" i="1" kern="0" dirty="0" err="1">
                <a:solidFill>
                  <a:srgbClr val="000000"/>
                </a:solidFill>
              </a:rPr>
              <a:t>call</a:t>
            </a:r>
            <a:r>
              <a:rPr lang="es-ES" altLang="en-US" sz="1800" kern="0" dirty="0">
                <a:solidFill>
                  <a:srgbClr val="000000"/>
                </a:solidFill>
              </a:rPr>
              <a:t> descubierta es el mayor de los dos cálculos siguientes:</a:t>
            </a:r>
            <a:br>
              <a:rPr lang="es-ES" altLang="en-US" sz="1800" kern="0" dirty="0">
                <a:solidFill>
                  <a:srgbClr val="000000"/>
                </a:solidFill>
              </a:rPr>
            </a:br>
            <a:br>
              <a:rPr lang="es-ES" altLang="en-US" sz="1800" kern="0" dirty="0">
                <a:solidFill>
                  <a:srgbClr val="000000"/>
                </a:solidFill>
              </a:rPr>
            </a:br>
            <a:r>
              <a:rPr lang="es-ES" altLang="en-US" sz="1800" kern="0" dirty="0">
                <a:solidFill>
                  <a:srgbClr val="000000"/>
                </a:solidFill>
              </a:rPr>
              <a:t>1) El 100% de los ingresos de la venta </a:t>
            </a:r>
            <a:r>
              <a:rPr lang="es-ES" altLang="en-US" sz="1800" b="1" kern="0" dirty="0">
                <a:solidFill>
                  <a:srgbClr val="000000"/>
                </a:solidFill>
              </a:rPr>
              <a:t>más</a:t>
            </a:r>
            <a:r>
              <a:rPr lang="es-ES" altLang="en-US" sz="1800" kern="0" dirty="0">
                <a:solidFill>
                  <a:srgbClr val="000000"/>
                </a:solidFill>
              </a:rPr>
              <a:t> el 20% del precio del activo subyacente precio </a:t>
            </a:r>
            <a:r>
              <a:rPr lang="es-ES" altLang="en-US" sz="1800" b="1" kern="0" dirty="0">
                <a:solidFill>
                  <a:srgbClr val="000000"/>
                </a:solidFill>
              </a:rPr>
              <a:t>menos</a:t>
            </a:r>
            <a:r>
              <a:rPr lang="es-ES" altLang="en-US" sz="1800" kern="0" dirty="0">
                <a:solidFill>
                  <a:srgbClr val="000000"/>
                </a:solidFill>
              </a:rPr>
              <a:t> la cantidad, si la hay, por el cual la opción está fuera del dinero.</a:t>
            </a:r>
            <a:br>
              <a:rPr lang="es-ES" altLang="en-US" sz="1800" kern="0" dirty="0">
                <a:solidFill>
                  <a:srgbClr val="000000"/>
                </a:solidFill>
              </a:rPr>
            </a:br>
            <a:r>
              <a:rPr lang="es-ES" altLang="en-US" sz="1800" kern="0" dirty="0">
                <a:solidFill>
                  <a:srgbClr val="000000"/>
                </a:solidFill>
              </a:rPr>
              <a:t>2) El 100% de los ingresos de la venta </a:t>
            </a:r>
            <a:r>
              <a:rPr lang="es-ES" altLang="en-US" sz="1800" b="1" kern="0" dirty="0">
                <a:solidFill>
                  <a:srgbClr val="000000"/>
                </a:solidFill>
              </a:rPr>
              <a:t>más</a:t>
            </a:r>
            <a:r>
              <a:rPr lang="es-ES" altLang="en-US" sz="1800" kern="0" dirty="0">
                <a:solidFill>
                  <a:srgbClr val="000000"/>
                </a:solidFill>
              </a:rPr>
              <a:t> el 10% del precio del activo subyacente.</a:t>
            </a:r>
            <a:endParaRPr lang="es-AR" altLang="en-US" sz="1800" kern="0" dirty="0">
              <a:solidFill>
                <a:srgbClr val="000000"/>
              </a:solidFill>
            </a:endParaRPr>
          </a:p>
        </p:txBody>
      </p:sp>
      <p:sp>
        <p:nvSpPr>
          <p:cNvPr id="2" name="Rectangle 1">
            <a:extLst>
              <a:ext uri="{FF2B5EF4-FFF2-40B4-BE49-F238E27FC236}">
                <a16:creationId xmlns:a16="http://schemas.microsoft.com/office/drawing/2014/main" id="{B0441C5B-A1D3-4537-A45A-EB575CE4A6A8}"/>
              </a:ext>
            </a:extLst>
          </p:cNvPr>
          <p:cNvSpPr/>
          <p:nvPr/>
        </p:nvSpPr>
        <p:spPr>
          <a:xfrm>
            <a:off x="1828800" y="3789040"/>
            <a:ext cx="8443664" cy="21602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2838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8B4669B2-1E8C-47D5-AC61-37B110FA0AD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63176D-DC89-40F6-A95D-383C0B8A0E6C}" type="slidenum">
              <a:rPr lang="en-US" altLang="en-US" smtClean="0">
                <a:solidFill>
                  <a:srgbClr val="4D4D4D"/>
                </a:solidFill>
                <a:latin typeface="Calibri" panose="020F0502020204030204" pitchFamily="34" charset="0"/>
              </a:rPr>
              <a:pPr/>
              <a:t>45</a:t>
            </a:fld>
            <a:endParaRPr lang="en-US" altLang="en-US" dirty="0">
              <a:solidFill>
                <a:srgbClr val="4D4D4D"/>
              </a:solidFill>
              <a:latin typeface="Calibri" panose="020F0502020204030204" pitchFamily="34" charset="0"/>
            </a:endParaRPr>
          </a:p>
        </p:txBody>
      </p:sp>
      <p:sp>
        <p:nvSpPr>
          <p:cNvPr id="25603" name="Slide Number Placeholder 3">
            <a:extLst>
              <a:ext uri="{FF2B5EF4-FFF2-40B4-BE49-F238E27FC236}">
                <a16:creationId xmlns:a16="http://schemas.microsoft.com/office/drawing/2014/main" id="{5E4F974F-AC26-423F-8AB2-C60F7FD7742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C898449C-3F71-4D9C-A9EE-CF7EB9F53AC2}" type="slidenum">
              <a:rPr lang="en-US" altLang="en-US" sz="1400"/>
              <a:pPr algn="r">
                <a:spcBef>
                  <a:spcPct val="0"/>
                </a:spcBef>
                <a:buClrTx/>
                <a:buFontTx/>
                <a:buNone/>
              </a:pPr>
              <a:t>45</a:t>
            </a:fld>
            <a:endParaRPr lang="en-US" altLang="en-US" sz="1400" dirty="0"/>
          </a:p>
        </p:txBody>
      </p:sp>
      <p:sp>
        <p:nvSpPr>
          <p:cNvPr id="9" name="Title 4">
            <a:extLst>
              <a:ext uri="{FF2B5EF4-FFF2-40B4-BE49-F238E27FC236}">
                <a16:creationId xmlns:a16="http://schemas.microsoft.com/office/drawing/2014/main" id="{1341A61F-48A0-43D5-9758-EF38256663D5}"/>
              </a:ext>
            </a:extLst>
          </p:cNvPr>
          <p:cNvSpPr txBox="1">
            <a:spLocks/>
          </p:cNvSpPr>
          <p:nvPr/>
        </p:nvSpPr>
        <p:spPr>
          <a:xfrm>
            <a:off x="1828800" y="-39688"/>
            <a:ext cx="8731696"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rPr>
            </a:br>
            <a:r>
              <a:rPr lang="es-AR" sz="3200" kern="0" dirty="0">
                <a:solidFill>
                  <a:srgbClr val="000000"/>
                </a:solidFill>
              </a:rPr>
              <a:t>Comentarios de la operatoria –margen (2/2)</a:t>
            </a:r>
            <a:endParaRPr lang="en-US" kern="0" dirty="0"/>
          </a:p>
        </p:txBody>
      </p:sp>
      <p:sp>
        <p:nvSpPr>
          <p:cNvPr id="13" name="Rectangle 3">
            <a:extLst>
              <a:ext uri="{FF2B5EF4-FFF2-40B4-BE49-F238E27FC236}">
                <a16:creationId xmlns:a16="http://schemas.microsoft.com/office/drawing/2014/main" id="{8655340F-0C6A-4ACD-BA86-B68AD9F76388}"/>
              </a:ext>
            </a:extLst>
          </p:cNvPr>
          <p:cNvSpPr txBox="1">
            <a:spLocks noChangeArrowheads="1"/>
          </p:cNvSpPr>
          <p:nvPr/>
        </p:nvSpPr>
        <p:spPr bwMode="auto">
          <a:xfrm>
            <a:off x="1774825" y="1118793"/>
            <a:ext cx="86423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defRPr/>
            </a:pPr>
            <a:endParaRPr lang="es-ES" altLang="en-US" sz="1800" kern="0" dirty="0">
              <a:solidFill>
                <a:srgbClr val="000000"/>
              </a:solidFill>
            </a:endParaRPr>
          </a:p>
          <a:p>
            <a:pPr marL="0" indent="0">
              <a:buNone/>
              <a:defRPr/>
            </a:pPr>
            <a:r>
              <a:rPr lang="es-ES" altLang="en-US" sz="1800" kern="0" dirty="0">
                <a:solidFill>
                  <a:srgbClr val="000000"/>
                </a:solidFill>
              </a:rPr>
              <a:t>Para una opción </a:t>
            </a:r>
            <a:r>
              <a:rPr lang="es-ES" altLang="en-US" sz="1800" i="1" kern="0" dirty="0" err="1">
                <a:solidFill>
                  <a:srgbClr val="000000"/>
                </a:solidFill>
              </a:rPr>
              <a:t>put</a:t>
            </a:r>
            <a:r>
              <a:rPr lang="es-ES" altLang="en-US" sz="1800" kern="0" dirty="0">
                <a:solidFill>
                  <a:srgbClr val="000000"/>
                </a:solidFill>
              </a:rPr>
              <a:t> descubierta el margen es el mayor entre:</a:t>
            </a:r>
            <a:br>
              <a:rPr lang="es-ES" altLang="en-US" sz="1800" kern="0" dirty="0">
                <a:solidFill>
                  <a:srgbClr val="000000"/>
                </a:solidFill>
              </a:rPr>
            </a:br>
            <a:r>
              <a:rPr lang="es-ES" altLang="en-US" sz="1800" kern="0" dirty="0">
                <a:solidFill>
                  <a:srgbClr val="000000"/>
                </a:solidFill>
              </a:rPr>
              <a:t>1) El 100% de los ingresos de la venta </a:t>
            </a:r>
            <a:r>
              <a:rPr lang="es-ES" altLang="en-US" sz="1800" b="1" kern="0" dirty="0">
                <a:solidFill>
                  <a:srgbClr val="000000"/>
                </a:solidFill>
              </a:rPr>
              <a:t>más</a:t>
            </a:r>
            <a:r>
              <a:rPr lang="es-ES" altLang="en-US" sz="1800" kern="0" dirty="0">
                <a:solidFill>
                  <a:srgbClr val="000000"/>
                </a:solidFill>
              </a:rPr>
              <a:t> el 20% del precio del activo subyacente </a:t>
            </a:r>
            <a:r>
              <a:rPr lang="es-ES" altLang="en-US" sz="1800" b="1" kern="0" dirty="0">
                <a:solidFill>
                  <a:srgbClr val="000000"/>
                </a:solidFill>
              </a:rPr>
              <a:t>menos</a:t>
            </a:r>
            <a:r>
              <a:rPr lang="es-ES" altLang="en-US" sz="1800" kern="0" dirty="0">
                <a:solidFill>
                  <a:srgbClr val="000000"/>
                </a:solidFill>
              </a:rPr>
              <a:t> la cantidad, si la hay, por el cual la opción está fuera del dinero.</a:t>
            </a:r>
            <a:br>
              <a:rPr lang="es-ES" altLang="en-US" sz="1800" kern="0" dirty="0">
                <a:solidFill>
                  <a:srgbClr val="000000"/>
                </a:solidFill>
              </a:rPr>
            </a:br>
            <a:r>
              <a:rPr lang="es-ES" altLang="en-US" sz="1800" kern="0" dirty="0">
                <a:solidFill>
                  <a:srgbClr val="000000"/>
                </a:solidFill>
              </a:rPr>
              <a:t>2) El 100% de los ingresos de la opción </a:t>
            </a:r>
            <a:r>
              <a:rPr lang="es-ES" altLang="en-US" sz="1800" b="1" kern="0" dirty="0">
                <a:solidFill>
                  <a:srgbClr val="000000"/>
                </a:solidFill>
              </a:rPr>
              <a:t>más</a:t>
            </a:r>
            <a:r>
              <a:rPr lang="es-ES" altLang="en-US" sz="1800" kern="0" dirty="0">
                <a:solidFill>
                  <a:srgbClr val="000000"/>
                </a:solidFill>
              </a:rPr>
              <a:t> el 10% del precio de ejercicio.</a:t>
            </a:r>
            <a:br>
              <a:rPr lang="es-ES" altLang="en-US" sz="1800" kern="0" dirty="0">
                <a:solidFill>
                  <a:srgbClr val="000000"/>
                </a:solidFill>
              </a:rPr>
            </a:br>
            <a:br>
              <a:rPr lang="es-ES" altLang="en-US" sz="1800" kern="0" dirty="0">
                <a:solidFill>
                  <a:srgbClr val="000000"/>
                </a:solidFill>
              </a:rPr>
            </a:br>
            <a:r>
              <a:rPr lang="es-ES" altLang="en-US" sz="1800" kern="0" dirty="0">
                <a:solidFill>
                  <a:srgbClr val="000000"/>
                </a:solidFill>
              </a:rPr>
              <a:t>El 20% en los cálculos anteriores se sustituye por un 15% para las opciones sobre índices, dado que un índice bursátil suele ser menos volátil que el precio de una acción. </a:t>
            </a:r>
          </a:p>
          <a:p>
            <a:pPr marL="0" indent="0">
              <a:buNone/>
            </a:pPr>
            <a:r>
              <a:rPr lang="es-AR" sz="2100" b="1" kern="0" dirty="0" err="1">
                <a:solidFill>
                  <a:schemeClr val="accent6">
                    <a:lumMod val="60000"/>
                    <a:lumOff val="40000"/>
                  </a:schemeClr>
                </a:solidFill>
              </a:rPr>
              <a:t>Ej</a:t>
            </a:r>
            <a:r>
              <a:rPr lang="es-AR" sz="2100" b="1" kern="0" dirty="0">
                <a:solidFill>
                  <a:schemeClr val="accent6">
                    <a:lumMod val="60000"/>
                    <a:lumOff val="40000"/>
                  </a:schemeClr>
                </a:solidFill>
              </a:rPr>
              <a:t>:</a:t>
            </a:r>
            <a:r>
              <a:rPr lang="es-AR" sz="2100" kern="0" dirty="0">
                <a:solidFill>
                  <a:srgbClr val="000000"/>
                </a:solidFill>
              </a:rPr>
              <a:t> Un inversor escribe una opción </a:t>
            </a:r>
            <a:r>
              <a:rPr lang="es-AR" sz="2100" i="1" kern="0" dirty="0" err="1">
                <a:solidFill>
                  <a:srgbClr val="000000"/>
                </a:solidFill>
              </a:rPr>
              <a:t>call</a:t>
            </a:r>
            <a:r>
              <a:rPr lang="es-AR" sz="2100" kern="0" dirty="0">
                <a:solidFill>
                  <a:srgbClr val="000000"/>
                </a:solidFill>
              </a:rPr>
              <a:t> descubierta sobre un activo. El precio de la opción es $5, el precio de ejercicio es $40, y el precio del activo subyacente es $38. El margen será el máximo entre:</a:t>
            </a:r>
          </a:p>
          <a:p>
            <a:pPr lvl="1"/>
            <a:r>
              <a:rPr lang="en-US" sz="2100" kern="0" dirty="0">
                <a:solidFill>
                  <a:srgbClr val="000000"/>
                </a:solidFill>
              </a:rPr>
              <a:t>100  x ($5 + $38x0.2 – $2) =</a:t>
            </a:r>
            <a:r>
              <a:rPr lang="en-US" sz="2100" b="1" kern="0" dirty="0">
                <a:solidFill>
                  <a:srgbClr val="000000"/>
                </a:solidFill>
              </a:rPr>
              <a:t> $1060</a:t>
            </a:r>
          </a:p>
          <a:p>
            <a:pPr lvl="1"/>
            <a:r>
              <a:rPr lang="en-US" sz="2100" kern="0" dirty="0">
                <a:solidFill>
                  <a:srgbClr val="000000"/>
                </a:solidFill>
              </a:rPr>
              <a:t>100  x ($5 + $38x0.1) = $880</a:t>
            </a:r>
          </a:p>
          <a:p>
            <a:pPr marL="0" indent="0">
              <a:buNone/>
              <a:defRPr/>
            </a:pPr>
            <a:r>
              <a:rPr lang="es-AR" altLang="en-US" sz="2100" i="1" kern="0" dirty="0">
                <a:solidFill>
                  <a:srgbClr val="000000"/>
                </a:solidFill>
              </a:rPr>
              <a:t>Obs1: 100x$38 = </a:t>
            </a:r>
            <a:r>
              <a:rPr lang="es-AR" altLang="en-US" sz="2100" b="1" i="1" kern="0" dirty="0">
                <a:solidFill>
                  <a:srgbClr val="000000"/>
                </a:solidFill>
              </a:rPr>
              <a:t>$3800 </a:t>
            </a:r>
            <a:r>
              <a:rPr lang="es-AR" altLang="en-US" sz="2100" i="1" kern="0" dirty="0">
                <a:solidFill>
                  <a:srgbClr val="000000"/>
                </a:solidFill>
              </a:rPr>
              <a:t>– es el valor nominal del contrato</a:t>
            </a:r>
          </a:p>
          <a:p>
            <a:pPr marL="0" indent="0">
              <a:buNone/>
              <a:defRPr/>
            </a:pPr>
            <a:r>
              <a:rPr lang="es-AR" altLang="en-US" sz="2100" i="1" kern="0" dirty="0">
                <a:solidFill>
                  <a:srgbClr val="000000"/>
                </a:solidFill>
              </a:rPr>
              <a:t>Obs2: Es dinámico: si subyacente=41, opción=6.5 margen= </a:t>
            </a:r>
            <a:r>
              <a:rPr lang="es-AR" altLang="en-US" sz="2100" b="1" i="1" kern="0" dirty="0">
                <a:solidFill>
                  <a:srgbClr val="000000"/>
                </a:solidFill>
              </a:rPr>
              <a:t>1470</a:t>
            </a:r>
            <a:r>
              <a:rPr lang="es-AR" altLang="en-US" sz="2100" i="1" kern="0" dirty="0">
                <a:solidFill>
                  <a:srgbClr val="000000"/>
                </a:solidFill>
              </a:rPr>
              <a:t> (+50%)</a:t>
            </a:r>
          </a:p>
          <a:p>
            <a:pPr marL="0" indent="0">
              <a:buNone/>
              <a:defRPr/>
            </a:pPr>
            <a:r>
              <a:rPr lang="es-AR" altLang="en-US" sz="2100" i="1" kern="0" dirty="0">
                <a:solidFill>
                  <a:srgbClr val="000000"/>
                </a:solidFill>
              </a:rPr>
              <a:t>                                   si subyacente=35, opción=4 margen= </a:t>
            </a:r>
            <a:r>
              <a:rPr lang="es-AR" altLang="en-US" sz="2100" i="1" kern="0" dirty="0" err="1">
                <a:solidFill>
                  <a:srgbClr val="000000"/>
                </a:solidFill>
              </a:rPr>
              <a:t>max</a:t>
            </a:r>
            <a:r>
              <a:rPr lang="es-AR" altLang="en-US" sz="2100" i="1" kern="0" dirty="0">
                <a:solidFill>
                  <a:srgbClr val="000000"/>
                </a:solidFill>
              </a:rPr>
              <a:t>(600,</a:t>
            </a:r>
            <a:r>
              <a:rPr lang="es-AR" altLang="en-US" sz="2100" b="1" i="1" kern="0" dirty="0">
                <a:solidFill>
                  <a:srgbClr val="000000"/>
                </a:solidFill>
              </a:rPr>
              <a:t>750</a:t>
            </a:r>
            <a:r>
              <a:rPr lang="es-AR" altLang="en-US" sz="2100" i="1" kern="0" dirty="0">
                <a:solidFill>
                  <a:srgbClr val="000000"/>
                </a:solidFill>
              </a:rPr>
              <a:t>)</a:t>
            </a:r>
          </a:p>
          <a:p>
            <a:pPr>
              <a:defRPr/>
            </a:pPr>
            <a:endParaRPr lang="es-AR" altLang="en-US" sz="2300" kern="0" dirty="0">
              <a:solidFill>
                <a:srgbClr val="000000"/>
              </a:solidFill>
            </a:endParaRPr>
          </a:p>
          <a:p>
            <a:pPr>
              <a:defRPr/>
            </a:pPr>
            <a:endParaRPr lang="es-AR" altLang="en-US" sz="2300" kern="0" dirty="0">
              <a:solidFill>
                <a:srgbClr val="000000"/>
              </a:solidFill>
            </a:endParaRPr>
          </a:p>
          <a:p>
            <a:pPr>
              <a:defRPr/>
            </a:pPr>
            <a:endParaRPr lang="es-AR" altLang="en-US" sz="2300" kern="0" dirty="0">
              <a:solidFill>
                <a:srgbClr val="000000"/>
              </a:solidFill>
            </a:endParaRPr>
          </a:p>
        </p:txBody>
      </p:sp>
      <p:sp>
        <p:nvSpPr>
          <p:cNvPr id="2" name="Rectangle 1">
            <a:extLst>
              <a:ext uri="{FF2B5EF4-FFF2-40B4-BE49-F238E27FC236}">
                <a16:creationId xmlns:a16="http://schemas.microsoft.com/office/drawing/2014/main" id="{BD7A1B48-86BA-4CD8-A43A-C2323F6C31A3}"/>
              </a:ext>
            </a:extLst>
          </p:cNvPr>
          <p:cNvSpPr/>
          <p:nvPr/>
        </p:nvSpPr>
        <p:spPr>
          <a:xfrm>
            <a:off x="1796249" y="1340768"/>
            <a:ext cx="8443664"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48542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a:extLst>
              <a:ext uri="{FF2B5EF4-FFF2-40B4-BE49-F238E27FC236}">
                <a16:creationId xmlns:a16="http://schemas.microsoft.com/office/drawing/2014/main" id="{7F196DA8-44B8-4869-8A55-AB3FFFCB253F}"/>
              </a:ext>
            </a:extLst>
          </p:cNvPr>
          <p:cNvSpPr>
            <a:spLocks noChangeArrowheads="1"/>
          </p:cNvSpPr>
          <p:nvPr/>
        </p:nvSpPr>
        <p:spPr bwMode="auto">
          <a:xfrm>
            <a:off x="1973263" y="1597025"/>
            <a:ext cx="5778500"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AR" altLang="en-US" sz="2300" dirty="0">
                <a:solidFill>
                  <a:srgbClr val="000000"/>
                </a:solidFill>
                <a:latin typeface="+mj-lt"/>
              </a:rPr>
              <a:t>Supongamos que las </a:t>
            </a:r>
            <a:r>
              <a:rPr lang="es-AR" altLang="en-US" sz="2300" b="1" dirty="0">
                <a:solidFill>
                  <a:schemeClr val="tx1">
                    <a:lumMod val="60000"/>
                    <a:lumOff val="40000"/>
                  </a:schemeClr>
                </a:solidFill>
                <a:latin typeface="+mj-lt"/>
              </a:rPr>
              <a:t>acciones de </a:t>
            </a:r>
            <a:r>
              <a:rPr lang="es-AR" altLang="en-US" sz="2300" b="1" i="1" dirty="0">
                <a:solidFill>
                  <a:schemeClr val="tx1">
                    <a:lumMod val="60000"/>
                    <a:lumOff val="40000"/>
                  </a:schemeClr>
                </a:solidFill>
                <a:latin typeface="+mj-lt"/>
              </a:rPr>
              <a:t>Apple</a:t>
            </a:r>
            <a:r>
              <a:rPr lang="es-AR" altLang="en-US" sz="2300" b="1" dirty="0">
                <a:solidFill>
                  <a:schemeClr val="tx1">
                    <a:lumMod val="60000"/>
                    <a:lumOff val="40000"/>
                  </a:schemeClr>
                </a:solidFill>
                <a:latin typeface="+mj-lt"/>
              </a:rPr>
              <a:t> </a:t>
            </a:r>
            <a:r>
              <a:rPr lang="es-AR" altLang="en-US" sz="2300" dirty="0">
                <a:solidFill>
                  <a:srgbClr val="000000"/>
                </a:solidFill>
                <a:latin typeface="+mj-lt"/>
              </a:rPr>
              <a:t>están a día de hoy a $200, y sabemos que en alrededor de tres meses va a sacar un nuevo </a:t>
            </a:r>
            <a:r>
              <a:rPr lang="es-AR" altLang="en-US" sz="2300" i="1" dirty="0" err="1">
                <a:solidFill>
                  <a:srgbClr val="000000"/>
                </a:solidFill>
                <a:latin typeface="+mj-lt"/>
              </a:rPr>
              <a:t>Iphone</a:t>
            </a:r>
            <a:r>
              <a:rPr lang="es-AR" altLang="en-US" sz="2300" dirty="0">
                <a:solidFill>
                  <a:srgbClr val="000000"/>
                </a:solidFill>
                <a:latin typeface="+mj-lt"/>
              </a:rPr>
              <a:t> y creemos que eso hará que suba el valor de sus acciones.</a:t>
            </a:r>
            <a:r>
              <a:rPr lang="en-US" altLang="en-US" dirty="0">
                <a:solidFill>
                  <a:srgbClr val="000000"/>
                </a:solidFill>
              </a:rPr>
              <a:t>  </a:t>
            </a:r>
          </a:p>
        </p:txBody>
      </p:sp>
      <p:pic>
        <p:nvPicPr>
          <p:cNvPr id="20483" name="Picture 8">
            <a:extLst>
              <a:ext uri="{FF2B5EF4-FFF2-40B4-BE49-F238E27FC236}">
                <a16:creationId xmlns:a16="http://schemas.microsoft.com/office/drawing/2014/main" id="{9D54174B-BD55-4C6F-AB68-17F082DD4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0689" y="1276351"/>
            <a:ext cx="17049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9F5C73FB-941B-47CF-B418-0D536575B00E}"/>
              </a:ext>
            </a:extLst>
          </p:cNvPr>
          <p:cNvSpPr>
            <a:spLocks noChangeArrowheads="1"/>
          </p:cNvSpPr>
          <p:nvPr/>
        </p:nvSpPr>
        <p:spPr bwMode="auto">
          <a:xfrm>
            <a:off x="1911351" y="3356992"/>
            <a:ext cx="8399463"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AR" altLang="en-US" sz="2300" b="1" dirty="0">
                <a:solidFill>
                  <a:srgbClr val="000000"/>
                </a:solidFill>
                <a:latin typeface="+mn-lt"/>
              </a:rPr>
              <a:t>Inversión 1:</a:t>
            </a:r>
          </a:p>
          <a:p>
            <a:r>
              <a:rPr lang="es-AR" altLang="en-US" sz="2300" dirty="0">
                <a:solidFill>
                  <a:srgbClr val="000000"/>
                </a:solidFill>
                <a:latin typeface="+mn-lt"/>
              </a:rPr>
              <a:t>Podemos </a:t>
            </a:r>
            <a:r>
              <a:rPr lang="es-AR" altLang="en-US" sz="2300" b="1" dirty="0">
                <a:solidFill>
                  <a:srgbClr val="000000"/>
                </a:solidFill>
                <a:latin typeface="+mn-lt"/>
              </a:rPr>
              <a:t>por un lado</a:t>
            </a:r>
            <a:r>
              <a:rPr lang="es-AR" altLang="en-US" sz="2300" dirty="0">
                <a:solidFill>
                  <a:srgbClr val="000000"/>
                </a:solidFill>
                <a:latin typeface="+mn-lt"/>
              </a:rPr>
              <a:t> comprar la acción de AAPL a $200 hoy. En 3 meses pueden pasar los siguientes dos escenarios:</a:t>
            </a:r>
          </a:p>
        </p:txBody>
      </p:sp>
      <p:sp>
        <p:nvSpPr>
          <p:cNvPr id="8" name="Rectangle 7">
            <a:extLst>
              <a:ext uri="{FF2B5EF4-FFF2-40B4-BE49-F238E27FC236}">
                <a16:creationId xmlns:a16="http://schemas.microsoft.com/office/drawing/2014/main" id="{36DF288D-B029-4F93-B41A-296917408076}"/>
              </a:ext>
            </a:extLst>
          </p:cNvPr>
          <p:cNvSpPr>
            <a:spLocks noChangeArrowheads="1"/>
          </p:cNvSpPr>
          <p:nvPr/>
        </p:nvSpPr>
        <p:spPr bwMode="auto">
          <a:xfrm>
            <a:off x="1911350" y="4618039"/>
            <a:ext cx="83820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AR" altLang="en-US" sz="2300" dirty="0">
                <a:solidFill>
                  <a:srgbClr val="FF0000"/>
                </a:solidFill>
                <a:latin typeface="+mn-lt"/>
              </a:rPr>
              <a:t>UNO</a:t>
            </a:r>
            <a:r>
              <a:rPr lang="es-AR" altLang="en-US" sz="2300" dirty="0">
                <a:solidFill>
                  <a:srgbClr val="000000"/>
                </a:solidFill>
                <a:latin typeface="+mn-lt"/>
              </a:rPr>
              <a:t>: La acción está por debajo del precio de hoy </a:t>
            </a:r>
            <a:r>
              <a:rPr lang="es-AR" altLang="en-US" sz="2300" dirty="0" err="1">
                <a:solidFill>
                  <a:srgbClr val="FF0000"/>
                </a:solidFill>
                <a:latin typeface="+mn-lt"/>
              </a:rPr>
              <a:t>PnL</a:t>
            </a:r>
            <a:r>
              <a:rPr lang="es-AR" altLang="en-US" sz="2300" dirty="0">
                <a:solidFill>
                  <a:srgbClr val="FF0000"/>
                </a:solidFill>
                <a:latin typeface="+mn-lt"/>
              </a:rPr>
              <a:t>: PERDEMOS la diferencia entre $200 y el precio (SIN PISO, más que el 0!)</a:t>
            </a:r>
            <a:endParaRPr lang="es-AR" altLang="en-US" sz="2300" dirty="0">
              <a:solidFill>
                <a:schemeClr val="bg1"/>
              </a:solidFill>
              <a:latin typeface="+mn-lt"/>
            </a:endParaRPr>
          </a:p>
        </p:txBody>
      </p:sp>
      <p:sp>
        <p:nvSpPr>
          <p:cNvPr id="11" name="Rectangle 10">
            <a:extLst>
              <a:ext uri="{FF2B5EF4-FFF2-40B4-BE49-F238E27FC236}">
                <a16:creationId xmlns:a16="http://schemas.microsoft.com/office/drawing/2014/main" id="{EC4E9054-1967-4B40-A9E1-4CF432627DF1}"/>
              </a:ext>
            </a:extLst>
          </p:cNvPr>
          <p:cNvSpPr>
            <a:spLocks noChangeArrowheads="1"/>
          </p:cNvSpPr>
          <p:nvPr/>
        </p:nvSpPr>
        <p:spPr bwMode="auto">
          <a:xfrm>
            <a:off x="1911350" y="5581110"/>
            <a:ext cx="8237538"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AR" altLang="en-US" sz="2300" dirty="0">
                <a:solidFill>
                  <a:srgbClr val="00B050"/>
                </a:solidFill>
                <a:latin typeface="+mn-lt"/>
              </a:rPr>
              <a:t>DOS</a:t>
            </a:r>
            <a:r>
              <a:rPr lang="es-AR" altLang="en-US" sz="2300" dirty="0">
                <a:solidFill>
                  <a:srgbClr val="000000"/>
                </a:solidFill>
                <a:latin typeface="+mn-lt"/>
              </a:rPr>
              <a:t>: La acción está por encima del precio de hoy: </a:t>
            </a:r>
            <a:r>
              <a:rPr lang="es-AR" altLang="en-US" sz="2300" dirty="0" err="1">
                <a:solidFill>
                  <a:srgbClr val="00B050"/>
                </a:solidFill>
                <a:latin typeface="+mn-lt"/>
              </a:rPr>
              <a:t>PnL</a:t>
            </a:r>
            <a:r>
              <a:rPr lang="es-AR" altLang="en-US" sz="2300" dirty="0">
                <a:solidFill>
                  <a:srgbClr val="00B050"/>
                </a:solidFill>
                <a:latin typeface="+mn-lt"/>
              </a:rPr>
              <a:t>: GANAMOS la diferencia entre el precio y $200 (SIN TECHO)</a:t>
            </a:r>
          </a:p>
        </p:txBody>
      </p:sp>
      <p:sp>
        <p:nvSpPr>
          <p:cNvPr id="20487" name="Rectangle 2">
            <a:extLst>
              <a:ext uri="{FF2B5EF4-FFF2-40B4-BE49-F238E27FC236}">
                <a16:creationId xmlns:a16="http://schemas.microsoft.com/office/drawing/2014/main" id="{245BD467-8415-4C18-80CB-6E62A21C54DD}"/>
              </a:ext>
            </a:extLst>
          </p:cNvPr>
          <p:cNvSpPr>
            <a:spLocks noGrp="1" noChangeArrowheads="1"/>
          </p:cNvSpPr>
          <p:nvPr>
            <p:ph type="title"/>
          </p:nvPr>
        </p:nvSpPr>
        <p:spPr/>
        <p:txBody>
          <a:bodyPr/>
          <a:lstStyle/>
          <a:p>
            <a:pPr eaLnBrk="1" hangingPunct="1"/>
            <a:r>
              <a:rPr lang="es-AR" altLang="en-US" sz="3200" dirty="0">
                <a:solidFill>
                  <a:srgbClr val="000000"/>
                </a:solidFill>
              </a:rPr>
              <a:t>Caso de Estudio 1 (1/4)</a:t>
            </a:r>
            <a:br>
              <a:rPr lang="es-AR" altLang="en-US" sz="3200" dirty="0">
                <a:solidFill>
                  <a:srgbClr val="000000"/>
                </a:solidFill>
              </a:rPr>
            </a:br>
            <a:r>
              <a:rPr lang="es-AR" altLang="en-US" sz="3200" dirty="0">
                <a:solidFill>
                  <a:srgbClr val="000000"/>
                </a:solidFill>
              </a:rPr>
              <a:t>Especulación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8">
            <a:extLst>
              <a:ext uri="{FF2B5EF4-FFF2-40B4-BE49-F238E27FC236}">
                <a16:creationId xmlns:a16="http://schemas.microsoft.com/office/drawing/2014/main" id="{5D5C4446-3F42-4B5E-8F11-3978B88A7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1268760"/>
            <a:ext cx="4021138" cy="310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5B5F841D-0A7E-482C-90B0-C901F63DF792}"/>
              </a:ext>
            </a:extLst>
          </p:cNvPr>
          <p:cNvSpPr/>
          <p:nvPr/>
        </p:nvSpPr>
        <p:spPr>
          <a:xfrm>
            <a:off x="1919536" y="4303256"/>
            <a:ext cx="8399462" cy="1862048"/>
          </a:xfrm>
          <a:prstGeom prst="rect">
            <a:avLst/>
          </a:prstGeom>
        </p:spPr>
        <p:txBody>
          <a:bodyPr>
            <a:spAutoFit/>
          </a:bodyPr>
          <a:lstStyle/>
          <a:p>
            <a:pPr>
              <a:defRPr/>
            </a:pPr>
            <a:r>
              <a:rPr lang="es-AR" altLang="en-US" sz="2300" b="1" dirty="0">
                <a:solidFill>
                  <a:srgbClr val="000000"/>
                </a:solidFill>
              </a:rPr>
              <a:t>Inversión 2: </a:t>
            </a:r>
          </a:p>
          <a:p>
            <a:pPr>
              <a:defRPr/>
            </a:pPr>
            <a:r>
              <a:rPr lang="es-AR" altLang="en-US" sz="2300" dirty="0">
                <a:solidFill>
                  <a:srgbClr val="000000"/>
                </a:solidFill>
              </a:rPr>
              <a:t>Decidimos entonces comprar </a:t>
            </a:r>
            <a:r>
              <a:rPr lang="es-AR" altLang="en-US" sz="2300" b="1" dirty="0">
                <a:solidFill>
                  <a:schemeClr val="tx1">
                    <a:lumMod val="60000"/>
                    <a:lumOff val="40000"/>
                  </a:schemeClr>
                </a:solidFill>
              </a:rPr>
              <a:t>opciones de compra con precio de ejercicio $210 a tres meses</a:t>
            </a:r>
            <a:r>
              <a:rPr lang="es-AR" altLang="en-US" sz="2300" dirty="0">
                <a:solidFill>
                  <a:srgbClr val="000000"/>
                </a:solidFill>
              </a:rPr>
              <a:t>, que en el mercado cuestan $12 c/u. </a:t>
            </a:r>
          </a:p>
          <a:p>
            <a:pPr>
              <a:defRPr/>
            </a:pPr>
            <a:r>
              <a:rPr lang="es-AR" altLang="en-US" sz="2300" dirty="0">
                <a:solidFill>
                  <a:srgbClr val="000000"/>
                </a:solidFill>
              </a:rPr>
              <a:t>Esto significa que de aquí a tres meses, </a:t>
            </a:r>
            <a:r>
              <a:rPr lang="es-AR" altLang="en-US" sz="2300" b="1" dirty="0">
                <a:solidFill>
                  <a:schemeClr val="tx1">
                    <a:lumMod val="60000"/>
                    <a:lumOff val="40000"/>
                  </a:schemeClr>
                </a:solidFill>
              </a:rPr>
              <a:t>si nos conviene</a:t>
            </a:r>
            <a:r>
              <a:rPr lang="es-AR" altLang="en-US" sz="2300" b="1" dirty="0">
                <a:solidFill>
                  <a:srgbClr val="000000"/>
                </a:solidFill>
              </a:rPr>
              <a:t>,</a:t>
            </a:r>
            <a:r>
              <a:rPr lang="es-AR" altLang="en-US" sz="2300" dirty="0">
                <a:solidFill>
                  <a:srgbClr val="000000"/>
                </a:solidFill>
              </a:rPr>
              <a:t> podremos ejercer la opción, y el vendedor nos entregará las acciones a $210</a:t>
            </a:r>
            <a:r>
              <a:rPr lang="en-US" altLang="en-US" sz="2300" dirty="0">
                <a:solidFill>
                  <a:srgbClr val="000000"/>
                </a:solidFill>
              </a:rPr>
              <a:t>.</a:t>
            </a:r>
            <a:r>
              <a:rPr lang="en-US" altLang="en-US" dirty="0">
                <a:solidFill>
                  <a:srgbClr val="000000"/>
                </a:solidFill>
              </a:rPr>
              <a:t> </a:t>
            </a:r>
          </a:p>
        </p:txBody>
      </p:sp>
      <p:sp>
        <p:nvSpPr>
          <p:cNvPr id="5" name="TextBox 4">
            <a:extLst>
              <a:ext uri="{FF2B5EF4-FFF2-40B4-BE49-F238E27FC236}">
                <a16:creationId xmlns:a16="http://schemas.microsoft.com/office/drawing/2014/main" id="{45777F4D-BAF2-4D73-8D4D-C8347202F9C4}"/>
              </a:ext>
            </a:extLst>
          </p:cNvPr>
          <p:cNvSpPr txBox="1">
            <a:spLocks noChangeArrowheads="1"/>
          </p:cNvSpPr>
          <p:nvPr/>
        </p:nvSpPr>
        <p:spPr bwMode="auto">
          <a:xfrm>
            <a:off x="6516688" y="1268760"/>
            <a:ext cx="3359150"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AR" altLang="en-US" sz="2300" dirty="0">
                <a:solidFill>
                  <a:srgbClr val="00B050"/>
                </a:solidFill>
                <a:latin typeface="+mn-lt"/>
              </a:rPr>
              <a:t>Puedo ganar mucho si la acción sube mucho</a:t>
            </a:r>
          </a:p>
          <a:p>
            <a:endParaRPr lang="es-AR" altLang="en-US" sz="2300" dirty="0">
              <a:solidFill>
                <a:schemeClr val="bg1"/>
              </a:solidFill>
              <a:latin typeface="+mn-lt"/>
            </a:endParaRPr>
          </a:p>
          <a:p>
            <a:r>
              <a:rPr lang="es-AR" altLang="en-US" sz="2300" dirty="0">
                <a:solidFill>
                  <a:srgbClr val="FF0000"/>
                </a:solidFill>
                <a:latin typeface="+mn-lt"/>
              </a:rPr>
              <a:t>Puedo </a:t>
            </a:r>
            <a:r>
              <a:rPr lang="es-AR" altLang="en-US" sz="2300" b="1" dirty="0">
                <a:solidFill>
                  <a:srgbClr val="FF0000"/>
                </a:solidFill>
                <a:latin typeface="+mn-lt"/>
              </a:rPr>
              <a:t>perder mucho </a:t>
            </a:r>
            <a:r>
              <a:rPr lang="es-AR" altLang="en-US" sz="2300" dirty="0">
                <a:solidFill>
                  <a:srgbClr val="FF0000"/>
                </a:solidFill>
                <a:latin typeface="+mn-lt"/>
              </a:rPr>
              <a:t>si la acción baja mucho</a:t>
            </a:r>
          </a:p>
        </p:txBody>
      </p:sp>
      <p:sp>
        <p:nvSpPr>
          <p:cNvPr id="21509" name="Rectangle 2">
            <a:extLst>
              <a:ext uri="{FF2B5EF4-FFF2-40B4-BE49-F238E27FC236}">
                <a16:creationId xmlns:a16="http://schemas.microsoft.com/office/drawing/2014/main" id="{CEC7687F-52D2-4FA8-BA3F-3DE01B00EA95}"/>
              </a:ext>
            </a:extLst>
          </p:cNvPr>
          <p:cNvSpPr>
            <a:spLocks noGrp="1" noChangeArrowheads="1"/>
          </p:cNvSpPr>
          <p:nvPr>
            <p:ph type="title"/>
          </p:nvPr>
        </p:nvSpPr>
        <p:spPr/>
        <p:txBody>
          <a:bodyPr/>
          <a:lstStyle/>
          <a:p>
            <a:pPr eaLnBrk="1" hangingPunct="1"/>
            <a:r>
              <a:rPr lang="es-AR" altLang="en-US" sz="3200" dirty="0">
                <a:solidFill>
                  <a:srgbClr val="000000"/>
                </a:solidFill>
              </a:rPr>
              <a:t>Caso de Estudio 1 (2/4)</a:t>
            </a:r>
            <a:br>
              <a:rPr lang="es-AR" altLang="en-US" sz="3200" dirty="0">
                <a:solidFill>
                  <a:srgbClr val="000000"/>
                </a:solidFill>
              </a:rPr>
            </a:br>
            <a:r>
              <a:rPr lang="es-AR" altLang="en-US" sz="3200" dirty="0">
                <a:solidFill>
                  <a:srgbClr val="000000"/>
                </a:solidFill>
              </a:rPr>
              <a:t>Especulación</a:t>
            </a:r>
          </a:p>
        </p:txBody>
      </p:sp>
      <p:sp>
        <p:nvSpPr>
          <p:cNvPr id="21510" name="Rectangle 5">
            <a:extLst>
              <a:ext uri="{FF2B5EF4-FFF2-40B4-BE49-F238E27FC236}">
                <a16:creationId xmlns:a16="http://schemas.microsoft.com/office/drawing/2014/main" id="{A1687195-80DB-4E49-BE2D-17BE4EBD7262}"/>
              </a:ext>
            </a:extLst>
          </p:cNvPr>
          <p:cNvSpPr>
            <a:spLocks noChangeArrowheads="1"/>
          </p:cNvSpPr>
          <p:nvPr/>
        </p:nvSpPr>
        <p:spPr bwMode="auto">
          <a:xfrm>
            <a:off x="6519864" y="3284985"/>
            <a:ext cx="3824287"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AR" altLang="en-US" sz="2300" dirty="0">
                <a:latin typeface="+mn-lt"/>
              </a:rPr>
              <a:t>Muchas veces no quisiera tan estar expuesto a una baja</a:t>
            </a:r>
            <a:endParaRPr lang="en-US" altLang="en-US" sz="2300" dirty="0">
              <a:latin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a:extLst>
              <a:ext uri="{FF2B5EF4-FFF2-40B4-BE49-F238E27FC236}">
                <a16:creationId xmlns:a16="http://schemas.microsoft.com/office/drawing/2014/main" id="{4F128A67-E3E5-4F8E-B16C-924EA5FC514D}"/>
              </a:ext>
            </a:extLst>
          </p:cNvPr>
          <p:cNvSpPr>
            <a:spLocks noChangeArrowheads="1"/>
          </p:cNvSpPr>
          <p:nvPr/>
        </p:nvSpPr>
        <p:spPr bwMode="auto">
          <a:xfrm>
            <a:off x="1752601" y="1087439"/>
            <a:ext cx="8304213"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2300" dirty="0">
              <a:solidFill>
                <a:schemeClr val="bg1"/>
              </a:solidFill>
              <a:latin typeface="+mn-lt"/>
            </a:endParaRPr>
          </a:p>
          <a:p>
            <a:pPr algn="just"/>
            <a:r>
              <a:rPr lang="es-AR" altLang="en-US" sz="2300" dirty="0">
                <a:solidFill>
                  <a:srgbClr val="FF0000"/>
                </a:solidFill>
                <a:latin typeface="+mn-lt"/>
              </a:rPr>
              <a:t>UNO:</a:t>
            </a:r>
            <a:r>
              <a:rPr lang="es-AR" altLang="en-US" sz="2300" dirty="0">
                <a:solidFill>
                  <a:srgbClr val="000000"/>
                </a:solidFill>
                <a:latin typeface="+mn-lt"/>
              </a:rPr>
              <a:t> Las acciones están por debajo del precio de ejercicio (210$),  no ejerceremos la opción y perderemos la prima </a:t>
            </a:r>
            <a:endParaRPr lang="es-AR" altLang="en-US" sz="2300" dirty="0">
              <a:solidFill>
                <a:srgbClr val="FF0000"/>
              </a:solidFill>
              <a:latin typeface="+mn-lt"/>
            </a:endParaRPr>
          </a:p>
          <a:p>
            <a:pPr algn="just"/>
            <a:r>
              <a:rPr lang="es-AR" altLang="en-US" sz="2300" dirty="0" err="1">
                <a:solidFill>
                  <a:srgbClr val="FF0000"/>
                </a:solidFill>
                <a:latin typeface="+mn-lt"/>
              </a:rPr>
              <a:t>PnL</a:t>
            </a:r>
            <a:r>
              <a:rPr lang="es-AR" altLang="en-US" sz="2300" dirty="0">
                <a:solidFill>
                  <a:srgbClr val="FF0000"/>
                </a:solidFill>
                <a:latin typeface="+mn-lt"/>
              </a:rPr>
              <a:t>: PERDEMOS $12 (PISO)</a:t>
            </a:r>
            <a:endParaRPr lang="es-AR" altLang="en-US" sz="2300" dirty="0">
              <a:solidFill>
                <a:schemeClr val="bg1"/>
              </a:solidFill>
              <a:latin typeface="+mn-lt"/>
            </a:endParaRPr>
          </a:p>
        </p:txBody>
      </p:sp>
      <p:sp>
        <p:nvSpPr>
          <p:cNvPr id="2" name="Rectangle 1">
            <a:extLst>
              <a:ext uri="{FF2B5EF4-FFF2-40B4-BE49-F238E27FC236}">
                <a16:creationId xmlns:a16="http://schemas.microsoft.com/office/drawing/2014/main" id="{0313DD64-BE0E-4BEC-8EB4-00D4A96FD155}"/>
              </a:ext>
            </a:extLst>
          </p:cNvPr>
          <p:cNvSpPr/>
          <p:nvPr/>
        </p:nvSpPr>
        <p:spPr>
          <a:xfrm>
            <a:off x="1775520" y="2712984"/>
            <a:ext cx="8534400" cy="1508105"/>
          </a:xfrm>
          <a:prstGeom prst="rect">
            <a:avLst/>
          </a:prstGeom>
        </p:spPr>
        <p:txBody>
          <a:bodyPr wrap="square">
            <a:spAutoFit/>
          </a:bodyPr>
          <a:lstStyle/>
          <a:p>
            <a:pPr algn="just">
              <a:defRPr/>
            </a:pPr>
            <a:r>
              <a:rPr lang="es-AR" altLang="en-US" sz="2300" dirty="0">
                <a:solidFill>
                  <a:schemeClr val="accent6"/>
                </a:solidFill>
              </a:rPr>
              <a:t>DOS</a:t>
            </a:r>
            <a:r>
              <a:rPr lang="es-AR" altLang="en-US" sz="2300" dirty="0">
                <a:solidFill>
                  <a:srgbClr val="000000"/>
                </a:solidFill>
              </a:rPr>
              <a:t>: Entre $210 y $222,  reduciendo las pérdidas hasta 0. Sí ejercitaremos la opción ya que perderemos menos de los $12 de la prima. </a:t>
            </a:r>
          </a:p>
          <a:p>
            <a:pPr algn="just">
              <a:defRPr/>
            </a:pPr>
            <a:r>
              <a:rPr lang="es-AR" altLang="en-US" sz="2300" dirty="0" err="1">
                <a:solidFill>
                  <a:schemeClr val="accent6"/>
                </a:solidFill>
              </a:rPr>
              <a:t>PnL</a:t>
            </a:r>
            <a:r>
              <a:rPr lang="es-AR" altLang="en-US" sz="2300" dirty="0">
                <a:solidFill>
                  <a:schemeClr val="accent6"/>
                </a:solidFill>
              </a:rPr>
              <a:t>: PERDEMOS entre $0 y $12</a:t>
            </a:r>
          </a:p>
        </p:txBody>
      </p:sp>
      <p:sp>
        <p:nvSpPr>
          <p:cNvPr id="5" name="Rectangle 4">
            <a:extLst>
              <a:ext uri="{FF2B5EF4-FFF2-40B4-BE49-F238E27FC236}">
                <a16:creationId xmlns:a16="http://schemas.microsoft.com/office/drawing/2014/main" id="{26B95E16-8636-4B1B-81D4-2FB19E1D38B3}"/>
              </a:ext>
            </a:extLst>
          </p:cNvPr>
          <p:cNvSpPr>
            <a:spLocks noChangeArrowheads="1"/>
          </p:cNvSpPr>
          <p:nvPr/>
        </p:nvSpPr>
        <p:spPr bwMode="auto">
          <a:xfrm>
            <a:off x="1786721" y="4585192"/>
            <a:ext cx="8500279"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s-AR" altLang="en-US" sz="2300" dirty="0">
                <a:solidFill>
                  <a:srgbClr val="00B050"/>
                </a:solidFill>
                <a:latin typeface="+mn-lt"/>
              </a:rPr>
              <a:t>TRES: </a:t>
            </a:r>
            <a:r>
              <a:rPr lang="es-AR" altLang="en-US" sz="2300" dirty="0">
                <a:solidFill>
                  <a:srgbClr val="000000"/>
                </a:solidFill>
                <a:latin typeface="+mn-lt"/>
              </a:rPr>
              <a:t>A partir de $222 siempre ejercitaremos la opción y además empezaremos a tener beneficios. Si compramos a $210 más $12 de prima algo que cuesta $210, tenemos un beneficio/</a:t>
            </a:r>
          </a:p>
          <a:p>
            <a:pPr algn="just"/>
            <a:r>
              <a:rPr lang="es-AR" altLang="en-US" sz="2300" dirty="0" err="1">
                <a:solidFill>
                  <a:srgbClr val="00B050"/>
                </a:solidFill>
                <a:latin typeface="+mn-lt"/>
              </a:rPr>
              <a:t>PnL</a:t>
            </a:r>
            <a:r>
              <a:rPr lang="es-AR" altLang="en-US" sz="2300" dirty="0">
                <a:solidFill>
                  <a:srgbClr val="00B050"/>
                </a:solidFill>
                <a:latin typeface="+mn-lt"/>
              </a:rPr>
              <a:t>: GANAMOS la diferencia entre el precio y 222$ (SIN TECHO)</a:t>
            </a:r>
          </a:p>
        </p:txBody>
      </p:sp>
      <p:sp>
        <p:nvSpPr>
          <p:cNvPr id="22534" name="Rectangle 2">
            <a:extLst>
              <a:ext uri="{FF2B5EF4-FFF2-40B4-BE49-F238E27FC236}">
                <a16:creationId xmlns:a16="http://schemas.microsoft.com/office/drawing/2014/main" id="{3AB38C99-F757-4B4E-94F5-A2AD0CD4AC79}"/>
              </a:ext>
            </a:extLst>
          </p:cNvPr>
          <p:cNvSpPr>
            <a:spLocks noGrp="1" noChangeArrowheads="1"/>
          </p:cNvSpPr>
          <p:nvPr>
            <p:ph type="title"/>
          </p:nvPr>
        </p:nvSpPr>
        <p:spPr/>
        <p:txBody>
          <a:bodyPr/>
          <a:lstStyle/>
          <a:p>
            <a:pPr eaLnBrk="1" hangingPunct="1"/>
            <a:r>
              <a:rPr lang="es-AR" altLang="en-US" sz="3200" dirty="0">
                <a:solidFill>
                  <a:srgbClr val="000000"/>
                </a:solidFill>
              </a:rPr>
              <a:t>Caso de Estudio 1 (3/4)</a:t>
            </a:r>
            <a:br>
              <a:rPr lang="es-AR" altLang="en-US" sz="3200" dirty="0">
                <a:solidFill>
                  <a:srgbClr val="000000"/>
                </a:solidFill>
              </a:rPr>
            </a:br>
            <a:r>
              <a:rPr lang="es-AR" altLang="en-US" sz="3200" dirty="0">
                <a:solidFill>
                  <a:srgbClr val="000000"/>
                </a:solidFill>
              </a:rPr>
              <a:t>Especulación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2">
            <a:extLst>
              <a:ext uri="{FF2B5EF4-FFF2-40B4-BE49-F238E27FC236}">
                <a16:creationId xmlns:a16="http://schemas.microsoft.com/office/drawing/2014/main" id="{3AB38C99-F757-4B4E-94F5-A2AD0CD4AC79}"/>
              </a:ext>
            </a:extLst>
          </p:cNvPr>
          <p:cNvSpPr>
            <a:spLocks noGrp="1" noChangeArrowheads="1"/>
          </p:cNvSpPr>
          <p:nvPr>
            <p:ph type="title"/>
          </p:nvPr>
        </p:nvSpPr>
        <p:spPr/>
        <p:txBody>
          <a:bodyPr/>
          <a:lstStyle/>
          <a:p>
            <a:pPr eaLnBrk="1" hangingPunct="1"/>
            <a:r>
              <a:rPr lang="es-AR" altLang="en-US" sz="3200" dirty="0">
                <a:solidFill>
                  <a:srgbClr val="000000"/>
                </a:solidFill>
              </a:rPr>
              <a:t>Caso de Estudio 1 (4/4)</a:t>
            </a:r>
            <a:br>
              <a:rPr lang="es-AR" altLang="en-US" sz="3200" dirty="0">
                <a:solidFill>
                  <a:srgbClr val="000000"/>
                </a:solidFill>
              </a:rPr>
            </a:br>
            <a:r>
              <a:rPr lang="es-AR" altLang="en-US" sz="3200" dirty="0">
                <a:solidFill>
                  <a:srgbClr val="000000"/>
                </a:solidFill>
              </a:rPr>
              <a:t>Especulación</a:t>
            </a:r>
          </a:p>
        </p:txBody>
      </p:sp>
      <p:sp>
        <p:nvSpPr>
          <p:cNvPr id="22535" name="Rectangle 10">
            <a:extLst>
              <a:ext uri="{FF2B5EF4-FFF2-40B4-BE49-F238E27FC236}">
                <a16:creationId xmlns:a16="http://schemas.microsoft.com/office/drawing/2014/main" id="{1C165668-FB53-44E0-8F45-084C52C104DE}"/>
              </a:ext>
            </a:extLst>
          </p:cNvPr>
          <p:cNvSpPr>
            <a:spLocks noChangeArrowheads="1"/>
          </p:cNvSpPr>
          <p:nvPr/>
        </p:nvSpPr>
        <p:spPr bwMode="auto">
          <a:xfrm>
            <a:off x="1905000" y="5357143"/>
            <a:ext cx="85344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AR" altLang="en-US" sz="2300" b="1" dirty="0">
                <a:solidFill>
                  <a:srgbClr val="000000"/>
                </a:solidFill>
                <a:latin typeface="+mn-lt"/>
              </a:rPr>
              <a:t>En el ejemplo, el derecho ese costaba $12, pero </a:t>
            </a:r>
            <a:r>
              <a:rPr lang="es-AR" altLang="en-US" sz="2300" b="1" dirty="0">
                <a:solidFill>
                  <a:schemeClr val="tx1">
                    <a:lumMod val="60000"/>
                    <a:lumOff val="40000"/>
                  </a:schemeClr>
                </a:solidFill>
                <a:latin typeface="+mn-lt"/>
              </a:rPr>
              <a:t>encontrar el precio </a:t>
            </a:r>
            <a:r>
              <a:rPr lang="es-AR" altLang="en-US" sz="2300" b="1" i="1" dirty="0">
                <a:solidFill>
                  <a:schemeClr val="tx1">
                    <a:lumMod val="60000"/>
                    <a:lumOff val="40000"/>
                  </a:schemeClr>
                </a:solidFill>
                <a:latin typeface="+mn-lt"/>
              </a:rPr>
              <a:t>justo </a:t>
            </a:r>
            <a:r>
              <a:rPr lang="es-AR" altLang="en-US" sz="2300" b="1" dirty="0">
                <a:solidFill>
                  <a:schemeClr val="tx1">
                    <a:lumMod val="60000"/>
                    <a:lumOff val="40000"/>
                  </a:schemeClr>
                </a:solidFill>
                <a:latin typeface="+mn-lt"/>
              </a:rPr>
              <a:t>a ese derecho es un problema muy complejo matemático</a:t>
            </a:r>
            <a:endParaRPr lang="en-US" altLang="en-US" sz="2300" dirty="0">
              <a:solidFill>
                <a:schemeClr val="tx1">
                  <a:lumMod val="60000"/>
                  <a:lumOff val="40000"/>
                </a:schemeClr>
              </a:solidFill>
              <a:latin typeface="+mn-lt"/>
            </a:endParaRPr>
          </a:p>
        </p:txBody>
      </p:sp>
      <p:pic>
        <p:nvPicPr>
          <p:cNvPr id="4" name="Picture 3">
            <a:extLst>
              <a:ext uri="{FF2B5EF4-FFF2-40B4-BE49-F238E27FC236}">
                <a16:creationId xmlns:a16="http://schemas.microsoft.com/office/drawing/2014/main" id="{3090122B-FE89-4332-986A-63F4FC923C53}"/>
              </a:ext>
            </a:extLst>
          </p:cNvPr>
          <p:cNvPicPr>
            <a:picLocks noChangeAspect="1"/>
          </p:cNvPicPr>
          <p:nvPr/>
        </p:nvPicPr>
        <p:blipFill>
          <a:blip r:embed="rId2"/>
          <a:stretch>
            <a:fillRect/>
          </a:stretch>
        </p:blipFill>
        <p:spPr>
          <a:xfrm>
            <a:off x="2351584" y="1552575"/>
            <a:ext cx="6953250" cy="3752850"/>
          </a:xfrm>
          <a:prstGeom prst="rect">
            <a:avLst/>
          </a:prstGeom>
        </p:spPr>
      </p:pic>
    </p:spTree>
    <p:extLst>
      <p:ext uri="{BB962C8B-B14F-4D97-AF65-F5344CB8AC3E}">
        <p14:creationId xmlns:p14="http://schemas.microsoft.com/office/powerpoint/2010/main" val="17992370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4935CA3D-189F-4967-A1EC-EC6ED29465FE}" type="slidenum">
              <a:rPr lang="en-US" altLang="en-US" sz="1400"/>
              <a:pPr algn="r">
                <a:spcBef>
                  <a:spcPct val="0"/>
                </a:spcBef>
                <a:buClrTx/>
                <a:buFontTx/>
                <a:buNone/>
              </a:pPr>
              <a:t>50</a:t>
            </a:fld>
            <a:endParaRPr lang="en-US" altLang="en-US" sz="140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2743200" y="0"/>
            <a:ext cx="7457256" cy="1143000"/>
          </a:xfrm>
        </p:spPr>
        <p:txBody>
          <a:bodyPr/>
          <a:lstStyle/>
          <a:p>
            <a:pPr eaLnBrk="1" hangingPunct="1"/>
            <a:r>
              <a:rPr lang="es-AR" altLang="en-US" sz="3200" dirty="0">
                <a:solidFill>
                  <a:srgbClr val="000000"/>
                </a:solidFill>
              </a:rPr>
              <a:t>Caso de Estudio 2 (1/2) </a:t>
            </a:r>
            <a:br>
              <a:rPr lang="es-AR" altLang="en-US" sz="3200" dirty="0">
                <a:solidFill>
                  <a:srgbClr val="000000"/>
                </a:solidFill>
              </a:rPr>
            </a:br>
            <a:r>
              <a:rPr lang="es-AR" altLang="en-US" sz="3200" dirty="0">
                <a:solidFill>
                  <a:srgbClr val="000000"/>
                </a:solidFill>
              </a:rPr>
              <a:t>Cobertura</a:t>
            </a: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774825" y="1163638"/>
            <a:ext cx="8642350" cy="5257800"/>
          </a:xfrm>
        </p:spPr>
        <p:txBody>
          <a:bodyPr>
            <a:normAutofit fontScale="92500" lnSpcReduction="10000"/>
          </a:bodyPr>
          <a:lstStyle/>
          <a:p>
            <a:pPr marL="0" indent="0">
              <a:buNone/>
              <a:defRPr/>
            </a:pPr>
            <a:endParaRPr lang="es-AR" altLang="en-US" sz="2300" b="1" dirty="0">
              <a:solidFill>
                <a:srgbClr val="000000"/>
              </a:solidFill>
            </a:endParaRPr>
          </a:p>
          <a:p>
            <a:pPr marL="0" indent="0">
              <a:buNone/>
              <a:defRPr/>
            </a:pPr>
            <a:r>
              <a:rPr lang="es-AR" altLang="en-US" sz="2300" b="1" i="1" dirty="0" err="1">
                <a:solidFill>
                  <a:schemeClr val="accent6">
                    <a:lumMod val="60000"/>
                    <a:lumOff val="40000"/>
                  </a:schemeClr>
                </a:solidFill>
              </a:rPr>
              <a:t>Put</a:t>
            </a:r>
            <a:r>
              <a:rPr lang="es-AR" altLang="en-US" sz="2300" b="1" dirty="0">
                <a:solidFill>
                  <a:schemeClr val="accent6">
                    <a:lumMod val="60000"/>
                    <a:lumOff val="40000"/>
                  </a:schemeClr>
                </a:solidFill>
              </a:rPr>
              <a:t> Protectora (</a:t>
            </a:r>
            <a:r>
              <a:rPr lang="es-AR" altLang="en-US" sz="2300" b="1" i="1" dirty="0" err="1">
                <a:solidFill>
                  <a:schemeClr val="accent6">
                    <a:lumMod val="60000"/>
                    <a:lumOff val="40000"/>
                  </a:schemeClr>
                </a:solidFill>
              </a:rPr>
              <a:t>Protective</a:t>
            </a:r>
            <a:r>
              <a:rPr lang="es-AR" altLang="en-US" sz="2300" b="1" i="1" dirty="0">
                <a:solidFill>
                  <a:schemeClr val="accent6">
                    <a:lumMod val="60000"/>
                    <a:lumOff val="40000"/>
                  </a:schemeClr>
                </a:solidFill>
              </a:rPr>
              <a:t> </a:t>
            </a:r>
            <a:r>
              <a:rPr lang="es-AR" altLang="en-US" sz="2300" b="1" i="1" dirty="0" err="1">
                <a:solidFill>
                  <a:schemeClr val="accent6">
                    <a:lumMod val="60000"/>
                    <a:lumOff val="40000"/>
                  </a:schemeClr>
                </a:solidFill>
              </a:rPr>
              <a:t>Put</a:t>
            </a:r>
            <a:r>
              <a:rPr lang="es-AR" altLang="en-US" sz="2300" b="1" dirty="0">
                <a:solidFill>
                  <a:schemeClr val="accent6">
                    <a:lumMod val="60000"/>
                    <a:lumOff val="40000"/>
                  </a:schemeClr>
                </a:solidFill>
              </a:rPr>
              <a:t>)</a:t>
            </a:r>
            <a:r>
              <a:rPr lang="es-AR" altLang="en-US" sz="2300" dirty="0">
                <a:solidFill>
                  <a:schemeClr val="accent6">
                    <a:lumMod val="60000"/>
                    <a:lumOff val="40000"/>
                  </a:schemeClr>
                </a:solidFill>
              </a:rPr>
              <a:t> </a:t>
            </a:r>
          </a:p>
          <a:p>
            <a:pPr marL="0" indent="0">
              <a:buNone/>
              <a:defRPr/>
            </a:pPr>
            <a:endParaRPr lang="en-US" sz="2300" dirty="0">
              <a:solidFill>
                <a:srgbClr val="000000"/>
              </a:solidFill>
            </a:endParaRPr>
          </a:p>
          <a:p>
            <a:pPr marL="0" indent="0">
              <a:buNone/>
              <a:defRPr/>
            </a:pPr>
            <a:r>
              <a:rPr lang="es-AR" sz="2300" dirty="0">
                <a:solidFill>
                  <a:srgbClr val="000000"/>
                </a:solidFill>
              </a:rPr>
              <a:t>Un inversor compra una acción a un precio de $150 anticipando una suba. Para asegurarse de una eventual baja del activo, el inversor compra una opción </a:t>
            </a:r>
            <a:r>
              <a:rPr lang="es-AR" sz="2300" i="1" dirty="0" err="1">
                <a:solidFill>
                  <a:srgbClr val="000000"/>
                </a:solidFill>
              </a:rPr>
              <a:t>put</a:t>
            </a:r>
            <a:r>
              <a:rPr lang="es-AR" sz="2300" dirty="0">
                <a:solidFill>
                  <a:srgbClr val="000000"/>
                </a:solidFill>
              </a:rPr>
              <a:t> con el mismo strike, pagando para ello una prima. </a:t>
            </a:r>
          </a:p>
          <a:p>
            <a:pPr marL="0" indent="0">
              <a:buNone/>
              <a:defRPr/>
            </a:pPr>
            <a:endParaRPr lang="es-AR" sz="2300" dirty="0">
              <a:solidFill>
                <a:srgbClr val="000000"/>
              </a:solidFill>
            </a:endParaRPr>
          </a:p>
          <a:p>
            <a:pPr marL="0" indent="0">
              <a:buNone/>
              <a:defRPr/>
            </a:pPr>
            <a:r>
              <a:rPr lang="es-AR" sz="2300" dirty="0">
                <a:solidFill>
                  <a:srgbClr val="000000"/>
                </a:solidFill>
              </a:rPr>
              <a:t>El inversor compra protección ante la caída (riesgo) cediendo una potencial ganancia mayor</a:t>
            </a:r>
          </a:p>
          <a:p>
            <a:pPr marL="0" indent="0">
              <a:buNone/>
              <a:defRPr/>
            </a:pPr>
            <a:endParaRPr lang="en-US" sz="2300" dirty="0">
              <a:solidFill>
                <a:srgbClr val="000000"/>
              </a:solidFill>
            </a:endParaRPr>
          </a:p>
          <a:p>
            <a:pPr marL="0" indent="0">
              <a:buNone/>
              <a:defRPr/>
            </a:pPr>
            <a:r>
              <a:rPr lang="es-AR" altLang="en-US" sz="2300" dirty="0">
                <a:solidFill>
                  <a:srgbClr val="000000"/>
                </a:solidFill>
              </a:rPr>
              <a:t> </a:t>
            </a:r>
          </a:p>
          <a:p>
            <a:pPr eaLnBrk="1" hangingPunct="1">
              <a:defRPr/>
            </a:pPr>
            <a:endParaRPr lang="es-AR" altLang="en-US" sz="2400" dirty="0">
              <a:solidFill>
                <a:srgbClr val="000000"/>
              </a:solidFill>
            </a:endParaRPr>
          </a:p>
          <a:p>
            <a:pPr eaLnBrk="1" hangingPunct="1">
              <a:defRPr/>
            </a:pPr>
            <a:endParaRPr lang="es-AR" altLang="en-US" i="1" dirty="0">
              <a:solidFill>
                <a:srgbClr val="000000"/>
              </a:solidFill>
            </a:endParaRPr>
          </a:p>
          <a:p>
            <a:pPr lvl="2">
              <a:buNone/>
              <a:defRPr/>
            </a:pPr>
            <a:r>
              <a:rPr lang="es-AR" altLang="en-US" dirty="0">
                <a:solidFill>
                  <a:srgbClr val="000000"/>
                </a:solidFill>
              </a:rPr>
              <a:t>	</a:t>
            </a:r>
          </a:p>
          <a:p>
            <a:pPr eaLnBrk="1" hangingPunct="1">
              <a:buFontTx/>
              <a:buNone/>
              <a:defRPr/>
            </a:pPr>
            <a:endParaRPr lang="es-AR" altLang="en-US" sz="2400" dirty="0">
              <a:solidFill>
                <a:srgbClr val="000000"/>
              </a:solidFill>
            </a:endParaRPr>
          </a:p>
        </p:txBody>
      </p:sp>
    </p:spTree>
    <p:extLst>
      <p:ext uri="{BB962C8B-B14F-4D97-AF65-F5344CB8AC3E}">
        <p14:creationId xmlns:p14="http://schemas.microsoft.com/office/powerpoint/2010/main" val="307475511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4935CA3D-189F-4967-A1EC-EC6ED29465FE}" type="slidenum">
              <a:rPr lang="en-US" altLang="en-US" sz="1400"/>
              <a:pPr algn="r">
                <a:spcBef>
                  <a:spcPct val="0"/>
                </a:spcBef>
                <a:buClrTx/>
                <a:buFontTx/>
                <a:buNone/>
              </a:pPr>
              <a:t>51</a:t>
            </a:fld>
            <a:endParaRPr lang="en-US" altLang="en-US" sz="140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Caso de Estudio 2 (2/2)</a:t>
            </a:r>
            <a:br>
              <a:rPr lang="es-AR" altLang="en-US" sz="3200" dirty="0">
                <a:solidFill>
                  <a:srgbClr val="000000"/>
                </a:solidFill>
              </a:rPr>
            </a:br>
            <a:r>
              <a:rPr lang="es-AR" altLang="en-US" sz="3200" dirty="0">
                <a:solidFill>
                  <a:srgbClr val="000000"/>
                </a:solidFill>
              </a:rPr>
              <a:t>Cobertura</a:t>
            </a: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774825" y="1163638"/>
            <a:ext cx="8642350" cy="5257800"/>
          </a:xfrm>
        </p:spPr>
        <p:txBody>
          <a:bodyPr/>
          <a:lstStyle/>
          <a:p>
            <a:pPr eaLnBrk="1" hangingPunct="1">
              <a:defRPr/>
            </a:pPr>
            <a:endParaRPr lang="es-AR" altLang="en-US" i="1" dirty="0">
              <a:solidFill>
                <a:srgbClr val="000000"/>
              </a:solidFill>
            </a:endParaRPr>
          </a:p>
          <a:p>
            <a:pPr lvl="2">
              <a:buNone/>
              <a:defRPr/>
            </a:pPr>
            <a:r>
              <a:rPr lang="es-AR" altLang="en-US" dirty="0">
                <a:solidFill>
                  <a:srgbClr val="000000"/>
                </a:solidFill>
              </a:rPr>
              <a:t>	</a:t>
            </a:r>
          </a:p>
          <a:p>
            <a:pPr eaLnBrk="1" hangingPunct="1">
              <a:buFontTx/>
              <a:buNone/>
              <a:defRPr/>
            </a:pPr>
            <a:endParaRPr lang="es-AR" altLang="en-US" sz="2400" dirty="0">
              <a:solidFill>
                <a:srgbClr val="000000"/>
              </a:solidFill>
            </a:endParaRPr>
          </a:p>
        </p:txBody>
      </p:sp>
      <p:pic>
        <p:nvPicPr>
          <p:cNvPr id="5122" name="Picture 2">
            <a:extLst>
              <a:ext uri="{FF2B5EF4-FFF2-40B4-BE49-F238E27FC236}">
                <a16:creationId xmlns:a16="http://schemas.microsoft.com/office/drawing/2014/main" id="{D7783BD8-53C6-469F-A4B3-95CC35F4E7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52" y="1267581"/>
            <a:ext cx="7647906" cy="5166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96346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4935CA3D-189F-4967-A1EC-EC6ED29465FE}" type="slidenum">
              <a:rPr lang="en-US" altLang="en-US" sz="1400"/>
              <a:pPr algn="r">
                <a:spcBef>
                  <a:spcPct val="0"/>
                </a:spcBef>
                <a:buClrTx/>
                <a:buFontTx/>
                <a:buNone/>
              </a:pPr>
              <a:t>52</a:t>
            </a:fld>
            <a:endParaRPr lang="en-US" altLang="en-US" sz="140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Caso de Estudio 3 (1/2)</a:t>
            </a:r>
            <a:br>
              <a:rPr lang="es-AR" altLang="en-US" sz="3200" dirty="0">
                <a:solidFill>
                  <a:srgbClr val="000000"/>
                </a:solidFill>
              </a:rPr>
            </a:br>
            <a:r>
              <a:rPr lang="es-AR" altLang="en-US" sz="3200" dirty="0">
                <a:solidFill>
                  <a:srgbClr val="000000"/>
                </a:solidFill>
              </a:rPr>
              <a:t>Comprar volatilidad</a:t>
            </a: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774825" y="1163638"/>
            <a:ext cx="8642350" cy="5257800"/>
          </a:xfrm>
        </p:spPr>
        <p:txBody>
          <a:bodyPr>
            <a:normAutofit fontScale="92500" lnSpcReduction="10000"/>
          </a:bodyPr>
          <a:lstStyle/>
          <a:p>
            <a:pPr marL="0" indent="0">
              <a:buNone/>
              <a:defRPr/>
            </a:pPr>
            <a:endParaRPr lang="es-AR" altLang="en-US" sz="2300" b="1" dirty="0">
              <a:solidFill>
                <a:srgbClr val="000000"/>
              </a:solidFill>
            </a:endParaRPr>
          </a:p>
          <a:p>
            <a:pPr marL="0" indent="0">
              <a:buNone/>
              <a:defRPr/>
            </a:pPr>
            <a:r>
              <a:rPr lang="es-AR" altLang="en-US" sz="2300" b="1" dirty="0" err="1">
                <a:solidFill>
                  <a:srgbClr val="000000"/>
                </a:solidFill>
              </a:rPr>
              <a:t>Straddle</a:t>
            </a:r>
            <a:endParaRPr lang="es-AR" altLang="en-US" sz="2300" dirty="0">
              <a:solidFill>
                <a:srgbClr val="000000"/>
              </a:solidFill>
            </a:endParaRPr>
          </a:p>
          <a:p>
            <a:pPr marL="0" indent="0">
              <a:buNone/>
              <a:defRPr/>
            </a:pPr>
            <a:endParaRPr lang="en-US" sz="2300" dirty="0">
              <a:solidFill>
                <a:srgbClr val="000000"/>
              </a:solidFill>
            </a:endParaRPr>
          </a:p>
          <a:p>
            <a:pPr marL="0" indent="0">
              <a:buNone/>
              <a:defRPr/>
            </a:pPr>
            <a:r>
              <a:rPr lang="es-AR" sz="2300" dirty="0">
                <a:solidFill>
                  <a:srgbClr val="000000"/>
                </a:solidFill>
              </a:rPr>
              <a:t>Un inversor especula con un movimiento importante de un activo (</a:t>
            </a:r>
            <a:r>
              <a:rPr lang="es-AR" sz="2300" dirty="0" err="1">
                <a:solidFill>
                  <a:srgbClr val="000000"/>
                </a:solidFill>
              </a:rPr>
              <a:t>Earnings</a:t>
            </a:r>
            <a:r>
              <a:rPr lang="es-AR" sz="2300" dirty="0">
                <a:solidFill>
                  <a:srgbClr val="000000"/>
                </a:solidFill>
              </a:rPr>
              <a:t>, Elecciones, Anuncios, </a:t>
            </a:r>
            <a:r>
              <a:rPr lang="es-AR" sz="2300" dirty="0" err="1">
                <a:solidFill>
                  <a:srgbClr val="000000"/>
                </a:solidFill>
              </a:rPr>
              <a:t>etc</a:t>
            </a:r>
            <a:r>
              <a:rPr lang="es-AR" sz="2300" dirty="0">
                <a:solidFill>
                  <a:srgbClr val="000000"/>
                </a:solidFill>
              </a:rPr>
              <a:t>) pero no puede determinar en que dirección. Para eso compra una opción </a:t>
            </a:r>
            <a:r>
              <a:rPr lang="es-AR" sz="2300" i="1" dirty="0" err="1">
                <a:solidFill>
                  <a:srgbClr val="000000"/>
                </a:solidFill>
              </a:rPr>
              <a:t>call</a:t>
            </a:r>
            <a:r>
              <a:rPr lang="es-AR" sz="2300" dirty="0">
                <a:solidFill>
                  <a:srgbClr val="000000"/>
                </a:solidFill>
              </a:rPr>
              <a:t> y una opción </a:t>
            </a:r>
            <a:r>
              <a:rPr lang="es-AR" sz="2300" i="1" dirty="0" err="1">
                <a:solidFill>
                  <a:srgbClr val="000000"/>
                </a:solidFill>
              </a:rPr>
              <a:t>put</a:t>
            </a:r>
            <a:r>
              <a:rPr lang="es-AR" sz="2300" dirty="0">
                <a:solidFill>
                  <a:srgbClr val="000000"/>
                </a:solidFill>
              </a:rPr>
              <a:t> con el mismo precio de ejercicio- usualmente el precio del activo en el momento de la compra – es decir dos opciones ATM.</a:t>
            </a:r>
          </a:p>
          <a:p>
            <a:pPr marL="0" indent="0">
              <a:buNone/>
              <a:defRPr/>
            </a:pPr>
            <a:endParaRPr lang="es-AR" sz="2300" dirty="0">
              <a:solidFill>
                <a:srgbClr val="000000"/>
              </a:solidFill>
            </a:endParaRPr>
          </a:p>
          <a:p>
            <a:pPr marL="0" indent="0">
              <a:buNone/>
              <a:defRPr/>
            </a:pPr>
            <a:r>
              <a:rPr lang="es-AR" sz="2300" dirty="0">
                <a:solidFill>
                  <a:srgbClr val="000000"/>
                </a:solidFill>
              </a:rPr>
              <a:t>El inversor compra riesgo!</a:t>
            </a:r>
          </a:p>
          <a:p>
            <a:pPr marL="0" indent="0">
              <a:buNone/>
              <a:defRPr/>
            </a:pPr>
            <a:endParaRPr lang="en-US" sz="2300" dirty="0">
              <a:solidFill>
                <a:srgbClr val="000000"/>
              </a:solidFill>
            </a:endParaRPr>
          </a:p>
          <a:p>
            <a:pPr marL="0" indent="0">
              <a:buNone/>
              <a:defRPr/>
            </a:pPr>
            <a:r>
              <a:rPr lang="es-AR" altLang="en-US" sz="2300" dirty="0">
                <a:solidFill>
                  <a:srgbClr val="000000"/>
                </a:solidFill>
              </a:rPr>
              <a:t> </a:t>
            </a:r>
          </a:p>
          <a:p>
            <a:pPr eaLnBrk="1" hangingPunct="1">
              <a:defRPr/>
            </a:pPr>
            <a:endParaRPr lang="es-AR" altLang="en-US" sz="2400" dirty="0">
              <a:solidFill>
                <a:srgbClr val="000000"/>
              </a:solidFill>
            </a:endParaRPr>
          </a:p>
          <a:p>
            <a:pPr eaLnBrk="1" hangingPunct="1">
              <a:defRPr/>
            </a:pPr>
            <a:endParaRPr lang="es-AR" altLang="en-US" i="1" dirty="0">
              <a:solidFill>
                <a:srgbClr val="000000"/>
              </a:solidFill>
            </a:endParaRPr>
          </a:p>
          <a:p>
            <a:pPr lvl="2">
              <a:buNone/>
              <a:defRPr/>
            </a:pPr>
            <a:r>
              <a:rPr lang="es-AR" altLang="en-US" dirty="0">
                <a:solidFill>
                  <a:srgbClr val="000000"/>
                </a:solidFill>
              </a:rPr>
              <a:t>	</a:t>
            </a:r>
          </a:p>
          <a:p>
            <a:pPr eaLnBrk="1" hangingPunct="1">
              <a:buFontTx/>
              <a:buNone/>
              <a:defRPr/>
            </a:pPr>
            <a:endParaRPr lang="es-AR" altLang="en-US" sz="2400" dirty="0">
              <a:solidFill>
                <a:srgbClr val="000000"/>
              </a:solidFill>
            </a:endParaRPr>
          </a:p>
        </p:txBody>
      </p:sp>
    </p:spTree>
    <p:extLst>
      <p:ext uri="{BB962C8B-B14F-4D97-AF65-F5344CB8AC3E}">
        <p14:creationId xmlns:p14="http://schemas.microsoft.com/office/powerpoint/2010/main" val="354792268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D126FA63-C924-482E-80B1-C1811E8E9F94}"/>
              </a:ext>
            </a:extLst>
          </p:cNvPr>
          <p:cNvSpPr txBox="1">
            <a:spLocks noGrp="1"/>
          </p:cNvSpPr>
          <p:nvPr/>
        </p:nvSpPr>
        <p:spPr bwMode="auto">
          <a:xfrm>
            <a:off x="8534400" y="6553200"/>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Char char="•"/>
              <a:defRPr sz="3200">
                <a:solidFill>
                  <a:srgbClr val="4D4D4D"/>
                </a:solidFill>
                <a:latin typeface="Calibri" panose="020F0502020204030204" pitchFamily="34" charset="0"/>
              </a:defRPr>
            </a:lvl1pPr>
            <a:lvl2pPr marL="742950" indent="-285750">
              <a:spcBef>
                <a:spcPct val="20000"/>
              </a:spcBef>
              <a:buClr>
                <a:schemeClr val="folHlink"/>
              </a:buClr>
              <a:buSzPct val="75000"/>
              <a:buFont typeface="Wingdings" panose="05000000000000000000" pitchFamily="2" charset="2"/>
              <a:buChar char="Ø"/>
              <a:defRPr sz="2800">
                <a:solidFill>
                  <a:srgbClr val="4D4D4D"/>
                </a:solidFill>
                <a:latin typeface="Calibri" panose="020F0502020204030204" pitchFamily="34" charset="0"/>
              </a:defRPr>
            </a:lvl2pPr>
            <a:lvl3pPr marL="1143000" indent="-228600">
              <a:spcBef>
                <a:spcPct val="20000"/>
              </a:spcBef>
              <a:buClr>
                <a:schemeClr val="folHlink"/>
              </a:buClr>
              <a:buSzPct val="75000"/>
              <a:buFont typeface="Wingdings" panose="05000000000000000000" pitchFamily="2" charset="2"/>
              <a:buChar char="w"/>
              <a:defRPr sz="2400">
                <a:solidFill>
                  <a:srgbClr val="4D4D4D"/>
                </a:solidFill>
                <a:latin typeface="Calibri" panose="020F0502020204030204" pitchFamily="34" charset="0"/>
              </a:defRPr>
            </a:lvl3pPr>
            <a:lvl4pPr marL="1600200" indent="-228600">
              <a:spcBef>
                <a:spcPct val="20000"/>
              </a:spcBef>
              <a:buClr>
                <a:schemeClr val="folHlink"/>
              </a:buClr>
              <a:buSzPct val="75000"/>
              <a:buFont typeface="Wingdings" panose="05000000000000000000" pitchFamily="2" charset="2"/>
              <a:buChar char="§"/>
              <a:defRPr sz="2000">
                <a:solidFill>
                  <a:srgbClr val="4D4D4D"/>
                </a:solidFill>
                <a:latin typeface="Calibri" panose="020F0502020204030204" pitchFamily="34" charset="0"/>
              </a:defRPr>
            </a:lvl4pPr>
            <a:lvl5pPr marL="2057400" indent="-228600">
              <a:spcBef>
                <a:spcPct val="20000"/>
              </a:spcBef>
              <a:buClr>
                <a:schemeClr val="folHlink"/>
              </a:buClr>
              <a:buFont typeface="Times New Roman" panose="02020603050405020304" pitchFamily="18" charset="0"/>
              <a:buChar char="-"/>
              <a:defRPr sz="2000">
                <a:solidFill>
                  <a:srgbClr val="4D4D4D"/>
                </a:solidFill>
                <a:latin typeface="Calibri" panose="020F0502020204030204" pitchFamily="34" charset="0"/>
              </a:defRPr>
            </a:lvl5pPr>
            <a:lvl6pPr marL="25146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6pPr>
            <a:lvl7pPr marL="29718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7pPr>
            <a:lvl8pPr marL="34290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8pPr>
            <a:lvl9pPr marL="3886200" indent="-22860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Calibri" panose="020F0502020204030204" pitchFamily="34" charset="0"/>
              </a:defRPr>
            </a:lvl9pPr>
          </a:lstStyle>
          <a:p>
            <a:pPr algn="r">
              <a:spcBef>
                <a:spcPct val="0"/>
              </a:spcBef>
              <a:buClrTx/>
              <a:buFontTx/>
              <a:buNone/>
            </a:pPr>
            <a:fld id="{4935CA3D-189F-4967-A1EC-EC6ED29465FE}" type="slidenum">
              <a:rPr lang="en-US" altLang="en-US" sz="1400"/>
              <a:pPr algn="r">
                <a:spcBef>
                  <a:spcPct val="0"/>
                </a:spcBef>
                <a:buClrTx/>
                <a:buFontTx/>
                <a:buNone/>
              </a:pPr>
              <a:t>53</a:t>
            </a:fld>
            <a:endParaRPr lang="en-US" altLang="en-US" sz="1400"/>
          </a:p>
        </p:txBody>
      </p:sp>
      <p:sp>
        <p:nvSpPr>
          <p:cNvPr id="17411" name="Rectangle 2">
            <a:extLst>
              <a:ext uri="{FF2B5EF4-FFF2-40B4-BE49-F238E27FC236}">
                <a16:creationId xmlns:a16="http://schemas.microsoft.com/office/drawing/2014/main" id="{A9CF2C5F-E339-4C63-8D01-F633DE39D513}"/>
              </a:ext>
            </a:extLst>
          </p:cNvPr>
          <p:cNvSpPr>
            <a:spLocks noGrp="1" noChangeArrowheads="1"/>
          </p:cNvSpPr>
          <p:nvPr>
            <p:ph type="title" idx="4294967295"/>
          </p:nvPr>
        </p:nvSpPr>
        <p:spPr>
          <a:xfrm>
            <a:off x="2743200" y="0"/>
            <a:ext cx="7240588" cy="1143000"/>
          </a:xfrm>
        </p:spPr>
        <p:txBody>
          <a:bodyPr/>
          <a:lstStyle/>
          <a:p>
            <a:pPr eaLnBrk="1" hangingPunct="1"/>
            <a:r>
              <a:rPr lang="es-AR" altLang="en-US" sz="3200" dirty="0">
                <a:solidFill>
                  <a:srgbClr val="000000"/>
                </a:solidFill>
              </a:rPr>
              <a:t>Caso de Estudio 3 (2/2)</a:t>
            </a:r>
            <a:br>
              <a:rPr lang="es-AR" altLang="en-US" sz="3200" dirty="0">
                <a:solidFill>
                  <a:srgbClr val="000000"/>
                </a:solidFill>
              </a:rPr>
            </a:br>
            <a:r>
              <a:rPr lang="es-AR" altLang="en-US" sz="3200" dirty="0">
                <a:solidFill>
                  <a:srgbClr val="000000"/>
                </a:solidFill>
              </a:rPr>
              <a:t>Comprar volatilidad</a:t>
            </a:r>
          </a:p>
        </p:txBody>
      </p:sp>
      <p:sp>
        <p:nvSpPr>
          <p:cNvPr id="38916" name="Rectangle 3">
            <a:extLst>
              <a:ext uri="{FF2B5EF4-FFF2-40B4-BE49-F238E27FC236}">
                <a16:creationId xmlns:a16="http://schemas.microsoft.com/office/drawing/2014/main" id="{0F898A28-B693-460B-9A93-5919631A6CD0}"/>
              </a:ext>
            </a:extLst>
          </p:cNvPr>
          <p:cNvSpPr>
            <a:spLocks noGrp="1" noChangeArrowheads="1"/>
          </p:cNvSpPr>
          <p:nvPr>
            <p:ph type="body" idx="4294967295"/>
          </p:nvPr>
        </p:nvSpPr>
        <p:spPr>
          <a:xfrm>
            <a:off x="1774825" y="1163638"/>
            <a:ext cx="8642350" cy="5257800"/>
          </a:xfrm>
        </p:spPr>
        <p:txBody>
          <a:bodyPr/>
          <a:lstStyle/>
          <a:p>
            <a:pPr eaLnBrk="1" hangingPunct="1">
              <a:defRPr/>
            </a:pPr>
            <a:endParaRPr lang="es-AR" altLang="en-US" i="1" dirty="0">
              <a:solidFill>
                <a:srgbClr val="000000"/>
              </a:solidFill>
            </a:endParaRPr>
          </a:p>
          <a:p>
            <a:pPr lvl="2">
              <a:buNone/>
              <a:defRPr/>
            </a:pPr>
            <a:r>
              <a:rPr lang="es-AR" altLang="en-US" dirty="0">
                <a:solidFill>
                  <a:srgbClr val="000000"/>
                </a:solidFill>
              </a:rPr>
              <a:t>	</a:t>
            </a:r>
          </a:p>
          <a:p>
            <a:pPr eaLnBrk="1" hangingPunct="1">
              <a:buFontTx/>
              <a:buNone/>
              <a:defRPr/>
            </a:pPr>
            <a:endParaRPr lang="es-AR" altLang="en-US" sz="2400" dirty="0">
              <a:solidFill>
                <a:srgbClr val="000000"/>
              </a:solidFill>
            </a:endParaRPr>
          </a:p>
        </p:txBody>
      </p:sp>
      <p:pic>
        <p:nvPicPr>
          <p:cNvPr id="6146" name="Picture 2">
            <a:extLst>
              <a:ext uri="{FF2B5EF4-FFF2-40B4-BE49-F238E27FC236}">
                <a16:creationId xmlns:a16="http://schemas.microsoft.com/office/drawing/2014/main" id="{F8E05EDC-157F-4614-A00C-E7A8F23EA2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568" y="1334933"/>
            <a:ext cx="7596336" cy="5131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168724"/>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899045-AA68-4614-A680-9E9F1B0AB7CA}"/>
              </a:ext>
            </a:extLst>
          </p:cNvPr>
          <p:cNvSpPr>
            <a:spLocks noGrp="1"/>
          </p:cNvSpPr>
          <p:nvPr>
            <p:ph type="sldNum" sz="quarter" idx="10"/>
          </p:nvPr>
        </p:nvSpPr>
        <p:spPr/>
        <p:txBody>
          <a:bodyPr/>
          <a:lstStyle/>
          <a:p>
            <a:pPr>
              <a:defRPr/>
            </a:pPr>
            <a:fld id="{095C3A6C-2EF2-4429-8171-61B701167257}" type="slidenum">
              <a:rPr lang="en-US" altLang="en-US" smtClean="0"/>
              <a:pPr>
                <a:defRPr/>
              </a:pPr>
              <a:t>54</a:t>
            </a:fld>
            <a:endParaRPr lang="en-US" altLang="en-US" dirty="0"/>
          </a:p>
        </p:txBody>
      </p:sp>
      <p:sp>
        <p:nvSpPr>
          <p:cNvPr id="4" name="Title 4">
            <a:extLst>
              <a:ext uri="{FF2B5EF4-FFF2-40B4-BE49-F238E27FC236}">
                <a16:creationId xmlns:a16="http://schemas.microsoft.com/office/drawing/2014/main" id="{1B1ED3C3-179F-4914-8394-AF5367D1594A}"/>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kern="0" dirty="0">
                <a:solidFill>
                  <a:srgbClr val="000000"/>
                </a:solidFill>
              </a:rPr>
            </a:br>
            <a:r>
              <a:rPr lang="es-AR" sz="3200" kern="0" dirty="0">
                <a:solidFill>
                  <a:srgbClr val="000000"/>
                </a:solidFill>
              </a:rPr>
              <a:t>Preguntas Teórico-</a:t>
            </a:r>
            <a:r>
              <a:rPr lang="es-AR" sz="3200" kern="0" dirty="0" err="1">
                <a:solidFill>
                  <a:srgbClr val="000000"/>
                </a:solidFill>
              </a:rPr>
              <a:t>Practicos</a:t>
            </a:r>
            <a:r>
              <a:rPr lang="es-AR" sz="3200" kern="0" dirty="0">
                <a:solidFill>
                  <a:srgbClr val="000000"/>
                </a:solidFill>
              </a:rPr>
              <a:t> (Hull)</a:t>
            </a:r>
            <a:endParaRPr lang="en-US" kern="0" dirty="0"/>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3DA85F14-2038-4E0F-A2AF-D31E91EB380D}"/>
                  </a:ext>
                </a:extLst>
              </p:cNvPr>
              <p:cNvSpPr txBox="1">
                <a:spLocks noChangeArrowheads="1"/>
              </p:cNvSpPr>
              <p:nvPr/>
            </p:nvSpPr>
            <p:spPr bwMode="auto">
              <a:xfrm>
                <a:off x="1774825" y="1163638"/>
                <a:ext cx="864235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r>
                  <a:rPr lang="es-ES" sz="2300" dirty="0">
                    <a:solidFill>
                      <a:srgbClr val="000000"/>
                    </a:solidFill>
                  </a:rPr>
                  <a:t>[10.1] Un inversor compra una opción </a:t>
                </a:r>
                <a:r>
                  <a:rPr lang="es-ES" sz="2300" i="1" dirty="0">
                    <a:solidFill>
                      <a:srgbClr val="000000"/>
                    </a:solidFill>
                  </a:rPr>
                  <a:t>put</a:t>
                </a:r>
                <a:r>
                  <a:rPr lang="es-ES" sz="2300" dirty="0">
                    <a:solidFill>
                      <a:srgbClr val="000000"/>
                    </a:solidFill>
                  </a:rPr>
                  <a:t> europea por $3. El precio de la acción es $42 y el </a:t>
                </a:r>
                <a:r>
                  <a:rPr lang="es-ES" sz="2300" i="1" dirty="0">
                    <a:solidFill>
                      <a:srgbClr val="000000"/>
                    </a:solidFill>
                  </a:rPr>
                  <a:t>strike</a:t>
                </a:r>
                <a:r>
                  <a:rPr lang="es-ES" sz="2300" dirty="0">
                    <a:solidFill>
                      <a:srgbClr val="000000"/>
                    </a:solidFill>
                  </a:rPr>
                  <a:t> es $40. ¿En qué circunstancias el inversor obtiene beneficios? ¿En qué circunstancias se ejercerá la opción? Dibuje un diagrama que muestre la variación del beneficio del inversor con el precio de la acción al vencimiento de la opción.</a:t>
                </a:r>
              </a:p>
              <a:p>
                <a:r>
                  <a:rPr lang="es-ES" sz="2300" dirty="0">
                    <a:solidFill>
                      <a:srgbClr val="000000"/>
                    </a:solidFill>
                  </a:rPr>
                  <a:t>[10.3] Un inversor vende una opción </a:t>
                </a:r>
                <a:r>
                  <a:rPr lang="es-ES" sz="2300" i="1" dirty="0">
                    <a:solidFill>
                      <a:srgbClr val="000000"/>
                    </a:solidFill>
                  </a:rPr>
                  <a:t>call</a:t>
                </a:r>
                <a:r>
                  <a:rPr lang="es-ES" sz="2300" dirty="0">
                    <a:solidFill>
                      <a:srgbClr val="000000"/>
                    </a:solidFill>
                  </a:rPr>
                  <a:t> con </a:t>
                </a:r>
                <a:r>
                  <a:rPr lang="es-ES" sz="2300" i="1" dirty="0">
                    <a:solidFill>
                      <a:srgbClr val="000000"/>
                    </a:solidFill>
                  </a:rPr>
                  <a:t>strike </a:t>
                </a:r>
                <a14:m>
                  <m:oMath xmlns:m="http://schemas.openxmlformats.org/officeDocument/2006/math">
                    <m:r>
                      <a:rPr lang="es-ES" sz="2300" i="1" dirty="0">
                        <a:solidFill>
                          <a:srgbClr val="000000"/>
                        </a:solidFill>
                        <a:latin typeface="Cambria Math" panose="02040503050406030204" pitchFamily="18" charset="0"/>
                      </a:rPr>
                      <m:t>𝐾</m:t>
                    </m:r>
                  </m:oMath>
                </a14:m>
                <a:r>
                  <a:rPr lang="es-ES" sz="2300" dirty="0">
                    <a:solidFill>
                      <a:srgbClr val="000000"/>
                    </a:solidFill>
                  </a:rPr>
                  <a:t> y vencimiento </a:t>
                </a:r>
                <a14:m>
                  <m:oMath xmlns:m="http://schemas.openxmlformats.org/officeDocument/2006/math">
                    <m:r>
                      <a:rPr lang="es-ES" sz="2300" i="1" dirty="0">
                        <a:solidFill>
                          <a:srgbClr val="000000"/>
                        </a:solidFill>
                        <a:latin typeface="Cambria Math" panose="02040503050406030204" pitchFamily="18" charset="0"/>
                      </a:rPr>
                      <m:t>𝑇</m:t>
                    </m:r>
                  </m:oMath>
                </a14:m>
                <a:r>
                  <a:rPr lang="es-ES" sz="2300" dirty="0">
                    <a:solidFill>
                      <a:srgbClr val="000000"/>
                    </a:solidFill>
                  </a:rPr>
                  <a:t> y compra un </a:t>
                </a:r>
                <a:r>
                  <a:rPr lang="es-ES" sz="2300" i="1" dirty="0">
                    <a:solidFill>
                      <a:srgbClr val="000000"/>
                    </a:solidFill>
                  </a:rPr>
                  <a:t>put</a:t>
                </a:r>
                <a:r>
                  <a:rPr lang="es-ES" sz="2300" dirty="0">
                    <a:solidFill>
                      <a:srgbClr val="000000"/>
                    </a:solidFill>
                  </a:rPr>
                  <a:t> con el mismo strike y vencimiento. Describa la posición del inversor.</a:t>
                </a:r>
              </a:p>
              <a:p>
                <a:r>
                  <a:rPr lang="es-ES" altLang="en-US" sz="2300" dirty="0">
                    <a:solidFill>
                      <a:srgbClr val="000000"/>
                    </a:solidFill>
                  </a:rPr>
                  <a:t>[10.9] Supongamos que una opción </a:t>
                </a:r>
                <a:r>
                  <a:rPr lang="es-ES" altLang="en-US" sz="2300" i="1" dirty="0">
                    <a:solidFill>
                      <a:srgbClr val="000000"/>
                    </a:solidFill>
                  </a:rPr>
                  <a:t>call</a:t>
                </a:r>
                <a:r>
                  <a:rPr lang="es-ES" altLang="en-US" sz="2300" dirty="0">
                    <a:solidFill>
                      <a:srgbClr val="000000"/>
                    </a:solidFill>
                  </a:rPr>
                  <a:t> europea para comprar una acción por $100 cuesta $5 y se mantiene hasta el vencimiento. ¿En qué circunstancias el titular de la opción obtendrá un beneficio? ¿En qué circunstancias se ejercerá la opción? Dibuje un diagrama que ilustre cómo el beneficio de una posición larga en la opción depende del precio de la acción al vencimiento de la opción.</a:t>
                </a:r>
                <a:endParaRPr lang="es-AR" altLang="en-US" sz="2300" dirty="0"/>
              </a:p>
            </p:txBody>
          </p:sp>
        </mc:Choice>
        <mc:Fallback xmlns="">
          <p:sp>
            <p:nvSpPr>
              <p:cNvPr id="5" name="Rectangle 3">
                <a:extLst>
                  <a:ext uri="{FF2B5EF4-FFF2-40B4-BE49-F238E27FC236}">
                    <a16:creationId xmlns:a16="http://schemas.microsoft.com/office/drawing/2014/main" id="{3DA85F14-2038-4E0F-A2AF-D31E91EB380D}"/>
                  </a:ext>
                </a:extLst>
              </p:cNvPr>
              <p:cNvSpPr txBox="1">
                <a:spLocks noRot="1" noChangeAspect="1" noMove="1" noResize="1" noEditPoints="1" noAdjustHandles="1" noChangeArrowheads="1" noChangeShapeType="1" noTextEdit="1"/>
              </p:cNvSpPr>
              <p:nvPr/>
            </p:nvSpPr>
            <p:spPr bwMode="auto">
              <a:xfrm>
                <a:off x="1774825" y="1163638"/>
                <a:ext cx="8642350" cy="5257800"/>
              </a:xfrm>
              <a:prstGeom prst="rect">
                <a:avLst/>
              </a:prstGeom>
              <a:blipFill>
                <a:blip r:embed="rId2"/>
                <a:stretch>
                  <a:fillRect l="-1058" t="-1044" r="-1622" b="-3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1137021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B129A8-6089-4480-B710-3908C659D13C}"/>
              </a:ext>
            </a:extLst>
          </p:cNvPr>
          <p:cNvSpPr>
            <a:spLocks noGrp="1"/>
          </p:cNvSpPr>
          <p:nvPr>
            <p:ph type="sldNum" sz="quarter" idx="12"/>
          </p:nvPr>
        </p:nvSpPr>
        <p:spPr>
          <a:xfrm>
            <a:off x="7981950" y="6356352"/>
            <a:ext cx="2057400" cy="365125"/>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900" kern="1200">
                <a:solidFill>
                  <a:schemeClr val="tx1">
                    <a:tint val="75000"/>
                  </a:schemeClr>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fld id="{095C3A6C-2EF2-4429-8171-61B701167257}" type="slidenum">
              <a:rPr lang="en-US" altLang="en-US" smtClean="0"/>
              <a:pPr>
                <a:defRPr/>
              </a:pPr>
              <a:t>55</a:t>
            </a:fld>
            <a:endParaRPr lang="en-US" altLang="en-US"/>
          </a:p>
        </p:txBody>
      </p:sp>
      <p:sp>
        <p:nvSpPr>
          <p:cNvPr id="5" name="Title 4">
            <a:extLst>
              <a:ext uri="{FF2B5EF4-FFF2-40B4-BE49-F238E27FC236}">
                <a16:creationId xmlns:a16="http://schemas.microsoft.com/office/drawing/2014/main" id="{F2BC43A8-24AD-4B4C-ADDF-7886688CD695}"/>
              </a:ext>
            </a:extLst>
          </p:cNvPr>
          <p:cNvSpPr txBox="1">
            <a:spLocks/>
          </p:cNvSpPr>
          <p:nvPr/>
        </p:nvSpPr>
        <p:spPr>
          <a:xfrm>
            <a:off x="1828800" y="-39688"/>
            <a:ext cx="8534400" cy="1143001"/>
          </a:xfrm>
          <a:prstGeom prst="rect">
            <a:avLst/>
          </a:prstGeom>
        </p:spPr>
        <p:txBody>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a:defRPr/>
            </a:pPr>
            <a:br>
              <a:rPr lang="es-AR" sz="3200" kern="0" dirty="0">
                <a:solidFill>
                  <a:srgbClr val="000000"/>
                </a:solidFill>
                <a:latin typeface="Calibri Light" panose="020F0302020204030204"/>
              </a:rPr>
            </a:br>
            <a:r>
              <a:rPr lang="es-AR" sz="3200" kern="0" dirty="0">
                <a:solidFill>
                  <a:srgbClr val="000000"/>
                </a:solidFill>
                <a:latin typeface="Calibri Light" panose="020F0302020204030204"/>
              </a:rPr>
              <a:t>Python: Obtener los paneles como </a:t>
            </a:r>
            <a:r>
              <a:rPr lang="es-AR" sz="3200" i="1" kern="0" dirty="0" err="1">
                <a:solidFill>
                  <a:srgbClr val="000000"/>
                </a:solidFill>
                <a:latin typeface="Calibri Light" panose="020F0302020204030204"/>
              </a:rPr>
              <a:t>dataframes</a:t>
            </a:r>
            <a:endParaRPr lang="en-US" i="1" kern="0" dirty="0">
              <a:latin typeface="Calibri Light" panose="020F0302020204030204"/>
            </a:endParaRPr>
          </a:p>
        </p:txBody>
      </p:sp>
      <p:sp>
        <p:nvSpPr>
          <p:cNvPr id="6" name="Rectangle 3">
            <a:extLst>
              <a:ext uri="{FF2B5EF4-FFF2-40B4-BE49-F238E27FC236}">
                <a16:creationId xmlns:a16="http://schemas.microsoft.com/office/drawing/2014/main" id="{6D2187C6-9044-459E-9BB9-FB3A2D644152}"/>
              </a:ext>
            </a:extLst>
          </p:cNvPr>
          <p:cNvSpPr txBox="1">
            <a:spLocks noChangeArrowheads="1"/>
          </p:cNvSpPr>
          <p:nvPr/>
        </p:nvSpPr>
        <p:spPr bwMode="auto">
          <a:xfrm>
            <a:off x="1919288" y="1268413"/>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eaLnBrk="1" hangingPunct="1">
              <a:buClr>
                <a:srgbClr val="954F72"/>
              </a:buClr>
              <a:defRPr/>
            </a:pPr>
            <a:r>
              <a:rPr lang="es-AR" altLang="en-US" sz="2300" kern="0" dirty="0">
                <a:solidFill>
                  <a:srgbClr val="000000"/>
                </a:solidFill>
                <a:latin typeface="Calibri Light" panose="020F0302020204030204"/>
              </a:rPr>
              <a:t>La idea del ejercicio es obtener paneles ‘limpios’ con la información necesaria para poder buscar sensibilidades</a:t>
            </a:r>
          </a:p>
          <a:p>
            <a:pPr eaLnBrk="1" hangingPunct="1">
              <a:buClr>
                <a:srgbClr val="954F72"/>
              </a:buClr>
              <a:defRPr/>
            </a:pPr>
            <a:endParaRPr lang="es-AR" altLang="en-US" sz="2300" kern="0" dirty="0">
              <a:solidFill>
                <a:srgbClr val="000000"/>
              </a:solidFill>
              <a:latin typeface="Calibri Light" panose="020F0302020204030204"/>
            </a:endParaRPr>
          </a:p>
          <a:p>
            <a:pPr eaLnBrk="1" hangingPunct="1">
              <a:buClr>
                <a:srgbClr val="954F72"/>
              </a:buClr>
              <a:defRPr/>
            </a:pPr>
            <a:r>
              <a:rPr lang="es-AR" altLang="en-US" sz="2300" kern="0" dirty="0">
                <a:solidFill>
                  <a:srgbClr val="000000"/>
                </a:solidFill>
                <a:latin typeface="Calibri Light" panose="020F0302020204030204"/>
              </a:rPr>
              <a:t>BYMA  con web </a:t>
            </a:r>
            <a:r>
              <a:rPr lang="es-AR" altLang="en-US" sz="2300" kern="0" dirty="0" err="1">
                <a:solidFill>
                  <a:srgbClr val="000000"/>
                </a:solidFill>
                <a:latin typeface="Calibri Light" panose="020F0302020204030204"/>
              </a:rPr>
              <a:t>scraping</a:t>
            </a:r>
            <a:r>
              <a:rPr lang="es-AR" altLang="en-US" sz="2300" kern="0" dirty="0">
                <a:solidFill>
                  <a:srgbClr val="000000"/>
                </a:solidFill>
                <a:latin typeface="Calibri Light" panose="020F0302020204030204"/>
              </a:rPr>
              <a:t> de iol.com  – Hoy [Hay Video-</a:t>
            </a:r>
            <a:r>
              <a:rPr lang="es-AR" altLang="en-US" sz="2300" kern="0" dirty="0" err="1">
                <a:solidFill>
                  <a:srgbClr val="000000"/>
                </a:solidFill>
                <a:latin typeface="Calibri Light" panose="020F0302020204030204"/>
              </a:rPr>
              <a:t>rava</a:t>
            </a:r>
            <a:r>
              <a:rPr lang="es-AR" altLang="en-US" sz="2300" kern="0" dirty="0">
                <a:solidFill>
                  <a:srgbClr val="000000"/>
                </a:solidFill>
                <a:latin typeface="Calibri Light" panose="020F0302020204030204"/>
              </a:rPr>
              <a:t>!]</a:t>
            </a:r>
          </a:p>
          <a:p>
            <a:pPr eaLnBrk="1" hangingPunct="1">
              <a:buClr>
                <a:srgbClr val="954F72"/>
              </a:buClr>
              <a:defRPr/>
            </a:pPr>
            <a:r>
              <a:rPr lang="es-AR" altLang="en-US" sz="2300" kern="0" dirty="0">
                <a:solidFill>
                  <a:srgbClr val="000000"/>
                </a:solidFill>
                <a:latin typeface="Calibri Light" panose="020F0302020204030204"/>
              </a:rPr>
              <a:t>BYMA con API de </a:t>
            </a:r>
            <a:r>
              <a:rPr lang="es-AR" altLang="en-US" sz="2300" kern="0" dirty="0" err="1">
                <a:solidFill>
                  <a:srgbClr val="000000"/>
                </a:solidFill>
                <a:latin typeface="Calibri Light" panose="020F0302020204030204"/>
              </a:rPr>
              <a:t>homebroker</a:t>
            </a:r>
            <a:r>
              <a:rPr lang="es-AR" altLang="en-US" sz="2300" kern="0" dirty="0">
                <a:solidFill>
                  <a:srgbClr val="000000"/>
                </a:solidFill>
                <a:latin typeface="Calibri Light" panose="020F0302020204030204"/>
              </a:rPr>
              <a:t> – Hoy [ Hay Video!]</a:t>
            </a:r>
          </a:p>
          <a:p>
            <a:pPr eaLnBrk="1" hangingPunct="1">
              <a:buClr>
                <a:srgbClr val="954F72"/>
              </a:buClr>
              <a:defRPr/>
            </a:pPr>
            <a:r>
              <a:rPr lang="es-AR" altLang="en-US" sz="2300" kern="0" dirty="0">
                <a:solidFill>
                  <a:srgbClr val="000000"/>
                </a:solidFill>
                <a:latin typeface="Calibri Light" panose="020F0302020204030204"/>
              </a:rPr>
              <a:t>NYSE con API </a:t>
            </a:r>
            <a:r>
              <a:rPr lang="es-AR" altLang="en-US" sz="2300" kern="0" dirty="0" err="1">
                <a:solidFill>
                  <a:srgbClr val="000000"/>
                </a:solidFill>
                <a:latin typeface="Calibri Light" panose="020F0302020204030204"/>
              </a:rPr>
              <a:t>Yahoo</a:t>
            </a:r>
            <a:r>
              <a:rPr lang="es-AR" altLang="en-US" sz="2300" kern="0" dirty="0">
                <a:solidFill>
                  <a:srgbClr val="000000"/>
                </a:solidFill>
                <a:latin typeface="Calibri Light" panose="020F0302020204030204"/>
              </a:rPr>
              <a:t> – El miércoles</a:t>
            </a:r>
          </a:p>
          <a:p>
            <a:pPr marL="0" indent="0" eaLnBrk="1" hangingPunct="1">
              <a:buClr>
                <a:srgbClr val="954F72"/>
              </a:buClr>
              <a:buNone/>
              <a:defRPr/>
            </a:pPr>
            <a:endParaRPr lang="es-AR" altLang="en-US" sz="2300" kern="0" dirty="0">
              <a:solidFill>
                <a:srgbClr val="000000"/>
              </a:solidFill>
              <a:latin typeface="Calibri Light" panose="020F0302020204030204"/>
            </a:endParaRPr>
          </a:p>
          <a:p>
            <a:pPr marL="0" indent="0" eaLnBrk="1" hangingPunct="1">
              <a:buClr>
                <a:srgbClr val="954F72"/>
              </a:buClr>
              <a:buNone/>
              <a:defRPr/>
            </a:pPr>
            <a:r>
              <a:rPr lang="es-AR" altLang="en-US" sz="2300" kern="0" dirty="0">
                <a:solidFill>
                  <a:srgbClr val="000000"/>
                </a:solidFill>
                <a:latin typeface="Calibri Light" panose="020F0302020204030204"/>
              </a:rPr>
              <a:t>Para el interesado </a:t>
            </a:r>
          </a:p>
          <a:p>
            <a:pPr lvl="1" indent="-342900" eaLnBrk="1" hangingPunct="1">
              <a:buClr>
                <a:srgbClr val="954F72"/>
              </a:buClr>
              <a:buSzTx/>
              <a:buFontTx/>
              <a:buChar char="•"/>
              <a:defRPr/>
            </a:pPr>
            <a:r>
              <a:rPr lang="es-AR" altLang="en-US" sz="1900" kern="0" dirty="0">
                <a:solidFill>
                  <a:srgbClr val="000000"/>
                </a:solidFill>
                <a:latin typeface="Calibri Light" panose="020F0302020204030204"/>
              </a:rPr>
              <a:t>Otras formas para obtener lo mismo	</a:t>
            </a:r>
          </a:p>
          <a:p>
            <a:pPr lvl="1" indent="-342900" eaLnBrk="1" hangingPunct="1">
              <a:buClr>
                <a:srgbClr val="954F72"/>
              </a:buClr>
              <a:buSzTx/>
              <a:buFontTx/>
              <a:buChar char="•"/>
              <a:defRPr/>
            </a:pPr>
            <a:r>
              <a:rPr lang="es-AR" altLang="en-US" sz="1900" kern="0" dirty="0">
                <a:solidFill>
                  <a:srgbClr val="000000"/>
                </a:solidFill>
                <a:latin typeface="Calibri Light" panose="020F0302020204030204"/>
              </a:rPr>
              <a:t>ROFEX?</a:t>
            </a:r>
          </a:p>
          <a:p>
            <a:pPr lvl="1" indent="-342900" eaLnBrk="1" hangingPunct="1">
              <a:buClr>
                <a:srgbClr val="954F72"/>
              </a:buClr>
              <a:buSzTx/>
              <a:buFontTx/>
              <a:buChar char="•"/>
              <a:defRPr/>
            </a:pPr>
            <a:r>
              <a:rPr lang="es-AR" altLang="en-US" sz="1900" kern="0" dirty="0">
                <a:solidFill>
                  <a:srgbClr val="000000"/>
                </a:solidFill>
                <a:latin typeface="Calibri Light" panose="020F0302020204030204"/>
              </a:rPr>
              <a:t>Otros paneles?</a:t>
            </a:r>
          </a:p>
          <a:p>
            <a:pPr lvl="1" indent="-342900" eaLnBrk="1" hangingPunct="1">
              <a:buClr>
                <a:srgbClr val="954F72"/>
              </a:buClr>
              <a:buSzTx/>
              <a:buFontTx/>
              <a:buChar char="•"/>
              <a:defRPr/>
            </a:pPr>
            <a:r>
              <a:rPr lang="es-AR" altLang="en-US" sz="1900" kern="0" dirty="0">
                <a:solidFill>
                  <a:srgbClr val="000000"/>
                </a:solidFill>
                <a:latin typeface="Calibri Light" panose="020F0302020204030204"/>
              </a:rPr>
              <a:t>Integrarlos?</a:t>
            </a:r>
          </a:p>
          <a:p>
            <a:pPr marL="0" indent="0" eaLnBrk="1" hangingPunct="1">
              <a:buClr>
                <a:srgbClr val="954F72"/>
              </a:buClr>
              <a:buNone/>
              <a:defRPr/>
            </a:pPr>
            <a:endParaRPr lang="es-AR" altLang="en-US" sz="2300" kern="0" dirty="0">
              <a:solidFill>
                <a:srgbClr val="000000"/>
              </a:solidFill>
              <a:latin typeface="Calibri Light" panose="020F0302020204030204"/>
            </a:endParaRPr>
          </a:p>
          <a:p>
            <a:pPr eaLnBrk="1" hangingPunct="1">
              <a:buClr>
                <a:srgbClr val="954F72"/>
              </a:buClr>
              <a:defRPr/>
            </a:pPr>
            <a:endParaRPr lang="es-AR" altLang="en-US" sz="2300" kern="0" dirty="0">
              <a:solidFill>
                <a:srgbClr val="000000"/>
              </a:solidFill>
              <a:latin typeface="Calibri Light" panose="020F0302020204030204"/>
            </a:endParaRPr>
          </a:p>
        </p:txBody>
      </p:sp>
    </p:spTree>
    <p:extLst>
      <p:ext uri="{BB962C8B-B14F-4D97-AF65-F5344CB8AC3E}">
        <p14:creationId xmlns:p14="http://schemas.microsoft.com/office/powerpoint/2010/main" val="2724501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21656</TotalTime>
  <Words>4385</Words>
  <Application>Microsoft Office PowerPoint</Application>
  <PresentationFormat>Widescreen</PresentationFormat>
  <Paragraphs>609</Paragraphs>
  <Slides>55</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Calibri</vt:lpstr>
      <vt:lpstr>Calibri Light</vt:lpstr>
      <vt:lpstr>Cambria Math</vt:lpstr>
      <vt:lpstr>Roboto</vt:lpstr>
      <vt:lpstr>Times New Roman</vt:lpstr>
      <vt:lpstr>Wingdings</vt:lpstr>
      <vt:lpstr>Office Theme</vt:lpstr>
      <vt:lpstr>PowerPoint Presentation</vt:lpstr>
      <vt:lpstr>Quien soy</vt:lpstr>
      <vt:lpstr>Resultados Encuesta:  1) Que otras palabras/frases les vienen a la mente cuando piensan en la palabra QUANt?</vt:lpstr>
      <vt:lpstr>Que intentaremos cubrir en estas 5 clases - Teoría</vt:lpstr>
      <vt:lpstr>Que intentaremos cubrir en estas 5 clases - Python</vt:lpstr>
      <vt:lpstr>Antes de empezar… Principios (1/4)</vt:lpstr>
      <vt:lpstr>Antes de empezar… Principios (2/4)</vt:lpstr>
      <vt:lpstr>Antes de empezar… Principios (3/4)</vt:lpstr>
      <vt:lpstr>Antes de empezar… Principios (4/4)</vt:lpstr>
      <vt:lpstr>Números importantes</vt:lpstr>
      <vt:lpstr>Derivados</vt:lpstr>
      <vt:lpstr>PowerPoint Presentation</vt:lpstr>
      <vt:lpstr>Derivados Lineales</vt:lpstr>
      <vt:lpstr>Ejemplo de contrato Forward </vt:lpstr>
      <vt:lpstr>Flujos de pago de un contrato forward</vt:lpstr>
      <vt:lpstr>Payoff contrato forward</vt:lpstr>
      <vt:lpstr>Valuación de un contrato forward</vt:lpstr>
      <vt:lpstr>Supongamos que F &gt; S(0)erT …</vt:lpstr>
      <vt:lpstr>Supongamos que F &lt; S(0)erT …</vt:lpstr>
      <vt:lpstr>Precio forward que elimina arbitrage…</vt:lpstr>
      <vt:lpstr>Derivados Lineales</vt:lpstr>
      <vt:lpstr>Mercados de Futuros</vt:lpstr>
      <vt:lpstr>Derivados Lineales</vt:lpstr>
      <vt:lpstr>Derivados No Lineales</vt:lpstr>
      <vt:lpstr>Otros Derivados</vt:lpstr>
      <vt:lpstr>Opciones – nuestro objeto de estudio estas clases</vt:lpstr>
      <vt:lpstr>Opciones call</vt:lpstr>
      <vt:lpstr>Opciones put</vt:lpstr>
      <vt:lpstr>¿Para qué se usan?</vt:lpstr>
      <vt:lpstr>Opciones:  Mercados</vt:lpstr>
      <vt:lpstr>¿Opciones sobre qué?</vt:lpstr>
      <vt:lpstr>Ejercicio (1/2)</vt:lpstr>
      <vt:lpstr>Ejercicio (2/2)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Caso de Estudio 1 (1/4) Especulación</vt:lpstr>
      <vt:lpstr>Caso de Estudio 1 (2/4) Especulación</vt:lpstr>
      <vt:lpstr>Caso de Estudio 1 (3/4) Especulación</vt:lpstr>
      <vt:lpstr>Caso de Estudio 1 (4/4) Especulación</vt:lpstr>
      <vt:lpstr>Caso de Estudio 2 (1/2)  Cobertura</vt:lpstr>
      <vt:lpstr>Caso de Estudio 2 (2/2) Cobertura</vt:lpstr>
      <vt:lpstr>Caso de Estudio 3 (1/2) Comprar volatilidad</vt:lpstr>
      <vt:lpstr>Caso de Estudio 3 (2/2) Comprar volatilidad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DF12022</dc:title>
  <dc:creator>Manuel Maurette</dc:creator>
  <cp:lastModifiedBy>Manuel Maurette</cp:lastModifiedBy>
  <cp:revision>34</cp:revision>
  <dcterms:created xsi:type="dcterms:W3CDTF">2021-05-06T00:39:44Z</dcterms:created>
  <dcterms:modified xsi:type="dcterms:W3CDTF">2022-08-22T19:18:18Z</dcterms:modified>
</cp:coreProperties>
</file>