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65"/>
  </p:notesMasterIdLst>
  <p:handoutMasterIdLst>
    <p:handoutMasterId r:id="rId66"/>
  </p:handoutMasterIdLst>
  <p:sldIdLst>
    <p:sldId id="433" r:id="rId3"/>
    <p:sldId id="347" r:id="rId4"/>
    <p:sldId id="361" r:id="rId5"/>
    <p:sldId id="292" r:id="rId6"/>
    <p:sldId id="414" r:id="rId7"/>
    <p:sldId id="418" r:id="rId8"/>
    <p:sldId id="415" r:id="rId9"/>
    <p:sldId id="412" r:id="rId10"/>
    <p:sldId id="428" r:id="rId11"/>
    <p:sldId id="417" r:id="rId12"/>
    <p:sldId id="426" r:id="rId13"/>
    <p:sldId id="427" r:id="rId14"/>
    <p:sldId id="356" r:id="rId15"/>
    <p:sldId id="294" r:id="rId16"/>
    <p:sldId id="389" r:id="rId17"/>
    <p:sldId id="390" r:id="rId18"/>
    <p:sldId id="391" r:id="rId19"/>
    <p:sldId id="392" r:id="rId20"/>
    <p:sldId id="393" r:id="rId21"/>
    <p:sldId id="458" r:id="rId22"/>
    <p:sldId id="473" r:id="rId23"/>
    <p:sldId id="474" r:id="rId24"/>
    <p:sldId id="475" r:id="rId25"/>
    <p:sldId id="476" r:id="rId26"/>
    <p:sldId id="471" r:id="rId27"/>
    <p:sldId id="394" r:id="rId28"/>
    <p:sldId id="472" r:id="rId29"/>
    <p:sldId id="395" r:id="rId30"/>
    <p:sldId id="424" r:id="rId31"/>
    <p:sldId id="425" r:id="rId32"/>
    <p:sldId id="402" r:id="rId33"/>
    <p:sldId id="423" r:id="rId34"/>
    <p:sldId id="434" r:id="rId35"/>
    <p:sldId id="422" r:id="rId36"/>
    <p:sldId id="295" r:id="rId37"/>
    <p:sldId id="407" r:id="rId38"/>
    <p:sldId id="459" r:id="rId39"/>
    <p:sldId id="408" r:id="rId40"/>
    <p:sldId id="409" r:id="rId41"/>
    <p:sldId id="460" r:id="rId42"/>
    <p:sldId id="461" r:id="rId43"/>
    <p:sldId id="462" r:id="rId44"/>
    <p:sldId id="429" r:id="rId45"/>
    <p:sldId id="432" r:id="rId46"/>
    <p:sldId id="463" r:id="rId47"/>
    <p:sldId id="464" r:id="rId48"/>
    <p:sldId id="435" r:id="rId49"/>
    <p:sldId id="436" r:id="rId50"/>
    <p:sldId id="437" r:id="rId51"/>
    <p:sldId id="438" r:id="rId52"/>
    <p:sldId id="439" r:id="rId53"/>
    <p:sldId id="440" r:id="rId54"/>
    <p:sldId id="430" r:id="rId55"/>
    <p:sldId id="411" r:id="rId56"/>
    <p:sldId id="442" r:id="rId57"/>
    <p:sldId id="444" r:id="rId58"/>
    <p:sldId id="431" r:id="rId59"/>
    <p:sldId id="469" r:id="rId60"/>
    <p:sldId id="470" r:id="rId61"/>
    <p:sldId id="465" r:id="rId62"/>
    <p:sldId id="466" r:id="rId63"/>
    <p:sldId id="468" r:id="rId64"/>
  </p:sldIdLst>
  <p:sldSz cx="9144000" cy="6858000" type="screen4x3"/>
  <p:notesSz cx="7010400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4" autoAdjust="0"/>
    <p:restoredTop sz="94660"/>
  </p:normalViewPr>
  <p:slideViewPr>
    <p:cSldViewPr>
      <p:cViewPr varScale="1">
        <p:scale>
          <a:sx n="110" d="100"/>
          <a:sy n="110" d="100"/>
        </p:scale>
        <p:origin x="102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A29CBF-A53F-48E2-9F0A-6A2CC592FBC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2FEA17-3F2A-4D6E-AFF7-904377592834}">
      <dgm:prSet/>
      <dgm:spPr/>
      <dgm:t>
        <a:bodyPr/>
        <a:lstStyle/>
        <a:p>
          <a:r>
            <a:rPr lang="es-AR" dirty="0"/>
            <a:t>El precio de mercado de una opción liquida negociada en un Exchange antes de expiración está determinado, como cualquier otro activo líquido, por </a:t>
          </a:r>
          <a:r>
            <a:rPr lang="es-AR" b="1" dirty="0"/>
            <a:t>oferta y demanda.</a:t>
          </a:r>
          <a:endParaRPr lang="en-US" dirty="0"/>
        </a:p>
      </dgm:t>
    </dgm:pt>
    <dgm:pt modelId="{6E8615BF-CF0C-4810-B5F4-F1878293C777}" type="parTrans" cxnId="{9578431C-4896-4D09-BD59-AE7C8707258B}">
      <dgm:prSet/>
      <dgm:spPr/>
      <dgm:t>
        <a:bodyPr/>
        <a:lstStyle/>
        <a:p>
          <a:endParaRPr lang="en-US"/>
        </a:p>
      </dgm:t>
    </dgm:pt>
    <dgm:pt modelId="{B8B934C8-212E-4DBA-A4A0-527DFEDE3A5A}" type="sibTrans" cxnId="{9578431C-4896-4D09-BD59-AE7C8707258B}">
      <dgm:prSet/>
      <dgm:spPr/>
      <dgm:t>
        <a:bodyPr/>
        <a:lstStyle/>
        <a:p>
          <a:endParaRPr lang="en-US"/>
        </a:p>
      </dgm:t>
    </dgm:pt>
    <dgm:pt modelId="{1A06C1FC-F686-4810-81E0-14AF8526C9D4}">
      <dgm:prSet/>
      <dgm:spPr/>
      <dgm:t>
        <a:bodyPr/>
        <a:lstStyle/>
        <a:p>
          <a:r>
            <a:rPr lang="es-AR" dirty="0"/>
            <a:t>Cuando las opciones no son líquidas. Por ejemplo opciones muy OTM o muy ITM (</a:t>
          </a:r>
          <a:r>
            <a:rPr lang="es-AR" i="1" dirty="0"/>
            <a:t>Deep</a:t>
          </a:r>
          <a:r>
            <a:rPr lang="es-AR" dirty="0"/>
            <a:t> ITM, </a:t>
          </a:r>
          <a:r>
            <a:rPr lang="es-AR" i="1" dirty="0"/>
            <a:t>Deep</a:t>
          </a:r>
          <a:r>
            <a:rPr lang="es-AR" dirty="0"/>
            <a:t> OTM), el precio suele derivar de un </a:t>
          </a:r>
          <a:r>
            <a:rPr lang="es-AR" b="1" dirty="0"/>
            <a:t>modelo</a:t>
          </a:r>
          <a:r>
            <a:rPr lang="es-AR" dirty="0"/>
            <a:t>. Clave en los mercados OTC.</a:t>
          </a:r>
          <a:endParaRPr lang="en-US" dirty="0"/>
        </a:p>
      </dgm:t>
    </dgm:pt>
    <dgm:pt modelId="{07B7D8F1-2B53-4997-B3F4-4519D2507C5F}" type="parTrans" cxnId="{1058081C-76CF-4EE7-A3A5-56C53139A0D6}">
      <dgm:prSet/>
      <dgm:spPr/>
      <dgm:t>
        <a:bodyPr/>
        <a:lstStyle/>
        <a:p>
          <a:endParaRPr lang="en-US"/>
        </a:p>
      </dgm:t>
    </dgm:pt>
    <dgm:pt modelId="{DBEC4457-3F39-4946-8BA8-8786658FAAF5}" type="sibTrans" cxnId="{1058081C-76CF-4EE7-A3A5-56C53139A0D6}">
      <dgm:prSet/>
      <dgm:spPr/>
      <dgm:t>
        <a:bodyPr/>
        <a:lstStyle/>
        <a:p>
          <a:endParaRPr lang="en-US"/>
        </a:p>
      </dgm:t>
    </dgm:pt>
    <dgm:pt modelId="{70021AD8-98E9-4B54-AE16-726D961D6940}">
      <dgm:prSet/>
      <dgm:spPr/>
      <dgm:t>
        <a:bodyPr/>
        <a:lstStyle/>
        <a:p>
          <a:r>
            <a:rPr lang="es-AR" dirty="0"/>
            <a:t>La teoría formal detrás de la valuación de derivados se baja en la </a:t>
          </a:r>
          <a:r>
            <a:rPr lang="es-AR" b="1" dirty="0"/>
            <a:t>ausencia de arbitraje</a:t>
          </a:r>
          <a:r>
            <a:rPr lang="es-AR" dirty="0"/>
            <a:t>. Será crucial tenerlo en cuenta siempre.</a:t>
          </a:r>
          <a:endParaRPr lang="en-US" dirty="0"/>
        </a:p>
      </dgm:t>
    </dgm:pt>
    <dgm:pt modelId="{50E47BCF-8255-41F2-9B71-4D0EBEC6B328}" type="parTrans" cxnId="{8A495DA3-901B-4540-8A62-69C6ACC939A9}">
      <dgm:prSet/>
      <dgm:spPr/>
      <dgm:t>
        <a:bodyPr/>
        <a:lstStyle/>
        <a:p>
          <a:endParaRPr lang="en-US"/>
        </a:p>
      </dgm:t>
    </dgm:pt>
    <dgm:pt modelId="{D094FCB2-70F8-4DFF-B5B2-59C1824BB049}" type="sibTrans" cxnId="{8A495DA3-901B-4540-8A62-69C6ACC939A9}">
      <dgm:prSet/>
      <dgm:spPr/>
      <dgm:t>
        <a:bodyPr/>
        <a:lstStyle/>
        <a:p>
          <a:endParaRPr lang="en-US"/>
        </a:p>
      </dgm:t>
    </dgm:pt>
    <dgm:pt modelId="{64D58533-182F-42A7-861D-4883E89EA8EF}">
      <dgm:prSet/>
      <dgm:spPr/>
      <dgm:t>
        <a:bodyPr/>
        <a:lstStyle/>
        <a:p>
          <a:r>
            <a:rPr lang="es-AR" dirty="0"/>
            <a:t>Vamos a dedicarle una buena parte del curso a estudiar modelos de precios de prima de Opciones</a:t>
          </a:r>
          <a:endParaRPr lang="en-US" dirty="0"/>
        </a:p>
      </dgm:t>
    </dgm:pt>
    <dgm:pt modelId="{7D2B9ED0-83D8-4AA5-9DD3-350AD693B512}" type="parTrans" cxnId="{C5785DF0-0468-4974-913F-6A5C43E2446F}">
      <dgm:prSet/>
      <dgm:spPr/>
      <dgm:t>
        <a:bodyPr/>
        <a:lstStyle/>
        <a:p>
          <a:endParaRPr lang="en-US"/>
        </a:p>
      </dgm:t>
    </dgm:pt>
    <dgm:pt modelId="{E0D1ED56-D8D8-4F59-8601-778092C715F6}" type="sibTrans" cxnId="{C5785DF0-0468-4974-913F-6A5C43E2446F}">
      <dgm:prSet/>
      <dgm:spPr/>
      <dgm:t>
        <a:bodyPr/>
        <a:lstStyle/>
        <a:p>
          <a:endParaRPr lang="en-US"/>
        </a:p>
      </dgm:t>
    </dgm:pt>
    <dgm:pt modelId="{D93FDF55-20BD-46AA-A4C1-66AC04893069}" type="pres">
      <dgm:prSet presAssocID="{5FA29CBF-A53F-48E2-9F0A-6A2CC592FBC4}" presName="linear" presStyleCnt="0">
        <dgm:presLayoutVars>
          <dgm:animLvl val="lvl"/>
          <dgm:resizeHandles val="exact"/>
        </dgm:presLayoutVars>
      </dgm:prSet>
      <dgm:spPr/>
    </dgm:pt>
    <dgm:pt modelId="{DFF7E16A-5680-462A-A6B6-3D533F94C4AB}" type="pres">
      <dgm:prSet presAssocID="{B42FEA17-3F2A-4D6E-AFF7-9043775928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DF6101-6F77-4BA0-A6B9-31F13CF9C55B}" type="pres">
      <dgm:prSet presAssocID="{B8B934C8-212E-4DBA-A4A0-527DFEDE3A5A}" presName="spacer" presStyleCnt="0"/>
      <dgm:spPr/>
    </dgm:pt>
    <dgm:pt modelId="{98172D43-CA02-4AE1-9B48-E45651562DD1}" type="pres">
      <dgm:prSet presAssocID="{1A06C1FC-F686-4810-81E0-14AF8526C9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30EE096-1679-48AE-92D5-D4D0DA993E11}" type="pres">
      <dgm:prSet presAssocID="{DBEC4457-3F39-4946-8BA8-8786658FAAF5}" presName="spacer" presStyleCnt="0"/>
      <dgm:spPr/>
    </dgm:pt>
    <dgm:pt modelId="{B1C43220-69FE-4BD1-A4E8-184DDB2E9407}" type="pres">
      <dgm:prSet presAssocID="{70021AD8-98E9-4B54-AE16-726D961D694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24ABBA-CE53-433C-9E1D-E178E76A3CF1}" type="pres">
      <dgm:prSet presAssocID="{D094FCB2-70F8-4DFF-B5B2-59C1824BB049}" presName="spacer" presStyleCnt="0"/>
      <dgm:spPr/>
    </dgm:pt>
    <dgm:pt modelId="{7D8C6D59-EAF0-4256-8101-2466B2BEF4CE}" type="pres">
      <dgm:prSet presAssocID="{64D58533-182F-42A7-861D-4883E89EA8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13BB610-B958-4BF6-A0EA-E2D29FFFF3DF}" type="presOf" srcId="{70021AD8-98E9-4B54-AE16-726D961D6940}" destId="{B1C43220-69FE-4BD1-A4E8-184DDB2E9407}" srcOrd="0" destOrd="0" presId="urn:microsoft.com/office/officeart/2005/8/layout/vList2"/>
    <dgm:cxn modelId="{1058081C-76CF-4EE7-A3A5-56C53139A0D6}" srcId="{5FA29CBF-A53F-48E2-9F0A-6A2CC592FBC4}" destId="{1A06C1FC-F686-4810-81E0-14AF8526C9D4}" srcOrd="1" destOrd="0" parTransId="{07B7D8F1-2B53-4997-B3F4-4519D2507C5F}" sibTransId="{DBEC4457-3F39-4946-8BA8-8786658FAAF5}"/>
    <dgm:cxn modelId="{9578431C-4896-4D09-BD59-AE7C8707258B}" srcId="{5FA29CBF-A53F-48E2-9F0A-6A2CC592FBC4}" destId="{B42FEA17-3F2A-4D6E-AFF7-904377592834}" srcOrd="0" destOrd="0" parTransId="{6E8615BF-CF0C-4810-B5F4-F1878293C777}" sibTransId="{B8B934C8-212E-4DBA-A4A0-527DFEDE3A5A}"/>
    <dgm:cxn modelId="{AE02F923-8619-4C4D-A74E-EF643B5DFE69}" type="presOf" srcId="{5FA29CBF-A53F-48E2-9F0A-6A2CC592FBC4}" destId="{D93FDF55-20BD-46AA-A4C1-66AC04893069}" srcOrd="0" destOrd="0" presId="urn:microsoft.com/office/officeart/2005/8/layout/vList2"/>
    <dgm:cxn modelId="{D9803F33-2CEB-48E4-A578-B2E9B7AF1C9E}" type="presOf" srcId="{B42FEA17-3F2A-4D6E-AFF7-904377592834}" destId="{DFF7E16A-5680-462A-A6B6-3D533F94C4AB}" srcOrd="0" destOrd="0" presId="urn:microsoft.com/office/officeart/2005/8/layout/vList2"/>
    <dgm:cxn modelId="{71494B4D-0D32-43F7-995D-8DBBF883B8C6}" type="presOf" srcId="{1A06C1FC-F686-4810-81E0-14AF8526C9D4}" destId="{98172D43-CA02-4AE1-9B48-E45651562DD1}" srcOrd="0" destOrd="0" presId="urn:microsoft.com/office/officeart/2005/8/layout/vList2"/>
    <dgm:cxn modelId="{82C7B98B-B5DB-4AD4-9308-4AFA1F5A8038}" type="presOf" srcId="{64D58533-182F-42A7-861D-4883E89EA8EF}" destId="{7D8C6D59-EAF0-4256-8101-2466B2BEF4CE}" srcOrd="0" destOrd="0" presId="urn:microsoft.com/office/officeart/2005/8/layout/vList2"/>
    <dgm:cxn modelId="{8A495DA3-901B-4540-8A62-69C6ACC939A9}" srcId="{5FA29CBF-A53F-48E2-9F0A-6A2CC592FBC4}" destId="{70021AD8-98E9-4B54-AE16-726D961D6940}" srcOrd="2" destOrd="0" parTransId="{50E47BCF-8255-41F2-9B71-4D0EBEC6B328}" sibTransId="{D094FCB2-70F8-4DFF-B5B2-59C1824BB049}"/>
    <dgm:cxn modelId="{C5785DF0-0468-4974-913F-6A5C43E2446F}" srcId="{5FA29CBF-A53F-48E2-9F0A-6A2CC592FBC4}" destId="{64D58533-182F-42A7-861D-4883E89EA8EF}" srcOrd="3" destOrd="0" parTransId="{7D2B9ED0-83D8-4AA5-9DD3-350AD693B512}" sibTransId="{E0D1ED56-D8D8-4F59-8601-778092C715F6}"/>
    <dgm:cxn modelId="{1566EE84-B8FE-4523-B30C-3660769E0E4B}" type="presParOf" srcId="{D93FDF55-20BD-46AA-A4C1-66AC04893069}" destId="{DFF7E16A-5680-462A-A6B6-3D533F94C4AB}" srcOrd="0" destOrd="0" presId="urn:microsoft.com/office/officeart/2005/8/layout/vList2"/>
    <dgm:cxn modelId="{BBB7F530-92F9-44EB-935C-3A318027CF7C}" type="presParOf" srcId="{D93FDF55-20BD-46AA-A4C1-66AC04893069}" destId="{69DF6101-6F77-4BA0-A6B9-31F13CF9C55B}" srcOrd="1" destOrd="0" presId="urn:microsoft.com/office/officeart/2005/8/layout/vList2"/>
    <dgm:cxn modelId="{5C8B730F-29CF-4BED-BC40-5624D823763C}" type="presParOf" srcId="{D93FDF55-20BD-46AA-A4C1-66AC04893069}" destId="{98172D43-CA02-4AE1-9B48-E45651562DD1}" srcOrd="2" destOrd="0" presId="urn:microsoft.com/office/officeart/2005/8/layout/vList2"/>
    <dgm:cxn modelId="{CA63B03C-C98A-46FE-8734-621110B203F8}" type="presParOf" srcId="{D93FDF55-20BD-46AA-A4C1-66AC04893069}" destId="{B30EE096-1679-48AE-92D5-D4D0DA993E11}" srcOrd="3" destOrd="0" presId="urn:microsoft.com/office/officeart/2005/8/layout/vList2"/>
    <dgm:cxn modelId="{808CAC97-F074-4765-AE16-5587EDA15225}" type="presParOf" srcId="{D93FDF55-20BD-46AA-A4C1-66AC04893069}" destId="{B1C43220-69FE-4BD1-A4E8-184DDB2E9407}" srcOrd="4" destOrd="0" presId="urn:microsoft.com/office/officeart/2005/8/layout/vList2"/>
    <dgm:cxn modelId="{97651BE1-54D8-4521-BE58-CAE2373519C4}" type="presParOf" srcId="{D93FDF55-20BD-46AA-A4C1-66AC04893069}" destId="{0024ABBA-CE53-433C-9E1D-E178E76A3CF1}" srcOrd="5" destOrd="0" presId="urn:microsoft.com/office/officeart/2005/8/layout/vList2"/>
    <dgm:cxn modelId="{D33C326A-65B9-40E7-9B8B-A0C96EE61184}" type="presParOf" srcId="{D93FDF55-20BD-46AA-A4C1-66AC04893069}" destId="{7D8C6D59-EAF0-4256-8101-2466B2BEF4C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7E16A-5680-462A-A6B6-3D533F94C4AB}">
      <dsp:nvSpPr>
        <dsp:cNvPr id="0" name=""/>
        <dsp:cNvSpPr/>
      </dsp:nvSpPr>
      <dsp:spPr>
        <a:xfrm>
          <a:off x="0" y="154231"/>
          <a:ext cx="4941519" cy="13560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 dirty="0"/>
            <a:t>El precio de mercado de una opción liquida negociada en un Exchange antes de expiración está determinado, como cualquier otro activo líquido, por </a:t>
          </a:r>
          <a:r>
            <a:rPr lang="es-AR" sz="1900" b="1" kern="1200" dirty="0"/>
            <a:t>oferta y demanda.</a:t>
          </a:r>
          <a:endParaRPr lang="en-US" sz="1900" kern="1200" dirty="0"/>
        </a:p>
      </dsp:txBody>
      <dsp:txXfrm>
        <a:off x="66196" y="220427"/>
        <a:ext cx="4809127" cy="1223637"/>
      </dsp:txXfrm>
    </dsp:sp>
    <dsp:sp modelId="{98172D43-CA02-4AE1-9B48-E45651562DD1}">
      <dsp:nvSpPr>
        <dsp:cNvPr id="0" name=""/>
        <dsp:cNvSpPr/>
      </dsp:nvSpPr>
      <dsp:spPr>
        <a:xfrm>
          <a:off x="0" y="1564981"/>
          <a:ext cx="4941519" cy="1356029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 dirty="0"/>
            <a:t>Cuando las opciones no son líquidas. Por ejemplo opciones muy OTM o muy ITM (</a:t>
          </a:r>
          <a:r>
            <a:rPr lang="es-AR" sz="1900" i="1" kern="1200" dirty="0"/>
            <a:t>Deep</a:t>
          </a:r>
          <a:r>
            <a:rPr lang="es-AR" sz="1900" kern="1200" dirty="0"/>
            <a:t> ITM, </a:t>
          </a:r>
          <a:r>
            <a:rPr lang="es-AR" sz="1900" i="1" kern="1200" dirty="0"/>
            <a:t>Deep</a:t>
          </a:r>
          <a:r>
            <a:rPr lang="es-AR" sz="1900" kern="1200" dirty="0"/>
            <a:t> OTM), el precio suele derivar de un </a:t>
          </a:r>
          <a:r>
            <a:rPr lang="es-AR" sz="1900" b="1" kern="1200" dirty="0"/>
            <a:t>modelo</a:t>
          </a:r>
          <a:r>
            <a:rPr lang="es-AR" sz="1900" kern="1200" dirty="0"/>
            <a:t>. Clave en los mercados OTC.</a:t>
          </a:r>
          <a:endParaRPr lang="en-US" sz="1900" kern="1200" dirty="0"/>
        </a:p>
      </dsp:txBody>
      <dsp:txXfrm>
        <a:off x="66196" y="1631177"/>
        <a:ext cx="4809127" cy="1223637"/>
      </dsp:txXfrm>
    </dsp:sp>
    <dsp:sp modelId="{B1C43220-69FE-4BD1-A4E8-184DDB2E9407}">
      <dsp:nvSpPr>
        <dsp:cNvPr id="0" name=""/>
        <dsp:cNvSpPr/>
      </dsp:nvSpPr>
      <dsp:spPr>
        <a:xfrm>
          <a:off x="0" y="2975731"/>
          <a:ext cx="4941519" cy="1356029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 dirty="0"/>
            <a:t>La teoría formal detrás de la valuación de derivados se baja en la </a:t>
          </a:r>
          <a:r>
            <a:rPr lang="es-AR" sz="1900" b="1" kern="1200" dirty="0"/>
            <a:t>ausencia de arbitraje</a:t>
          </a:r>
          <a:r>
            <a:rPr lang="es-AR" sz="1900" kern="1200" dirty="0"/>
            <a:t>. Será crucial tenerlo en cuenta siempre.</a:t>
          </a:r>
          <a:endParaRPr lang="en-US" sz="1900" kern="1200" dirty="0"/>
        </a:p>
      </dsp:txBody>
      <dsp:txXfrm>
        <a:off x="66196" y="3041927"/>
        <a:ext cx="4809127" cy="1223637"/>
      </dsp:txXfrm>
    </dsp:sp>
    <dsp:sp modelId="{7D8C6D59-EAF0-4256-8101-2466B2BEF4CE}">
      <dsp:nvSpPr>
        <dsp:cNvPr id="0" name=""/>
        <dsp:cNvSpPr/>
      </dsp:nvSpPr>
      <dsp:spPr>
        <a:xfrm>
          <a:off x="0" y="4386481"/>
          <a:ext cx="4941519" cy="135602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900" kern="1200" dirty="0"/>
            <a:t>Vamos a dedicarle una buena parte del curso a estudiar modelos de precios de prima de Opciones</a:t>
          </a:r>
          <a:endParaRPr lang="en-US" sz="1900" kern="1200" dirty="0"/>
        </a:p>
      </dsp:txBody>
      <dsp:txXfrm>
        <a:off x="66196" y="4452677"/>
        <a:ext cx="4809127" cy="1223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3403EDCD-EC9E-490F-A5C9-C49460763E3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t" anchorCtr="0" compatLnSpc="1">
            <a:prstTxWarp prst="textNoShape">
              <a:avLst/>
            </a:prstTxWarp>
          </a:bodyPr>
          <a:lstStyle>
            <a:lvl1pPr defTabSz="928329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7FEA6904-7E44-4E06-AB12-32B60B925F7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t" anchorCtr="0" compatLnSpc="1">
            <a:prstTxWarp prst="textNoShape">
              <a:avLst/>
            </a:prstTxWarp>
          </a:bodyPr>
          <a:lstStyle>
            <a:lvl1pPr algn="r" defTabSz="928329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1860" name="Rectangle 4">
            <a:extLst>
              <a:ext uri="{FF2B5EF4-FFF2-40B4-BE49-F238E27FC236}">
                <a16:creationId xmlns:a16="http://schemas.microsoft.com/office/drawing/2014/main" id="{076E8636-9046-48DC-982A-B390E164509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b" anchorCtr="0" compatLnSpc="1">
            <a:prstTxWarp prst="textNoShape">
              <a:avLst/>
            </a:prstTxWarp>
          </a:bodyPr>
          <a:lstStyle>
            <a:lvl1pPr defTabSz="928329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1861" name="Rectangle 5">
            <a:extLst>
              <a:ext uri="{FF2B5EF4-FFF2-40B4-BE49-F238E27FC236}">
                <a16:creationId xmlns:a16="http://schemas.microsoft.com/office/drawing/2014/main" id="{1FA4B857-8002-44DE-971B-83309480556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300"/>
            </a:lvl1pPr>
          </a:lstStyle>
          <a:p>
            <a:pPr>
              <a:defRPr/>
            </a:pPr>
            <a:fld id="{038429A2-6CBE-4D30-A238-BBE77AE6D0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85FB520-46F1-4443-914E-5EB0F52A7B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t" anchorCtr="0" compatLnSpc="1">
            <a:prstTxWarp prst="textNoShape">
              <a:avLst/>
            </a:prstTxWarp>
          </a:bodyPr>
          <a:lstStyle>
            <a:lvl1pPr defTabSz="928329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D5B5EAF-A329-4CC1-90DB-5D6CD9934D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t" anchorCtr="0" compatLnSpc="1">
            <a:prstTxWarp prst="textNoShape">
              <a:avLst/>
            </a:prstTxWarp>
          </a:bodyPr>
          <a:lstStyle>
            <a:lvl1pPr algn="r" defTabSz="928329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794648C-9E89-4B0A-A2DD-07110682B9D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92150"/>
            <a:ext cx="4616450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66AA6BD-EA9D-478E-83B8-26BBEBFCC60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387850"/>
            <a:ext cx="5607050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EEF1E57-FA11-4EA4-8645-3B1CC67D76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b" anchorCtr="0" compatLnSpc="1">
            <a:prstTxWarp prst="textNoShape">
              <a:avLst/>
            </a:prstTxWarp>
          </a:bodyPr>
          <a:lstStyle>
            <a:lvl1pPr defTabSz="928329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DE6910D-6819-4D3C-B42A-9CC602B4F1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772525"/>
            <a:ext cx="3038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816" tIns="46409" rIns="92816" bIns="46409" numCol="1" anchor="b" anchorCtr="0" compatLnSpc="1">
            <a:prstTxWarp prst="textNoShape">
              <a:avLst/>
            </a:prstTxWarp>
          </a:bodyPr>
          <a:lstStyle>
            <a:lvl1pPr algn="r" defTabSz="927100" eaLnBrk="1" hangingPunct="1">
              <a:defRPr sz="1300"/>
            </a:lvl1pPr>
          </a:lstStyle>
          <a:p>
            <a:pPr>
              <a:defRPr/>
            </a:pPr>
            <a:fld id="{E1A86F46-A190-45FA-B9D2-BDA324D754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66219F2-F265-4048-9278-209C5B1C5C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4375" indent="-274638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98550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38288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78025" indent="-219075" defTabSz="9271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52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924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496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06825" indent="-219075" defTabSz="9271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271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AEABBD-4A1E-4CD5-991D-CA2C26094214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271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FDFBAE36-82B1-4888-B903-AC5A7376B06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8750" y="8767763"/>
            <a:ext cx="30416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69" tIns="46385" rIns="92769" bIns="46385" anchor="b"/>
          <a:lstStyle>
            <a:lvl1pPr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7FE17B-1E3D-4CBB-BA33-E370B9F0393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06D53540-7A80-4A1D-8AAA-2264949B95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6975" y="690563"/>
            <a:ext cx="4618038" cy="3465512"/>
          </a:xfrm>
          <a:ln/>
        </p:spPr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319BE930-F3E5-44E7-AF94-2BE651367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4389438"/>
            <a:ext cx="5143500" cy="4156075"/>
          </a:xfrm>
          <a:noFill/>
        </p:spPr>
        <p:txBody>
          <a:bodyPr lIns="92769" tIns="46385" rIns="92769" bIns="46385"/>
          <a:lstStyle/>
          <a:p>
            <a:pPr eaLnBrk="1" hangingPunct="1"/>
            <a:endParaRPr lang="es-E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23">
            <a:extLst>
              <a:ext uri="{FF2B5EF4-FFF2-40B4-BE49-F238E27FC236}">
                <a16:creationId xmlns:a16="http://schemas.microsoft.com/office/drawing/2014/main" id="{037B0329-579A-4C46-925F-056E7CDA825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4242E-F027-4AD9-ADCF-0B06DE51CA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591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3">
            <a:extLst>
              <a:ext uri="{FF2B5EF4-FFF2-40B4-BE49-F238E27FC236}">
                <a16:creationId xmlns:a16="http://schemas.microsoft.com/office/drawing/2014/main" id="{E4788E2C-14C6-498C-9B81-C5EE7C5CBA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94A237-1628-4791-B530-D7FB7B3D4E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470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3">
            <a:extLst>
              <a:ext uri="{FF2B5EF4-FFF2-40B4-BE49-F238E27FC236}">
                <a16:creationId xmlns:a16="http://schemas.microsoft.com/office/drawing/2014/main" id="{C62538E4-14F0-49A1-BE78-E1A3E35B2C6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154C4-85E6-45C2-84CB-B558537985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956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92575" cy="3881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828800"/>
            <a:ext cx="4094163" cy="3881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3">
            <a:extLst>
              <a:ext uri="{FF2B5EF4-FFF2-40B4-BE49-F238E27FC236}">
                <a16:creationId xmlns:a16="http://schemas.microsoft.com/office/drawing/2014/main" id="{F394011C-9B88-40A0-A645-36CD5C28202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BA98B1-AEC0-41EC-84AA-5691B927EA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059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3">
            <a:extLst>
              <a:ext uri="{FF2B5EF4-FFF2-40B4-BE49-F238E27FC236}">
                <a16:creationId xmlns:a16="http://schemas.microsoft.com/office/drawing/2014/main" id="{27DAE223-8F56-46A7-A734-70A3E5092B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B3B06B-6523-4D53-B908-9668FC149A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0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3">
            <a:extLst>
              <a:ext uri="{FF2B5EF4-FFF2-40B4-BE49-F238E27FC236}">
                <a16:creationId xmlns:a16="http://schemas.microsoft.com/office/drawing/2014/main" id="{4865E979-92FB-459B-81FC-C1BC85E44EF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23B6E-6B17-43D9-B376-ECDAE0A331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577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3">
            <a:extLst>
              <a:ext uri="{FF2B5EF4-FFF2-40B4-BE49-F238E27FC236}">
                <a16:creationId xmlns:a16="http://schemas.microsoft.com/office/drawing/2014/main" id="{FECFA186-E17C-4D51-9134-7A6D03E632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C3A6C-2EF2-4429-8171-61B7011672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80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3">
            <a:extLst>
              <a:ext uri="{FF2B5EF4-FFF2-40B4-BE49-F238E27FC236}">
                <a16:creationId xmlns:a16="http://schemas.microsoft.com/office/drawing/2014/main" id="{4C2AC8A2-DDD1-4EBB-BEC9-FDEE121EF6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77397-BB06-440E-9B72-B8332A3EBB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30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3">
            <a:extLst>
              <a:ext uri="{FF2B5EF4-FFF2-40B4-BE49-F238E27FC236}">
                <a16:creationId xmlns:a16="http://schemas.microsoft.com/office/drawing/2014/main" id="{6841E72E-4635-4C88-B3DA-632727E0EB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45413-E2F1-42BB-8AC3-0345B41AD1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031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3">
            <a:extLst>
              <a:ext uri="{FF2B5EF4-FFF2-40B4-BE49-F238E27FC236}">
                <a16:creationId xmlns:a16="http://schemas.microsoft.com/office/drawing/2014/main" id="{88FD115E-E26C-4F77-8E57-530FD7F7EC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3063F-9C8A-4614-880A-D633B3C762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8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0"/>
            <a:ext cx="2133600" cy="57102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248400" cy="57102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3">
            <a:extLst>
              <a:ext uri="{FF2B5EF4-FFF2-40B4-BE49-F238E27FC236}">
                <a16:creationId xmlns:a16="http://schemas.microsoft.com/office/drawing/2014/main" id="{ADB1DD8E-CBC0-4C3C-A318-8577A2AAFA1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C405B-727F-4822-82A1-F28EF9A79D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819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DB6F-AC36-44FD-8774-BA09A6307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5112C-348D-47F2-A5F4-A9A8FBB6C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5C2A1-3135-4EFE-BB7E-7E92B696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D52D7-EAC9-4E6A-94AE-7E0B0A10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B466-6EF3-4403-9264-24C7FC34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4242E-F027-4AD9-ADCF-0B06DE51CA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532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2BE7-EC6F-4655-85B4-B696BC83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CAF08-91E8-4C0F-9887-3DA03DACD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D95E0-0FC5-4237-828C-119D52BE5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4BA35-8000-4A32-B247-14C6E1C0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FFAC4-A0EB-4DC4-A062-E6189C38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94A237-1628-4791-B530-D7FB7B3D4E2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3122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1AC4-CC6E-4EE2-9E13-0D14B9FC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90B7F-A8CF-4D02-B929-930FDF2BA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72FF3-3104-4E0F-8D7D-28CF299D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2C5A3-490C-4E29-A790-FEC9DE7B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BF705-2B34-4149-B466-D115F66F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F154C4-85E6-45C2-84CB-B5585379850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719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63C5-8E7B-4C0E-B6B0-774CD5DC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9D794-FC45-4DBB-9ED9-5ECE76382D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CB4EC-3709-45FC-86F3-F92BD8596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2495-D9D0-4430-8293-569C54ACC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99722-BFF4-416E-816B-E038E672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DF087-D625-4F41-A325-ACF2B9EE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BA98B1-AEC0-41EC-84AA-5691B927EA0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867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EA6C-62D7-4116-9E9C-5C085127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BCA64-942C-43E1-BE12-D49EA233C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03844-3280-4342-9E44-32780CA16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158A9-8173-476B-BD30-4AF77BE74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7AC28-84CF-4BCB-B0DD-853C47793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B8E925-1C3E-4901-8539-F6B2B822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A9EE9-DB24-4FC9-B873-4F4DB763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D94A9-7CD5-492D-A8F5-4613C130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B3B06B-6523-4D53-B908-9668FC149A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493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70E7-4E9B-4FAC-9EB9-B4F784D3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195C3-3F45-4334-8BE7-429E2CF5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E91EA-9B2F-4A96-84DF-0EB11432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1F692-B3BF-401C-B6D2-CA8EC329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B23B6E-6B17-43D9-B376-ECDAE0A331C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32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F65D8F-5B23-4E62-8931-6D432539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A4B20C-CB78-4EC2-BA11-6EAB65F43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074EC-7E76-4AFA-B0A2-AA6BF0EC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986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2ABD-14AF-459E-BB3C-CCF34BCA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AF2A0-E734-4182-81FF-F6F08EEF9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5F42E-36EC-4824-8A0F-0FBC2AB01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96492-7FC3-4296-B565-E9DE8ADF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963E8-FEC0-4786-8EFC-A5A8E4C9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C5C64-9F66-48EB-B410-30C70665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77397-BB06-440E-9B72-B8332A3EBB9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38329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D57B-38CA-4DF7-83FC-5DBBF2F4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58C63-428A-4E3F-9EA7-E9DB03DC4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1B654-E9D8-4BB7-BE6C-9F1916B05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37384-04A2-4EFA-8FF7-6E88939C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4E487-DC00-499A-9CE5-D4DDEAEE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20A1F-DD01-409D-8F7C-ED89F193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C45413-E2F1-42BB-8AC3-0345B41AD1A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352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DE99-4876-4597-8FA9-9C3D2991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8D85E-3395-4688-88AD-49BED6E7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A9E5F-F9CA-4E73-A6C1-D4EFC9E8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A2B1F-4B1E-48E6-BD6E-93A93558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D7E05-5169-4BC0-87BD-F69E46EF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53063F-9C8A-4614-880A-D633B3C7629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4834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7B5C7-38F1-447D-8076-8D0448954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12CBF-70F1-4198-84C6-E55B601E6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178A9-22BA-4679-9EFF-56A37B76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0F49-F63B-42D8-80DA-A75F64EC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87664-172B-4BED-AF9A-F6254DB0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C405B-727F-4822-82A1-F28EF9A79DC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84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7">
            <a:extLst>
              <a:ext uri="{FF2B5EF4-FFF2-40B4-BE49-F238E27FC236}">
                <a16:creationId xmlns:a16="http://schemas.microsoft.com/office/drawing/2014/main" id="{9D83BB87-8BB1-482B-9778-205B67C068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339138" cy="388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Line 114">
            <a:extLst>
              <a:ext uri="{FF2B5EF4-FFF2-40B4-BE49-F238E27FC236}">
                <a16:creationId xmlns:a16="http://schemas.microsoft.com/office/drawing/2014/main" id="{AB2C61C2-5208-49AB-AFB9-2BF4D9B14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1219200"/>
            <a:ext cx="84582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8" name="Rectangle 118">
            <a:extLst>
              <a:ext uri="{FF2B5EF4-FFF2-40B4-BE49-F238E27FC236}">
                <a16:creationId xmlns:a16="http://schemas.microsoft.com/office/drawing/2014/main" id="{30E033C2-3622-4551-AAC5-878741343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defRPr/>
            </a:pPr>
            <a:endParaRPr lang="es-ES" altLang="en-US" sz="2400">
              <a:latin typeface="Verdana" pitchFamily="34" charset="0"/>
            </a:endParaRPr>
          </a:p>
        </p:txBody>
      </p:sp>
      <p:sp>
        <p:nvSpPr>
          <p:cNvPr id="1029" name="Rectangle 119">
            <a:extLst>
              <a:ext uri="{FF2B5EF4-FFF2-40B4-BE49-F238E27FC236}">
                <a16:creationId xmlns:a16="http://schemas.microsoft.com/office/drawing/2014/main" id="{886E0CBD-3474-44D4-B3B8-F5573F3A0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0"/>
            <a:ext cx="8534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graphicFrame>
        <p:nvGraphicFramePr>
          <p:cNvPr id="1030" name="Object 117">
            <a:extLst>
              <a:ext uri="{FF2B5EF4-FFF2-40B4-BE49-F238E27FC236}">
                <a16:creationId xmlns:a16="http://schemas.microsoft.com/office/drawing/2014/main" id="{8A6323C3-4D44-4135-9C17-F806419AF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6583363"/>
          <a:ext cx="228600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409632" imgH="295238" progId="">
                  <p:embed/>
                </p:oleObj>
              </mc:Choice>
              <mc:Fallback>
                <p:oleObj r:id="rId13" imgW="409632" imgH="295238" progId="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6583363"/>
                        <a:ext cx="228600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Text Box 120">
            <a:extLst>
              <a:ext uri="{FF2B5EF4-FFF2-40B4-BE49-F238E27FC236}">
                <a16:creationId xmlns:a16="http://schemas.microsoft.com/office/drawing/2014/main" id="{F1233F06-E0C2-40EF-B51F-45CE68986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507163"/>
            <a:ext cx="43434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defRPr/>
            </a:pPr>
            <a:r>
              <a:rPr lang="es-AR" altLang="en-US" sz="1000" b="1">
                <a:solidFill>
                  <a:srgbClr val="4D4D4D"/>
                </a:solidFill>
              </a:rPr>
              <a:t>ESCUELA DE NEGOCIOS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s-AR" altLang="en-US" sz="1000">
                <a:solidFill>
                  <a:srgbClr val="4D4D4D"/>
                </a:solidFill>
              </a:rPr>
              <a:t>UNIVERSIDAD TORCUATO DI TELLA</a:t>
            </a:r>
            <a:endParaRPr lang="en-US" altLang="en-US" sz="1000">
              <a:solidFill>
                <a:srgbClr val="4D4D4D"/>
              </a:solidFill>
            </a:endParaRPr>
          </a:p>
        </p:txBody>
      </p:sp>
      <p:sp>
        <p:nvSpPr>
          <p:cNvPr id="1032" name="Line 121">
            <a:extLst>
              <a:ext uri="{FF2B5EF4-FFF2-40B4-BE49-F238E27FC236}">
                <a16:creationId xmlns:a16="http://schemas.microsoft.com/office/drawing/2014/main" id="{D51077EB-686F-4649-8437-70EE8BBFB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7307" name="Rectangle 123">
            <a:extLst>
              <a:ext uri="{FF2B5EF4-FFF2-40B4-BE49-F238E27FC236}">
                <a16:creationId xmlns:a16="http://schemas.microsoft.com/office/drawing/2014/main" id="{D754F0F2-90D2-4627-9DBF-9038233EE30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4D4D4D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7BBB14E-A513-4981-A105-D881034241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Calibri" pitchFamily="34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Calibri" pitchFamily="34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Calibri" pitchFamily="34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Calibri" pitchFamily="34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Times New Roman" pitchFamily="18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Times New Roman" pitchFamily="18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Times New Roman" pitchFamily="18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D4D4D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Ø"/>
        <a:defRPr sz="2800">
          <a:solidFill>
            <a:srgbClr val="4D4D4D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w"/>
        <a:defRPr sz="2400">
          <a:solidFill>
            <a:srgbClr val="4D4D4D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§"/>
        <a:defRPr sz="2000">
          <a:solidFill>
            <a:srgbClr val="4D4D4D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Times New Roman" panose="02020603050405020304" pitchFamily="18" charset="0"/>
        <a:buChar char="-"/>
        <a:defRPr sz="2000">
          <a:solidFill>
            <a:srgbClr val="4D4D4D"/>
          </a:solidFill>
          <a:latin typeface="+mn-lt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Times New Roman" pitchFamily="18" charset="0"/>
        <a:buChar char="-"/>
        <a:defRPr sz="2000">
          <a:solidFill>
            <a:srgbClr val="4D4D4D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Times New Roman" pitchFamily="18" charset="0"/>
        <a:buChar char="-"/>
        <a:defRPr sz="2000">
          <a:solidFill>
            <a:srgbClr val="4D4D4D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Times New Roman" pitchFamily="18" charset="0"/>
        <a:buChar char="-"/>
        <a:defRPr sz="2000">
          <a:solidFill>
            <a:srgbClr val="4D4D4D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Times New Roman" pitchFamily="18" charset="0"/>
        <a:buChar char="-"/>
        <a:defRPr sz="20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3AB6C-D4BE-4791-AA22-5C6674A5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1AAD4-BAF5-4173-9738-1EBCD4EEC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4F757-96C4-4886-9D73-2CCB0C08F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79D8A-DCF6-41F3-B5E6-65FEC63F8A34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1A10B-5CB0-40D8-88B6-53355F886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141E8-583E-42E4-8746-D76657FA4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7BBB14E-A513-4981-A105-D881034241A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1077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0.png"/><Relationship Id="rId5" Type="http://schemas.openxmlformats.org/officeDocument/2006/relationships/image" Target="../media/image15.png"/><Relationship Id="rId4" Type="http://schemas.openxmlformats.org/officeDocument/2006/relationships/image" Target="../media/image2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0.png"/><Relationship Id="rId5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21.png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png"/><Relationship Id="rId5" Type="http://schemas.openxmlformats.org/officeDocument/2006/relationships/image" Target="../media/image600.png"/><Relationship Id="rId4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2.png"/><Relationship Id="rId4" Type="http://schemas.openxmlformats.org/officeDocument/2006/relationships/image" Target="../media/image5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gif"/><Relationship Id="rId5" Type="http://schemas.openxmlformats.org/officeDocument/2006/relationships/image" Target="../media/image511.png"/><Relationship Id="rId4" Type="http://schemas.openxmlformats.org/officeDocument/2006/relationships/image" Target="../media/image411.png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2" Type="http://schemas.openxmlformats.org/officeDocument/2006/relationships/image" Target="../media/image9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Relationship Id="rId11" Type="http://schemas.openxmlformats.org/officeDocument/2006/relationships/image" Target="../media/image82.png"/><Relationship Id="rId10" Type="http://schemas.openxmlformats.org/officeDocument/2006/relationships/image" Target="../media/image7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tionsprofitcalculator.com/" TargetMode="Externa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6">
            <a:extLst>
              <a:ext uri="{FF2B5EF4-FFF2-40B4-BE49-F238E27FC236}">
                <a16:creationId xmlns:a16="http://schemas.microsoft.com/office/drawing/2014/main" id="{3EAAC866-38B5-4BE7-A95A-608229DB97E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119187" y="3429000"/>
            <a:ext cx="6981825" cy="2057400"/>
          </a:xfrm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Manu </a:t>
            </a:r>
            <a:r>
              <a:rPr lang="en-US" altLang="en-US" sz="2400" dirty="0">
                <a:solidFill>
                  <a:srgbClr val="000000"/>
                </a:solidFill>
              </a:rPr>
              <a:t>Maurette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s-AR" altLang="en-US" sz="2400" dirty="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s-AR" altLang="en-US" sz="2400" dirty="0">
                <a:solidFill>
                  <a:srgbClr val="000000"/>
                </a:solidFill>
              </a:rPr>
              <a:t>Clase 2: Opciones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054" name="Rectangle 9">
            <a:extLst>
              <a:ext uri="{FF2B5EF4-FFF2-40B4-BE49-F238E27FC236}">
                <a16:creationId xmlns:a16="http://schemas.microsoft.com/office/drawing/2014/main" id="{C97DC3A1-35E5-4E0C-8B9A-3A0E1861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604" y="1669368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Ø"/>
              <a:defRPr sz="2800">
                <a:solidFill>
                  <a:srgbClr val="4D4D4D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w"/>
              <a:defRPr sz="2400">
                <a:solidFill>
                  <a:srgbClr val="4D4D4D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§"/>
              <a:defRPr sz="2000">
                <a:solidFill>
                  <a:srgbClr val="4D4D4D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Derivados</a:t>
            </a:r>
            <a:r>
              <a:rPr kumimoji="0" lang="en-US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Financieros</a:t>
            </a:r>
            <a:r>
              <a:rPr kumimoji="0" lang="en-US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4000">
                <a:solidFill>
                  <a:srgbClr val="000000"/>
                </a:solidFill>
                <a:latin typeface="Calibri" panose="020F0502020204030204"/>
              </a:rPr>
              <a:t>2022</a:t>
            </a:r>
            <a:endParaRPr kumimoji="0" lang="en-US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4" name="Line 22">
            <a:extLst>
              <a:ext uri="{FF2B5EF4-FFF2-40B4-BE49-F238E27FC236}">
                <a16:creationId xmlns:a16="http://schemas.microsoft.com/office/drawing/2014/main" id="{B8AF241C-92FF-4369-99C6-4BFD7E032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1268760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05" name="Line 23">
            <a:extLst>
              <a:ext uri="{FF2B5EF4-FFF2-40B4-BE49-F238E27FC236}">
                <a16:creationId xmlns:a16="http://schemas.microsoft.com/office/drawing/2014/main" id="{216886FB-126A-4D10-92C7-22C7C0CCC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3212976"/>
            <a:ext cx="84582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food&#10;&#10;Description automatically generated">
            <a:extLst>
              <a:ext uri="{FF2B5EF4-FFF2-40B4-BE49-F238E27FC236}">
                <a16:creationId xmlns:a16="http://schemas.microsoft.com/office/drawing/2014/main" id="{2400D78A-3C2B-4C45-8A14-A94448C01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721" y="5157192"/>
            <a:ext cx="1665535" cy="16655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96298F-1393-4C0C-B99A-DEC14864F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759" y="5188633"/>
            <a:ext cx="3323011" cy="13460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D126FA63-C924-482E-80B1-C1811E8E9F94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553200"/>
            <a:ext cx="2133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35CA3D-189F-4967-A1EC-EC6ED29465F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9CF2C5F-E339-4C63-8D01-F633DE39D51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-14696"/>
            <a:ext cx="7240587" cy="1143000"/>
          </a:xfrm>
        </p:spPr>
        <p:txBody>
          <a:bodyPr/>
          <a:lstStyle/>
          <a:p>
            <a:pPr eaLnBrk="1" hangingPunct="1"/>
            <a:r>
              <a:rPr lang="es-AR" altLang="en-US" sz="3200" dirty="0">
                <a:solidFill>
                  <a:srgbClr val="000000"/>
                </a:solidFill>
              </a:rPr>
              <a:t>Opciones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F898A28-B693-460B-9A93-5919631A6CD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63638"/>
            <a:ext cx="8642350" cy="525780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endParaRPr lang="es-AR" altLang="en-US" sz="2500" b="1" dirty="0">
              <a:solidFill>
                <a:srgbClr val="000000"/>
              </a:solidFill>
            </a:endParaRPr>
          </a:p>
          <a:p>
            <a:pPr marL="0" indent="0">
              <a:buFontTx/>
              <a:buNone/>
              <a:defRPr/>
            </a:pPr>
            <a:r>
              <a:rPr lang="es-AR" altLang="en-US" sz="2500" b="1" dirty="0">
                <a:solidFill>
                  <a:srgbClr val="000000"/>
                </a:solidFill>
              </a:rPr>
              <a:t>Definición</a:t>
            </a:r>
            <a:r>
              <a:rPr lang="es-AR" altLang="en-US" sz="2500" dirty="0">
                <a:solidFill>
                  <a:srgbClr val="000000"/>
                </a:solidFill>
              </a:rPr>
              <a:t> </a:t>
            </a:r>
          </a:p>
          <a:p>
            <a:pPr marL="0" indent="0">
              <a:buFontTx/>
              <a:buNone/>
              <a:defRPr/>
            </a:pPr>
            <a:r>
              <a:rPr lang="es-ES" sz="2500" dirty="0">
                <a:solidFill>
                  <a:srgbClr val="000000"/>
                </a:solidFill>
              </a:rPr>
              <a:t>Una </a:t>
            </a:r>
            <a:r>
              <a:rPr lang="es-ES" sz="25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opción</a:t>
            </a:r>
            <a:r>
              <a:rPr lang="es-ES" sz="2500" dirty="0">
                <a:solidFill>
                  <a:srgbClr val="000000"/>
                </a:solidFill>
              </a:rPr>
              <a:t> es un contrato que le da al dueño el </a:t>
            </a:r>
            <a:r>
              <a:rPr lang="es-ES" sz="2500" b="1" dirty="0">
                <a:solidFill>
                  <a:srgbClr val="000000"/>
                </a:solidFill>
              </a:rPr>
              <a:t>derecho</a:t>
            </a:r>
            <a:r>
              <a:rPr lang="es-ES" sz="2500" dirty="0">
                <a:solidFill>
                  <a:srgbClr val="000000"/>
                </a:solidFill>
              </a:rPr>
              <a:t>, pero no la obligación, de negociar un activo predeterminado, llamado también el </a:t>
            </a:r>
            <a:r>
              <a:rPr lang="es-ES" sz="25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activo subyacente </a:t>
            </a:r>
            <a:r>
              <a:rPr lang="es-ES" sz="2500" dirty="0">
                <a:solidFill>
                  <a:srgbClr val="000000"/>
                </a:solidFill>
              </a:rPr>
              <a:t>por un precio determinado, llamado también </a:t>
            </a:r>
            <a:r>
              <a:rPr lang="es-ES" sz="25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precio de ejercicio </a:t>
            </a:r>
            <a:r>
              <a:rPr lang="es-ES" sz="2500" dirty="0">
                <a:solidFill>
                  <a:srgbClr val="000000"/>
                </a:solidFill>
              </a:rPr>
              <a:t>en un tiempo en el futuro, llamada la </a:t>
            </a:r>
            <a:r>
              <a:rPr lang="es-ES" sz="25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fecha de expiración</a:t>
            </a:r>
            <a:r>
              <a:rPr lang="es-ES" sz="2500" dirty="0">
                <a:solidFill>
                  <a:srgbClr val="000000"/>
                </a:solidFill>
              </a:rPr>
              <a:t>. Una opción </a:t>
            </a:r>
            <a:r>
              <a:rPr lang="es-ES" sz="2500" b="1" i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call</a:t>
            </a:r>
            <a:r>
              <a:rPr lang="es-ES" sz="2500" dirty="0">
                <a:solidFill>
                  <a:srgbClr val="000000"/>
                </a:solidFill>
              </a:rPr>
              <a:t> da al dueño el derecho a comprar y una </a:t>
            </a:r>
            <a:r>
              <a:rPr lang="es-ES" sz="2500" b="1" i="1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put</a:t>
            </a:r>
            <a:r>
              <a:rPr lang="es-ES" sz="2500" dirty="0">
                <a:solidFill>
                  <a:srgbClr val="000000"/>
                </a:solidFill>
              </a:rPr>
              <a:t>, el derecho a vender</a:t>
            </a:r>
            <a:r>
              <a:rPr lang="es-AR" altLang="en-US" sz="25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FontTx/>
              <a:buNone/>
              <a:defRPr/>
            </a:pPr>
            <a:endParaRPr lang="es-AR" altLang="en-US" sz="2500" dirty="0">
              <a:solidFill>
                <a:srgbClr val="000000"/>
              </a:solidFill>
            </a:endParaRPr>
          </a:p>
          <a:p>
            <a:pPr marL="0" indent="0">
              <a:buFontTx/>
              <a:buNone/>
              <a:defRPr/>
            </a:pPr>
            <a:r>
              <a:rPr lang="es-AR" altLang="en-US" sz="2500" dirty="0">
                <a:solidFill>
                  <a:srgbClr val="000000"/>
                </a:solidFill>
              </a:rPr>
              <a:t>Jerga en ingles – lenguaje en el que encontrarán la mayoría de la </a:t>
            </a:r>
            <a:r>
              <a:rPr lang="es-AR" altLang="en-US" sz="2500" dirty="0" err="1">
                <a:solidFill>
                  <a:srgbClr val="000000"/>
                </a:solidFill>
              </a:rPr>
              <a:t>bib</a:t>
            </a:r>
            <a:r>
              <a:rPr lang="es-AR" altLang="en-US" sz="2500" dirty="0">
                <a:solidFill>
                  <a:srgbClr val="000000"/>
                </a:solidFill>
              </a:rPr>
              <a:t>.:</a:t>
            </a:r>
          </a:p>
          <a:p>
            <a:pPr>
              <a:defRPr/>
            </a:pPr>
            <a:r>
              <a:rPr lang="es-AR" altLang="en-US" sz="2500" dirty="0">
                <a:solidFill>
                  <a:srgbClr val="000000"/>
                </a:solidFill>
              </a:rPr>
              <a:t>Activo subyacente – </a:t>
            </a:r>
            <a:r>
              <a:rPr lang="en-US" altLang="en-US" sz="2500" i="1" dirty="0">
                <a:solidFill>
                  <a:srgbClr val="000000"/>
                </a:solidFill>
              </a:rPr>
              <a:t>Underlying asset</a:t>
            </a:r>
          </a:p>
          <a:p>
            <a:pPr>
              <a:defRPr/>
            </a:pPr>
            <a:r>
              <a:rPr lang="es-AR" altLang="en-US" sz="2500" dirty="0">
                <a:solidFill>
                  <a:srgbClr val="000000"/>
                </a:solidFill>
              </a:rPr>
              <a:t>Precio de ejercicio – </a:t>
            </a:r>
            <a:r>
              <a:rPr lang="es-AR" altLang="en-US" sz="2500" i="1" dirty="0">
                <a:solidFill>
                  <a:srgbClr val="000000"/>
                </a:solidFill>
              </a:rPr>
              <a:t>Strike Price</a:t>
            </a:r>
          </a:p>
          <a:p>
            <a:pPr>
              <a:defRPr/>
            </a:pPr>
            <a:r>
              <a:rPr lang="es-AR" altLang="en-US" sz="2500" dirty="0">
                <a:solidFill>
                  <a:srgbClr val="000000"/>
                </a:solidFill>
              </a:rPr>
              <a:t>Fecha de expiración – </a:t>
            </a:r>
            <a:r>
              <a:rPr lang="en-US" altLang="en-US" sz="2500" i="1" dirty="0">
                <a:solidFill>
                  <a:srgbClr val="000000"/>
                </a:solidFill>
              </a:rPr>
              <a:t>Expiry/Maturity</a:t>
            </a:r>
          </a:p>
          <a:p>
            <a:pPr eaLnBrk="1" hangingPunct="1">
              <a:defRPr/>
            </a:pPr>
            <a:endParaRPr lang="es-AR" altLang="en-US" sz="24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AR" altLang="en-US" i="1" dirty="0">
              <a:solidFill>
                <a:srgbClr val="000000"/>
              </a:solidFill>
            </a:endParaRPr>
          </a:p>
          <a:p>
            <a:pPr marL="1143000" lvl="2" eaLnBrk="1" hangingPunct="1">
              <a:buFont typeface="Wingdings" panose="05000000000000000000" pitchFamily="2" charset="2"/>
              <a:buNone/>
              <a:defRPr/>
            </a:pPr>
            <a:r>
              <a:rPr lang="es-AR" altLang="en-US" dirty="0">
                <a:solidFill>
                  <a:srgbClr val="000000"/>
                </a:solidFill>
              </a:rPr>
              <a:t>	</a:t>
            </a:r>
          </a:p>
          <a:p>
            <a:pPr eaLnBrk="1" hangingPunct="1">
              <a:buFontTx/>
              <a:buNone/>
              <a:defRPr/>
            </a:pPr>
            <a:endParaRPr lang="es-AR" alt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BFADE9A7-043B-481F-9779-D70239C75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5770" y="637125"/>
            <a:ext cx="2851707" cy="5256371"/>
          </a:xfrm>
        </p:spPr>
        <p:txBody>
          <a:bodyPr>
            <a:normAutofit/>
          </a:bodyPr>
          <a:lstStyle/>
          <a:p>
            <a:r>
              <a:rPr lang="es-AR" altLang="en-US" sz="4200" dirty="0"/>
              <a:t>Precio de una Opción </a:t>
            </a:r>
            <a:endParaRPr lang="en-US" altLang="en-US" sz="4200" dirty="0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F4E43FA2-1600-4359-A9ED-17780413C6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fld id="{08D5BE6C-EA58-4242-93DB-30DCEB89BC94}" type="slidenum">
              <a:rPr lang="en-US" altLang="en-US" sz="1000">
                <a:solidFill>
                  <a:srgbClr val="898989"/>
                </a:solidFill>
                <a:latin typeface="Calibri" panose="020F0502020204030204" pitchFamily="34" charset="0"/>
              </a:rPr>
              <a:pPr>
                <a:spcAft>
                  <a:spcPts val="600"/>
                </a:spcAft>
              </a:pPr>
              <a:t>3</a:t>
            </a:fld>
            <a:endParaRPr lang="en-US" altLang="en-US" sz="10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7894" name="Content Placeholder 2">
            <a:extLst>
              <a:ext uri="{FF2B5EF4-FFF2-40B4-BE49-F238E27FC236}">
                <a16:creationId xmlns:a16="http://schemas.microsoft.com/office/drawing/2014/main" id="{B4BC3D94-5213-4CED-A003-6108F49CE4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75238" y="303591"/>
          <a:ext cx="4941519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30" y="963877"/>
            <a:ext cx="2925892" cy="4930246"/>
          </a:xfrm>
        </p:spPr>
        <p:txBody>
          <a:bodyPr>
            <a:normAutofit/>
          </a:bodyPr>
          <a:lstStyle/>
          <a:p>
            <a:pPr algn="r"/>
            <a:r>
              <a:rPr lang="es-AR" altLang="en-US" dirty="0">
                <a:solidFill>
                  <a:schemeClr val="accent1"/>
                </a:solidFill>
              </a:rPr>
              <a:t>El precio de una Opción NO depende de: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7E154962-9BE8-4206-AC1F-0AC2F31F796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732023" y="963877"/>
                <a:ext cx="4872425" cy="4265323"/>
              </a:xfrm>
            </p:spPr>
            <p:txBody>
              <a:bodyPr anchor="ctr">
                <a:normAutofit/>
              </a:bodyPr>
              <a:lstStyle/>
              <a:p>
                <a:pPr>
                  <a:buFontTx/>
                  <a:buNone/>
                </a:pPr>
                <a:endParaRPr lang="en-US" altLang="en-US" dirty="0"/>
              </a:p>
              <a:p>
                <a:pPr>
                  <a:buSzTx/>
                </a:pPr>
                <a:r>
                  <a:rPr lang="en-US" altLang="en-US" dirty="0"/>
                  <a:t>Tasa de </a:t>
                </a:r>
                <a:r>
                  <a:rPr lang="en-US" altLang="en-US" dirty="0" err="1"/>
                  <a:t>crecimiento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esperada</a:t>
                </a:r>
                <a:r>
                  <a:rPr lang="en-US" altLang="en-US" dirty="0"/>
                  <a:t> del </a:t>
                </a:r>
                <a:r>
                  <a:rPr lang="en-US" altLang="en-US" dirty="0" err="1"/>
                  <a:t>precio</a:t>
                </a:r>
                <a:r>
                  <a:rPr lang="en-US" altLang="en-US" dirty="0"/>
                  <a:t> de la </a:t>
                </a:r>
                <a:r>
                  <a:rPr lang="en-US" altLang="en-US" dirty="0" err="1"/>
                  <a:t>acción</a:t>
                </a:r>
                <a:r>
                  <a:rPr lang="en-US" altLang="en-US" dirty="0"/>
                  <a:t> (</a:t>
                </a:r>
                <a14:m>
                  <m:oMath xmlns:m="http://schemas.openxmlformats.org/officeDocument/2006/math">
                    <m:r>
                      <a:rPr lang="es-AR" altLang="en-US" b="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en-US" dirty="0"/>
                  <a:t>)</a:t>
                </a:r>
              </a:p>
              <a:p>
                <a:pPr>
                  <a:buSzTx/>
                </a:pPr>
                <a:endParaRPr lang="en-US" altLang="en-US" dirty="0"/>
              </a:p>
              <a:p>
                <a:pPr>
                  <a:buSzTx/>
                </a:pPr>
                <a:r>
                  <a:rPr lang="en-US" altLang="en-US" dirty="0" err="1"/>
                  <a:t>Aversión</a:t>
                </a:r>
                <a:r>
                  <a:rPr lang="en-US" altLang="en-US" dirty="0"/>
                  <a:t> al </a:t>
                </a:r>
                <a:r>
                  <a:rPr lang="en-US" altLang="en-US" dirty="0" err="1"/>
                  <a:t>riesgo</a:t>
                </a:r>
                <a:r>
                  <a:rPr lang="en-US" altLang="en-US" dirty="0"/>
                  <a:t> de los </a:t>
                </a:r>
                <a:r>
                  <a:rPr lang="en-US" altLang="en-US" dirty="0" err="1"/>
                  <a:t>inversores</a:t>
                </a:r>
                <a:endParaRPr lang="en-US" altLang="en-US" dirty="0"/>
              </a:p>
              <a:p>
                <a:pPr>
                  <a:buSzTx/>
                </a:pPr>
                <a:endParaRPr lang="en-US" altLang="en-US" dirty="0"/>
              </a:p>
              <a:p>
                <a:pPr>
                  <a:buSzTx/>
                </a:pPr>
                <a:r>
                  <a:rPr lang="en-US" altLang="en-US" dirty="0" err="1"/>
                  <a:t>Comparación</a:t>
                </a:r>
                <a:r>
                  <a:rPr lang="en-US" altLang="en-US" dirty="0"/>
                  <a:t> de </a:t>
                </a:r>
                <a:r>
                  <a:rPr lang="en-US" altLang="en-US" dirty="0" err="1"/>
                  <a:t>rendimiento</a:t>
                </a:r>
                <a:r>
                  <a:rPr lang="en-US" altLang="en-US" dirty="0"/>
                  <a:t> contra </a:t>
                </a:r>
                <a:r>
                  <a:rPr lang="en-US" altLang="en-US" dirty="0" err="1"/>
                  <a:t>otros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activos</a:t>
                </a:r>
                <a:r>
                  <a:rPr lang="en-US" altLang="en-US" dirty="0"/>
                  <a:t> (</a:t>
                </a:r>
                <a14:m>
                  <m:oMath xmlns:m="http://schemas.openxmlformats.org/officeDocument/2006/math">
                    <m:r>
                      <a:rPr lang="es-AR" altLang="en-US" b="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en-US" dirty="0"/>
                  <a:t>)</a:t>
                </a:r>
              </a:p>
              <a:p>
                <a:pPr>
                  <a:buSzTx/>
                </a:pPr>
                <a:endParaRPr lang="en-US" altLang="en-US" dirty="0"/>
              </a:p>
              <a:p>
                <a:pPr marL="0" indent="0">
                  <a:buSzTx/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7E154962-9BE8-4206-AC1F-0AC2F31F7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2023" y="963877"/>
                <a:ext cx="4872425" cy="4265323"/>
              </a:xfrm>
              <a:blipFill>
                <a:blip r:embed="rId2"/>
                <a:stretch>
                  <a:fillRect l="-1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FF7D218-8DEF-43AF-B39B-AAAB2E66919E}"/>
              </a:ext>
            </a:extLst>
          </p:cNvPr>
          <p:cNvSpPr/>
          <p:nvPr/>
        </p:nvSpPr>
        <p:spPr>
          <a:xfrm>
            <a:off x="1367648" y="5107767"/>
            <a:ext cx="64087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Sz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El </a:t>
            </a:r>
            <a:r>
              <a:rPr lang="es-AR" altLang="en-US" sz="2400" dirty="0">
                <a:solidFill>
                  <a:srgbClr val="000000"/>
                </a:solidFill>
              </a:rPr>
              <a:t>precio de una opción será unívocamente determinado por la </a:t>
            </a:r>
            <a:r>
              <a:rPr lang="es-AR" altLang="en-US" sz="2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ausencia de arbitraje</a:t>
            </a:r>
            <a:r>
              <a:rPr lang="es-AR" altLang="en-US" sz="2400" dirty="0">
                <a:solidFill>
                  <a:srgbClr val="000000"/>
                </a:solidFill>
              </a:rPr>
              <a:t>.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46" y="963877"/>
            <a:ext cx="2853876" cy="4930246"/>
          </a:xfrm>
        </p:spPr>
        <p:txBody>
          <a:bodyPr>
            <a:normAutofit/>
          </a:bodyPr>
          <a:lstStyle/>
          <a:p>
            <a:pPr algn="r"/>
            <a:r>
              <a:rPr lang="es-AR" altLang="en-US" dirty="0">
                <a:solidFill>
                  <a:schemeClr val="accent1"/>
                </a:solidFill>
              </a:rPr>
              <a:t>El precio de una Opción SI depende de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7E154962-9BE8-4206-AC1F-0AC2F31F796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732023" y="963877"/>
                <a:ext cx="4783327" cy="4930246"/>
              </a:xfrm>
            </p:spPr>
            <p:txBody>
              <a:bodyPr anchor="ctr">
                <a:normAutofit/>
              </a:bodyPr>
              <a:lstStyle/>
              <a:p>
                <a:r>
                  <a:rPr lang="es-AR" altLang="en-US"/>
                  <a:t>Precio </a:t>
                </a:r>
                <a:r>
                  <a:rPr lang="es-AR" altLang="en-US" i="1"/>
                  <a:t>spot</a:t>
                </a:r>
                <a:r>
                  <a:rPr lang="es-AR" altLang="en-US"/>
                  <a:t> (</a:t>
                </a:r>
                <a:r>
                  <a:rPr lang="es-AR" altLang="en-US" i="1"/>
                  <a:t>S</a:t>
                </a:r>
                <a:r>
                  <a:rPr lang="es-AR" altLang="en-US"/>
                  <a:t>) </a:t>
                </a:r>
              </a:p>
              <a:p>
                <a:endParaRPr lang="es-AR" altLang="en-US"/>
              </a:p>
              <a:p>
                <a:r>
                  <a:rPr lang="es-AR" altLang="en-US"/>
                  <a:t>Precio de ejercicio (</a:t>
                </a:r>
                <a:r>
                  <a:rPr lang="es-AR" altLang="en-US" i="1"/>
                  <a:t>K</a:t>
                </a:r>
                <a:r>
                  <a:rPr lang="es-AR" altLang="en-US"/>
                  <a:t>)</a:t>
                </a:r>
                <a:endParaRPr lang="en-US" altLang="en-US"/>
              </a:p>
              <a:p>
                <a:pPr>
                  <a:buSzTx/>
                </a:pPr>
                <a:endParaRPr lang="en-US" altLang="en-US"/>
              </a:p>
              <a:p>
                <a:pPr>
                  <a:buSzTx/>
                </a:pPr>
                <a:r>
                  <a:rPr lang="es-AR" altLang="en-US"/>
                  <a:t>Tiempo a Expiración </a:t>
                </a:r>
                <a:r>
                  <a:rPr lang="en-US" altLang="en-US"/>
                  <a:t>(</a:t>
                </a:r>
                <a:r>
                  <a:rPr lang="en-US" altLang="en-US" i="1"/>
                  <a:t>T</a:t>
                </a:r>
                <a:r>
                  <a:rPr lang="en-US" altLang="en-US"/>
                  <a:t>) (</a:t>
                </a:r>
                <a:r>
                  <a:rPr lang="en-US" altLang="en-US" i="1"/>
                  <a:t>Time to Maturity</a:t>
                </a:r>
                <a:r>
                  <a:rPr lang="en-US" altLang="en-US"/>
                  <a:t>)</a:t>
                </a:r>
              </a:p>
              <a:p>
                <a:pPr>
                  <a:buSzTx/>
                </a:pPr>
                <a:endParaRPr lang="en-US" altLang="en-US"/>
              </a:p>
              <a:p>
                <a:pPr>
                  <a:buSzTx/>
                </a:pPr>
                <a:r>
                  <a:rPr lang="es-AR" altLang="en-US"/>
                  <a:t>Volatilidad (</a:t>
                </a:r>
                <a14:m>
                  <m:oMath xmlns:m="http://schemas.openxmlformats.org/officeDocument/2006/math">
                    <m:r>
                      <a:rPr lang="es-AR" altLang="en-US" b="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AR" altLang="en-US"/>
                  <a:t>)</a:t>
                </a:r>
              </a:p>
              <a:p>
                <a:pPr>
                  <a:buSzTx/>
                </a:pPr>
                <a:endParaRPr lang="es-AR" altLang="en-US"/>
              </a:p>
              <a:p>
                <a:pPr>
                  <a:buSzTx/>
                </a:pPr>
                <a:r>
                  <a:rPr lang="es-AR" altLang="en-US"/>
                  <a:t>Tasa de interés libre de riesgo (</a:t>
                </a:r>
                <a:r>
                  <a:rPr lang="es-AR" altLang="en-US" i="1"/>
                  <a:t>r</a:t>
                </a:r>
                <a:r>
                  <a:rPr lang="es-AR" altLang="en-US"/>
                  <a:t>) (</a:t>
                </a:r>
                <a:r>
                  <a:rPr lang="es-AR" altLang="en-US" i="1"/>
                  <a:t>Risk-free IR</a:t>
                </a:r>
                <a:r>
                  <a:rPr lang="es-AR" altLang="en-US"/>
                  <a:t>)</a:t>
                </a:r>
              </a:p>
              <a:p>
                <a:pPr>
                  <a:buSzTx/>
                </a:pPr>
                <a:endParaRPr lang="es-AR" altLang="en-US"/>
              </a:p>
              <a:p>
                <a:pPr>
                  <a:buSzTx/>
                </a:pPr>
                <a:r>
                  <a:rPr lang="es-AR" altLang="en-US"/>
                  <a:t>Dividendos (</a:t>
                </a:r>
                <a:r>
                  <a:rPr lang="es-AR" altLang="en-US" i="1"/>
                  <a:t>q</a:t>
                </a:r>
                <a:r>
                  <a:rPr lang="es-AR" altLang="en-US"/>
                  <a:t>)</a:t>
                </a:r>
                <a:endParaRPr lang="en-US" altLang="en-US"/>
              </a:p>
            </p:txBody>
          </p:sp>
        </mc:Choice>
        <mc:Fallback xmlns="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7E154962-9BE8-4206-AC1F-0AC2F31F7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32023" y="963877"/>
                <a:ext cx="4783327" cy="4930246"/>
              </a:xfrm>
              <a:blipFill>
                <a:blip r:embed="rId2"/>
                <a:stretch>
                  <a:fillRect l="-1274" t="-618" b="-1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0352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74AC16-2A31-40AF-9C5B-E8FF8DFC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28600"/>
            <a:ext cx="84582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  <a:latin typeface="+mn-lt"/>
              </a:rPr>
              <a:t>Sensibilidad del precio respecto a los parámetros</a:t>
            </a:r>
          </a:p>
        </p:txBody>
      </p:sp>
      <p:sp>
        <p:nvSpPr>
          <p:cNvPr id="37891" name="Rectangle 6">
            <a:extLst>
              <a:ext uri="{FF2B5EF4-FFF2-40B4-BE49-F238E27FC236}">
                <a16:creationId xmlns:a16="http://schemas.microsoft.com/office/drawing/2014/main" id="{D19BDDDF-39AF-48E8-A790-7B1D4C579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571625"/>
            <a:ext cx="3892550" cy="39020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300" dirty="0"/>
              <a:t> </a:t>
            </a:r>
          </a:p>
        </p:txBody>
      </p:sp>
      <p:sp>
        <p:nvSpPr>
          <p:cNvPr id="37892" name="Line 7">
            <a:extLst>
              <a:ext uri="{FF2B5EF4-FFF2-40B4-BE49-F238E27FC236}">
                <a16:creationId xmlns:a16="http://schemas.microsoft.com/office/drawing/2014/main" id="{DCEA79D7-34AB-40A3-AAF3-2EB625A0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19400"/>
            <a:ext cx="67040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300">
              <a:latin typeface="+mn-lt"/>
            </a:endParaRPr>
          </a:p>
        </p:txBody>
      </p:sp>
      <p:grpSp>
        <p:nvGrpSpPr>
          <p:cNvPr id="37893" name="Group 8">
            <a:extLst>
              <a:ext uri="{FF2B5EF4-FFF2-40B4-BE49-F238E27FC236}">
                <a16:creationId xmlns:a16="http://schemas.microsoft.com/office/drawing/2014/main" id="{9864A0EE-94AE-4F9D-99C3-20A4DB32EC8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133600"/>
            <a:ext cx="6694488" cy="3579813"/>
            <a:chOff x="896" y="1337"/>
            <a:chExt cx="4217" cy="2255"/>
          </a:xfrm>
        </p:grpSpPr>
        <p:sp>
          <p:nvSpPr>
            <p:cNvPr id="37935" name="Rectangle 9">
              <a:extLst>
                <a:ext uri="{FF2B5EF4-FFF2-40B4-BE49-F238E27FC236}">
                  <a16:creationId xmlns:a16="http://schemas.microsoft.com/office/drawing/2014/main" id="{2233C99D-F67C-4EE1-9634-8252FABF4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1337"/>
              <a:ext cx="4209" cy="2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300">
                <a:latin typeface="+mn-lt"/>
              </a:endParaRPr>
            </a:p>
          </p:txBody>
        </p:sp>
        <p:sp>
          <p:nvSpPr>
            <p:cNvPr id="37936" name="Rectangle 10">
              <a:extLst>
                <a:ext uri="{FF2B5EF4-FFF2-40B4-BE49-F238E27FC236}">
                  <a16:creationId xmlns:a16="http://schemas.microsoft.com/office/drawing/2014/main" id="{7204CA1A-75F2-4FA2-9AD7-F9FAE1A37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1776"/>
              <a:ext cx="4217" cy="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300">
                <a:latin typeface="+mn-lt"/>
              </a:endParaRPr>
            </a:p>
          </p:txBody>
        </p:sp>
        <p:sp>
          <p:nvSpPr>
            <p:cNvPr id="37937" name="Rectangle 11">
              <a:extLst>
                <a:ext uri="{FF2B5EF4-FFF2-40B4-BE49-F238E27FC236}">
                  <a16:creationId xmlns:a16="http://schemas.microsoft.com/office/drawing/2014/main" id="{18DBC6B3-5475-4517-84C6-AF84F2F14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3590"/>
              <a:ext cx="4209" cy="2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300">
                <a:latin typeface="+mn-lt"/>
              </a:endParaRPr>
            </a:p>
          </p:txBody>
        </p:sp>
      </p:grpSp>
      <p:sp>
        <p:nvSpPr>
          <p:cNvPr id="37894" name="Rectangle 12">
            <a:extLst>
              <a:ext uri="{FF2B5EF4-FFF2-40B4-BE49-F238E27FC236}">
                <a16:creationId xmlns:a16="http://schemas.microsoft.com/office/drawing/2014/main" id="{8FB46DF0-3498-41A1-8A10-ECE90EADF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722" y="2244184"/>
            <a:ext cx="62357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i="1" dirty="0">
                <a:solidFill>
                  <a:srgbClr val="000000"/>
                </a:solidFill>
                <a:latin typeface="+mn-lt"/>
              </a:rPr>
              <a:t>Call</a:t>
            </a:r>
          </a:p>
        </p:txBody>
      </p:sp>
      <p:sp>
        <p:nvSpPr>
          <p:cNvPr id="37895" name="Rectangle 13">
            <a:extLst>
              <a:ext uri="{FF2B5EF4-FFF2-40B4-BE49-F238E27FC236}">
                <a16:creationId xmlns:a16="http://schemas.microsoft.com/office/drawing/2014/main" id="{E33FFDDC-59FE-4A35-A5AD-D8D2C700D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0919" y="2235594"/>
            <a:ext cx="58670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i="1" dirty="0">
                <a:solidFill>
                  <a:srgbClr val="000000"/>
                </a:solidFill>
                <a:latin typeface="+mn-lt"/>
              </a:rPr>
              <a:t>Put</a:t>
            </a:r>
          </a:p>
        </p:txBody>
      </p:sp>
      <p:grpSp>
        <p:nvGrpSpPr>
          <p:cNvPr id="37898" name="Group 16">
            <a:extLst>
              <a:ext uri="{FF2B5EF4-FFF2-40B4-BE49-F238E27FC236}">
                <a16:creationId xmlns:a16="http://schemas.microsoft.com/office/drawing/2014/main" id="{96D273C3-32CF-4EA1-A974-EF9209FBD9FF}"/>
              </a:ext>
            </a:extLst>
          </p:cNvPr>
          <p:cNvGrpSpPr>
            <a:grpSpLocks/>
          </p:cNvGrpSpPr>
          <p:nvPr/>
        </p:nvGrpSpPr>
        <p:grpSpPr bwMode="auto">
          <a:xfrm>
            <a:off x="1185124" y="2235200"/>
            <a:ext cx="1154628" cy="3425826"/>
            <a:chOff x="1063" y="1408"/>
            <a:chExt cx="569" cy="2158"/>
          </a:xfrm>
        </p:grpSpPr>
        <p:sp>
          <p:nvSpPr>
            <p:cNvPr id="37927" name="Rectangle 17">
              <a:extLst>
                <a:ext uri="{FF2B5EF4-FFF2-40B4-BE49-F238E27FC236}">
                  <a16:creationId xmlns:a16="http://schemas.microsoft.com/office/drawing/2014/main" id="{5624EC00-DB55-4146-8C05-1A99777E0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" y="1408"/>
              <a:ext cx="56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300" dirty="0">
                  <a:solidFill>
                    <a:srgbClr val="000000"/>
                  </a:solidFill>
                  <a:latin typeface="+mn-lt"/>
                </a:rPr>
                <a:t>Variable</a:t>
              </a:r>
            </a:p>
          </p:txBody>
        </p:sp>
        <p:grpSp>
          <p:nvGrpSpPr>
            <p:cNvPr id="37928" name="Group 18">
              <a:extLst>
                <a:ext uri="{FF2B5EF4-FFF2-40B4-BE49-F238E27FC236}">
                  <a16:creationId xmlns:a16="http://schemas.microsoft.com/office/drawing/2014/main" id="{4A5872DB-3F27-4716-AE01-ABF1F5FEF7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1806"/>
              <a:ext cx="183" cy="1760"/>
              <a:chOff x="1255" y="1806"/>
              <a:chExt cx="183" cy="1760"/>
            </a:xfrm>
          </p:grpSpPr>
          <p:sp>
            <p:nvSpPr>
              <p:cNvPr id="37929" name="Rectangle 19">
                <a:extLst>
                  <a:ext uri="{FF2B5EF4-FFF2-40B4-BE49-F238E27FC236}">
                    <a16:creationId xmlns:a16="http://schemas.microsoft.com/office/drawing/2014/main" id="{B03AAFD4-B430-4297-AACE-CCF96481F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1806"/>
                <a:ext cx="15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 dirty="0">
                    <a:solidFill>
                      <a:srgbClr val="000000"/>
                    </a:solidFill>
                    <a:latin typeface="+mn-lt"/>
                  </a:rPr>
                  <a:t>S</a:t>
                </a:r>
              </a:p>
            </p:txBody>
          </p:sp>
          <p:sp>
            <p:nvSpPr>
              <p:cNvPr id="37930" name="Rectangle 20">
                <a:extLst>
                  <a:ext uri="{FF2B5EF4-FFF2-40B4-BE49-F238E27FC236}">
                    <a16:creationId xmlns:a16="http://schemas.microsoft.com/office/drawing/2014/main" id="{2E2F07BB-9FFD-4C45-BC2E-DF18B1315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2085"/>
                <a:ext cx="16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>
                    <a:solidFill>
                      <a:srgbClr val="000000"/>
                    </a:solidFill>
                    <a:latin typeface="+mn-lt"/>
                  </a:rPr>
                  <a:t>K</a:t>
                </a:r>
              </a:p>
            </p:txBody>
          </p:sp>
          <p:sp>
            <p:nvSpPr>
              <p:cNvPr id="37931" name="Rectangle 21">
                <a:extLst>
                  <a:ext uri="{FF2B5EF4-FFF2-40B4-BE49-F238E27FC236}">
                    <a16:creationId xmlns:a16="http://schemas.microsoft.com/office/drawing/2014/main" id="{F98955B0-77BD-413C-8FB6-DE5114F24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2364"/>
                <a:ext cx="161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>
                    <a:solidFill>
                      <a:srgbClr val="000000"/>
                    </a:solidFill>
                    <a:latin typeface="+mn-lt"/>
                  </a:rPr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932" name="Rectangle 22">
                    <a:extLst>
                      <a:ext uri="{FF2B5EF4-FFF2-40B4-BE49-F238E27FC236}">
                        <a16:creationId xmlns:a16="http://schemas.microsoft.com/office/drawing/2014/main" id="{DB5362D9-9B93-418C-9CDA-1B4300FE2D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9" y="2642"/>
                    <a:ext cx="179" cy="2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0488" tIns="44450" rIns="90488" bIns="4445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altLang="en-US" sz="2300" dirty="0">
                      <a:solidFill>
                        <a:srgbClr val="000000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7932" name="Rectangle 22">
                    <a:extLst>
                      <a:ext uri="{FF2B5EF4-FFF2-40B4-BE49-F238E27FC236}">
                        <a16:creationId xmlns:a16="http://schemas.microsoft.com/office/drawing/2014/main" id="{DB5362D9-9B93-418C-9CDA-1B4300FE2D5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259" y="2642"/>
                    <a:ext cx="179" cy="2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933" name="Rectangle 23">
                <a:extLst>
                  <a:ext uri="{FF2B5EF4-FFF2-40B4-BE49-F238E27FC236}">
                    <a16:creationId xmlns:a16="http://schemas.microsoft.com/office/drawing/2014/main" id="{4DCEBB57-A353-4DF4-9C23-E9727AC2E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9" y="2937"/>
                <a:ext cx="140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 dirty="0">
                    <a:solidFill>
                      <a:srgbClr val="000000"/>
                    </a:solidFill>
                    <a:latin typeface="+mn-lt"/>
                  </a:rPr>
                  <a:t>r</a:t>
                </a:r>
              </a:p>
            </p:txBody>
          </p:sp>
          <p:sp>
            <p:nvSpPr>
              <p:cNvPr id="37934" name="Rectangle 24">
                <a:extLst>
                  <a:ext uri="{FF2B5EF4-FFF2-40B4-BE49-F238E27FC236}">
                    <a16:creationId xmlns:a16="http://schemas.microsoft.com/office/drawing/2014/main" id="{A17DA80F-FF5D-4EC4-A133-0C534CFC8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3286"/>
                <a:ext cx="165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s-AR" altLang="en-US" sz="2300" i="1" dirty="0">
                    <a:solidFill>
                      <a:srgbClr val="000000"/>
                    </a:solidFill>
                    <a:latin typeface="+mn-lt"/>
                  </a:rPr>
                  <a:t>q</a:t>
                </a:r>
                <a:endParaRPr lang="en-US" altLang="en-US" sz="2300" i="1" dirty="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</p:grpSp>
      <p:sp>
        <p:nvSpPr>
          <p:cNvPr id="37899" name="Rectangle 25">
            <a:extLst>
              <a:ext uri="{FF2B5EF4-FFF2-40B4-BE49-F238E27FC236}">
                <a16:creationId xmlns:a16="http://schemas.microsoft.com/office/drawing/2014/main" id="{22D590E3-048A-44C5-B95B-361AA4C45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8680" y="2827595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2" name="Rectangle 28">
            <a:extLst>
              <a:ext uri="{FF2B5EF4-FFF2-40B4-BE49-F238E27FC236}">
                <a16:creationId xmlns:a16="http://schemas.microsoft.com/office/drawing/2014/main" id="{3E56D37E-2849-4880-A0CE-A83346EF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7188" y="3294251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grpSp>
        <p:nvGrpSpPr>
          <p:cNvPr id="37903" name="Group 29">
            <a:extLst>
              <a:ext uri="{FF2B5EF4-FFF2-40B4-BE49-F238E27FC236}">
                <a16:creationId xmlns:a16="http://schemas.microsoft.com/office/drawing/2014/main" id="{8578E75F-AAF0-436C-8B71-7497A0F30E4C}"/>
              </a:ext>
            </a:extLst>
          </p:cNvPr>
          <p:cNvGrpSpPr>
            <a:grpSpLocks/>
          </p:cNvGrpSpPr>
          <p:nvPr/>
        </p:nvGrpSpPr>
        <p:grpSpPr bwMode="auto">
          <a:xfrm>
            <a:off x="3774334" y="3752525"/>
            <a:ext cx="2741882" cy="550863"/>
            <a:chOff x="2066" y="2352"/>
            <a:chExt cx="1042" cy="347"/>
          </a:xfrm>
        </p:grpSpPr>
        <p:sp>
          <p:nvSpPr>
            <p:cNvPr id="37925" name="Rectangle 30">
              <a:extLst>
                <a:ext uri="{FF2B5EF4-FFF2-40B4-BE49-F238E27FC236}">
                  <a16:creationId xmlns:a16="http://schemas.microsoft.com/office/drawing/2014/main" id="{16DAABF5-F957-4F78-8DEA-63B11C74B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" y="2352"/>
              <a:ext cx="227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3000" dirty="0">
                  <a:solidFill>
                    <a:srgbClr val="000000"/>
                  </a:solidFill>
                  <a:latin typeface="+mn-lt"/>
                </a:rPr>
                <a:t>?</a:t>
              </a:r>
            </a:p>
          </p:txBody>
        </p:sp>
        <p:sp>
          <p:nvSpPr>
            <p:cNvPr id="37926" name="Rectangle 31">
              <a:extLst>
                <a:ext uri="{FF2B5EF4-FFF2-40B4-BE49-F238E27FC236}">
                  <a16:creationId xmlns:a16="http://schemas.microsoft.com/office/drawing/2014/main" id="{B2DC6CA4-73AC-4A3E-9481-F952F17E5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352"/>
              <a:ext cx="227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3000">
                  <a:solidFill>
                    <a:srgbClr val="000000"/>
                  </a:solidFill>
                  <a:latin typeface="+mn-lt"/>
                </a:rPr>
                <a:t>?</a:t>
              </a:r>
            </a:p>
          </p:txBody>
        </p:sp>
      </p:grpSp>
      <p:sp>
        <p:nvSpPr>
          <p:cNvPr id="37906" name="Rectangle 34">
            <a:extLst>
              <a:ext uri="{FF2B5EF4-FFF2-40B4-BE49-F238E27FC236}">
                <a16:creationId xmlns:a16="http://schemas.microsoft.com/office/drawing/2014/main" id="{7381F062-09BC-4F68-82BC-FCC994FCF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8962" y="4158752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7" name="Rectangle 35">
            <a:extLst>
              <a:ext uri="{FF2B5EF4-FFF2-40B4-BE49-F238E27FC236}">
                <a16:creationId xmlns:a16="http://schemas.microsoft.com/office/drawing/2014/main" id="{797F20C4-F4A9-4E47-8C83-EA1A727F7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176" y="4184703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10" name="Rectangle 38">
            <a:extLst>
              <a:ext uri="{FF2B5EF4-FFF2-40B4-BE49-F238E27FC236}">
                <a16:creationId xmlns:a16="http://schemas.microsoft.com/office/drawing/2014/main" id="{B3C067BE-B6AB-49D4-95ED-D2D2101D4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396" y="4617977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11" name="Rectangle 39">
            <a:extLst>
              <a:ext uri="{FF2B5EF4-FFF2-40B4-BE49-F238E27FC236}">
                <a16:creationId xmlns:a16="http://schemas.microsoft.com/office/drawing/2014/main" id="{8055053A-E07C-4B43-A322-6ECB492C6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892" y="4609021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4" name="Rectangle 42">
            <a:extLst>
              <a:ext uri="{FF2B5EF4-FFF2-40B4-BE49-F238E27FC236}">
                <a16:creationId xmlns:a16="http://schemas.microsoft.com/office/drawing/2014/main" id="{A4EB93FB-BC25-4E85-B458-B05B48165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097" y="2789960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5" name="Rectangle 43">
            <a:extLst>
              <a:ext uri="{FF2B5EF4-FFF2-40B4-BE49-F238E27FC236}">
                <a16:creationId xmlns:a16="http://schemas.microsoft.com/office/drawing/2014/main" id="{AE359D23-3D4B-4458-B2B5-E20ED15F4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396" y="3255457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8" name="Rectangle 46">
            <a:extLst>
              <a:ext uri="{FF2B5EF4-FFF2-40B4-BE49-F238E27FC236}">
                <a16:creationId xmlns:a16="http://schemas.microsoft.com/office/drawing/2014/main" id="{25DB66E7-9D16-4559-B59F-C78BD8605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5875" y="5134199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9" name="Rectangle 47">
            <a:extLst>
              <a:ext uri="{FF2B5EF4-FFF2-40B4-BE49-F238E27FC236}">
                <a16:creationId xmlns:a16="http://schemas.microsoft.com/office/drawing/2014/main" id="{DABDA33E-C470-43BF-B110-C67061C0D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2515" y="5076131"/>
            <a:ext cx="37510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22" name="Line 50">
            <a:extLst>
              <a:ext uri="{FF2B5EF4-FFF2-40B4-BE49-F238E27FC236}">
                <a16:creationId xmlns:a16="http://schemas.microsoft.com/office/drawing/2014/main" id="{75BE9F94-1EE8-44AD-981D-4E1832DBA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524000"/>
            <a:ext cx="6629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300">
              <a:latin typeface="+mn-lt"/>
            </a:endParaRPr>
          </a:p>
        </p:txBody>
      </p:sp>
      <p:sp>
        <p:nvSpPr>
          <p:cNvPr id="37923" name="Text Box 51">
            <a:extLst>
              <a:ext uri="{FF2B5EF4-FFF2-40B4-BE49-F238E27FC236}">
                <a16:creationId xmlns:a16="http://schemas.microsoft.com/office/drawing/2014/main" id="{6E0C07B5-48A9-44C0-A772-6989B9B60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776" y="1600200"/>
            <a:ext cx="4328120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AR" altLang="en-US" sz="230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Opciones </a:t>
            </a:r>
            <a:r>
              <a:rPr lang="es-AR" altLang="en-US" sz="2300" i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Vanilla</a:t>
            </a:r>
            <a:r>
              <a:rPr lang="es-AR" altLang="en-US" sz="230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Europeas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Volatilidad implícita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71E51C-B6B2-4230-BCF6-A93D28F7490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1268413"/>
                <a:ext cx="8077200" cy="49059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s-AR" sz="2300" dirty="0">
                    <a:solidFill>
                      <a:srgbClr val="111111"/>
                    </a:solidFill>
                  </a:rPr>
                  <a:t>La visión del mercado de lo que podría pasar con el precio de un activo en el futuro.</a:t>
                </a: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s-AR" sz="2300" dirty="0">
                    <a:solidFill>
                      <a:srgbClr val="111111"/>
                    </a:solidFill>
                  </a:rPr>
                  <a:t>Se considera usualmente como un </a:t>
                </a:r>
                <a:r>
                  <a:rPr lang="es-AR" sz="2300" b="1" i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proxy</a:t>
                </a:r>
                <a:r>
                  <a:rPr lang="es-AR" sz="2300" dirty="0">
                    <a:solidFill>
                      <a:srgbClr val="111111"/>
                    </a:solidFill>
                  </a:rPr>
                  <a:t> al riesgo de mercado</a:t>
                </a: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s-AR" sz="2300" dirty="0">
                    <a:solidFill>
                      <a:srgbClr val="111111"/>
                    </a:solidFill>
                  </a:rPr>
                  <a:t>Es un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factor determinante </a:t>
                </a:r>
                <a:r>
                  <a:rPr lang="es-AR" sz="2300" dirty="0">
                    <a:solidFill>
                      <a:srgbClr val="111111"/>
                    </a:solidFill>
                  </a:rPr>
                  <a:t>a la hora de buscar el precio de una opción</a:t>
                </a: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s-AR" sz="2300" b="1" dirty="0">
                    <a:solidFill>
                      <a:srgbClr val="111111"/>
                    </a:solidFill>
                  </a:rPr>
                  <a:t>No es lo mismo que la volatilidad histórica </a:t>
                </a:r>
                <a:r>
                  <a:rPr lang="es-AR" sz="2300" dirty="0">
                    <a:solidFill>
                      <a:srgbClr val="111111"/>
                    </a:solidFill>
                  </a:rPr>
                  <a:t>– volatilidad realizada o volatilidad estadística</a:t>
                </a: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s-AR" sz="2300" dirty="0">
                    <a:solidFill>
                      <a:srgbClr val="111111"/>
                    </a:solidFill>
                  </a:rPr>
                  <a:t>Para cada </a:t>
                </a:r>
                <a14:m>
                  <m:oMath xmlns:m="http://schemas.openxmlformats.org/officeDocument/2006/math">
                    <m:r>
                      <a:rPr lang="es-AR" sz="23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AR" sz="2300" dirty="0">
                    <a:solidFill>
                      <a:srgbClr val="111111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s-AR" sz="23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AR" sz="2300" dirty="0">
                    <a:solidFill>
                      <a:srgbClr val="111111"/>
                    </a:solidFill>
                  </a:rPr>
                  <a:t> vamos a tener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distintas volatilidades </a:t>
                </a:r>
                <a14:m>
                  <m:oMath xmlns:m="http://schemas.openxmlformats.org/officeDocument/2006/math">
                    <m:r>
                      <a:rPr lang="es-AR" sz="2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AR" sz="2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AR" sz="2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s-AR" sz="2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sz="2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300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71E51C-B6B2-4230-BCF6-A93D28F749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1268413"/>
                <a:ext cx="8077200" cy="4905958"/>
              </a:xfrm>
              <a:prstGeom prst="rect">
                <a:avLst/>
              </a:prstGeom>
              <a:blipFill>
                <a:blip r:embed="rId2"/>
                <a:stretch>
                  <a:fillRect l="-906" t="-1615" r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2414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Sonrisa (sesgo) de volatilidad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CA47C-5524-4A6C-905A-C40CF264C72C}"/>
              </a:ext>
            </a:extLst>
          </p:cNvPr>
          <p:cNvSpPr txBox="1"/>
          <p:nvPr/>
        </p:nvSpPr>
        <p:spPr>
          <a:xfrm>
            <a:off x="431540" y="1268760"/>
            <a:ext cx="8532948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300" dirty="0">
              <a:solidFill>
                <a:srgbClr val="000000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rgbClr val="000000"/>
                </a:solidFill>
                <a:latin typeface="+mj-lt"/>
              </a:rPr>
              <a:t>Antes del </a:t>
            </a:r>
            <a:r>
              <a:rPr lang="es-ES" sz="2300" b="1" i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crash</a:t>
            </a:r>
            <a:r>
              <a:rPr lang="es-ES" sz="23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 de 1987 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(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Black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Monday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), se asumía </a:t>
            </a:r>
            <a:r>
              <a:rPr lang="es-ES" sz="23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que la volatilidad implícita no dependía del </a:t>
            </a:r>
            <a:r>
              <a:rPr lang="es-ES" sz="23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strike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en opciones de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Equity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. 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O por lo pronto que la dependencia era muy baja.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300" i="1" dirty="0">
              <a:solidFill>
                <a:srgbClr val="000000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rgbClr val="000000"/>
                </a:solidFill>
                <a:latin typeface="+mj-lt"/>
              </a:rPr>
              <a:t>Desde 1987, el </a:t>
            </a:r>
            <a:r>
              <a:rPr lang="es-ES" sz="23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grafico de la volatilidad contra el strike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 que se ve en el mercado tanto para acciones como para índices ha tenido la </a:t>
            </a:r>
            <a:r>
              <a:rPr lang="es-ES" sz="23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forma general de una sonrisa (o mueca)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300" dirty="0">
              <a:solidFill>
                <a:srgbClr val="000000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rgbClr val="000000"/>
                </a:solidFill>
                <a:latin typeface="+mj-lt"/>
              </a:rPr>
              <a:t>La volatilidad utilizada para poner precio a una opción de 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strike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 bajo (un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call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deep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ITM o un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put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deep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OTM) 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es significativamente más alto que el utilizado para una opción de 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strike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 mas alto (un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call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deep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OTM 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o un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put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s-ES" sz="2300" i="1" dirty="0" err="1">
                <a:solidFill>
                  <a:srgbClr val="000000"/>
                </a:solidFill>
                <a:latin typeface="+mj-lt"/>
              </a:rPr>
              <a:t>deep</a:t>
            </a:r>
            <a:r>
              <a:rPr lang="es-ES" sz="2300" i="1" dirty="0">
                <a:solidFill>
                  <a:srgbClr val="000000"/>
                </a:solidFill>
                <a:latin typeface="+mj-lt"/>
              </a:rPr>
              <a:t> ITM</a:t>
            </a:r>
            <a:r>
              <a:rPr lang="es-ES" sz="2300" dirty="0">
                <a:solidFill>
                  <a:srgbClr val="000000"/>
                </a:solidFill>
                <a:latin typeface="+mj-lt"/>
              </a:rPr>
              <a:t>) </a:t>
            </a:r>
            <a:endParaRPr lang="en-US" sz="23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048139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Sonrisa (sesgo) de volatilidad (2/2)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ADE0DC-F649-4C86-A6D2-0A4FE1FD55C7}"/>
              </a:ext>
            </a:extLst>
          </p:cNvPr>
          <p:cNvGrpSpPr/>
          <p:nvPr/>
        </p:nvGrpSpPr>
        <p:grpSpPr>
          <a:xfrm>
            <a:off x="107504" y="1844702"/>
            <a:ext cx="4218572" cy="3757321"/>
            <a:chOff x="107504" y="1844702"/>
            <a:chExt cx="4218572" cy="37573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E664AF7-2146-46EA-AF33-65D374724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1844702"/>
              <a:ext cx="4218572" cy="348032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4C419A8-4289-40F8-B287-610F71ABC475}"/>
                </a:ext>
              </a:extLst>
            </p:cNvPr>
            <p:cNvSpPr txBox="1"/>
            <p:nvPr/>
          </p:nvSpPr>
          <p:spPr>
            <a:xfrm>
              <a:off x="1259632" y="532502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20.3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D9177C-C063-4C4C-B423-F166FEF726D3}"/>
              </a:ext>
            </a:extLst>
          </p:cNvPr>
          <p:cNvGrpSpPr/>
          <p:nvPr/>
        </p:nvGrpSpPr>
        <p:grpSpPr>
          <a:xfrm>
            <a:off x="4136455" y="2348880"/>
            <a:ext cx="5148064" cy="3206976"/>
            <a:chOff x="4136455" y="2348880"/>
            <a:chExt cx="5148064" cy="3206976"/>
          </a:xfrm>
        </p:grpSpPr>
        <p:pic>
          <p:nvPicPr>
            <p:cNvPr id="3" name="Picture 2" descr="111">
              <a:extLst>
                <a:ext uri="{FF2B5EF4-FFF2-40B4-BE49-F238E27FC236}">
                  <a16:creationId xmlns:a16="http://schemas.microsoft.com/office/drawing/2014/main" id="{2969DDD7-E3C3-467A-BE0A-72ADC9765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960" y="2348880"/>
              <a:ext cx="4882938" cy="2976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53F075-B871-4268-A553-2A75BF201DFD}"/>
                </a:ext>
              </a:extLst>
            </p:cNvPr>
            <p:cNvSpPr txBox="1"/>
            <p:nvPr/>
          </p:nvSpPr>
          <p:spPr>
            <a:xfrm>
              <a:off x="4136455" y="5325024"/>
              <a:ext cx="5148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https://greeksoftinstitute.wordpress.com/2016/07/05/understanding-volatility-smile-skew/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0410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Superficie de volatilidad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pic>
        <p:nvPicPr>
          <p:cNvPr id="6146" name="Picture 2" descr="Resultado de imagen para volatility surface">
            <a:extLst>
              <a:ext uri="{FF2B5EF4-FFF2-40B4-BE49-F238E27FC236}">
                <a16:creationId xmlns:a16="http://schemas.microsoft.com/office/drawing/2014/main" id="{DBA1BB04-6BA6-4FA9-9048-68EBF039B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8688"/>
            <a:ext cx="91440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94459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Volatilidad Implícita (</a:t>
            </a:r>
            <a:r>
              <a:rPr lang="es-AR" altLang="en-US" sz="3200" dirty="0" err="1">
                <a:solidFill>
                  <a:srgbClr val="000000"/>
                </a:solidFill>
              </a:rPr>
              <a:t>cont</a:t>
            </a:r>
            <a:r>
              <a:rPr lang="es-AR" altLang="en-US" sz="3200" dirty="0">
                <a:solidFill>
                  <a:srgbClr val="000000"/>
                </a:solidFill>
              </a:rPr>
              <a:t>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BE3193F9-3F75-4708-AE79-1DDDB9FF62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1268413"/>
                <a:ext cx="8077200" cy="4951612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s-AR" sz="2300" dirty="0">
                    <a:solidFill>
                      <a:srgbClr val="111111"/>
                    </a:solidFill>
                  </a:rPr>
                  <a:t>Por definición, la volatilidad implícita es aquella que al ponerla en un modelo de precio, se obtiene el precio de mercado.</a:t>
                </a:r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s-AR" sz="2300" dirty="0">
                    <a:solidFill>
                      <a:srgbClr val="111111"/>
                    </a:solidFill>
                  </a:rPr>
                  <a:t>Es decir, suponiendo que tengo un modelo de precio de opciones:</a:t>
                </a:r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300" b="0" i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AR" sz="230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s-AR" sz="2300" dirty="0">
                    <a:solidFill>
                      <a:srgbClr val="111111"/>
                    </a:solidFill>
                  </a:rPr>
                  <a:t>Si </a:t>
                </a:r>
                <a:r>
                  <a:rPr lang="es-AR" sz="2300" dirty="0" err="1">
                    <a:solidFill>
                      <a:srgbClr val="111111"/>
                    </a:solidFill>
                  </a:rPr>
                  <a:t>obvervo</a:t>
                </a:r>
                <a:r>
                  <a:rPr lang="es-AR" sz="2300" dirty="0">
                    <a:solidFill>
                      <a:srgbClr val="111111"/>
                    </a:solidFill>
                  </a:rPr>
                  <a:t> un precio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3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s-AR" sz="2300" dirty="0">
                    <a:solidFill>
                      <a:srgbClr val="111111"/>
                    </a:solidFill>
                  </a:rPr>
                  <a:t> de mercado para una tupla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3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3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AR" sz="2300" dirty="0">
                    <a:solidFill>
                      <a:srgbClr val="111111"/>
                    </a:solidFill>
                  </a:rPr>
                  <a:t>), que son los parámetros ‘conocidos’ de una opción, entonces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3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AR" sz="2300" dirty="0">
                    <a:solidFill>
                      <a:srgbClr val="111111"/>
                    </a:solidFill>
                  </a:rPr>
                  <a:t>será la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tal</m:t>
                    </m:r>
                    <m: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que</m:t>
                    </m:r>
                    <m: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se</m:t>
                    </m:r>
                    <m: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cumpla</m:t>
                    </m:r>
                    <m:r>
                      <a:rPr lang="en-US" sz="23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300" b="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n-US" sz="2300" b="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300" i="1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3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3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30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s-AR" sz="230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s-AR" sz="2300" dirty="0">
                    <a:solidFill>
                      <a:srgbClr val="111111"/>
                    </a:solidFill>
                  </a:rPr>
                  <a:t>Esto no es mas que una ecuación (no lineal)</a:t>
                </a:r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BE3193F9-3F75-4708-AE79-1DDDB9FF6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268413"/>
                <a:ext cx="8077200" cy="4951612"/>
              </a:xfrm>
              <a:prstGeom prst="rect">
                <a:avLst/>
              </a:prstGeom>
              <a:blipFill>
                <a:blip r:embed="rId2"/>
                <a:stretch>
                  <a:fillRect l="-1132" t="-1601" r="-1208" b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0000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7E07313-FE1F-4729-8F62-3A858F11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Volatilidad Implícita (</a:t>
            </a:r>
            <a:r>
              <a:rPr lang="es-AR" altLang="en-US" sz="3200" dirty="0" err="1">
                <a:solidFill>
                  <a:srgbClr val="000000"/>
                </a:solidFill>
              </a:rPr>
              <a:t>cont</a:t>
            </a:r>
            <a:r>
              <a:rPr lang="es-AR" altLang="en-US" sz="3200" dirty="0">
                <a:solidFill>
                  <a:srgbClr val="000000"/>
                </a:solidFill>
              </a:rPr>
              <a:t>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BE3193F9-3F75-4708-AE79-1DDDB9FF62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1268413"/>
                <a:ext cx="8077200" cy="4735655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s-AR" sz="2300" dirty="0">
                    <a:solidFill>
                      <a:srgbClr val="111111"/>
                    </a:solidFill>
                  </a:rPr>
                  <a:t>Obtener volatilidades implícitas requerirá de lo siguiente:</a:t>
                </a:r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fontAlgn="auto">
                  <a:spcAft>
                    <a:spcPts val="0"/>
                  </a:spcAft>
                </a:pPr>
                <a:r>
                  <a:rPr lang="es-AR" sz="2300" dirty="0">
                    <a:solidFill>
                      <a:srgbClr val="111111"/>
                    </a:solidFill>
                  </a:rPr>
                  <a:t>Elegir un modelo de precios de opciones (Black Scholes por ejemplo)</a:t>
                </a:r>
              </a:p>
              <a:p>
                <a:pPr fontAlgn="auto">
                  <a:spcAft>
                    <a:spcPts val="0"/>
                  </a:spcAft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fontAlgn="auto">
                  <a:spcAft>
                    <a:spcPts val="0"/>
                  </a:spcAft>
                </a:pPr>
                <a:r>
                  <a:rPr lang="es-AR" sz="2300" dirty="0">
                    <a:solidFill>
                      <a:srgbClr val="111111"/>
                    </a:solidFill>
                  </a:rPr>
                  <a:t>Determinar los valores </a:t>
                </a:r>
                <a14:m>
                  <m:oMath xmlns:m="http://schemas.openxmlformats.org/officeDocument/2006/math">
                    <m:r>
                      <a:rPr lang="es-AR" sz="23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AR" sz="2300" dirty="0">
                    <a:solidFill>
                      <a:srgbClr val="111111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s-AR" sz="23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s-AR" sz="2300" dirty="0">
                    <a:solidFill>
                      <a:srgbClr val="111111"/>
                    </a:solidFill>
                  </a:rPr>
                  <a:t> ya sea con algún modelo o con evidencia empírica</a:t>
                </a:r>
              </a:p>
              <a:p>
                <a:pPr fontAlgn="auto">
                  <a:spcAft>
                    <a:spcPts val="0"/>
                  </a:spcAft>
                </a:pPr>
                <a:endParaRPr lang="es-AR" sz="2300" dirty="0">
                  <a:solidFill>
                    <a:srgbClr val="111111"/>
                  </a:solidFill>
                </a:endParaRPr>
              </a:p>
              <a:p>
                <a:pPr fontAlgn="auto">
                  <a:spcAft>
                    <a:spcPts val="0"/>
                  </a:spcAft>
                </a:pPr>
                <a:r>
                  <a:rPr lang="es-AR" sz="2300" dirty="0">
                    <a:solidFill>
                      <a:srgbClr val="111111"/>
                    </a:solidFill>
                  </a:rPr>
                  <a:t>Elegir un método numérico para resolver la ecuación (método de bisección por ejemplo)</a:t>
                </a:r>
              </a:p>
              <a:p>
                <a:pPr marL="0" indent="0" fontAlgn="auto">
                  <a:spcAft>
                    <a:spcPts val="0"/>
                  </a:spcAft>
                  <a:buNone/>
                </a:pPr>
                <a:endParaRPr lang="en-US" sz="2300" b="0" dirty="0">
                  <a:solidFill>
                    <a:srgbClr val="111111"/>
                  </a:solidFill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es-AR" sz="2300" dirty="0">
                    <a:solidFill>
                      <a:srgbClr val="11111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Text Placeholder 3">
                <a:extLst>
                  <a:ext uri="{FF2B5EF4-FFF2-40B4-BE49-F238E27FC236}">
                    <a16:creationId xmlns:a16="http://schemas.microsoft.com/office/drawing/2014/main" id="{BE3193F9-3F75-4708-AE79-1DDDB9FF6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268413"/>
                <a:ext cx="8077200" cy="4735655"/>
              </a:xfrm>
              <a:prstGeom prst="rect">
                <a:avLst/>
              </a:prstGeom>
              <a:blipFill>
                <a:blip r:embed="rId2"/>
                <a:stretch>
                  <a:fillRect l="-1132" t="-1673" r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66005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1">
            <a:extLst>
              <a:ext uri="{FF2B5EF4-FFF2-40B4-BE49-F238E27FC236}">
                <a16:creationId xmlns:a16="http://schemas.microsoft.com/office/drawing/2014/main" id="{D1817DE9-35F8-403C-9D32-436742C411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F61111-1767-4065-86C8-53BA5CD11CE3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13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2C3AE353-1A97-4D31-94C3-DCAD0AEB1446}"/>
              </a:ext>
            </a:extLst>
          </p:cNvPr>
          <p:cNvSpPr txBox="1">
            <a:spLocks/>
          </p:cNvSpPr>
          <p:nvPr/>
        </p:nvSpPr>
        <p:spPr>
          <a:xfrm>
            <a:off x="304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s-AR" sz="3200" kern="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es-AR" sz="3200" kern="0" dirty="0">
                <a:solidFill>
                  <a:srgbClr val="000000"/>
                </a:solidFill>
              </a:rPr>
              <a:t>Opciones Americanas</a:t>
            </a:r>
            <a:endParaRPr lang="en-US" sz="3200" kern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B844B11-FB03-42DF-97EE-6EEE756D1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267544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Una </a:t>
            </a:r>
            <a:r>
              <a:rPr lang="es-AR" altLang="en-US" sz="2300" kern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rPr>
              <a:t>opción americana </a:t>
            </a: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se define </a:t>
            </a:r>
            <a:r>
              <a:rPr lang="es-AR" altLang="en-US" sz="2300" i="1" kern="0" dirty="0">
                <a:solidFill>
                  <a:srgbClr val="000000"/>
                </a:solidFill>
                <a:latin typeface="+mj-lt"/>
              </a:rPr>
              <a:t>casi </a:t>
            </a: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exactamente igual que una opción europea, con la diferencia que puede ser ejercida en </a:t>
            </a:r>
            <a:r>
              <a:rPr lang="es-AR" altLang="en-US" sz="2300" kern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rPr>
              <a:t>cualquier</a:t>
            </a: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 momento de la vida de la opción.</a:t>
            </a:r>
          </a:p>
          <a:p>
            <a:pPr eaLnBrk="1" hangingPunct="1">
              <a:defRPr/>
            </a:pPr>
            <a:endParaRPr lang="es-AR" altLang="en-US" sz="2300" kern="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defRPr/>
            </a:pP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Notar que las denominaciones </a:t>
            </a:r>
            <a:r>
              <a:rPr lang="es-AR" altLang="en-US" sz="2300" i="1" kern="0" dirty="0">
                <a:solidFill>
                  <a:srgbClr val="000000"/>
                </a:solidFill>
                <a:latin typeface="+mj-lt"/>
              </a:rPr>
              <a:t>americana </a:t>
            </a: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y </a:t>
            </a:r>
            <a:r>
              <a:rPr lang="es-AR" altLang="en-US" sz="2300" i="1" kern="0" dirty="0">
                <a:solidFill>
                  <a:srgbClr val="000000"/>
                </a:solidFill>
                <a:latin typeface="+mj-lt"/>
              </a:rPr>
              <a:t>europea </a:t>
            </a: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nada tienen que ver con el origen de los activos. Es una </a:t>
            </a:r>
            <a:r>
              <a:rPr lang="es-AR" altLang="en-US" sz="2300" kern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rPr>
              <a:t>nomenclatura</a:t>
            </a: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 para referirse al modo posible de ejercicio.</a:t>
            </a:r>
          </a:p>
          <a:p>
            <a:pPr eaLnBrk="1" hangingPunct="1">
              <a:defRPr/>
            </a:pPr>
            <a:endParaRPr lang="es-AR" altLang="en-US" sz="2300" i="1" kern="0" dirty="0">
              <a:solidFill>
                <a:srgbClr val="000000"/>
              </a:solidFill>
              <a:latin typeface="+mj-lt"/>
            </a:endParaRPr>
          </a:p>
          <a:p>
            <a:pPr eaLnBrk="1" hangingPunct="1">
              <a:defRPr/>
            </a:pP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Existen otras formas de ejercicio. Una bastante usada en el mundo de IR son las opciones de tipo </a:t>
            </a:r>
            <a:r>
              <a:rPr lang="es-AR" altLang="en-US" sz="2300" kern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</a:rPr>
              <a:t>bermuda</a:t>
            </a:r>
            <a:r>
              <a:rPr lang="es-AR" altLang="en-US" sz="2300" kern="0" dirty="0">
                <a:solidFill>
                  <a:srgbClr val="000000"/>
                </a:solidFill>
                <a:latin typeface="+mj-lt"/>
              </a:rPr>
              <a:t>, algo como un intermedio entre europeas y americanas – con fechas fijas en las que se puede ejercer. </a:t>
            </a:r>
            <a:endParaRPr lang="es-AR" altLang="en-US" sz="2300" kern="0" dirty="0">
              <a:solidFill>
                <a:schemeClr val="tx1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74AC16-2A31-40AF-9C5B-E8FF8DFC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28600"/>
            <a:ext cx="84582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Sensibilidad del precio respecto a los parámetros</a:t>
            </a:r>
            <a:endParaRPr lang="en-US" altLang="en-US" sz="32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7891" name="Rectangle 6">
            <a:extLst>
              <a:ext uri="{FF2B5EF4-FFF2-40B4-BE49-F238E27FC236}">
                <a16:creationId xmlns:a16="http://schemas.microsoft.com/office/drawing/2014/main" id="{D19BDDDF-39AF-48E8-A790-7B1D4C579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571625"/>
            <a:ext cx="3892550" cy="390207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300" dirty="0"/>
              <a:t> </a:t>
            </a:r>
          </a:p>
        </p:txBody>
      </p:sp>
      <p:sp>
        <p:nvSpPr>
          <p:cNvPr id="37892" name="Line 7">
            <a:extLst>
              <a:ext uri="{FF2B5EF4-FFF2-40B4-BE49-F238E27FC236}">
                <a16:creationId xmlns:a16="http://schemas.microsoft.com/office/drawing/2014/main" id="{DCEA79D7-34AB-40A3-AAF3-2EB625A02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819400"/>
            <a:ext cx="670401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300">
              <a:latin typeface="+mn-lt"/>
            </a:endParaRPr>
          </a:p>
        </p:txBody>
      </p:sp>
      <p:grpSp>
        <p:nvGrpSpPr>
          <p:cNvPr id="37893" name="Group 8">
            <a:extLst>
              <a:ext uri="{FF2B5EF4-FFF2-40B4-BE49-F238E27FC236}">
                <a16:creationId xmlns:a16="http://schemas.microsoft.com/office/drawing/2014/main" id="{9864A0EE-94AE-4F9D-99C3-20A4DB32EC8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133600"/>
            <a:ext cx="6694488" cy="3579813"/>
            <a:chOff x="896" y="1337"/>
            <a:chExt cx="4217" cy="2255"/>
          </a:xfrm>
        </p:grpSpPr>
        <p:sp>
          <p:nvSpPr>
            <p:cNvPr id="37935" name="Rectangle 9">
              <a:extLst>
                <a:ext uri="{FF2B5EF4-FFF2-40B4-BE49-F238E27FC236}">
                  <a16:creationId xmlns:a16="http://schemas.microsoft.com/office/drawing/2014/main" id="{2233C99D-F67C-4EE1-9634-8252FABF4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1337"/>
              <a:ext cx="4209" cy="2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300">
                <a:latin typeface="+mn-lt"/>
              </a:endParaRPr>
            </a:p>
          </p:txBody>
        </p:sp>
        <p:sp>
          <p:nvSpPr>
            <p:cNvPr id="37936" name="Rectangle 10">
              <a:extLst>
                <a:ext uri="{FF2B5EF4-FFF2-40B4-BE49-F238E27FC236}">
                  <a16:creationId xmlns:a16="http://schemas.microsoft.com/office/drawing/2014/main" id="{7204CA1A-75F2-4FA2-9AD7-F9FAE1A37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1776"/>
              <a:ext cx="4217" cy="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300">
                <a:latin typeface="+mn-lt"/>
              </a:endParaRPr>
            </a:p>
          </p:txBody>
        </p:sp>
        <p:sp>
          <p:nvSpPr>
            <p:cNvPr id="37937" name="Rectangle 11">
              <a:extLst>
                <a:ext uri="{FF2B5EF4-FFF2-40B4-BE49-F238E27FC236}">
                  <a16:creationId xmlns:a16="http://schemas.microsoft.com/office/drawing/2014/main" id="{18DBC6B3-5475-4517-84C6-AF84F2F14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3590"/>
              <a:ext cx="4209" cy="2"/>
            </a:xfrm>
            <a:prstGeom prst="rect">
              <a:avLst/>
            </a:prstGeom>
            <a:solidFill>
              <a:srgbClr val="00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 sz="2300">
                <a:latin typeface="+mn-lt"/>
              </a:endParaRPr>
            </a:p>
          </p:txBody>
        </p:sp>
      </p:grpSp>
      <p:sp>
        <p:nvSpPr>
          <p:cNvPr id="37894" name="Rectangle 12">
            <a:extLst>
              <a:ext uri="{FF2B5EF4-FFF2-40B4-BE49-F238E27FC236}">
                <a16:creationId xmlns:a16="http://schemas.microsoft.com/office/drawing/2014/main" id="{8FB46DF0-3498-41A1-8A10-ECE90EADF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38" y="2235200"/>
            <a:ext cx="336632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i="1">
                <a:solidFill>
                  <a:srgbClr val="000000"/>
                </a:solidFill>
                <a:latin typeface="+mn-lt"/>
              </a:rPr>
              <a:t>C</a:t>
            </a:r>
          </a:p>
        </p:txBody>
      </p:sp>
      <p:sp>
        <p:nvSpPr>
          <p:cNvPr id="37895" name="Rectangle 13">
            <a:extLst>
              <a:ext uri="{FF2B5EF4-FFF2-40B4-BE49-F238E27FC236}">
                <a16:creationId xmlns:a16="http://schemas.microsoft.com/office/drawing/2014/main" id="{E33FFDDC-59FE-4A35-A5AD-D8D2C700D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2235200"/>
            <a:ext cx="335029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i="1">
                <a:solidFill>
                  <a:srgbClr val="000000"/>
                </a:solidFill>
                <a:latin typeface="+mn-lt"/>
              </a:rPr>
              <a:t>P</a:t>
            </a:r>
          </a:p>
        </p:txBody>
      </p:sp>
      <p:sp>
        <p:nvSpPr>
          <p:cNvPr id="37896" name="Rectangle 14">
            <a:extLst>
              <a:ext uri="{FF2B5EF4-FFF2-40B4-BE49-F238E27FC236}">
                <a16:creationId xmlns:a16="http://schemas.microsoft.com/office/drawing/2014/main" id="{D03CBF00-0224-4117-915A-8FA2C660C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188" y="2235200"/>
            <a:ext cx="336632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i="1">
                <a:solidFill>
                  <a:srgbClr val="000000"/>
                </a:solidFill>
                <a:latin typeface="+mn-lt"/>
              </a:rPr>
              <a:t>C</a:t>
            </a:r>
          </a:p>
        </p:txBody>
      </p:sp>
      <p:sp>
        <p:nvSpPr>
          <p:cNvPr id="37897" name="Rectangle 15">
            <a:extLst>
              <a:ext uri="{FF2B5EF4-FFF2-40B4-BE49-F238E27FC236}">
                <a16:creationId xmlns:a16="http://schemas.microsoft.com/office/drawing/2014/main" id="{CE240615-F2D5-4455-9F50-DFF160D8E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2235200"/>
            <a:ext cx="335029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i="1">
                <a:solidFill>
                  <a:srgbClr val="000000"/>
                </a:solidFill>
                <a:latin typeface="+mn-lt"/>
              </a:rPr>
              <a:t>P</a:t>
            </a:r>
          </a:p>
        </p:txBody>
      </p:sp>
      <p:grpSp>
        <p:nvGrpSpPr>
          <p:cNvPr id="37898" name="Group 16">
            <a:extLst>
              <a:ext uri="{FF2B5EF4-FFF2-40B4-BE49-F238E27FC236}">
                <a16:creationId xmlns:a16="http://schemas.microsoft.com/office/drawing/2014/main" id="{96D273C3-32CF-4EA1-A974-EF9209FBD9FF}"/>
              </a:ext>
            </a:extLst>
          </p:cNvPr>
          <p:cNvGrpSpPr>
            <a:grpSpLocks/>
          </p:cNvGrpSpPr>
          <p:nvPr/>
        </p:nvGrpSpPr>
        <p:grpSpPr bwMode="auto">
          <a:xfrm>
            <a:off x="1219201" y="2235200"/>
            <a:ext cx="1154628" cy="3287713"/>
            <a:chOff x="1063" y="1408"/>
            <a:chExt cx="569" cy="2071"/>
          </a:xfrm>
        </p:grpSpPr>
        <p:sp>
          <p:nvSpPr>
            <p:cNvPr id="37927" name="Rectangle 17">
              <a:extLst>
                <a:ext uri="{FF2B5EF4-FFF2-40B4-BE49-F238E27FC236}">
                  <a16:creationId xmlns:a16="http://schemas.microsoft.com/office/drawing/2014/main" id="{5624EC00-DB55-4146-8C05-1A99777E0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" y="1408"/>
              <a:ext cx="569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300" dirty="0">
                  <a:solidFill>
                    <a:srgbClr val="000000"/>
                  </a:solidFill>
                  <a:latin typeface="+mn-lt"/>
                </a:rPr>
                <a:t>Variable</a:t>
              </a:r>
            </a:p>
          </p:txBody>
        </p:sp>
        <p:grpSp>
          <p:nvGrpSpPr>
            <p:cNvPr id="37928" name="Group 18">
              <a:extLst>
                <a:ext uri="{FF2B5EF4-FFF2-40B4-BE49-F238E27FC236}">
                  <a16:creationId xmlns:a16="http://schemas.microsoft.com/office/drawing/2014/main" id="{4A5872DB-3F27-4716-AE01-ABF1F5FEF7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1806"/>
              <a:ext cx="183" cy="1673"/>
              <a:chOff x="1255" y="1806"/>
              <a:chExt cx="183" cy="1673"/>
            </a:xfrm>
          </p:grpSpPr>
          <p:sp>
            <p:nvSpPr>
              <p:cNvPr id="37929" name="Rectangle 19">
                <a:extLst>
                  <a:ext uri="{FF2B5EF4-FFF2-40B4-BE49-F238E27FC236}">
                    <a16:creationId xmlns:a16="http://schemas.microsoft.com/office/drawing/2014/main" id="{B03AAFD4-B430-4297-AACE-CCF96481F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1806"/>
                <a:ext cx="15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>
                    <a:solidFill>
                      <a:srgbClr val="000000"/>
                    </a:solidFill>
                    <a:latin typeface="+mn-lt"/>
                  </a:rPr>
                  <a:t>S</a:t>
                </a:r>
              </a:p>
            </p:txBody>
          </p:sp>
          <p:sp>
            <p:nvSpPr>
              <p:cNvPr id="37930" name="Rectangle 20">
                <a:extLst>
                  <a:ext uri="{FF2B5EF4-FFF2-40B4-BE49-F238E27FC236}">
                    <a16:creationId xmlns:a16="http://schemas.microsoft.com/office/drawing/2014/main" id="{2E2F07BB-9FFD-4C45-BC2E-DF18B1315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2085"/>
                <a:ext cx="166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>
                    <a:solidFill>
                      <a:srgbClr val="000000"/>
                    </a:solidFill>
                    <a:latin typeface="+mn-lt"/>
                  </a:rPr>
                  <a:t>K</a:t>
                </a:r>
              </a:p>
            </p:txBody>
          </p:sp>
          <p:sp>
            <p:nvSpPr>
              <p:cNvPr id="37931" name="Rectangle 21">
                <a:extLst>
                  <a:ext uri="{FF2B5EF4-FFF2-40B4-BE49-F238E27FC236}">
                    <a16:creationId xmlns:a16="http://schemas.microsoft.com/office/drawing/2014/main" id="{F98955B0-77BD-413C-8FB6-DE5114F24C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2364"/>
                <a:ext cx="161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>
                    <a:solidFill>
                      <a:srgbClr val="000000"/>
                    </a:solidFill>
                    <a:latin typeface="+mn-lt"/>
                  </a:rPr>
                  <a:t>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932" name="Rectangle 22">
                    <a:extLst>
                      <a:ext uri="{FF2B5EF4-FFF2-40B4-BE49-F238E27FC236}">
                        <a16:creationId xmlns:a16="http://schemas.microsoft.com/office/drawing/2014/main" id="{DB5362D9-9B93-418C-9CDA-1B4300FE2D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259" y="2642"/>
                    <a:ext cx="179" cy="2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0488" tIns="44450" rIns="90488" bIns="4445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37931725" indent="-37474525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altLang="en-US" sz="2300" dirty="0">
                      <a:solidFill>
                        <a:srgbClr val="000000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37932" name="Rectangle 22">
                    <a:extLst>
                      <a:ext uri="{FF2B5EF4-FFF2-40B4-BE49-F238E27FC236}">
                        <a16:creationId xmlns:a16="http://schemas.microsoft.com/office/drawing/2014/main" id="{DB5362D9-9B93-418C-9CDA-1B4300FE2D5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259" y="2642"/>
                    <a:ext cx="179" cy="28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933" name="Rectangle 23">
                <a:extLst>
                  <a:ext uri="{FF2B5EF4-FFF2-40B4-BE49-F238E27FC236}">
                    <a16:creationId xmlns:a16="http://schemas.microsoft.com/office/drawing/2014/main" id="{4DCEBB57-A353-4DF4-9C23-E9727AC2E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2920"/>
                <a:ext cx="140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300" i="1">
                    <a:solidFill>
                      <a:srgbClr val="000000"/>
                    </a:solidFill>
                    <a:latin typeface="+mn-lt"/>
                  </a:rPr>
                  <a:t>r</a:t>
                </a:r>
              </a:p>
            </p:txBody>
          </p:sp>
          <p:sp>
            <p:nvSpPr>
              <p:cNvPr id="37934" name="Rectangle 24">
                <a:extLst>
                  <a:ext uri="{FF2B5EF4-FFF2-40B4-BE49-F238E27FC236}">
                    <a16:creationId xmlns:a16="http://schemas.microsoft.com/office/drawing/2014/main" id="{A17DA80F-FF5D-4EC4-A133-0C534CFC8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" y="3199"/>
                <a:ext cx="165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s-AR" altLang="en-US" sz="2300" i="1" dirty="0">
                    <a:solidFill>
                      <a:srgbClr val="000000"/>
                    </a:solidFill>
                    <a:latin typeface="+mn-lt"/>
                  </a:rPr>
                  <a:t>q</a:t>
                </a:r>
                <a:endParaRPr lang="en-US" altLang="en-US" sz="2300" i="1" dirty="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</p:grpSp>
      <p:sp>
        <p:nvSpPr>
          <p:cNvPr id="37899" name="Rectangle 25">
            <a:extLst>
              <a:ext uri="{FF2B5EF4-FFF2-40B4-BE49-F238E27FC236}">
                <a16:creationId xmlns:a16="http://schemas.microsoft.com/office/drawing/2014/main" id="{22D590E3-048A-44C5-B95B-361AA4C45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288594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0" name="Rectangle 26">
            <a:extLst>
              <a:ext uri="{FF2B5EF4-FFF2-40B4-BE49-F238E27FC236}">
                <a16:creationId xmlns:a16="http://schemas.microsoft.com/office/drawing/2014/main" id="{C6B585E6-768F-4EF1-9F73-7B58033FE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3" y="288594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1" name="Rectangle 27">
            <a:extLst>
              <a:ext uri="{FF2B5EF4-FFF2-40B4-BE49-F238E27FC236}">
                <a16:creationId xmlns:a16="http://schemas.microsoft.com/office/drawing/2014/main" id="{C0C6AC30-1873-4ED6-BAE5-3A283AF4A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2880591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02" name="Rectangle 28">
            <a:extLst>
              <a:ext uri="{FF2B5EF4-FFF2-40B4-BE49-F238E27FC236}">
                <a16:creationId xmlns:a16="http://schemas.microsoft.com/office/drawing/2014/main" id="{3E56D37E-2849-4880-A0CE-A83346EF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3328858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grpSp>
        <p:nvGrpSpPr>
          <p:cNvPr id="37903" name="Group 29">
            <a:extLst>
              <a:ext uri="{FF2B5EF4-FFF2-40B4-BE49-F238E27FC236}">
                <a16:creationId xmlns:a16="http://schemas.microsoft.com/office/drawing/2014/main" id="{8578E75F-AAF0-436C-8B71-7497A0F30E4C}"/>
              </a:ext>
            </a:extLst>
          </p:cNvPr>
          <p:cNvGrpSpPr>
            <a:grpSpLocks/>
          </p:cNvGrpSpPr>
          <p:nvPr/>
        </p:nvGrpSpPr>
        <p:grpSpPr bwMode="auto">
          <a:xfrm>
            <a:off x="3239676" y="3809870"/>
            <a:ext cx="1612900" cy="444500"/>
            <a:chOff x="2066" y="2352"/>
            <a:chExt cx="1016" cy="280"/>
          </a:xfrm>
        </p:grpSpPr>
        <p:sp>
          <p:nvSpPr>
            <p:cNvPr id="37925" name="Rectangle 30">
              <a:extLst>
                <a:ext uri="{FF2B5EF4-FFF2-40B4-BE49-F238E27FC236}">
                  <a16:creationId xmlns:a16="http://schemas.microsoft.com/office/drawing/2014/main" id="{16DAABF5-F957-4F78-8DEA-63B11C74B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" y="2352"/>
              <a:ext cx="20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300">
                  <a:solidFill>
                    <a:srgbClr val="000000"/>
                  </a:solidFill>
                  <a:latin typeface="+mn-lt"/>
                </a:rPr>
                <a:t>?</a:t>
              </a:r>
            </a:p>
          </p:txBody>
        </p:sp>
        <p:sp>
          <p:nvSpPr>
            <p:cNvPr id="37926" name="Rectangle 31">
              <a:extLst>
                <a:ext uri="{FF2B5EF4-FFF2-40B4-BE49-F238E27FC236}">
                  <a16:creationId xmlns:a16="http://schemas.microsoft.com/office/drawing/2014/main" id="{B2DC6CA4-73AC-4A3E-9481-F952F17E5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2352"/>
              <a:ext cx="20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300" dirty="0">
                  <a:solidFill>
                    <a:srgbClr val="000000"/>
                  </a:solidFill>
                  <a:latin typeface="+mn-lt"/>
                </a:rPr>
                <a:t>?</a:t>
              </a:r>
            </a:p>
          </p:txBody>
        </p:sp>
      </p:grpSp>
      <p:sp>
        <p:nvSpPr>
          <p:cNvPr id="37904" name="Rectangle 32">
            <a:extLst>
              <a:ext uri="{FF2B5EF4-FFF2-40B4-BE49-F238E27FC236}">
                <a16:creationId xmlns:a16="http://schemas.microsoft.com/office/drawing/2014/main" id="{4378D251-C086-4B6A-893F-965F1EDA9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3" y="377018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5" name="Rectangle 33">
            <a:extLst>
              <a:ext uri="{FF2B5EF4-FFF2-40B4-BE49-F238E27FC236}">
                <a16:creationId xmlns:a16="http://schemas.microsoft.com/office/drawing/2014/main" id="{6735B480-651C-48E2-9592-389F9A4D1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377018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6" name="Rectangle 34">
            <a:extLst>
              <a:ext uri="{FF2B5EF4-FFF2-40B4-BE49-F238E27FC236}">
                <a16:creationId xmlns:a16="http://schemas.microsoft.com/office/drawing/2014/main" id="{7381F062-09BC-4F68-82BC-FCC994FCF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21309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7" name="Rectangle 35">
            <a:extLst>
              <a:ext uri="{FF2B5EF4-FFF2-40B4-BE49-F238E27FC236}">
                <a16:creationId xmlns:a16="http://schemas.microsoft.com/office/drawing/2014/main" id="{797F20C4-F4A9-4E47-8C83-EA1A727F7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421309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8" name="Rectangle 36">
            <a:extLst>
              <a:ext uri="{FF2B5EF4-FFF2-40B4-BE49-F238E27FC236}">
                <a16:creationId xmlns:a16="http://schemas.microsoft.com/office/drawing/2014/main" id="{520CC8C8-5AE3-43C7-9FC9-C578F3B2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3" y="421309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09" name="Rectangle 37">
            <a:extLst>
              <a:ext uri="{FF2B5EF4-FFF2-40B4-BE49-F238E27FC236}">
                <a16:creationId xmlns:a16="http://schemas.microsoft.com/office/drawing/2014/main" id="{E0A266B1-2747-4537-A2F2-50141F067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421309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10" name="Rectangle 38">
            <a:extLst>
              <a:ext uri="{FF2B5EF4-FFF2-40B4-BE49-F238E27FC236}">
                <a16:creationId xmlns:a16="http://schemas.microsoft.com/office/drawing/2014/main" id="{B3C067BE-B6AB-49D4-95ED-D2D2101D4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64013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11" name="Rectangle 39">
            <a:extLst>
              <a:ext uri="{FF2B5EF4-FFF2-40B4-BE49-F238E27FC236}">
                <a16:creationId xmlns:a16="http://schemas.microsoft.com/office/drawing/2014/main" id="{8055053A-E07C-4B43-A322-6ECB492C6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455599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2" name="Rectangle 40">
            <a:extLst>
              <a:ext uri="{FF2B5EF4-FFF2-40B4-BE49-F238E27FC236}">
                <a16:creationId xmlns:a16="http://schemas.microsoft.com/office/drawing/2014/main" id="{AE536789-8E2F-4015-9728-5310CEB36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563" y="464013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13" name="Rectangle 41">
            <a:extLst>
              <a:ext uri="{FF2B5EF4-FFF2-40B4-BE49-F238E27FC236}">
                <a16:creationId xmlns:a16="http://schemas.microsoft.com/office/drawing/2014/main" id="{A36F693E-9D47-4DE5-9E33-5F0135353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088" y="4555996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4" name="Rectangle 42">
            <a:extLst>
              <a:ext uri="{FF2B5EF4-FFF2-40B4-BE49-F238E27FC236}">
                <a16:creationId xmlns:a16="http://schemas.microsoft.com/office/drawing/2014/main" id="{A4EB93FB-BC25-4E85-B458-B05B48165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2859417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5" name="Rectangle 43">
            <a:extLst>
              <a:ext uri="{FF2B5EF4-FFF2-40B4-BE49-F238E27FC236}">
                <a16:creationId xmlns:a16="http://schemas.microsoft.com/office/drawing/2014/main" id="{AE359D23-3D4B-4458-B2B5-E20ED15F4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325583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 dirty="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6" name="Rectangle 44">
            <a:extLst>
              <a:ext uri="{FF2B5EF4-FFF2-40B4-BE49-F238E27FC236}">
                <a16:creationId xmlns:a16="http://schemas.microsoft.com/office/drawing/2014/main" id="{3CD98D54-44E0-4569-B8A5-368D9184E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275" y="325583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7" name="Rectangle 45">
            <a:extLst>
              <a:ext uri="{FF2B5EF4-FFF2-40B4-BE49-F238E27FC236}">
                <a16:creationId xmlns:a16="http://schemas.microsoft.com/office/drawing/2014/main" id="{0A4555C4-F8C8-413D-9648-A7DD3AB3E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3328858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18" name="Rectangle 46">
            <a:extLst>
              <a:ext uri="{FF2B5EF4-FFF2-40B4-BE49-F238E27FC236}">
                <a16:creationId xmlns:a16="http://schemas.microsoft.com/office/drawing/2014/main" id="{25DB66E7-9D16-4559-B59F-C78BD8605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498938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19" name="Rectangle 47">
            <a:extLst>
              <a:ext uri="{FF2B5EF4-FFF2-40B4-BE49-F238E27FC236}">
                <a16:creationId xmlns:a16="http://schemas.microsoft.com/office/drawing/2014/main" id="{DABDA33E-C470-43BF-B110-C67061C0D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338" y="5073521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20" name="Rectangle 48">
            <a:extLst>
              <a:ext uri="{FF2B5EF4-FFF2-40B4-BE49-F238E27FC236}">
                <a16:creationId xmlns:a16="http://schemas.microsoft.com/office/drawing/2014/main" id="{4FE94865-83BC-4DE5-8DE3-6574611D3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275" y="4989383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–</a:t>
            </a:r>
          </a:p>
        </p:txBody>
      </p:sp>
      <p:sp>
        <p:nvSpPr>
          <p:cNvPr id="37921" name="Rectangle 49">
            <a:extLst>
              <a:ext uri="{FF2B5EF4-FFF2-40B4-BE49-F238E27FC236}">
                <a16:creationId xmlns:a16="http://schemas.microsoft.com/office/drawing/2014/main" id="{CEF95399-9A79-4583-8C00-A1EA76353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375" y="5073521"/>
            <a:ext cx="330220" cy="44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300">
                <a:solidFill>
                  <a:srgbClr val="000000"/>
                </a:solidFill>
                <a:latin typeface="+mn-lt"/>
              </a:rPr>
              <a:t>+</a:t>
            </a:r>
          </a:p>
        </p:txBody>
      </p:sp>
      <p:sp>
        <p:nvSpPr>
          <p:cNvPr id="37922" name="Line 50">
            <a:extLst>
              <a:ext uri="{FF2B5EF4-FFF2-40B4-BE49-F238E27FC236}">
                <a16:creationId xmlns:a16="http://schemas.microsoft.com/office/drawing/2014/main" id="{75BE9F94-1EE8-44AD-981D-4E1832DBAB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524000"/>
            <a:ext cx="6629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300">
              <a:latin typeface="+mn-lt"/>
            </a:endParaRPr>
          </a:p>
        </p:txBody>
      </p:sp>
      <p:sp>
        <p:nvSpPr>
          <p:cNvPr id="37923" name="Text Box 51">
            <a:extLst>
              <a:ext uri="{FF2B5EF4-FFF2-40B4-BE49-F238E27FC236}">
                <a16:creationId xmlns:a16="http://schemas.microsoft.com/office/drawing/2014/main" id="{6E0C07B5-48A9-44C0-A772-6989B9B60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600200"/>
            <a:ext cx="1905000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3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Europeas</a:t>
            </a:r>
            <a:endParaRPr lang="en-US" altLang="en-US" sz="23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7924" name="Text Box 52">
            <a:extLst>
              <a:ext uri="{FF2B5EF4-FFF2-40B4-BE49-F238E27FC236}">
                <a16:creationId xmlns:a16="http://schemas.microsoft.com/office/drawing/2014/main" id="{03583774-F1F5-4427-946E-C0A384809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600200"/>
            <a:ext cx="2133600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3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Americanas</a:t>
            </a:r>
            <a:endParaRPr lang="en-US" altLang="en-US" sz="23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BEFAC7-E079-47FF-9AEE-634F54E7E545}"/>
              </a:ext>
            </a:extLst>
          </p:cNvPr>
          <p:cNvSpPr/>
          <p:nvPr/>
        </p:nvSpPr>
        <p:spPr>
          <a:xfrm>
            <a:off x="1608812" y="3770183"/>
            <a:ext cx="5785783" cy="436563"/>
          </a:xfrm>
          <a:prstGeom prst="rect">
            <a:avLst/>
          </a:prstGeom>
          <a:noFill/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74AC16-2A31-40AF-9C5B-E8FF8DFC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28600"/>
            <a:ext cx="84582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Cotas importantes en opciones - notación</a:t>
            </a:r>
            <a:endParaRPr lang="en-US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Usaremos la siguiente </a:t>
                </a:r>
                <a:r>
                  <a:rPr lang="es-AR" altLang="en-US" sz="230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j-lt"/>
                  </a:rPr>
                  <a:t>notación</a:t>
                </a: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(Hull)</a:t>
                </a: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:= Precio actual del activo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:= Precio del activo a tiempo </a:t>
                </a:r>
                <a:r>
                  <a:rPr lang="es-AR" altLang="en-US" sz="2300" i="1" kern="0" dirty="0">
                    <a:solidFill>
                      <a:srgbClr val="000000"/>
                    </a:solidFill>
                    <a:latin typeface="+mj-lt"/>
                  </a:rPr>
                  <a:t>T</a:t>
                </a: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:= Precio de ejercicio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:= Tiempo de expiración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:= Tasa libre de riesgo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:= Precio de una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  <a:latin typeface="+mj-lt"/>
                  </a:rPr>
                  <a:t>call</a:t>
                </a: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americana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:= Precio de una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americana</a:t>
                </a: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:= Precio de una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europea</a:t>
                </a: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:= Precio de una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europea</a:t>
                </a: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:endParaRPr lang="es-AR" altLang="en-US" sz="19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:endParaRPr lang="es-AR" altLang="en-US" sz="1900" kern="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81" t="-10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87286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74AC16-2A31-40AF-9C5B-E8FF8DFC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28600"/>
            <a:ext cx="84582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Cotas superiores (1/2)</a:t>
            </a:r>
            <a:endParaRPr lang="en-US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No importa que pase, una opción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</a:t>
                </a:r>
                <a:r>
                  <a:rPr lang="es-AR" altLang="en-US" sz="230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nunca puede valer más que el precio del activo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subyacente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AR" altLang="en-US" sz="2300" b="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Si esto no sucediera, un arbitrador podría comprar una unidad del activo y vender una unidad de la opción y hacer ganancia sin riesgo.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:endParaRPr lang="es-AR" altLang="en-US" sz="1900" kern="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50757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74AC16-2A31-40AF-9C5B-E8FF8DFC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28600"/>
            <a:ext cx="84582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Cotas superiores (2/2)</a:t>
            </a:r>
            <a:endParaRPr lang="en-US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De la misma manera, una opción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</a:t>
                </a:r>
                <a:r>
                  <a:rPr lang="es-AR" altLang="en-US" sz="230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nunca puede valer más que el precio de ejercicio 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AR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AR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Para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  <a:latin typeface="+mj-lt"/>
                  </a:rPr>
                  <a:t>put</a:t>
                </a: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europeas, a tiempo final la opción tampoco puede valer más que el ejercicio, trayendo el tiempo al origen obtenemos: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s-AR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:endParaRPr lang="es-AR" altLang="en-US" sz="1900" kern="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09" r="-158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44468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74AC16-2A31-40AF-9C5B-E8FF8DFC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28600"/>
            <a:ext cx="84582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Cotas inferiores (1/2)</a:t>
            </a:r>
            <a:endParaRPr lang="en-US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Una opción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europea que no paga dividendos, tiene la siguiente cota inferior:</a:t>
                </a: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altLang="en-US" sz="2300" b="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b="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Construyamos </a:t>
                </a:r>
                <a:r>
                  <a:rPr lang="es-AR" altLang="en-US" sz="2300" b="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j-lt"/>
                  </a:rPr>
                  <a:t>dos portafolios</a:t>
                </a:r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Portafolio A: Una opción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  <a:latin typeface="+mj-lt"/>
                  </a:rPr>
                  <a:t>call</a:t>
                </a: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 europea y </a:t>
                </a:r>
                <a14:m>
                  <m:oMath xmlns:m="http://schemas.openxmlformats.org/officeDocument/2006/math">
                    <m:r>
                      <a:rPr lang="es-AR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 unidades de dinero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Portafolio B: Una unidad del activo </a:t>
                </a:r>
                <a:r>
                  <a:rPr lang="es-AR" altLang="en-US" sz="2300" i="1" kern="0" dirty="0">
                    <a:solidFill>
                      <a:srgbClr val="000000"/>
                    </a:solidFill>
                    <a:latin typeface="+mj-lt"/>
                  </a:rPr>
                  <a:t>S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Veamos los </a:t>
                </a:r>
                <a:r>
                  <a:rPr lang="es-AR" altLang="en-US" sz="2300" b="0" i="1" kern="0" dirty="0" err="1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j-lt"/>
                  </a:rPr>
                  <a:t>payoffs</a:t>
                </a:r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ax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0) + 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s-AR" altLang="en-US" sz="2300" i="1" kern="0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altLang="en-US" sz="2300" b="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Con lo cual se tiene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 lo que implica que </a:t>
                </a:r>
                <a:r>
                  <a:rPr lang="es-AR" altLang="en-US" sz="2300" b="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  <a:latin typeface="+mj-lt"/>
                  </a:rPr>
                  <a:t>la relación es cierta en todo tiempo</a:t>
                </a:r>
                <a:r>
                  <a:rPr lang="es-AR" altLang="en-US" sz="2300" b="0" kern="0" dirty="0">
                    <a:solidFill>
                      <a:srgbClr val="000000"/>
                    </a:solidFill>
                    <a:latin typeface="+mj-lt"/>
                  </a:rPr>
                  <a:t>, en particular al origen: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AR" altLang="en-US" sz="23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altLang="en-US" sz="23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s-AR" altLang="en-US" sz="230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3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3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23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AR" altLang="en-US" sz="2300" b="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b="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:endParaRPr lang="es-AR" altLang="en-US" sz="1900" kern="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09" t="-811" r="-16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678112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6974AC16-2A31-40AF-9C5B-E8FF8DFC4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228600"/>
            <a:ext cx="84582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Cotas inferiores (2/2)</a:t>
            </a:r>
            <a:endParaRPr lang="en-US" altLang="en-US" sz="3200" dirty="0">
              <a:solidFill>
                <a:srgbClr val="00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Una opción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europea que no paga dividendos, tiene la siguiente cota inferior:</a:t>
                </a: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s-AR" altLang="en-US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AR" altLang="en-US" sz="2300" b="0" kern="0" dirty="0">
                  <a:solidFill>
                    <a:srgbClr val="000000"/>
                  </a:solidFill>
                  <a:latin typeface="+mj-lt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Construyamos </a:t>
                </a:r>
                <a:r>
                  <a:rPr lang="es-AR" altLang="en-US" sz="230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dos portafolios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Portafolio C: Una opción </a:t>
                </a:r>
                <a:r>
                  <a:rPr lang="es-AR" altLang="en-US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europea y una unidad del activo </a:t>
                </a:r>
                <a:r>
                  <a:rPr lang="es-AR" altLang="en-US" sz="2300" i="1" kern="0" dirty="0">
                    <a:solidFill>
                      <a:srgbClr val="000000"/>
                    </a:solidFill>
                  </a:rPr>
                  <a:t>S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Portafolio D: </a:t>
                </a:r>
                <a14:m>
                  <m:oMath xmlns:m="http://schemas.openxmlformats.org/officeDocument/2006/math">
                    <m:r>
                      <a:rPr lang="es-AR" altLang="en-US" sz="23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altLang="en-US" sz="23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unidades de dinero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Veamos los </a:t>
                </a:r>
                <a:r>
                  <a:rPr lang="es-AR" altLang="en-US" sz="2300" i="1" kern="0" dirty="0" err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payoffs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AR" altLang="en-US" sz="2300" b="0" i="0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d>
                      <m:d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AR" altLang="en-US" sz="2300" b="0" i="0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s-AR" altLang="en-US" sz="2300" b="0" i="0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altLang="en-US" sz="2300" i="0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s-AR" altLang="en-US" sz="230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altLang="en-US" sz="230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s-AR" altLang="en-US" sz="230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AR" altLang="en-US" sz="230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s-AR" altLang="en-US" sz="23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AR" altLang="en-US" sz="2300" i="1" kern="0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s-AR" altLang="en-US" sz="2300" i="1" kern="0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AR" altLang="en-US" sz="2300" i="1" kern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s-AR" altLang="en-US" sz="2300" i="1" kern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AR" alt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altLang="en-U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Con lo cual se tiene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, entonces </a:t>
                </a:r>
                <a:r>
                  <a:rPr lang="es-AR" altLang="en-US" sz="2300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la relación es cierta en todo tiempo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, en particular en 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s-AR" altLang="en-U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AR" alt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altLang="en-US" sz="23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b="0" i="1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b="0" i="1" kern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230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altLang="en-US" sz="23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3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2300" b="0" i="1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30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s-AR" altLang="en-US" sz="230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23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  <a:latin typeface="+mj-lt"/>
                </a:endParaRPr>
              </a:p>
              <a:p>
                <a:pPr lvl="1" eaLnBrk="1" hangingPunct="1">
                  <a:defRPr/>
                </a:pPr>
                <a:endParaRPr lang="es-AR" altLang="en-US" sz="1900" kern="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2" name="Rectangle 3">
                <a:extLst>
                  <a:ext uri="{FF2B5EF4-FFF2-40B4-BE49-F238E27FC236}">
                    <a16:creationId xmlns:a16="http://schemas.microsoft.com/office/drawing/2014/main" id="{F47BD21B-3A5E-418F-8D84-6C7025243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" y="1268760"/>
                <a:ext cx="8458200" cy="5257800"/>
              </a:xfrm>
              <a:prstGeom prst="rect">
                <a:avLst/>
              </a:prstGeom>
              <a:blipFill>
                <a:blip r:embed="rId2"/>
                <a:stretch>
                  <a:fillRect l="-1009" t="-8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78287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6D29-F587-42A4-B2C8-DB44C280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2400" dirty="0">
                <a:solidFill>
                  <a:srgbClr val="000000"/>
                </a:solidFill>
              </a:rPr>
              <a:t>No arbitraje</a:t>
            </a:r>
            <a:endParaRPr lang="en-US" sz="24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E7A67-A3AD-401E-949B-186470F21D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AR" sz="1725" dirty="0">
                    <a:solidFill>
                      <a:srgbClr val="000000"/>
                    </a:solidFill>
                  </a:rPr>
                  <a:t>Un resultado que vamos a usar mucho es el siguiente:</a:t>
                </a:r>
              </a:p>
              <a:p>
                <a:pPr marL="0" indent="0">
                  <a:buNone/>
                </a:pPr>
                <a:r>
                  <a:rPr lang="es-AR" sz="1725" dirty="0">
                    <a:solidFill>
                      <a:srgbClr val="000000"/>
                    </a:solidFill>
                  </a:rPr>
                  <a:t> </a:t>
                </a:r>
                <a:r>
                  <a:rPr lang="es-AR" sz="1725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Si NO existen posibilidades de arbitraje</a:t>
                </a:r>
                <a:r>
                  <a:rPr lang="es-AR" sz="1725" dirty="0">
                    <a:solidFill>
                      <a:srgbClr val="000000"/>
                    </a:solidFill>
                  </a:rPr>
                  <a:t>, entonces:</a:t>
                </a:r>
              </a:p>
              <a:p>
                <a:pPr lvl="1"/>
                <a:r>
                  <a:rPr lang="es-AR" sz="1725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Si</a:t>
                </a:r>
                <a:r>
                  <a:rPr lang="es-AR" sz="1725" dirty="0">
                    <a:solidFill>
                      <a:srgbClr val="000000"/>
                    </a:solidFill>
                  </a:rPr>
                  <a:t> dos portafolios (A y B) valen lo mismo a vencimiento, es decir, tienen el mismo </a:t>
                </a:r>
                <a:r>
                  <a:rPr lang="es-AR" sz="1725" i="1" dirty="0" err="1">
                    <a:solidFill>
                      <a:srgbClr val="000000"/>
                    </a:solidFill>
                  </a:rPr>
                  <a:t>payoff</a:t>
                </a:r>
                <a:r>
                  <a:rPr lang="es-AR" sz="1725" dirty="0">
                    <a:solidFill>
                      <a:srgbClr val="000000"/>
                    </a:solidFill>
                  </a:rPr>
                  <a:t>.</a:t>
                </a:r>
              </a:p>
              <a:p>
                <a:pPr lvl="1"/>
                <a:r>
                  <a:rPr lang="es-AR" sz="1725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Entonces</a:t>
                </a:r>
                <a:r>
                  <a:rPr lang="es-AR" sz="1725" dirty="0">
                    <a:solidFill>
                      <a:srgbClr val="000000"/>
                    </a:solidFill>
                  </a:rPr>
                  <a:t> A y B valen lo mismo en toda la vida de los activos.</a:t>
                </a:r>
              </a:p>
              <a:p>
                <a:pPr lvl="1"/>
                <a:endParaRPr lang="es-AR" sz="1725" dirty="0">
                  <a:solidFill>
                    <a:srgbClr val="000000"/>
                  </a:solidFill>
                </a:endParaRPr>
              </a:p>
              <a:p>
                <a:r>
                  <a:rPr lang="es-AR" sz="1725" dirty="0">
                    <a:solidFill>
                      <a:srgbClr val="000000"/>
                    </a:solidFill>
                  </a:rPr>
                  <a:t>Matemáticamente:</a:t>
                </a:r>
              </a:p>
              <a:p>
                <a:endParaRPr lang="es-AR" sz="1725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725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725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AR" sz="1725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725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lit/>
                        </m:rPr>
                        <a:rPr lang="es-AR" sz="1725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s-AR" sz="172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z="172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para</m:t>
                      </m:r>
                      <m:r>
                        <a:rPr lang="es-AR" sz="172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z="172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todo</m:t>
                      </m:r>
                      <m:r>
                        <a:rPr lang="es-AR" sz="1725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AR" sz="1725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725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E7A67-A3AD-401E-949B-186470F21D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6" t="-1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B9CB4-D906-4EEC-ABA1-7C1D04997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94A237-1628-4791-B530-D7FB7B3D4E2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911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0D31E332-D563-483B-961D-CB807FCF5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No arbitraje – Paridad </a:t>
            </a:r>
            <a:r>
              <a:rPr lang="es-AR" altLang="en-US" sz="3200" i="1" dirty="0" err="1">
                <a:solidFill>
                  <a:srgbClr val="000000"/>
                </a:solidFill>
              </a:rPr>
              <a:t>Put-Call</a:t>
            </a:r>
            <a:r>
              <a:rPr lang="es-AR" altLang="en-US" sz="3200" dirty="0">
                <a:solidFill>
                  <a:srgbClr val="000000"/>
                </a:solidFill>
              </a:rPr>
              <a:t> (1/4)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1842906F-BBA0-4A74-8378-49B98235A56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719B8A-5479-41E1-8236-7EACC82F0564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21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E76E0F-4EC8-4565-AE71-DD4A01C078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412"/>
                <a:ext cx="8458200" cy="5112915"/>
              </a:xfrm>
            </p:spPr>
            <p:txBody>
              <a:bodyPr/>
              <a:lstStyle/>
              <a:p>
                <a:pPr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Suponiendo conocido el precio de una Opción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sz="2300" dirty="0">
                    <a:solidFill>
                      <a:srgbClr val="000000"/>
                    </a:solidFill>
                  </a:rPr>
                  <a:t> Europea, veamos un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argumento de no arbitraje </a:t>
                </a:r>
                <a:r>
                  <a:rPr lang="es-AR" sz="2300" dirty="0">
                    <a:solidFill>
                      <a:srgbClr val="000000"/>
                    </a:solidFill>
                  </a:rPr>
                  <a:t>para deducir el precio de un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sz="2300" dirty="0">
                    <a:solidFill>
                      <a:srgbClr val="000000"/>
                    </a:solidFill>
                  </a:rPr>
                  <a:t> Europeo (mismo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underlying</a:t>
                </a:r>
                <a:r>
                  <a:rPr lang="es-AR" sz="2300" dirty="0">
                    <a:solidFill>
                      <a:srgbClr val="000000"/>
                    </a:solidFill>
                  </a:rPr>
                  <a:t>, </a:t>
                </a:r>
                <a:r>
                  <a:rPr lang="es-AR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AR" sz="2300" dirty="0">
                    <a:solidFill>
                      <a:srgbClr val="000000"/>
                    </a:solidFill>
                  </a:rPr>
                  <a:t> y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maturity</a:t>
                </a:r>
                <a:r>
                  <a:rPr lang="es-AR" sz="2300" dirty="0">
                    <a:solidFill>
                      <a:srgbClr val="000000"/>
                    </a:solidFill>
                  </a:rPr>
                  <a:t>)</a:t>
                </a:r>
              </a:p>
              <a:p>
                <a:pPr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Sean los siguientes dos portafolios:</a:t>
                </a:r>
              </a:p>
              <a:p>
                <a:pPr lvl="1"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Portafolio A: Una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sz="2300" dirty="0">
                    <a:solidFill>
                      <a:srgbClr val="000000"/>
                    </a:solidFill>
                  </a:rPr>
                  <a:t> más </a:t>
                </a:r>
                <a14:m>
                  <m:oMath xmlns:m="http://schemas.openxmlformats.org/officeDocument/2006/math">
                    <m:r>
                      <a:rPr lang="es-AR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 unidades de dinero (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money</a:t>
                </a:r>
                <a:r>
                  <a:rPr lang="es-AR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market</a:t>
                </a:r>
                <a:r>
                  <a:rPr lang="es-AR" sz="2300" dirty="0">
                    <a:solidFill>
                      <a:srgbClr val="000000"/>
                    </a:solidFill>
                  </a:rPr>
                  <a:t>)</a:t>
                </a:r>
              </a:p>
              <a:p>
                <a:pPr marL="4572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300" b="0" dirty="0">
                  <a:solidFill>
                    <a:srgbClr val="000000"/>
                  </a:solidFill>
                </a:endParaRPr>
              </a:p>
              <a:p>
                <a:pPr marL="457200" lvl="1" indent="0">
                  <a:buNone/>
                  <a:defRPr/>
                </a:pPr>
                <a:endParaRPr lang="en-US" sz="2300" dirty="0">
                  <a:solidFill>
                    <a:srgbClr val="000000"/>
                  </a:solidFill>
                </a:endParaRPr>
              </a:p>
              <a:p>
                <a:pPr lvl="1"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Portafolio B: Una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s-AR" sz="2300" dirty="0">
                    <a:solidFill>
                      <a:srgbClr val="000000"/>
                    </a:solidFill>
                  </a:rPr>
                  <a:t>más una unidad del activo subyacente</a:t>
                </a:r>
              </a:p>
              <a:p>
                <a:pPr marL="4572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+1 </m:t>
                      </m:r>
                      <m:r>
                        <m:rPr>
                          <m:sty m:val="p"/>
                        </m:rPr>
                        <a:rPr lang="en-US" sz="23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300" dirty="0">
                  <a:solidFill>
                    <a:srgbClr val="000000"/>
                  </a:solidFill>
                </a:endParaRPr>
              </a:p>
              <a:p>
                <a:pPr lvl="1">
                  <a:defRPr/>
                </a:pPr>
                <a:endParaRPr lang="en-US" sz="19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E76E0F-4EC8-4565-AE71-DD4A01C078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412"/>
                <a:ext cx="8458200" cy="5112915"/>
              </a:xfrm>
              <a:blipFill>
                <a:blip r:embed="rId2"/>
                <a:stretch>
                  <a:fillRect l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02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0D31E332-D563-483B-961D-CB807FCF5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No arbitraje – Paridad </a:t>
            </a:r>
            <a:r>
              <a:rPr lang="es-AR" altLang="en-US" sz="3200" i="1" dirty="0" err="1">
                <a:solidFill>
                  <a:srgbClr val="000000"/>
                </a:solidFill>
              </a:rPr>
              <a:t>Put-Call</a:t>
            </a:r>
            <a:r>
              <a:rPr lang="es-AR" altLang="en-US" sz="3200" dirty="0">
                <a:solidFill>
                  <a:srgbClr val="000000"/>
                </a:solidFill>
              </a:rPr>
              <a:t> (2/4)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1842906F-BBA0-4A74-8378-49B98235A56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719B8A-5479-41E1-8236-7EACC82F0564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22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E76E0F-4EC8-4565-AE71-DD4A01C078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</p:spPr>
            <p:txBody>
              <a:bodyPr/>
              <a:lstStyle/>
              <a:p>
                <a:pPr>
                  <a:defRPr/>
                </a:pPr>
                <a:endParaRPr lang="en-US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Veamos el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valor de los portafolios </a:t>
                </a:r>
                <a:r>
                  <a:rPr lang="es-AR" sz="2300" dirty="0">
                    <a:solidFill>
                      <a:srgbClr val="000000"/>
                    </a:solidFill>
                  </a:rPr>
                  <a:t>a tiempo final</a:t>
                </a:r>
                <a:r>
                  <a:rPr lang="en-US" sz="2300" dirty="0">
                    <a:solidFill>
                      <a:srgbClr val="000000"/>
                    </a:solidFill>
                  </a:rPr>
                  <a:t>:</a:t>
                </a:r>
              </a:p>
              <a:p>
                <a:pPr>
                  <a:defRPr/>
                </a:pPr>
                <a:endParaRPr lang="en-US" sz="2300" dirty="0">
                  <a:solidFill>
                    <a:srgbClr val="000000"/>
                  </a:solidFill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sz="23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  <m: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300" b="0" i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sz="23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sz="23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sz="23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n-US" sz="2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2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3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sz="2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n-US" sz="23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3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  <m:r>
                              <a:rPr lang="en-US" sz="23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endParaRPr lang="en-US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Es decir, sus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payoffs</a:t>
                </a:r>
                <a:r>
                  <a:rPr lang="es-AR" sz="2300" dirty="0">
                    <a:solidFill>
                      <a:srgbClr val="000000"/>
                    </a:solidFill>
                  </a:rPr>
                  <a:t> son idénticos:   </a:t>
                </a:r>
              </a:p>
              <a:p>
                <a:pPr>
                  <a:defRPr/>
                </a:pPr>
                <a:endParaRPr 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  <a:defRPr/>
                </a:pPr>
                <a:r>
                  <a:rPr lang="en-US" sz="2300" dirty="0">
                    <a:solidFill>
                      <a:srgbClr val="000000"/>
                    </a:solidFill>
                  </a:rPr>
                  <a:t>          </a:t>
                </a: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El valor de los portafolios entonces tienen que ser idénticos en todo tiempo desde inicio hasta expiración.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E76E0F-4EC8-4565-AE71-DD4A01C078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  <a:blipFill>
                <a:blip r:embed="rId2"/>
                <a:stretch>
                  <a:fillRect l="-1096" b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073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E21BC1C-C1CC-4CBD-98D7-4580A1044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No arbitraje – Paridad </a:t>
            </a:r>
            <a:r>
              <a:rPr lang="es-AR" altLang="en-US" sz="3200" i="1" dirty="0" err="1">
                <a:solidFill>
                  <a:srgbClr val="000000"/>
                </a:solidFill>
              </a:rPr>
              <a:t>Put-Call</a:t>
            </a:r>
            <a:r>
              <a:rPr lang="es-AR" altLang="en-US" sz="3200" dirty="0">
                <a:solidFill>
                  <a:srgbClr val="000000"/>
                </a:solidFill>
              </a:rPr>
              <a:t> (3/4)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9B9CEA49-203B-4981-9F1F-C5EA7FC8AF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3092E7-AE5A-4301-B4A2-4C60C741EF5C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23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0071A9D-0D4D-49ED-9486-C46BB380D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</p:spPr>
            <p:txBody>
              <a:bodyPr/>
              <a:lstStyle/>
              <a:p>
                <a:pPr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En particular,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deben valer lo mismo al inicio</a:t>
                </a:r>
                <a:r>
                  <a:rPr lang="es-AR" sz="2300" dirty="0">
                    <a:solidFill>
                      <a:srgbClr val="000000"/>
                    </a:solidFill>
                  </a:rPr>
                  <a:t>. Veamos cuanto valen al inicio:</a:t>
                </a:r>
              </a:p>
              <a:p>
                <a:pPr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AR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Igualándolos, dado que </a:t>
                </a:r>
                <a:r>
                  <a:rPr lang="es-AR" sz="2300" b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por no arbitraje deberían ser idénticos</a:t>
                </a:r>
                <a:r>
                  <a:rPr lang="es-AR" sz="230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>
                  <a:buNone/>
                  <a:defRPr/>
                </a:pPr>
                <a:endParaRPr lang="en-US" sz="23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300" b="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endParaRPr lang="es-AR" sz="2300" dirty="0"/>
              </a:p>
              <a:p>
                <a:pPr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endParaRPr lang="es-AR" sz="2300" dirty="0"/>
              </a:p>
              <a:p>
                <a:pPr>
                  <a:defRPr/>
                </a:pPr>
                <a:endParaRPr lang="en-US" sz="23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0071A9D-0D4D-49ED-9486-C46BB380D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  <a:blipFill>
                <a:blip r:embed="rId2"/>
                <a:stretch>
                  <a:fillRect l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391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E21BC1C-C1CC-4CBD-98D7-4580A1044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No arbitraje – Paridad </a:t>
            </a:r>
            <a:r>
              <a:rPr lang="es-AR" altLang="en-US" sz="3200" i="1" dirty="0" err="1">
                <a:solidFill>
                  <a:srgbClr val="000000"/>
                </a:solidFill>
              </a:rPr>
              <a:t>Put-Call</a:t>
            </a:r>
            <a:r>
              <a:rPr lang="es-AR" altLang="en-US" sz="3200" dirty="0">
                <a:solidFill>
                  <a:srgbClr val="000000"/>
                </a:solidFill>
              </a:rPr>
              <a:t> (4/4)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9B9CEA49-203B-4981-9F1F-C5EA7FC8AF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3092E7-AE5A-4301-B4A2-4C60C741EF5C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24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0071A9D-0D4D-49ED-9486-C46BB380D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Es decir, se cumple que: </a:t>
                </a:r>
              </a:p>
              <a:p>
                <a:pPr>
                  <a:defRPr/>
                </a:pPr>
                <a:endParaRPr lang="es-AR" sz="23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n-US" sz="2300" b="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Esta relación es conocida como la </a:t>
                </a:r>
                <a:r>
                  <a:rPr lang="es-AR" sz="2300" b="1" kern="12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paridad</a:t>
                </a:r>
                <a:r>
                  <a:rPr lang="es-AR" sz="2300" b="1" i="1" kern="12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AR" sz="2300" b="1" i="1" kern="1200" dirty="0" err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Put-Call</a:t>
                </a:r>
                <a:r>
                  <a:rPr lang="es-AR" sz="2300" dirty="0">
                    <a:solidFill>
                      <a:srgbClr val="000000"/>
                    </a:solidFill>
                  </a:rPr>
                  <a:t>. Notar que es válida para todo momento de la vida de las opciones:</a:t>
                </a:r>
              </a:p>
              <a:p>
                <a:pPr marL="0" indent="0">
                  <a:buNone/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300" b="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:endParaRPr lang="es-AR" sz="2300" dirty="0"/>
              </a:p>
              <a:p>
                <a:pPr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Esta relación es muy útil por ejemplo para:</a:t>
                </a:r>
              </a:p>
              <a:p>
                <a:pPr lvl="1">
                  <a:defRPr/>
                </a:pPr>
                <a:r>
                  <a:rPr lang="es-AR" sz="2300" dirty="0">
                    <a:solidFill>
                      <a:srgbClr val="000000"/>
                    </a:solidFill>
                    <a:ea typeface="+mn-ea"/>
                    <a:cs typeface="+mn-cs"/>
                  </a:rPr>
                  <a:t>Construir </a:t>
                </a:r>
                <a:r>
                  <a:rPr lang="es-AR" sz="2300" i="1" dirty="0" err="1">
                    <a:solidFill>
                      <a:srgbClr val="000000"/>
                    </a:solidFill>
                    <a:ea typeface="+mn-ea"/>
                    <a:cs typeface="+mn-cs"/>
                  </a:rPr>
                  <a:t>Put</a:t>
                </a:r>
                <a:r>
                  <a:rPr lang="es-AR" sz="2300" dirty="0">
                    <a:solidFill>
                      <a:srgbClr val="000000"/>
                    </a:solidFill>
                    <a:ea typeface="+mn-ea"/>
                    <a:cs typeface="+mn-cs"/>
                  </a:rPr>
                  <a:t> sintética de no existir en el mercado</a:t>
                </a:r>
              </a:p>
              <a:p>
                <a:pPr lvl="1">
                  <a:defRPr/>
                </a:pPr>
                <a:r>
                  <a:rPr lang="es-AR" sz="2300" dirty="0">
                    <a:solidFill>
                      <a:srgbClr val="000000"/>
                    </a:solidFill>
                    <a:ea typeface="+mn-ea"/>
                    <a:cs typeface="+mn-cs"/>
                  </a:rPr>
                  <a:t>Buscar Arbitrajes</a:t>
                </a:r>
              </a:p>
              <a:p>
                <a:pPr lvl="1">
                  <a:defRPr/>
                </a:pPr>
                <a:r>
                  <a:rPr lang="es-AR" sz="2300" dirty="0">
                    <a:solidFill>
                      <a:srgbClr val="000000"/>
                    </a:solidFill>
                    <a:ea typeface="+mn-ea"/>
                    <a:cs typeface="+mn-cs"/>
                  </a:rPr>
                  <a:t>Calibrar/Validar modelos de precio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0071A9D-0D4D-49ED-9486-C46BB380D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  <a:blipFill>
                <a:blip r:embed="rId2"/>
                <a:stretch>
                  <a:fillRect l="-1096" t="-1088" r="-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253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B77C5B3-E050-425C-A22B-7E8645EB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Relaciones entre Europeas y Americanas (1/2)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3A4F5A9-833F-4A68-9246-6E25581F2E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5F91C-B85E-44CA-8A39-F3B3CD8D2A59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25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FD6D13E-2FCD-47F7-9E00-33B96947A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</p:spPr>
            <p:txBody>
              <a:bodyPr/>
              <a:lstStyle/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Dado que </a:t>
                </a:r>
                <a:r>
                  <a:rPr lang="es-AR" altLang="en-US" sz="23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las opciones americanas tienen más </a:t>
                </a:r>
                <a:r>
                  <a:rPr lang="es-AR" altLang="en-US" sz="2300" i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opcionalidad</a:t>
                </a:r>
                <a:r>
                  <a:rPr lang="es-AR" altLang="en-US" sz="2300" i="1" dirty="0">
                    <a:solidFill>
                      <a:srgbClr val="000000"/>
                    </a:solidFill>
                  </a:rPr>
                  <a:t>… derecho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, intuitivamente tenemos las siguientes dos relaciones: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i="1" dirty="0">
                  <a:solidFill>
                    <a:srgbClr val="000000"/>
                  </a:solidFill>
                </a:endParaRPr>
              </a:p>
              <a:p>
                <a:pPr marL="0" indent="0" algn="ctr" eaLnBrk="1" hangingPunct="1">
                  <a:buNone/>
                  <a:defRPr/>
                </a:pPr>
                <a:r>
                  <a:rPr lang="es-AR" altLang="en-US" sz="2300" b="0" dirty="0">
                    <a:solidFill>
                      <a:srgbClr val="000000"/>
                    </a:solidFill>
                  </a:rPr>
                  <a:t>(europea)    </a:t>
                </a:r>
                <a14:m>
                  <m:oMath xmlns:m="http://schemas.openxmlformats.org/officeDocument/2006/math"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AR" altLang="en-US" sz="2300" b="0" i="1" dirty="0">
                    <a:solidFill>
                      <a:srgbClr val="000000"/>
                    </a:solidFill>
                  </a:rPr>
                  <a:t>     (americana)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i="1" dirty="0">
                    <a:solidFill>
                      <a:srgbClr val="000000"/>
                    </a:solidFill>
                  </a:rPr>
                  <a:t>                                                             y </a:t>
                </a:r>
              </a:p>
              <a:p>
                <a:pPr marL="0" indent="0" algn="ctr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(europea)</a:t>
                </a:r>
                <a14:m>
                  <m:oMath xmlns:m="http://schemas.openxmlformats.org/officeDocument/2006/math">
                    <m:r>
                      <a:rPr lang="en-US" altLang="en-US" sz="23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AR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s-AR" altLang="en-US" sz="2300" i="1" dirty="0">
                    <a:solidFill>
                      <a:srgbClr val="000000"/>
                    </a:solidFill>
                  </a:rPr>
                  <a:t>    (americana)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i="1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Lo que </a:t>
                </a:r>
                <a:r>
                  <a:rPr lang="es-AR" altLang="en-US" sz="23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NO es intuitivo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, es que en el caso de las </a:t>
                </a:r>
                <a:r>
                  <a:rPr lang="es-AR" altLang="en-U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 que no paguen dividendos, también se puede ver que:</a:t>
                </a:r>
              </a:p>
              <a:p>
                <a:pPr marL="0" indent="0" algn="ctr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AR" altLang="en-US" sz="2300" dirty="0">
                          <a:solidFill>
                            <a:srgbClr val="00000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s-AR" altLang="en-US" sz="2300" dirty="0">
                          <a:solidFill>
                            <a:srgbClr val="000000"/>
                          </a:solidFill>
                        </a:rPr>
                        <m:t>europea</m:t>
                      </m:r>
                      <m:r>
                        <m:rPr>
                          <m:nor/>
                        </m:rPr>
                        <a:rPr lang="es-AR" altLang="en-US" sz="2300" dirty="0">
                          <a:solidFill>
                            <a:srgbClr val="000000"/>
                          </a:solidFill>
                        </a:rPr>
                        <m:t>)    </m:t>
                      </m:r>
                      <m:r>
                        <a:rPr lang="es-AR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s-AR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nor/>
                        </m:rPr>
                        <a:rPr lang="es-AR" altLang="en-US" sz="2300" i="1" dirty="0">
                          <a:solidFill>
                            <a:srgbClr val="000000"/>
                          </a:solidFill>
                        </a:rPr>
                        <m:t>     (</m:t>
                      </m:r>
                      <m:r>
                        <m:rPr>
                          <m:nor/>
                        </m:rPr>
                        <a:rPr lang="es-AR" altLang="en-US" sz="2300" i="1" dirty="0">
                          <a:solidFill>
                            <a:srgbClr val="000000"/>
                          </a:solidFill>
                        </a:rPr>
                        <m:t>americana</m:t>
                      </m:r>
                      <m:r>
                        <m:rPr>
                          <m:nor/>
                        </m:rPr>
                        <a:rPr lang="es-AR" altLang="en-US" sz="2300" i="1" dirty="0">
                          <a:solidFill>
                            <a:srgbClr val="000000"/>
                          </a:solidFill>
                        </a:rPr>
                        <m:t>)</m:t>
                      </m:r>
                    </m:oMath>
                  </m:oMathPara>
                </a14:m>
                <a:endParaRPr lang="es-AR" altLang="en-US" sz="2300" i="1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Con lo cual, </a:t>
                </a:r>
                <a14:m>
                  <m:oMath xmlns:m="http://schemas.openxmlformats.org/officeDocument/2006/math">
                    <m:r>
                      <a:rPr lang="es-AR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AR" altLang="en-US" sz="2300" i="1" dirty="0">
                    <a:solidFill>
                      <a:srgbClr val="000000"/>
                    </a:solidFill>
                  </a:rPr>
                  <a:t>, 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y el precio de las dos opciones es idéntico 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Es decir, </a:t>
                </a:r>
                <a:r>
                  <a:rPr lang="es-AR" altLang="en-US" sz="23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NUNCA es óptimo ejercer la opción antes de vencimiento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i="1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i="1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i="1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  <a:defRPr/>
                </a:pPr>
                <a:endParaRPr lang="es-AR" sz="2300" dirty="0"/>
              </a:p>
              <a:p>
                <a:pPr>
                  <a:defRPr/>
                </a:pPr>
                <a:endParaRPr lang="en-US" sz="23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FD6D13E-2FCD-47F7-9E00-33B96947A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  <a:blipFill>
                <a:blip r:embed="rId2"/>
                <a:stretch>
                  <a:fillRect l="-1023" t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022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B77C5B3-E050-425C-A22B-7E8645EB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i="1" dirty="0" err="1">
                <a:solidFill>
                  <a:srgbClr val="000000"/>
                </a:solidFill>
              </a:rPr>
              <a:t>Call</a:t>
            </a:r>
            <a:r>
              <a:rPr lang="es-AR" altLang="en-US" sz="3200" dirty="0">
                <a:solidFill>
                  <a:srgbClr val="000000"/>
                </a:solidFill>
              </a:rPr>
              <a:t> americano sin dividendos (1/2)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3A4F5A9-833F-4A68-9246-6E25581F2E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5F91C-B85E-44CA-8A39-F3B3CD8D2A59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26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FD6D13E-2FCD-47F7-9E00-33B96947A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</p:spPr>
            <p:txBody>
              <a:bodyPr/>
              <a:lstStyle/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Veamos esto último: </a:t>
                </a: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“NUNCA es óptimo ejercer la </a:t>
                </a:r>
                <a:r>
                  <a:rPr lang="es-AR" altLang="en-US" sz="2300" i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call</a:t>
                </a:r>
                <a:r>
                  <a:rPr lang="es-AR" altLang="en-US" sz="23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americana antes de vencimiento”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Ya vimos (Cotas Inferiores) que</a:t>
                </a:r>
                <a14:m>
                  <m:oMath xmlns:m="http://schemas.openxmlformats.org/officeDocument/2006/math">
                    <m:r>
                      <a:rPr lang="es-AR" altLang="en-US" sz="23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</m:oMath>
                </a14:m>
                <a:r>
                  <a:rPr lang="es-AR" altLang="en-US" sz="2300" i="1" dirty="0">
                    <a:solidFill>
                      <a:srgbClr val="000000"/>
                    </a:solidFill>
                  </a:rPr>
                  <a:t>, 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como </a:t>
                </a:r>
                <a14:m>
                  <m:oMath xmlns:m="http://schemas.openxmlformats.org/officeDocument/2006/math"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AR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AR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AR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s-AR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Asumiendo </a:t>
                </a:r>
                <a14:m>
                  <m:oMath xmlns:m="http://schemas.openxmlformats.org/officeDocument/2006/math">
                    <m:r>
                      <a:rPr lang="es-AR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, lo anterior dice que siempre que </a:t>
                </a:r>
                <a14:m>
                  <m:oMath xmlns:m="http://schemas.openxmlformats.org/officeDocument/2006/math">
                    <m:r>
                      <a:rPr lang="en-US" altLang="en-US" sz="2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en-US" sz="23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s-AR" altLang="en-US" sz="23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 </a:t>
                </a:r>
                <a:endParaRPr lang="es-AR" altLang="en-US" sz="23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23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US" altLang="en-US" sz="23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𝑟𝑇</m:t>
                      </m:r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&lt;0→</m:t>
                      </m:r>
                      <m:sSup>
                        <m:sSupPr>
                          <m:ctrlP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&lt;1→</m:t>
                      </m:r>
                      <m:sSup>
                        <m:sSup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&gt;−</m:t>
                      </m:r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en-US" sz="23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n-US" altLang="en-US" sz="2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&gt;−</m:t>
                      </m:r>
                      <m:r>
                        <a:rPr lang="en-US" altLang="en-US" sz="23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s-AR" sz="230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 algn="ctr">
                  <a:buNone/>
                  <a:defRPr/>
                </a:pPr>
                <a:r>
                  <a:rPr lang="es-AR" altLang="en-US" sz="23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[</a:t>
                </a:r>
                <a:r>
                  <a:rPr lang="es-AR" altLang="en-US" sz="23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vender</a:t>
                </a:r>
                <a:r>
                  <a:rPr lang="es-AR" altLang="en-US" sz="23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s-AR" altLang="en-US" sz="23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sz="23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AR" altLang="en-US" sz="23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AR" altLang="en-US" sz="23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AR" altLang="en-US" sz="23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AR" altLang="en-US" sz="23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3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[</a:t>
                </a:r>
                <a:r>
                  <a:rPr lang="en-US" sz="23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ejercer</a:t>
                </a:r>
                <a:r>
                  <a:rPr lang="en-US" sz="23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FD6D13E-2FCD-47F7-9E00-33B96947A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  <a:blipFill>
                <a:blip r:embed="rId2"/>
                <a:stretch>
                  <a:fillRect l="-1023" t="-846" b="-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273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B77C5B3-E050-425C-A22B-7E8645EB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i="1" dirty="0" err="1">
                <a:solidFill>
                  <a:srgbClr val="000000"/>
                </a:solidFill>
              </a:rPr>
              <a:t>Put</a:t>
            </a:r>
            <a:r>
              <a:rPr lang="es-AR" altLang="en-US" sz="3200" dirty="0">
                <a:solidFill>
                  <a:srgbClr val="000000"/>
                </a:solidFill>
              </a:rPr>
              <a:t> americano sin dividendos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3A4F5A9-833F-4A68-9246-6E25581F2E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5F91C-B85E-44CA-8A39-F3B3CD8D2A59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27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FD6D13E-2FCD-47F7-9E00-33B96947A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s-ES" altLang="en-US" sz="2300" dirty="0">
                    <a:solidFill>
                      <a:srgbClr val="000000"/>
                    </a:solidFill>
                  </a:rPr>
                  <a:t>El valor de ejercicio de una opción de venta es </a:t>
                </a:r>
                <a14:m>
                  <m:oMath xmlns:m="http://schemas.openxmlformats.org/officeDocument/2006/math">
                    <m:r>
                      <a:rPr lang="es-E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E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s-E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altLang="en-US" sz="2300" dirty="0">
                    <a:solidFill>
                      <a:srgbClr val="000000"/>
                    </a:solidFill>
                  </a:rPr>
                  <a:t>. En una opción </a:t>
                </a:r>
                <a:r>
                  <a:rPr lang="es-ES" altLang="en-U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altLang="en-US" sz="2300" dirty="0">
                    <a:solidFill>
                      <a:srgbClr val="000000"/>
                    </a:solidFill>
                  </a:rPr>
                  <a:t> europea</a:t>
                </a:r>
              </a:p>
              <a:p>
                <a:pPr eaLnBrk="1" hangingPunct="1">
                  <a:defRPr/>
                </a:pPr>
                <a:r>
                  <a:rPr lang="es-ES" altLang="en-US" sz="2300" dirty="0">
                    <a:solidFill>
                      <a:srgbClr val="000000"/>
                    </a:solidFill>
                  </a:rPr>
                  <a:t>Este valor </a:t>
                </a:r>
                <a:r>
                  <a:rPr lang="es-ES" altLang="en-US" sz="23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no puede capturarse hasta el vencimiento</a:t>
                </a:r>
                <a:r>
                  <a:rPr lang="es-ES" altLang="en-US" sz="2300" dirty="0">
                    <a:solidFill>
                      <a:srgbClr val="000000"/>
                    </a:solidFill>
                  </a:rPr>
                  <a:t>. </a:t>
                </a:r>
              </a:p>
              <a:p>
                <a:pPr eaLnBrk="1" hangingPunct="1">
                  <a:defRPr/>
                </a:pPr>
                <a:r>
                  <a:rPr lang="es-ES" altLang="en-US" sz="2300" dirty="0">
                    <a:solidFill>
                      <a:srgbClr val="000000"/>
                    </a:solidFill>
                  </a:rPr>
                  <a:t>Antes del vencimiento, el valor de la opción de venta europea será una función del valor presente de lo que este ejercicio genera: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altLang="en-U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alt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alt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alt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s-AR" altLang="en-US" sz="23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altLang="en-US" sz="23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s-AR" altLang="en-US" sz="23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AR" altLang="en-US" sz="23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s-E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AR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AR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AR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s-ES" altLang="en-US" sz="2300" dirty="0">
                    <a:solidFill>
                      <a:srgbClr val="000000"/>
                    </a:solidFill>
                  </a:rPr>
                  <a:t>. </a:t>
                </a:r>
              </a:p>
              <a:p>
                <a:pPr eaLnBrk="1" hangingPunct="1">
                  <a:defRPr/>
                </a:pPr>
                <a:r>
                  <a:rPr lang="es-ES" altLang="en-US" sz="2300" dirty="0">
                    <a:solidFill>
                      <a:srgbClr val="000000"/>
                    </a:solidFill>
                  </a:rPr>
                  <a:t>El </a:t>
                </a:r>
                <a:r>
                  <a:rPr lang="es-ES" altLang="en-U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altLang="en-US" sz="2300" dirty="0">
                    <a:solidFill>
                      <a:srgbClr val="000000"/>
                    </a:solidFill>
                  </a:rPr>
                  <a:t> americano da acceso inmediato en cualquier momento a </a:t>
                </a:r>
                <a14:m>
                  <m:oMath xmlns:m="http://schemas.openxmlformats.org/officeDocument/2006/math">
                    <m:r>
                      <a:rPr lang="es-AR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s-AR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s-ES" altLang="en-U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altLang="en-US" sz="2300" dirty="0">
                    <a:solidFill>
                      <a:srgbClr val="000000"/>
                    </a:solidFill>
                  </a:rPr>
                  <a:t>, a través del ejercicio. </a:t>
                </a:r>
              </a:p>
              <a:p>
                <a:pPr eaLnBrk="1" hangingPunct="1">
                  <a:defRPr/>
                </a:pPr>
                <a:r>
                  <a:rPr lang="es-ES" altLang="en-US" sz="2300" dirty="0">
                    <a:solidFill>
                      <a:srgbClr val="000000"/>
                    </a:solidFill>
                  </a:rPr>
                  <a:t>En ciertas circunstancias, especialmente en los posiciones muy Deep ITM, con el tiempo restante hasta la expiración, este diferencial en las condiciones de ejercicio </a:t>
                </a:r>
                <a:r>
                  <a:rPr lang="es-ES" altLang="en-US" sz="23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puede dar al </a:t>
                </a:r>
                <a:r>
                  <a:rPr lang="es-ES" altLang="en-US" sz="2300" i="1" dirty="0" err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put</a:t>
                </a:r>
                <a:r>
                  <a:rPr lang="es-ES" altLang="en-US" sz="23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 americano un valor extra sobre el</a:t>
                </a:r>
                <a:r>
                  <a:rPr lang="es-ES" altLang="en-US" sz="2300" i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ES" altLang="en-US" sz="2300" i="1" dirty="0" err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put</a:t>
                </a:r>
                <a:r>
                  <a:rPr lang="es-ES" altLang="en-US" sz="2300" i="1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ES" altLang="en-US" sz="23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europeo </a:t>
                </a:r>
                <a:r>
                  <a:rPr lang="es-ES" altLang="en-US" sz="2300" dirty="0">
                    <a:solidFill>
                      <a:srgbClr val="000000"/>
                    </a:solidFill>
                  </a:rPr>
                  <a:t>correspondiente, incluso en ausencia de dividendos.</a:t>
                </a:r>
                <a:endParaRPr lang="en-US" sz="23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FD6D13E-2FCD-47F7-9E00-33B96947A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413"/>
                <a:ext cx="8339138" cy="5040312"/>
              </a:xfrm>
              <a:blipFill>
                <a:blip r:embed="rId2"/>
                <a:stretch>
                  <a:fillRect l="-1096" t="-1088" b="-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147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B77C5B3-E050-425C-A22B-7E8645EB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2400" dirty="0">
                <a:solidFill>
                  <a:srgbClr val="000000"/>
                </a:solidFill>
              </a:rPr>
              <a:t>Otras relaciones </a:t>
            </a:r>
            <a:r>
              <a:rPr lang="es-AR" altLang="en-US" sz="2400" i="1" dirty="0" err="1">
                <a:solidFill>
                  <a:srgbClr val="000000"/>
                </a:solidFill>
              </a:rPr>
              <a:t>PutCall</a:t>
            </a:r>
            <a:endParaRPr lang="en-US" altLang="en-US" sz="2400" i="1" dirty="0">
              <a:solidFill>
                <a:srgbClr val="000000"/>
              </a:solidFill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3A4F5A9-833F-4A68-9246-6E25581F2E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5F91C-B85E-44CA-8A39-F3B3CD8D2A59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28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D6D13E-2FCD-47F7-9E00-33B96947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808560"/>
            <a:ext cx="6254354" cy="3780234"/>
          </a:xfrm>
        </p:spPr>
        <p:txBody>
          <a:bodyPr/>
          <a:lstStyle/>
          <a:p>
            <a:pPr marL="0" indent="0">
              <a:buNone/>
              <a:defRPr/>
            </a:pPr>
            <a:endParaRPr lang="es-AR" altLang="en-US" sz="1725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endParaRPr lang="en-US" sz="17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3216D2F-E976-48A3-A252-7CC60F555A1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00200" y="1922860"/>
                <a:ext cx="6254354" cy="3780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eaLnBrk="1" hangingPunct="1">
                  <a:defRPr/>
                </a:pPr>
                <a:r>
                  <a:rPr lang="es-AR" altLang="en-US" sz="1725" kern="0" dirty="0">
                    <a:solidFill>
                      <a:srgbClr val="000000"/>
                    </a:solidFill>
                  </a:rPr>
                  <a:t>Americanas que no pagan dividendos: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AR" altLang="en-US" sz="1725" kern="0" dirty="0">
                    <a:solidFill>
                      <a:srgbClr val="000000"/>
                    </a:solidFill>
                  </a:rPr>
                  <a:t>Europeas que pagan dividendos: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AR" altLang="en-US" sz="1725" kern="0" dirty="0">
                    <a:solidFill>
                      <a:srgbClr val="000000"/>
                    </a:solidFill>
                  </a:rPr>
                  <a:t>Americanas que pagan dividendos: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altLang="en-US" sz="1725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altLang="en-US" sz="1725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</m:oMath>
                  </m:oMathPara>
                </a14:m>
                <a:endParaRPr lang="es-AR" altLang="en-US" sz="1725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3216D2F-E976-48A3-A252-7CC60F555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200" y="1922860"/>
                <a:ext cx="6254354" cy="3780234"/>
              </a:xfrm>
              <a:prstGeom prst="rect">
                <a:avLst/>
              </a:prstGeom>
              <a:blipFill>
                <a:blip r:embed="rId2"/>
                <a:stretch>
                  <a:fillRect l="-1171" t="-8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3385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B77C5B3-E050-425C-A22B-7E8645EB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Opciones Exóticas (y no tanto) (1/2)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3A4F5A9-833F-4A68-9246-6E25581F2E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5F91C-B85E-44CA-8A39-F3B3CD8D2A59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29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D6D13E-2FCD-47F7-9E00-33B96947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339138" cy="5040312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endParaRPr lang="es-AR" altLang="en-US" sz="230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endParaRPr lang="en-US" sz="2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3216D2F-E976-48A3-A252-7CC60F555A1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600" y="1420813"/>
                <a:ext cx="8339138" cy="5040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Ejercicio:</a:t>
                </a:r>
              </a:p>
              <a:p>
                <a:pPr lvl="1"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Europea – Solo en tiempo de ejercicio</a:t>
                </a:r>
              </a:p>
              <a:p>
                <a:pPr lvl="1"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Bermuda – En tiempos predefinidos</a:t>
                </a:r>
              </a:p>
              <a:p>
                <a:pPr lvl="1"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Americana – En cualquier momento</a:t>
                </a:r>
              </a:p>
              <a:p>
                <a:pPr lvl="1"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Dependen del camino:</a:t>
                </a:r>
              </a:p>
              <a:p>
                <a:pPr eaLnBrk="1" hangingPunct="1">
                  <a:defRPr/>
                </a:pPr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lvl="1" eaLnBrk="1" hangingPunct="1">
                  <a:defRPr/>
                </a:pPr>
                <a:r>
                  <a:rPr lang="es-AR" altLang="en-US" sz="2300" kern="0" dirty="0" err="1">
                    <a:solidFill>
                      <a:srgbClr val="000000"/>
                    </a:solidFill>
                  </a:rPr>
                  <a:t>Asiaticas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AR" altLang="en-US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𝐴𝑠𝑖𝑎</m:t>
                        </m:r>
                      </m:e>
                      <m:sub>
                        <m:r>
                          <a:rPr lang="es-AR" altLang="en-US" sz="23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s-AR" altLang="en-US" sz="23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=</m:t>
                    </m:r>
                    <m:func>
                      <m:funcPr>
                        <m:ctrlPr>
                          <a:rPr lang="es-AR" altLang="en-US" sz="23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AR" altLang="en-US" sz="2300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s-AR" altLang="en-US" sz="23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altLang="en-US" sz="23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b>
                              <m:sSubPr>
                                <m:ctrlPr>
                                  <a:rPr lang="es-AR" altLang="en-US" sz="23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AR" altLang="en-US" sz="23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s-AR" altLang="en-US" sz="23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s-AR" altLang="en-US" sz="23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  <m:d>
                              <m:dPr>
                                <m:ctrlPr>
                                  <a:rPr lang="es-AR" altLang="en-US" sz="2300" b="0" i="1" kern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s-AR" altLang="en-US" sz="23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AR" altLang="en-US" sz="23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s-AR" altLang="en-US" sz="2300" b="0" i="1" kern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s-AR" altLang="en-US" sz="23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AR" altLang="en-US" sz="23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  <m:r>
                      <a:rPr lang="es-AR" altLang="en-US" sz="23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endParaRPr lang="es-AR" altLang="en-US" sz="2300" kern="0" dirty="0">
                  <a:solidFill>
                    <a:srgbClr val="000000"/>
                  </a:solidFill>
                </a:endParaRPr>
              </a:p>
              <a:p>
                <a:pPr lvl="1"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Barreras: Se prenden o apagan cuando </a:t>
                </a:r>
                <a14:m>
                  <m:oMath xmlns:m="http://schemas.openxmlformats.org/officeDocument/2006/math">
                    <m:r>
                      <a:rPr lang="es-AR" altLang="en-US" sz="23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AR" altLang="en-US" sz="2300" kern="0" dirty="0">
                    <a:solidFill>
                      <a:srgbClr val="000000"/>
                    </a:solidFill>
                  </a:rPr>
                  <a:t> toca valores predeterminados</a:t>
                </a:r>
              </a:p>
              <a:p>
                <a:pPr lvl="1" eaLnBrk="1" hangingPunct="1">
                  <a:defRPr/>
                </a:pPr>
                <a:r>
                  <a:rPr lang="es-AR" altLang="en-US" sz="2300" kern="0" dirty="0">
                    <a:solidFill>
                      <a:srgbClr val="000000"/>
                    </a:solidFill>
                  </a:rPr>
                  <a:t>Ventanas: Similares a las barreras pero se </a:t>
                </a:r>
                <a:r>
                  <a:rPr lang="es-AR" altLang="en-US" sz="2300" kern="0" dirty="0" err="1">
                    <a:solidFill>
                      <a:srgbClr val="000000"/>
                    </a:solidFill>
                  </a:rPr>
                  <a:t>activin</a:t>
                </a:r>
                <a:r>
                  <a:rPr lang="es-AR" altLang="en-US" sz="2300" kern="0" dirty="0">
                    <a:solidFill>
                      <a:srgbClr val="000000"/>
                    </a:solidFill>
                  </a:rPr>
                  <a:t> solo en tiempos determinados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3216D2F-E976-48A3-A252-7CC60F555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420813"/>
                <a:ext cx="8339138" cy="5040312"/>
              </a:xfrm>
              <a:prstGeom prst="rect">
                <a:avLst/>
              </a:prstGeom>
              <a:blipFill>
                <a:blip r:embed="rId2"/>
                <a:stretch>
                  <a:fillRect l="-1096" t="-1088" b="-4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648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B77C5B3-E050-425C-A22B-7E8645EB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Opciones Exóticas (y no tanto) (2/2)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3A4F5A9-833F-4A68-9246-6E25581F2E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5F91C-B85E-44CA-8A39-F3B3CD8D2A59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30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D6D13E-2FCD-47F7-9E00-33B96947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339138" cy="5040312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endParaRPr lang="es-AR" altLang="en-US" sz="230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endParaRPr lang="en-US" sz="23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216D2F-E976-48A3-A252-7CC60F555A11}"/>
              </a:ext>
            </a:extLst>
          </p:cNvPr>
          <p:cNvSpPr txBox="1">
            <a:spLocks/>
          </p:cNvSpPr>
          <p:nvPr/>
        </p:nvSpPr>
        <p:spPr bwMode="auto">
          <a:xfrm>
            <a:off x="609600" y="1420813"/>
            <a:ext cx="8339138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s-AR" altLang="en-US" sz="2300" kern="0" dirty="0" err="1">
                <a:solidFill>
                  <a:srgbClr val="000000"/>
                </a:solidFill>
              </a:rPr>
              <a:t>Baskets</a:t>
            </a:r>
            <a:r>
              <a:rPr lang="es-AR" altLang="en-US" sz="2300" kern="0" dirty="0">
                <a:solidFill>
                  <a:srgbClr val="000000"/>
                </a:solidFill>
              </a:rPr>
              <a:t>: Dependen de mas de un subyacente</a:t>
            </a:r>
          </a:p>
          <a:p>
            <a:pPr eaLnBrk="1" hangingPunct="1"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Spread: Dependen de la diferencia entre dos subyacentes</a:t>
            </a:r>
          </a:p>
          <a:p>
            <a:pPr eaLnBrk="1" hangingPunct="1"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Opciones sobre otro tipo de subyacente:</a:t>
            </a:r>
          </a:p>
          <a:p>
            <a:pPr eaLnBrk="1" hangingPunct="1">
              <a:defRPr/>
            </a:pPr>
            <a:endParaRPr lang="es-AR" altLang="en-US" sz="2300" kern="0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s-AR" altLang="en-US" sz="2300" kern="0" dirty="0">
                <a:solidFill>
                  <a:srgbClr val="000000"/>
                </a:solidFill>
              </a:rPr>
              <a:t>IRP: en bonos, en futuros de bonos, en swaps (</a:t>
            </a:r>
            <a:r>
              <a:rPr lang="es-AR" altLang="en-US" sz="2300" i="1" kern="0" dirty="0" err="1">
                <a:solidFill>
                  <a:srgbClr val="000000"/>
                </a:solidFill>
              </a:rPr>
              <a:t>Swaptions</a:t>
            </a:r>
            <a:r>
              <a:rPr lang="es-AR" altLang="en-US" sz="2300" i="1" kern="0" dirty="0">
                <a:solidFill>
                  <a:srgbClr val="000000"/>
                </a:solidFill>
              </a:rPr>
              <a:t>)</a:t>
            </a:r>
            <a:endParaRPr lang="es-AR" altLang="en-US" sz="2300" kern="0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s-AR" altLang="en-US" sz="2300" kern="0" dirty="0" err="1">
                <a:solidFill>
                  <a:srgbClr val="000000"/>
                </a:solidFill>
              </a:rPr>
              <a:t>Commodities</a:t>
            </a:r>
            <a:r>
              <a:rPr lang="es-AR" altLang="en-US" sz="2300" kern="0" dirty="0">
                <a:solidFill>
                  <a:srgbClr val="000000"/>
                </a:solidFill>
              </a:rPr>
              <a:t>: </a:t>
            </a:r>
          </a:p>
          <a:p>
            <a:pPr lvl="1" eaLnBrk="1" hangingPunct="1">
              <a:defRPr/>
            </a:pPr>
            <a:r>
              <a:rPr lang="es-AR" altLang="en-US" sz="2300" kern="0" dirty="0" err="1">
                <a:solidFill>
                  <a:srgbClr val="000000"/>
                </a:solidFill>
              </a:rPr>
              <a:t>Indices</a:t>
            </a:r>
            <a:endParaRPr lang="es-AR" altLang="en-US" sz="2300" kern="0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s-AR" altLang="en-US" sz="2300" kern="0" dirty="0" err="1">
                <a:solidFill>
                  <a:srgbClr val="000000"/>
                </a:solidFill>
              </a:rPr>
              <a:t>CDSs</a:t>
            </a:r>
            <a:endParaRPr lang="es-AR" altLang="en-US" sz="23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898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6">
            <a:extLst>
              <a:ext uri="{FF2B5EF4-FFF2-40B4-BE49-F238E27FC236}">
                <a16:creationId xmlns:a16="http://schemas.microsoft.com/office/drawing/2014/main" id="{6F2C7662-C274-42B9-B285-5FDBFCAC2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Modelos Matemáticos en Finanzas Cuantitativas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41429DC-AC78-4B5C-A407-1D66F8421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1438"/>
            <a:ext cx="845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 eaLnBrk="1" hangingPunct="1"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Fórmulas Cerradas / Aproximaciones analíticas</a:t>
            </a:r>
            <a:endParaRPr lang="es-AR" altLang="en-U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 eaLnBrk="1" hangingPunct="1"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Modelos de árboles (</a:t>
            </a:r>
            <a:r>
              <a:rPr lang="es-AR" sz="2300" i="1" dirty="0" err="1">
                <a:solidFill>
                  <a:srgbClr val="000000"/>
                </a:solidFill>
                <a:latin typeface="CMSS10"/>
              </a:rPr>
              <a:t>lattices</a:t>
            </a:r>
            <a:r>
              <a:rPr lang="es-AR" sz="2300" dirty="0">
                <a:solidFill>
                  <a:srgbClr val="000000"/>
                </a:solidFill>
                <a:latin typeface="CMSS10"/>
              </a:rPr>
              <a:t>)</a:t>
            </a:r>
            <a:r>
              <a:rPr lang="es-AR" sz="2300" dirty="0"/>
              <a:t> </a:t>
            </a:r>
          </a:p>
          <a:p>
            <a:pPr eaLnBrk="1" hangingPunct="1"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 eaLnBrk="1" hangingPunct="1"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Modelos de Ecuaciones Diferenciales</a:t>
            </a:r>
            <a:endParaRPr lang="es-AR" sz="2300" i="1" dirty="0">
              <a:solidFill>
                <a:srgbClr val="7030A0"/>
              </a:solidFill>
            </a:endParaRPr>
          </a:p>
          <a:p>
            <a:pPr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Montecarlo</a:t>
            </a:r>
          </a:p>
          <a:p>
            <a:pPr>
              <a:defRPr/>
            </a:pPr>
            <a:endParaRPr lang="es-AR" sz="2300" dirty="0">
              <a:solidFill>
                <a:srgbClr val="000000"/>
              </a:solidFill>
              <a:latin typeface="CMSS10"/>
            </a:endParaRPr>
          </a:p>
          <a:p>
            <a:pPr>
              <a:defRPr/>
            </a:pPr>
            <a:r>
              <a:rPr lang="es-AR" sz="2300" dirty="0">
                <a:solidFill>
                  <a:srgbClr val="000000"/>
                </a:solidFill>
                <a:latin typeface="CMSS10"/>
              </a:rPr>
              <a:t>Ad-hoc</a:t>
            </a:r>
          </a:p>
          <a:p>
            <a:pPr>
              <a:defRPr/>
            </a:pPr>
            <a:endParaRPr lang="es-AR" sz="2300" b="1" dirty="0">
              <a:solidFill>
                <a:srgbClr val="000000"/>
              </a:solidFill>
              <a:latin typeface="CMSS10"/>
            </a:endParaRPr>
          </a:p>
        </p:txBody>
      </p:sp>
    </p:spTree>
    <p:extLst>
      <p:ext uri="{BB962C8B-B14F-4D97-AF65-F5344CB8AC3E}">
        <p14:creationId xmlns:p14="http://schemas.microsoft.com/office/powerpoint/2010/main" val="1442374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B77C5B3-E050-425C-A22B-7E8645EB1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n-US" sz="2400" dirty="0">
                <a:solidFill>
                  <a:srgbClr val="000000"/>
                </a:solidFill>
              </a:rPr>
              <a:t>Otras relaciones </a:t>
            </a:r>
            <a:r>
              <a:rPr lang="es-AR" altLang="en-US" sz="2400" i="1" dirty="0" err="1">
                <a:solidFill>
                  <a:srgbClr val="000000"/>
                </a:solidFill>
              </a:rPr>
              <a:t>PutCall</a:t>
            </a:r>
            <a:r>
              <a:rPr lang="es-AR" altLang="en-US" sz="2400" i="1" dirty="0">
                <a:solidFill>
                  <a:srgbClr val="000000"/>
                </a:solidFill>
              </a:rPr>
              <a:t> - </a:t>
            </a:r>
            <a:r>
              <a:rPr lang="es-AR" altLang="en-US" sz="2400" dirty="0">
                <a:solidFill>
                  <a:srgbClr val="000000"/>
                </a:solidFill>
              </a:rPr>
              <a:t>Binarias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43A4F5A9-833F-4A68-9246-6E25581F2E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15F91C-B85E-44CA-8A39-F3B3CD8D2A59}" type="slidenum">
              <a:rPr lang="en-US" altLang="en-US" smtClean="0">
                <a:solidFill>
                  <a:srgbClr val="4D4D4D"/>
                </a:solidFill>
                <a:latin typeface="Calibri" panose="020F0502020204030204" pitchFamily="34" charset="0"/>
              </a:rPr>
              <a:pPr/>
              <a:t>32</a:t>
            </a:fld>
            <a:endParaRPr lang="en-US" altLang="en-US">
              <a:solidFill>
                <a:srgbClr val="4D4D4D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D6D13E-2FCD-47F7-9E00-33B96947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808560"/>
            <a:ext cx="6254354" cy="3780234"/>
          </a:xfrm>
        </p:spPr>
        <p:txBody>
          <a:bodyPr/>
          <a:lstStyle/>
          <a:p>
            <a:pPr marL="0" indent="0">
              <a:buNone/>
              <a:defRPr/>
            </a:pPr>
            <a:endParaRPr lang="es-AR" altLang="en-US" sz="1725" dirty="0">
              <a:solidFill>
                <a:srgbClr val="000000"/>
              </a:solidFill>
            </a:endParaRPr>
          </a:p>
          <a:p>
            <a:pPr marL="0" indent="0">
              <a:buNone/>
              <a:defRPr/>
            </a:pPr>
            <a:endParaRPr lang="en-US" sz="172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3216D2F-E976-48A3-A252-7CC60F555A1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600200" y="1922860"/>
                <a:ext cx="6254354" cy="37802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eaLnBrk="1" hangingPunct="1">
                  <a:defRPr/>
                </a:pPr>
                <a:r>
                  <a:rPr lang="es-AR" altLang="en-US" sz="1725" kern="0" dirty="0">
                    <a:solidFill>
                      <a:srgbClr val="000000"/>
                    </a:solidFill>
                  </a:rPr>
                  <a:t>Opciones Binarias-Digitales:</a:t>
                </a:r>
              </a:p>
              <a:p>
                <a:pPr eaLnBrk="1" hangingPunct="1">
                  <a:defRPr/>
                </a:pPr>
                <a:endParaRPr lang="es-AR" altLang="en-US" sz="1725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1725" kern="0" dirty="0">
                    <a:solidFill>
                      <a:srgbClr val="000000"/>
                    </a:solidFill>
                  </a:rPr>
                  <a:t>Una opción Binaria-Digital funciona de manera similar a una opción europea pero con los siguiente </a:t>
                </a:r>
                <a:r>
                  <a:rPr lang="es-AR" altLang="en-US" sz="1725" i="1" kern="0" dirty="0" err="1">
                    <a:solidFill>
                      <a:srgbClr val="000000"/>
                    </a:solidFill>
                  </a:rPr>
                  <a:t>payoff</a:t>
                </a:r>
                <a:r>
                  <a:rPr lang="es-AR" altLang="en-US" sz="1725" i="1" kern="0" dirty="0">
                    <a:solidFill>
                      <a:srgbClr val="000000"/>
                    </a:solidFill>
                  </a:rPr>
                  <a:t>:</a:t>
                </a:r>
              </a:p>
              <a:p>
                <a:pPr marL="0" indent="0" eaLnBrk="1" hangingPunct="1">
                  <a:buNone/>
                  <a:defRPr/>
                </a:pPr>
                <a:endParaRPr lang="es-AR" altLang="en-US" sz="1725" i="1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1725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s-AR" altLang="en-US" sz="1725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s-AR" altLang="en-US" sz="1725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s-AR" altLang="en-US" sz="1725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altLang="en-US" sz="1725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 lang="en-US" altLang="en-US" sz="1725" i="1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eaLnBrk="1" hangingPunct="1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altLang="en-US" sz="1725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s-AR" altLang="en-US" sz="1725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s-AR" altLang="en-US" sz="1725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s-AR" altLang="en-US" sz="1725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altLang="en-US" sz="1725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s-AR" altLang="en-US" sz="1725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</m:sSub>
                    </m:oMath>
                  </m:oMathPara>
                </a14:m>
                <a:endParaRPr lang="es-AR" altLang="en-US" sz="1725" i="1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AR" altLang="en-US" sz="1725" i="1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AR" altLang="en-US" sz="1725" kern="0" dirty="0">
                    <a:solidFill>
                      <a:srgbClr val="000000"/>
                    </a:solidFill>
                  </a:rPr>
                  <a:t>Encontrar una relación de </a:t>
                </a:r>
                <a:r>
                  <a:rPr lang="es-AR" altLang="en-US" sz="1725" i="1" kern="0" dirty="0" err="1">
                    <a:solidFill>
                      <a:srgbClr val="000000"/>
                    </a:solidFill>
                  </a:rPr>
                  <a:t>PutCall</a:t>
                </a:r>
                <a:r>
                  <a:rPr lang="es-AR" altLang="en-US" sz="1725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AR" altLang="en-US" sz="1725" kern="0" dirty="0">
                    <a:solidFill>
                      <a:srgbClr val="000000"/>
                    </a:solidFill>
                  </a:rPr>
                  <a:t>para este tipo de opciones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3216D2F-E976-48A3-A252-7CC60F555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200" y="1922860"/>
                <a:ext cx="6254354" cy="3780234"/>
              </a:xfrm>
              <a:prstGeom prst="rect">
                <a:avLst/>
              </a:prstGeom>
              <a:blipFill>
                <a:blip r:embed="rId2"/>
                <a:stretch>
                  <a:fillRect l="-1171" t="-8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 descr="Blackboard">
            <a:extLst>
              <a:ext uri="{FF2B5EF4-FFF2-40B4-BE49-F238E27FC236}">
                <a16:creationId xmlns:a16="http://schemas.microsoft.com/office/drawing/2014/main" id="{4CB1FD76-E098-4CDE-B50B-5C5D01B3B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8100" y="112276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574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129A8-6089-4480-B710-3908C659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86463" y="5624514"/>
            <a:ext cx="154305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675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685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0287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BC43A8-24AD-4B4C-ADDF-7886688CD695}"/>
              </a:ext>
            </a:extLst>
          </p:cNvPr>
          <p:cNvSpPr txBox="1">
            <a:spLocks/>
          </p:cNvSpPr>
          <p:nvPr/>
        </p:nvSpPr>
        <p:spPr>
          <a:xfrm>
            <a:off x="1371600" y="548680"/>
            <a:ext cx="6343650" cy="111343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sz="2400" kern="0" dirty="0">
                <a:solidFill>
                  <a:srgbClr val="000000"/>
                </a:solidFill>
                <a:latin typeface="Calibri Light" panose="020F0302020204030204"/>
              </a:rPr>
            </a:br>
            <a:r>
              <a:rPr lang="es-AR" sz="2400" kern="0" dirty="0">
                <a:solidFill>
                  <a:srgbClr val="000000"/>
                </a:solidFill>
                <a:latin typeface="Calibri Light" panose="020F0302020204030204"/>
              </a:rPr>
              <a:t>Python: Obtener los paneles como </a:t>
            </a:r>
            <a:r>
              <a:rPr lang="es-AR" sz="2400" i="1" kern="0" dirty="0" err="1">
                <a:solidFill>
                  <a:srgbClr val="000000"/>
                </a:solidFill>
                <a:latin typeface="Calibri Light" panose="020F0302020204030204"/>
              </a:rPr>
              <a:t>dataframes</a:t>
            </a:r>
            <a:r>
              <a:rPr lang="es-AR" sz="2400" i="1" kern="0" dirty="0">
                <a:solidFill>
                  <a:srgbClr val="000000"/>
                </a:solidFill>
                <a:latin typeface="Calibri Light" panose="020F0302020204030204"/>
              </a:rPr>
              <a:t> / volatilidad </a:t>
            </a:r>
            <a:r>
              <a:rPr lang="es-AR" sz="2400" i="1" kern="0" dirty="0" err="1">
                <a:solidFill>
                  <a:srgbClr val="000000"/>
                </a:solidFill>
                <a:latin typeface="Calibri Light" panose="020F0302020204030204"/>
              </a:rPr>
              <a:t>implicita</a:t>
            </a:r>
            <a:endParaRPr lang="en-US" sz="3000" i="1" kern="0" dirty="0">
              <a:latin typeface="Calibri Light" panose="020F0302020204030204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2187C6-9044-459E-9BB9-FB3A2D644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466" y="1808560"/>
            <a:ext cx="634365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buClr>
                <a:srgbClr val="954F72"/>
              </a:buClr>
              <a:defRPr/>
            </a:pPr>
            <a:r>
              <a:rPr lang="es-AR" altLang="en-US" sz="1725" kern="0" dirty="0">
                <a:solidFill>
                  <a:srgbClr val="000000"/>
                </a:solidFill>
                <a:latin typeface="Calibri Light" panose="020F0302020204030204"/>
              </a:rPr>
              <a:t>La idea del ejercicio es obtener paneles ‘limpios’ con la información necesaria para poder buscar sensibilidades</a:t>
            </a:r>
          </a:p>
          <a:p>
            <a:pPr eaLnBrk="1" hangingPunct="1">
              <a:buClr>
                <a:srgbClr val="954F72"/>
              </a:buClr>
              <a:defRPr/>
            </a:pPr>
            <a:endParaRPr lang="es-AR" altLang="en-US" sz="1725" kern="0" dirty="0">
              <a:solidFill>
                <a:srgbClr val="000000"/>
              </a:solidFill>
              <a:latin typeface="Calibri Light" panose="020F0302020204030204"/>
            </a:endParaRPr>
          </a:p>
          <a:p>
            <a:pPr lvl="1" eaLnBrk="1" hangingPunct="1">
              <a:buClr>
                <a:srgbClr val="954F72"/>
              </a:buClr>
              <a:defRPr/>
            </a:pPr>
            <a:r>
              <a:rPr lang="es-AR" altLang="en-US" sz="1325" kern="0" dirty="0">
                <a:solidFill>
                  <a:srgbClr val="000000"/>
                </a:solidFill>
                <a:latin typeface="Calibri Light" panose="020F0302020204030204"/>
              </a:rPr>
              <a:t>NYSE con API </a:t>
            </a:r>
            <a:r>
              <a:rPr lang="es-AR" altLang="en-US" sz="1325" kern="0" dirty="0" err="1">
                <a:solidFill>
                  <a:srgbClr val="000000"/>
                </a:solidFill>
                <a:latin typeface="Calibri Light" panose="020F0302020204030204"/>
              </a:rPr>
              <a:t>Yahoo</a:t>
            </a:r>
            <a:r>
              <a:rPr lang="es-AR" altLang="en-US" sz="1325" kern="0" dirty="0">
                <a:solidFill>
                  <a:srgbClr val="000000"/>
                </a:solidFill>
                <a:latin typeface="Calibri Light" panose="020F0302020204030204"/>
              </a:rPr>
              <a:t> – hoy</a:t>
            </a:r>
          </a:p>
          <a:p>
            <a:pPr lvl="1" eaLnBrk="1" hangingPunct="1">
              <a:buClr>
                <a:srgbClr val="954F72"/>
              </a:buClr>
              <a:defRPr/>
            </a:pPr>
            <a:endParaRPr lang="es-AR" altLang="en-US" sz="1325" kern="0" dirty="0">
              <a:solidFill>
                <a:srgbClr val="000000"/>
              </a:solidFill>
              <a:latin typeface="Calibri Light" panose="020F0302020204030204"/>
            </a:endParaRPr>
          </a:p>
          <a:p>
            <a:pPr eaLnBrk="1" hangingPunct="1">
              <a:buClr>
                <a:srgbClr val="954F72"/>
              </a:buClr>
              <a:defRPr/>
            </a:pPr>
            <a:r>
              <a:rPr lang="es-AR" altLang="en-US" sz="2125" kern="0" dirty="0">
                <a:solidFill>
                  <a:srgbClr val="000000"/>
                </a:solidFill>
                <a:latin typeface="Calibri Light" panose="020F0302020204030204"/>
              </a:rPr>
              <a:t>Volatilidad implícita:</a:t>
            </a:r>
          </a:p>
          <a:p>
            <a:pPr eaLnBrk="1" hangingPunct="1">
              <a:buClr>
                <a:srgbClr val="954F72"/>
              </a:buClr>
              <a:defRPr/>
            </a:pPr>
            <a:endParaRPr lang="es-AR" altLang="en-US" sz="2125" kern="0" dirty="0">
              <a:solidFill>
                <a:srgbClr val="000000"/>
              </a:solidFill>
              <a:latin typeface="Calibri Light" panose="020F0302020204030204"/>
            </a:endParaRPr>
          </a:p>
          <a:p>
            <a:pPr lvl="1" eaLnBrk="1" hangingPunct="1">
              <a:buClr>
                <a:srgbClr val="954F72"/>
              </a:buClr>
              <a:defRPr/>
            </a:pPr>
            <a:r>
              <a:rPr lang="es-AR" altLang="en-US" sz="1725" kern="0" dirty="0">
                <a:solidFill>
                  <a:srgbClr val="000000"/>
                </a:solidFill>
                <a:latin typeface="Calibri Light" panose="020F0302020204030204"/>
              </a:rPr>
              <a:t>Agregar una columna de volatilidad implícita a los paneles de opciones</a:t>
            </a:r>
          </a:p>
          <a:p>
            <a:pPr eaLnBrk="1" hangingPunct="1">
              <a:buClr>
                <a:srgbClr val="954F72"/>
              </a:buClr>
              <a:defRPr/>
            </a:pPr>
            <a:endParaRPr lang="es-AR" altLang="en-US" sz="1725" kern="0" dirty="0">
              <a:solidFill>
                <a:srgbClr val="000000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338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99045-AA68-4614-A680-9E9F1B0AB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B1ED3C3-179F-4914-8394-AF5367D1594A}"/>
              </a:ext>
            </a:extLst>
          </p:cNvPr>
          <p:cNvSpPr txBox="1">
            <a:spLocks/>
          </p:cNvSpPr>
          <p:nvPr/>
        </p:nvSpPr>
        <p:spPr>
          <a:xfrm>
            <a:off x="304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sz="3200" kern="0" dirty="0">
                <a:solidFill>
                  <a:srgbClr val="000000"/>
                </a:solidFill>
              </a:rPr>
              <a:t>Preguntas (Hull)</a:t>
            </a:r>
            <a:endParaRPr 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825" y="1163638"/>
                <a:ext cx="864235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r>
                  <a:rPr lang="es-ES" sz="2300" dirty="0">
                    <a:solidFill>
                      <a:srgbClr val="000000"/>
                    </a:solidFill>
                  </a:rPr>
                  <a:t>[11.2] ¿Cuál es un límite inferior para el precio de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a 4 meses en una acción que no paga dividendos cuando el precio de la acción es de $28, el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es de $25, y la tasa de interés libre de riesgo es del 8% anual?</a:t>
                </a:r>
              </a:p>
              <a:p>
                <a:r>
                  <a:rPr lang="es-ES" sz="2300" dirty="0">
                    <a:solidFill>
                      <a:srgbClr val="000000"/>
                    </a:solidFill>
                  </a:rPr>
                  <a:t>[11.14] El precio de una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europea que expira en 6 meses y tiene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$30 es $2. El precio de la acción subyacente es $29, y se espera un dividendo de $0.50 en 2 meses y otra vez en 5 meses. Los tipos de interés (todos los vencimientos) son del 10%. ¿Cuál es el precio de un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dirty="0">
                    <a:solidFill>
                      <a:srgbClr val="000000"/>
                    </a:solidFill>
                  </a:rPr>
                  <a:t>que expira en 6 meses y tiene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de $30? 
[11.25] Supongamos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 son los precios de las opciones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europeas con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strikes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</a:t>
                </a:r>
                <a:r>
                  <a:rPr lang="es-ES" sz="2300" dirty="0" err="1">
                    <a:solidFill>
                      <a:srgbClr val="000000"/>
                    </a:solidFill>
                  </a:rPr>
                  <a:t>resp</a:t>
                </a:r>
                <a:r>
                  <a:rPr lang="es-ES" sz="2300" dirty="0">
                    <a:solidFill>
                      <a:srgbClr val="000000"/>
                    </a:solidFill>
                  </a:rPr>
                  <a:t>.,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 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3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. Todas las opciones tienen el mismo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maturity</a:t>
                </a:r>
                <a:r>
                  <a:rPr lang="es-ES" sz="2300" dirty="0">
                    <a:solidFill>
                      <a:srgbClr val="000000"/>
                    </a:solidFill>
                  </a:rPr>
                  <a:t> Mostrar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s-E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3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3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s-ES" sz="23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3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3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3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s-ES" sz="23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s-AR" altLang="en-US" sz="23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163638"/>
                <a:ext cx="8642350" cy="5257800"/>
              </a:xfrm>
              <a:prstGeom prst="rect">
                <a:avLst/>
              </a:prstGeom>
              <a:blipFill>
                <a:blip r:embed="rId2"/>
                <a:stretch>
                  <a:fillRect l="-1058" t="-1044" r="-112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702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dirty="0" err="1">
                <a:solidFill>
                  <a:srgbClr val="000000"/>
                </a:solidFill>
              </a:rPr>
              <a:t>Estrategias</a:t>
            </a:r>
            <a:r>
              <a:rPr lang="en-US" altLang="en-US" sz="3200" dirty="0">
                <a:solidFill>
                  <a:srgbClr val="000000"/>
                </a:solidFill>
              </a:rPr>
              <a:t> de </a:t>
            </a:r>
            <a:r>
              <a:rPr lang="en-US" altLang="en-US" sz="3200" i="1" dirty="0">
                <a:solidFill>
                  <a:srgbClr val="000000"/>
                </a:solidFill>
              </a:rPr>
              <a:t>Trading</a:t>
            </a:r>
            <a:r>
              <a:rPr lang="en-US" altLang="en-US" sz="3200" dirty="0">
                <a:solidFill>
                  <a:srgbClr val="000000"/>
                </a:solidFill>
              </a:rPr>
              <a:t> con </a:t>
            </a:r>
            <a:r>
              <a:rPr lang="en-US" altLang="en-US" sz="3200" dirty="0" err="1">
                <a:solidFill>
                  <a:srgbClr val="000000"/>
                </a:solidFill>
              </a:rPr>
              <a:t>Opciones</a:t>
            </a:r>
            <a:r>
              <a:rPr lang="en-US" altLang="en-US" sz="3200" dirty="0">
                <a:solidFill>
                  <a:srgbClr val="000000"/>
                </a:solidFill>
              </a:rPr>
              <a:t> (1/2)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2230CEF0-EE6D-4805-AD4F-47E8A22D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91000"/>
            <a:ext cx="5943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150000"/>
            </a:pPr>
            <a:endParaRPr lang="en-US" altLang="en-US" sz="23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2941E-01DE-4D9F-B35E-6341FDFE0E2E}"/>
              </a:ext>
            </a:extLst>
          </p:cNvPr>
          <p:cNvSpPr txBox="1">
            <a:spLocks/>
          </p:cNvSpPr>
          <p:nvPr/>
        </p:nvSpPr>
        <p:spPr bwMode="auto">
          <a:xfrm>
            <a:off x="457200" y="1268413"/>
            <a:ext cx="8339138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marL="0" indent="0" eaLnBrk="1" hangingPunct="1">
              <a:buFontTx/>
              <a:buNone/>
              <a:defRPr/>
            </a:pPr>
            <a:r>
              <a:rPr lang="es-ES" sz="2300" kern="0" dirty="0">
                <a:solidFill>
                  <a:srgbClr val="000000"/>
                </a:solidFill>
              </a:rPr>
              <a:t>Las opciones pueden usarse para construir estrategias de </a:t>
            </a:r>
            <a:r>
              <a:rPr lang="es-ES" sz="2300" i="1" kern="0" dirty="0">
                <a:solidFill>
                  <a:srgbClr val="000000"/>
                </a:solidFill>
              </a:rPr>
              <a:t>trading</a:t>
            </a:r>
            <a:r>
              <a:rPr lang="es-ES" sz="2300" kern="0" dirty="0">
                <a:solidFill>
                  <a:srgbClr val="000000"/>
                </a:solidFill>
              </a:rPr>
              <a:t>:</a:t>
            </a:r>
          </a:p>
          <a:p>
            <a:pPr marL="0" indent="0" eaLnBrk="1" hangingPunct="1">
              <a:buFontTx/>
              <a:buNone/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s-ES" sz="2300" kern="0" dirty="0">
                <a:solidFill>
                  <a:srgbClr val="000000"/>
                </a:solidFill>
              </a:rPr>
              <a:t>Las estrategias </a:t>
            </a:r>
            <a:r>
              <a:rPr lang="es-E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direccionales</a:t>
            </a:r>
            <a:r>
              <a:rPr lang="es-ES" sz="2300" kern="0" dirty="0">
                <a:solidFill>
                  <a:srgbClr val="000000"/>
                </a:solidFill>
              </a:rPr>
              <a:t> implican una expectativa sobre la dirección de los movimientos futuros del precio de las acciones.</a:t>
            </a:r>
          </a:p>
          <a:p>
            <a:pPr eaLnBrk="1" hangingPunct="1">
              <a:defRPr/>
            </a:pPr>
            <a:r>
              <a:rPr lang="es-ES" sz="2300" kern="0" dirty="0">
                <a:solidFill>
                  <a:srgbClr val="000000"/>
                </a:solidFill>
              </a:rPr>
              <a:t>Las estrategias </a:t>
            </a:r>
            <a:r>
              <a:rPr lang="es-E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no direccionales </a:t>
            </a:r>
            <a:r>
              <a:rPr lang="es-ES" sz="2300" kern="0" dirty="0">
                <a:solidFill>
                  <a:srgbClr val="000000"/>
                </a:solidFill>
              </a:rPr>
              <a:t>(también conocidas como neutrales) no se basan en la dirección futura: el operador es indiferente si el precio de las acciones sube o baja.</a:t>
            </a:r>
          </a:p>
          <a:p>
            <a:pPr eaLnBrk="1" hangingPunct="1">
              <a:defRPr/>
            </a:pPr>
            <a:endParaRPr lang="es-ES" sz="2300" kern="0" dirty="0"/>
          </a:p>
          <a:p>
            <a:pPr marL="0" indent="0" eaLnBrk="1" hangingPunct="1">
              <a:buFontTx/>
              <a:buNone/>
              <a:defRPr/>
            </a:pPr>
            <a:r>
              <a:rPr lang="es-ES" sz="2300" kern="0" dirty="0">
                <a:solidFill>
                  <a:srgbClr val="000000"/>
                </a:solidFill>
              </a:rPr>
              <a:t>Las estrategias direccionales se pueden dividir en dos subgrupos: </a:t>
            </a:r>
          </a:p>
          <a:p>
            <a:pPr eaLnBrk="1" hangingPunct="1">
              <a:defRPr/>
            </a:pPr>
            <a:r>
              <a:rPr lang="es-ES" sz="2300" kern="0" dirty="0">
                <a:solidFill>
                  <a:srgbClr val="000000"/>
                </a:solidFill>
              </a:rPr>
              <a:t>estrategias </a:t>
            </a:r>
            <a:r>
              <a:rPr lang="es-E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alcistas</a:t>
            </a:r>
            <a:r>
              <a:rPr lang="es-ES" sz="2300" kern="0" dirty="0">
                <a:solidFill>
                  <a:srgbClr val="000000"/>
                </a:solidFill>
              </a:rPr>
              <a:t> (</a:t>
            </a:r>
            <a:r>
              <a:rPr lang="es-ES" sz="2300" i="1" kern="0" dirty="0" err="1">
                <a:solidFill>
                  <a:srgbClr val="000000"/>
                </a:solidFill>
              </a:rPr>
              <a:t>bullish</a:t>
            </a:r>
            <a:r>
              <a:rPr lang="es-ES" sz="2300" kern="0" dirty="0">
                <a:solidFill>
                  <a:srgbClr val="000000"/>
                </a:solidFill>
              </a:rPr>
              <a:t>): beneficio si el activo sube </a:t>
            </a:r>
          </a:p>
          <a:p>
            <a:pPr eaLnBrk="1" hangingPunct="1">
              <a:defRPr/>
            </a:pPr>
            <a:r>
              <a:rPr lang="es-ES" sz="2300" kern="0" dirty="0">
                <a:solidFill>
                  <a:srgbClr val="000000"/>
                </a:solidFill>
              </a:rPr>
              <a:t>estrategias </a:t>
            </a:r>
            <a:r>
              <a:rPr lang="es-ES" sz="2300" b="1" kern="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bajistas</a:t>
            </a:r>
            <a:r>
              <a:rPr lang="es-ES" sz="2300" kern="0" dirty="0">
                <a:solidFill>
                  <a:srgbClr val="000000"/>
                </a:solidFill>
              </a:rPr>
              <a:t> (</a:t>
            </a:r>
            <a:r>
              <a:rPr lang="es-ES" sz="2300" i="1" kern="0" dirty="0" err="1">
                <a:solidFill>
                  <a:srgbClr val="000000"/>
                </a:solidFill>
              </a:rPr>
              <a:t>bearish</a:t>
            </a:r>
            <a:r>
              <a:rPr lang="es-ES" sz="2300" kern="0" dirty="0">
                <a:solidFill>
                  <a:srgbClr val="000000"/>
                </a:solidFill>
              </a:rPr>
              <a:t>): beneficio si el cativo baja </a:t>
            </a:r>
          </a:p>
          <a:p>
            <a:pPr eaLnBrk="1" hangingPunct="1">
              <a:defRPr/>
            </a:pPr>
            <a:endParaRPr lang="es-ES" sz="2300" kern="0" dirty="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dirty="0" err="1">
                <a:solidFill>
                  <a:srgbClr val="000000"/>
                </a:solidFill>
              </a:rPr>
              <a:t>Estrategias</a:t>
            </a:r>
            <a:r>
              <a:rPr lang="en-US" altLang="en-US" sz="3200" dirty="0">
                <a:solidFill>
                  <a:srgbClr val="000000"/>
                </a:solidFill>
              </a:rPr>
              <a:t> de </a:t>
            </a:r>
            <a:r>
              <a:rPr lang="en-US" altLang="en-US" sz="3200" i="1" dirty="0">
                <a:solidFill>
                  <a:srgbClr val="000000"/>
                </a:solidFill>
              </a:rPr>
              <a:t>Trading</a:t>
            </a:r>
            <a:r>
              <a:rPr lang="en-US" altLang="en-US" sz="3200" dirty="0">
                <a:solidFill>
                  <a:srgbClr val="000000"/>
                </a:solidFill>
              </a:rPr>
              <a:t> con </a:t>
            </a:r>
            <a:r>
              <a:rPr lang="en-US" altLang="en-US" sz="3200" dirty="0" err="1">
                <a:solidFill>
                  <a:srgbClr val="000000"/>
                </a:solidFill>
              </a:rPr>
              <a:t>Opciones</a:t>
            </a:r>
            <a:r>
              <a:rPr lang="en-US" altLang="en-US" sz="3200" dirty="0">
                <a:solidFill>
                  <a:srgbClr val="000000"/>
                </a:solidFill>
              </a:rPr>
              <a:t> (2/2)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2230CEF0-EE6D-4805-AD4F-47E8A22D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91000"/>
            <a:ext cx="5943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150000"/>
            </a:pPr>
            <a:endParaRPr lang="en-US" altLang="en-US" sz="23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B2941E-01DE-4D9F-B35E-6341FDFE0E2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268413"/>
                <a:ext cx="8339138" cy="5040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Las estrategias no direccionales pueden ser divididas también en dos subgrupos: </a:t>
                </a:r>
              </a:p>
              <a:p>
                <a:pPr eaLnBrk="1" hangingPunct="1">
                  <a:defRPr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estrategias de </a:t>
                </a:r>
                <a:r>
                  <a:rPr lang="es-E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volatilidad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que se benefician si la acción tiene grandes movimientos de precios (entorno de alta volatilidad)</a:t>
                </a:r>
              </a:p>
              <a:p>
                <a:pPr eaLnBrk="1" hangingPunct="1">
                  <a:defRPr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estrategias </a:t>
                </a:r>
                <a:r>
                  <a:rPr lang="es-ES" sz="2300" b="1" kern="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laterales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que se benefician si el precio de las acciones se mantiene estable (entorno de baja volatilidad).</a:t>
                </a:r>
              </a:p>
              <a:p>
                <a:pPr marL="0" indent="0" eaLnBrk="1" hangingPunct="1">
                  <a:buNone/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Notación: (</a:t>
                </a:r>
                <a:r>
                  <a:rPr lang="es-ES" sz="2300" kern="0" dirty="0" err="1">
                    <a:solidFill>
                      <a:srgbClr val="000000"/>
                    </a:solidFill>
                  </a:rPr>
                  <a:t>payoff</a:t>
                </a:r>
                <a:r>
                  <a:rPr lang="es-ES" sz="2300" kern="0">
                    <a:solidFill>
                      <a:srgbClr val="000000"/>
                    </a:solidFill>
                  </a:rPr>
                  <a:t> con S_0**)</a:t>
                </a: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2300" i="1" kern="0" dirty="0" err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sz="2300" i="1" kern="0" dirty="0" err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= </a:t>
                </a:r>
                <a:r>
                  <a:rPr lang="es-ES" sz="2300" i="1" kern="0" dirty="0" err="1">
                    <a:solidFill>
                      <a:srgbClr val="000000"/>
                    </a:solidFill>
                  </a:rPr>
                  <a:t>PnL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- por convención </a:t>
                </a:r>
                <a14:m>
                  <m:oMath xmlns:m="http://schemas.openxmlformats.org/officeDocument/2006/math">
                    <m:r>
                      <a:rPr lang="es-ES" sz="2300" b="1" i="1" kern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𝒑𝒂𝒚𝒐𝒇𝒇</m:t>
                    </m:r>
                    <m:r>
                      <a:rPr lang="es-ES" sz="2300" b="1" i="1" kern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s-ES" sz="2300" b="1" i="1" kern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s-ES" sz="2300" b="1" i="1" kern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s-ES" sz="2300" b="1" i="1" kern="0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s-E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con (</a:t>
                </a:r>
                <a14:m>
                  <m:oMath xmlns:m="http://schemas.openxmlformats.org/officeDocument/2006/math">
                    <m:r>
                      <a:rPr lang="es-E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 = Prima vendida - </a:t>
                </a:r>
                <a:r>
                  <a:rPr lang="es-ES" sz="2300" i="1" kern="0" dirty="0" err="1">
                    <a:solidFill>
                      <a:srgbClr val="000000"/>
                    </a:solidFill>
                  </a:rPr>
                  <a:t>Credito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,  </a:t>
                </a:r>
                <a14:m>
                  <m:oMath xmlns:m="http://schemas.openxmlformats.org/officeDocument/2006/math">
                    <m:r>
                      <a:rPr lang="es-ES" sz="23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 = prima pagada - </a:t>
                </a:r>
                <a:r>
                  <a:rPr lang="es-ES" sz="2300" i="1" kern="0" dirty="0">
                    <a:solidFill>
                      <a:srgbClr val="000000"/>
                    </a:solidFill>
                  </a:rPr>
                  <a:t>Debito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b="1" kern="0" dirty="0">
                    <a:solidFill>
                      <a:srgbClr val="000000"/>
                    </a:solidFill>
                  </a:rPr>
                  <a:t>(Sin descontar)</a:t>
                </a: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sz="230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300" b="0" i="1" kern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= </a:t>
                </a:r>
                <a:r>
                  <a:rPr lang="es-ES" sz="2300" i="1" kern="0" dirty="0">
                    <a:solidFill>
                      <a:srgbClr val="000000"/>
                    </a:solidFill>
                  </a:rPr>
                  <a:t>Break-</a:t>
                </a:r>
                <a:r>
                  <a:rPr lang="es-ES" sz="2300" i="1" kern="0" dirty="0" err="1">
                    <a:solidFill>
                      <a:srgbClr val="000000"/>
                    </a:solidFill>
                  </a:rPr>
                  <a:t>even</a:t>
                </a:r>
                <a:r>
                  <a:rPr lang="es-ES" sz="2300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– cuando empiezo a obtener ganancia</a:t>
                </a: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2300" i="1" kern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kern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2300" i="1" kern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s-ES" sz="2300" i="1" kern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kern="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s-ES" sz="2300" i="1" kern="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= Máxima ganancia (perdida), </a:t>
                </a:r>
                <a:r>
                  <a:rPr lang="es-ES" sz="2300" b="1" kern="0" dirty="0">
                    <a:solidFill>
                      <a:srgbClr val="000000"/>
                    </a:solidFill>
                  </a:rPr>
                  <a:t>ambas </a:t>
                </a:r>
                <a14:m>
                  <m:oMath xmlns:m="http://schemas.openxmlformats.org/officeDocument/2006/math">
                    <m:r>
                      <a:rPr lang="es-ES" sz="2300" b="1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ES" sz="2300" b="1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FontTx/>
                  <a:buNone/>
                  <a:defRPr/>
                </a:pPr>
                <a:endParaRPr lang="en-US" sz="2300" kern="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B2941E-01DE-4D9F-B35E-6341FDFE0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68413"/>
                <a:ext cx="8339138" cy="5040312"/>
              </a:xfrm>
              <a:prstGeom prst="rect">
                <a:avLst/>
              </a:prstGeom>
              <a:blipFill>
                <a:blip r:embed="rId2"/>
                <a:stretch>
                  <a:fillRect l="-1096" t="-846" r="-10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89685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Una opción con su activo subyacente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2230CEF0-EE6D-4805-AD4F-47E8A22D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91000"/>
            <a:ext cx="5943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150000"/>
            </a:pPr>
            <a:endParaRPr lang="en-US" altLang="en-US" sz="23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B2941E-01DE-4D9F-B35E-6341FDFE0E2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268413"/>
                <a:ext cx="8339138" cy="5040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eaLnBrk="1" hangingPunct="1"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r>
                  <a:rPr lang="es-ES" sz="2300" kern="0" dirty="0">
                    <a:solidFill>
                      <a:srgbClr val="000000"/>
                    </a:solidFill>
                  </a:rPr>
                  <a:t>Veremos las siguientes </a:t>
                </a:r>
                <a:r>
                  <a:rPr lang="es-ES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 estrategias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. Si notamos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300" b="0" i="0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 a un </a:t>
                </a:r>
                <a:r>
                  <a:rPr lang="es-ES" sz="2300" i="1" kern="0" dirty="0" err="1">
                    <a:solidFill>
                      <a:srgbClr val="000000"/>
                    </a:solidFill>
                    <a:latin typeface="+mj-lt"/>
                  </a:rPr>
                  <a:t>call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 a un </a:t>
                </a:r>
                <a:r>
                  <a:rPr lang="es-ES" sz="2300" i="1" kern="0" dirty="0" err="1">
                    <a:solidFill>
                      <a:srgbClr val="000000"/>
                    </a:solidFill>
                    <a:latin typeface="+mj-lt"/>
                  </a:rPr>
                  <a:t>put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sz="2300" kern="0" dirty="0">
                    <a:solidFill>
                      <a:srgbClr val="000000"/>
                    </a:solidFill>
                  </a:rPr>
                  <a:t> al activo subyacente</a:t>
                </a:r>
              </a:p>
              <a:p>
                <a:pPr marL="0" indent="0" eaLnBrk="1" hangingPunct="1">
                  <a:buNone/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E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cubierta (</a:t>
                </a:r>
                <a:r>
                  <a:rPr lang="es-ES" sz="2300" i="1" kern="0" dirty="0" err="1">
                    <a:solidFill>
                      <a:srgbClr val="000000"/>
                    </a:solidFill>
                  </a:rPr>
                  <a:t>coverded</a:t>
                </a:r>
                <a:r>
                  <a:rPr lang="es-ES" sz="2300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o </a:t>
                </a:r>
                <a:r>
                  <a:rPr lang="es-ES" sz="2300" i="1" kern="0" dirty="0" err="1">
                    <a:solidFill>
                      <a:srgbClr val="000000"/>
                    </a:solidFill>
                  </a:rPr>
                  <a:t>buy-write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): </a:t>
                </a:r>
                <a14:m>
                  <m:oMath xmlns:m="http://schemas.openxmlformats.org/officeDocument/2006/math">
                    <m:r>
                      <a:rPr lang="en-US" sz="2300" b="0" i="0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ES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protectora (</a:t>
                </a:r>
                <a:r>
                  <a:rPr lang="en-US" altLang="en-US" sz="2300" i="1" dirty="0">
                    <a:solidFill>
                      <a:srgbClr val="000000"/>
                    </a:solidFill>
                  </a:rPr>
                  <a:t>married call o synthetic put): </a:t>
                </a:r>
                <a14:m>
                  <m:oMath xmlns:m="http://schemas.openxmlformats.org/officeDocument/2006/math">
                    <m:r>
                      <a:rPr lang="en-US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ES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protectora (</a:t>
                </a:r>
                <a:r>
                  <a:rPr lang="en-US" altLang="en-US" sz="2300" i="1" dirty="0">
                    <a:solidFill>
                      <a:srgbClr val="000000"/>
                    </a:solidFill>
                  </a:rPr>
                  <a:t>married put o synthetic call): </a:t>
                </a:r>
                <a14:m>
                  <m:oMath xmlns:m="http://schemas.openxmlformats.org/officeDocument/2006/math">
                    <m:r>
                      <a:rPr lang="en-US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3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en-US" sz="2300" i="1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None/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r>
                  <a:rPr lang="es-ES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i="1" kern="0" dirty="0">
                    <a:solidFill>
                      <a:srgbClr val="000000"/>
                    </a:solidFill>
                  </a:rPr>
                  <a:t> cubierta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en-US" sz="2300" i="1" dirty="0">
                    <a:solidFill>
                      <a:srgbClr val="000000"/>
                    </a:solidFill>
                  </a:rPr>
                  <a:t>sell-write o </a:t>
                </a:r>
                <a:r>
                  <a:rPr lang="en-US" altLang="en-US" sz="2300" dirty="0">
                    <a:solidFill>
                      <a:srgbClr val="000000"/>
                    </a:solidFill>
                  </a:rPr>
                  <a:t>synthetic </a:t>
                </a:r>
                <a:r>
                  <a:rPr lang="en-US" altLang="en-US" sz="2300" i="1" dirty="0">
                    <a:solidFill>
                      <a:srgbClr val="000000"/>
                    </a:solidFill>
                  </a:rPr>
                  <a:t>call</a:t>
                </a:r>
                <a:r>
                  <a:rPr lang="es-ES" sz="2300" kern="0" dirty="0">
                    <a:solidFill>
                      <a:srgbClr val="000000"/>
                    </a:solidFill>
                  </a:rPr>
                  <a:t>): </a:t>
                </a:r>
                <a14:m>
                  <m:oMath xmlns:m="http://schemas.openxmlformats.org/officeDocument/2006/math"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300" b="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eaLnBrk="1" hangingPunct="1">
                  <a:defRPr/>
                </a:pPr>
                <a:endParaRPr lang="es-ES" sz="2300" kern="0" dirty="0">
                  <a:solidFill>
                    <a:srgbClr val="000000"/>
                  </a:solidFill>
                </a:endParaRPr>
              </a:p>
              <a:p>
                <a:pPr marL="0" indent="0" eaLnBrk="1" hangingPunct="1">
                  <a:buFontTx/>
                  <a:buNone/>
                  <a:defRPr/>
                </a:pPr>
                <a:endParaRPr lang="en-US" sz="2300" kern="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B2941E-01DE-4D9F-B35E-6341FDFE0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68413"/>
                <a:ext cx="8339138" cy="5040312"/>
              </a:xfrm>
              <a:prstGeom prst="rect">
                <a:avLst/>
              </a:prstGeom>
              <a:blipFill>
                <a:blip r:embed="rId2"/>
                <a:stretch>
                  <a:fillRect l="-10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06959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Covered Call </a:t>
            </a:r>
            <a:r>
              <a:rPr lang="en-US" altLang="en-US" sz="3200" dirty="0">
                <a:solidFill>
                  <a:srgbClr val="000000"/>
                </a:solidFill>
              </a:rPr>
              <a:t>– </a:t>
            </a:r>
            <a:r>
              <a:rPr lang="en-US" altLang="en-US" sz="3200" i="1" dirty="0">
                <a:solidFill>
                  <a:srgbClr val="000000"/>
                </a:solidFill>
              </a:rPr>
              <a:t>Call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</a:rPr>
              <a:t>Cubierta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0481" y="1268760"/>
            <a:ext cx="8153967" cy="4968552"/>
          </a:xfrm>
        </p:spPr>
        <p:txBody>
          <a:bodyPr/>
          <a:lstStyle/>
          <a:p>
            <a:pPr marL="0" indent="0" eaLnBrk="1" hangingPunct="1">
              <a:buSzPct val="150000"/>
              <a:buNone/>
              <a:defRPr/>
            </a:pPr>
            <a:r>
              <a:rPr lang="es-AR" sz="2300" dirty="0">
                <a:solidFill>
                  <a:srgbClr val="000000"/>
                </a:solidFill>
              </a:rPr>
              <a:t>La estrategia consiste en comprar el activo y vender un </a:t>
            </a:r>
            <a:r>
              <a:rPr lang="es-AR" sz="2300" i="1" dirty="0" err="1">
                <a:solidFill>
                  <a:srgbClr val="000000"/>
                </a:solidFill>
              </a:rPr>
              <a:t>call</a:t>
            </a:r>
            <a:r>
              <a:rPr lang="es-AR" sz="2300" dirty="0">
                <a:solidFill>
                  <a:srgbClr val="000000"/>
                </a:solidFill>
              </a:rPr>
              <a:t> sobre el mismo. La posición </a:t>
            </a:r>
            <a:r>
              <a:rPr lang="es-AR" sz="2300" i="1" dirty="0" err="1">
                <a:solidFill>
                  <a:srgbClr val="000000"/>
                </a:solidFill>
              </a:rPr>
              <a:t>long</a:t>
            </a:r>
            <a:r>
              <a:rPr lang="es-AR" sz="2300" i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en el activo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cubre</a:t>
            </a:r>
            <a:r>
              <a:rPr lang="es-AR" sz="2300" b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al inversor en el caso de una suba del activo, que haría perder mucho valor al </a:t>
            </a:r>
            <a:r>
              <a:rPr lang="es-AR" sz="2300" i="1" dirty="0" err="1">
                <a:solidFill>
                  <a:srgbClr val="000000"/>
                </a:solidFill>
              </a:rPr>
              <a:t>call</a:t>
            </a:r>
            <a:r>
              <a:rPr lang="es-AR" sz="2300" dirty="0">
                <a:solidFill>
                  <a:srgbClr val="000000"/>
                </a:solidFill>
              </a:rPr>
              <a:t> vendido. Se dice </a:t>
            </a:r>
            <a:r>
              <a:rPr lang="es-AR" sz="23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escribir una </a:t>
            </a:r>
            <a:r>
              <a:rPr lang="es-AR" sz="23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call</a:t>
            </a:r>
            <a:r>
              <a:rPr lang="es-AR" sz="23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cubierta</a:t>
            </a:r>
            <a:r>
              <a:rPr lang="es-AR" sz="2300" i="1" dirty="0">
                <a:solidFill>
                  <a:srgbClr val="000000"/>
                </a:solidFill>
              </a:rPr>
              <a:t>. </a:t>
            </a:r>
            <a:r>
              <a:rPr lang="es-AR" sz="2300" dirty="0">
                <a:solidFill>
                  <a:srgbClr val="000000"/>
                </a:solidFill>
              </a:rPr>
              <a:t>Se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recibe una prima</a:t>
            </a:r>
          </a:p>
          <a:p>
            <a:pPr marL="0" indent="0" eaLnBrk="1" hangingPunct="1">
              <a:buSzPct val="150000"/>
              <a:buNone/>
              <a:defRPr/>
            </a:pPr>
            <a:r>
              <a:rPr lang="es-ES" sz="2300" i="1" dirty="0">
                <a:solidFill>
                  <a:srgbClr val="000000"/>
                </a:solidFill>
              </a:rPr>
              <a:t> </a:t>
            </a:r>
          </a:p>
          <a:p>
            <a:pPr>
              <a:buClr>
                <a:schemeClr val="tx1"/>
              </a:buClr>
              <a:buSzPct val="150000"/>
            </a:pPr>
            <a:endParaRPr lang="en-US" altLang="en-US" sz="2300" i="1" dirty="0">
              <a:solidFill>
                <a:srgbClr val="000000"/>
              </a:solidFill>
            </a:endParaRPr>
          </a:p>
          <a:p>
            <a:pPr>
              <a:buClr>
                <a:schemeClr val="tx1"/>
              </a:buClr>
              <a:buSzPct val="150000"/>
            </a:pPr>
            <a:endParaRPr lang="en-US" altLang="en-US" sz="2300" i="1" dirty="0">
              <a:solidFill>
                <a:srgbClr val="000000"/>
              </a:solidFill>
            </a:endParaRPr>
          </a:p>
          <a:p>
            <a:pPr>
              <a:buClr>
                <a:schemeClr val="tx1"/>
              </a:buClr>
              <a:buSzPct val="150000"/>
            </a:pPr>
            <a:endParaRPr lang="en-US" altLang="en-US" sz="2300" i="1" dirty="0">
              <a:solidFill>
                <a:srgbClr val="00000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F52F37-EA37-4496-83F3-7F2F7BEC6CC1}"/>
              </a:ext>
            </a:extLst>
          </p:cNvPr>
          <p:cNvGrpSpPr/>
          <p:nvPr/>
        </p:nvGrpSpPr>
        <p:grpSpPr>
          <a:xfrm>
            <a:off x="5173336" y="3180045"/>
            <a:ext cx="3431112" cy="3335427"/>
            <a:chOff x="3229120" y="3138807"/>
            <a:chExt cx="3431112" cy="333542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0C30C6-4208-40F6-81FC-C5CDEFFFE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9120" y="3138807"/>
              <a:ext cx="3431112" cy="329534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9D3E4CD-42D7-473E-BAC0-B79176A05606}"/>
                </a:ext>
              </a:extLst>
            </p:cNvPr>
            <p:cNvSpPr txBox="1"/>
            <p:nvPr/>
          </p:nvSpPr>
          <p:spPr>
            <a:xfrm>
              <a:off x="3949200" y="6197235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12.1 (a)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E5D2F9-0C7D-42EF-AD4E-C7D479B84244}"/>
                  </a:ext>
                </a:extLst>
              </p:cNvPr>
              <p:cNvSpPr txBox="1"/>
              <p:nvPr/>
            </p:nvSpPr>
            <p:spPr>
              <a:xfrm>
                <a:off x="539552" y="4183878"/>
                <a:ext cx="23229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𝑜𝑣𝑒𝑟𝑒𝑑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18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E5D2F9-0C7D-42EF-AD4E-C7D479B84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183878"/>
                <a:ext cx="2322944" cy="646331"/>
              </a:xfrm>
              <a:prstGeom prst="rect">
                <a:avLst/>
              </a:prstGeom>
              <a:blipFill>
                <a:blip r:embed="rId3"/>
                <a:stretch>
                  <a:fillRect l="-2362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5B2C7220-7743-4636-9CDB-BBDCF7CBE2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5536" y="5097537"/>
              <a:ext cx="4818191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27368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3800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14436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3837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5B2C7220-7743-4636-9CDB-BBDCF7CBE2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2387642"/>
                  </p:ext>
                </p:extLst>
              </p:nvPr>
            </p:nvGraphicFramePr>
            <p:xfrm>
              <a:off x="395536" y="5097537"/>
              <a:ext cx="4818191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27368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3800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14436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3837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812644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545" t="-1770" r="-221364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9253" t="-1770" r="-73310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8235" t="-1770" r="-980" b="-796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545" t="-130682" r="-22136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9253" t="-130682" r="-73310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8235" t="-130682" r="-980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9C2EA8-A739-4943-AD1B-FDBC9C3F2814}"/>
                  </a:ext>
                </a:extLst>
              </p:cNvPr>
              <p:cNvSpPr txBox="1"/>
              <p:nvPr/>
            </p:nvSpPr>
            <p:spPr>
              <a:xfrm>
                <a:off x="370906" y="2791599"/>
                <a:ext cx="608593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9C2EA8-A739-4943-AD1B-FDBC9C3F2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06" y="2791599"/>
                <a:ext cx="6085932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19367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Protective Call </a:t>
            </a:r>
            <a:r>
              <a:rPr lang="en-US" altLang="en-US" sz="3200" dirty="0">
                <a:solidFill>
                  <a:srgbClr val="000000"/>
                </a:solidFill>
              </a:rPr>
              <a:t>– </a:t>
            </a:r>
            <a:r>
              <a:rPr lang="en-US" altLang="en-US" sz="3200" i="1" dirty="0">
                <a:solidFill>
                  <a:srgbClr val="000000"/>
                </a:solidFill>
              </a:rPr>
              <a:t>Call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</a:rPr>
              <a:t>Protectora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504" y="1346312"/>
            <a:ext cx="8153967" cy="4968552"/>
          </a:xfrm>
        </p:spPr>
        <p:txBody>
          <a:bodyPr/>
          <a:lstStyle/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AR" sz="2300" dirty="0">
                <a:solidFill>
                  <a:srgbClr val="000000"/>
                </a:solidFill>
              </a:rPr>
              <a:t>La estrategia consiste en comprar un </a:t>
            </a:r>
            <a:r>
              <a:rPr lang="es-AR" sz="2300" i="1" dirty="0" err="1">
                <a:solidFill>
                  <a:srgbClr val="000000"/>
                </a:solidFill>
              </a:rPr>
              <a:t>call</a:t>
            </a:r>
            <a:r>
              <a:rPr lang="es-AR" sz="2300" dirty="0">
                <a:solidFill>
                  <a:srgbClr val="000000"/>
                </a:solidFill>
              </a:rPr>
              <a:t> y vender el activo subyacente. La posición </a:t>
            </a:r>
            <a:r>
              <a:rPr lang="es-AR" sz="2300" i="1" dirty="0" err="1">
                <a:solidFill>
                  <a:srgbClr val="000000"/>
                </a:solidFill>
              </a:rPr>
              <a:t>long</a:t>
            </a:r>
            <a:r>
              <a:rPr lang="es-AR" sz="2300" i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en el </a:t>
            </a:r>
            <a:r>
              <a:rPr lang="es-AR" sz="2300" i="1" dirty="0" err="1">
                <a:solidFill>
                  <a:srgbClr val="000000"/>
                </a:solidFill>
              </a:rPr>
              <a:t>call</a:t>
            </a:r>
            <a:r>
              <a:rPr lang="es-AR" sz="2300" dirty="0">
                <a:solidFill>
                  <a:srgbClr val="000000"/>
                </a:solidFill>
              </a:rPr>
              <a:t>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protege</a:t>
            </a:r>
            <a:r>
              <a:rPr lang="es-AR" sz="2300" b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al inversor en el caso de una suba del activo. Además mantiene la posibilidad de ganancia ante la caída del mismo. Se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paga una prima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s-AR" sz="2300" dirty="0">
              <a:solidFill>
                <a:srgbClr val="000000"/>
              </a:solidFill>
            </a:endParaRPr>
          </a:p>
          <a:p>
            <a:pPr>
              <a:buClr>
                <a:schemeClr val="tx1"/>
              </a:buClr>
              <a:buSzPct val="150000"/>
            </a:pPr>
            <a:endParaRPr lang="en-US" altLang="en-US" sz="2300" i="1" dirty="0">
              <a:solidFill>
                <a:srgbClr val="000000"/>
              </a:solidFill>
            </a:endParaRPr>
          </a:p>
          <a:p>
            <a:pPr>
              <a:buClr>
                <a:schemeClr val="tx1"/>
              </a:buClr>
              <a:buSzPct val="150000"/>
            </a:pPr>
            <a:endParaRPr lang="en-US" altLang="en-US" sz="2300" i="1" dirty="0">
              <a:solidFill>
                <a:srgbClr val="000000"/>
              </a:solidFill>
            </a:endParaRPr>
          </a:p>
          <a:p>
            <a:pPr>
              <a:buClr>
                <a:schemeClr val="tx1"/>
              </a:buClr>
              <a:buSzPct val="150000"/>
            </a:pPr>
            <a:endParaRPr lang="en-US" altLang="en-US" sz="2300" i="1" dirty="0">
              <a:solidFill>
                <a:srgbClr val="000000"/>
              </a:solidFill>
            </a:endParaRPr>
          </a:p>
          <a:p>
            <a:pPr>
              <a:buClr>
                <a:schemeClr val="tx1"/>
              </a:buClr>
              <a:buSzPct val="150000"/>
            </a:pPr>
            <a:endParaRPr lang="en-US" altLang="en-US" sz="2300" i="1" dirty="0">
              <a:solidFill>
                <a:srgbClr val="0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9EC107-4071-4976-B063-F9C9AFA9D9D5}"/>
              </a:ext>
            </a:extLst>
          </p:cNvPr>
          <p:cNvGrpSpPr/>
          <p:nvPr/>
        </p:nvGrpSpPr>
        <p:grpSpPr>
          <a:xfrm>
            <a:off x="5274109" y="3151487"/>
            <a:ext cx="3410893" cy="3163377"/>
            <a:chOff x="2761066" y="3310857"/>
            <a:chExt cx="3410893" cy="316337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6BD8A94-0D09-4E78-812A-D47BFE87C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1066" y="3310857"/>
              <a:ext cx="3410893" cy="3163377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23B0895-0DF2-4510-A867-C7800A044A96}"/>
                </a:ext>
              </a:extLst>
            </p:cNvPr>
            <p:cNvSpPr txBox="1"/>
            <p:nvPr/>
          </p:nvSpPr>
          <p:spPr>
            <a:xfrm>
              <a:off x="3419305" y="617636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12.1 (b)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8EEAD5-58F2-40F8-AC6A-1E1757ED2DE6}"/>
                  </a:ext>
                </a:extLst>
              </p:cNvPr>
              <p:cNvSpPr txBox="1"/>
              <p:nvPr/>
            </p:nvSpPr>
            <p:spPr>
              <a:xfrm>
                <a:off x="458998" y="4322652"/>
                <a:ext cx="25649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𝑃𝑟𝑜𝑡𝑒𝑐𝑡𝑖𝑣𝑒</m:t>
                      </m:r>
                      <m:r>
                        <m:rPr>
                          <m:sty m:val="p"/>
                        </m:rP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8EEAD5-58F2-40F8-AC6A-1E1757ED2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98" y="4322652"/>
                <a:ext cx="2564998" cy="646331"/>
              </a:xfrm>
              <a:prstGeom prst="rect">
                <a:avLst/>
              </a:prstGeom>
              <a:blipFill>
                <a:blip r:embed="rId3"/>
                <a:stretch>
                  <a:fillRect l="-1900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4D64DEA6-A655-4289-B3CA-B77467EA0C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5536" y="5097537"/>
              <a:ext cx="4818191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27368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3800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14436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3837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4D64DEA6-A655-4289-B3CA-B77467EA0C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469213"/>
                  </p:ext>
                </p:extLst>
              </p:nvPr>
            </p:nvGraphicFramePr>
            <p:xfrm>
              <a:off x="395536" y="5097537"/>
              <a:ext cx="4818191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27368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3800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14436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3837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812644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545" t="-1770" r="-221364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9253" t="-1770" r="-73310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8235" t="-1770" r="-980" b="-796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545" t="-130682" r="-22136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9253" t="-130682" r="-73310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8235" t="-130682" r="-980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40D992-A396-4E34-A9D6-3170FF69616C}"/>
                  </a:ext>
                </a:extLst>
              </p:cNvPr>
              <p:cNvSpPr txBox="1"/>
              <p:nvPr/>
            </p:nvSpPr>
            <p:spPr>
              <a:xfrm>
                <a:off x="347973" y="2841969"/>
                <a:ext cx="608593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000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40D992-A396-4E34-A9D6-3170FF696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73" y="2841969"/>
                <a:ext cx="6085932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99579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Protective Put </a:t>
            </a:r>
            <a:r>
              <a:rPr lang="en-US" altLang="en-US" sz="3200" dirty="0">
                <a:solidFill>
                  <a:srgbClr val="000000"/>
                </a:solidFill>
              </a:rPr>
              <a:t>– </a:t>
            </a:r>
            <a:r>
              <a:rPr lang="en-US" altLang="en-US" sz="3200" i="1" dirty="0">
                <a:solidFill>
                  <a:srgbClr val="000000"/>
                </a:solidFill>
              </a:rPr>
              <a:t>Put </a:t>
            </a:r>
            <a:r>
              <a:rPr lang="en-US" altLang="en-US" sz="3200" dirty="0" err="1">
                <a:solidFill>
                  <a:srgbClr val="000000"/>
                </a:solidFill>
              </a:rPr>
              <a:t>Protectora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268760"/>
            <a:ext cx="8153967" cy="4968552"/>
          </a:xfrm>
        </p:spPr>
        <p:txBody>
          <a:bodyPr/>
          <a:lstStyle/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AR" sz="2300" dirty="0">
                <a:solidFill>
                  <a:srgbClr val="000000"/>
                </a:solidFill>
              </a:rPr>
              <a:t>La estrategia consiste en comprar el activo y comprar un </a:t>
            </a:r>
            <a:r>
              <a:rPr lang="es-AR" sz="2300" i="1" dirty="0" err="1">
                <a:solidFill>
                  <a:srgbClr val="000000"/>
                </a:solidFill>
              </a:rPr>
              <a:t>put</a:t>
            </a:r>
            <a:r>
              <a:rPr lang="es-AR" sz="2300" dirty="0">
                <a:solidFill>
                  <a:srgbClr val="000000"/>
                </a:solidFill>
              </a:rPr>
              <a:t> sobre el mismo. La posición </a:t>
            </a:r>
            <a:r>
              <a:rPr lang="es-AR" sz="2300" i="1" dirty="0" err="1">
                <a:solidFill>
                  <a:srgbClr val="000000"/>
                </a:solidFill>
              </a:rPr>
              <a:t>long</a:t>
            </a:r>
            <a:r>
              <a:rPr lang="es-AR" sz="2300" i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en el </a:t>
            </a:r>
            <a:r>
              <a:rPr lang="es-AR" sz="2300" i="1" dirty="0" err="1">
                <a:solidFill>
                  <a:srgbClr val="000000"/>
                </a:solidFill>
              </a:rPr>
              <a:t>put</a:t>
            </a:r>
            <a:r>
              <a:rPr lang="es-AR" sz="2300" dirty="0">
                <a:solidFill>
                  <a:srgbClr val="000000"/>
                </a:solidFill>
              </a:rPr>
              <a:t>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protege</a:t>
            </a:r>
            <a:r>
              <a:rPr lang="es-AR" sz="2300" b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al inversor en el caso de una baja del activo, y permite beneficios ‘ilimitados’ si el activo sube</a:t>
            </a:r>
            <a:r>
              <a:rPr lang="es-AR" sz="2300" i="1" dirty="0">
                <a:solidFill>
                  <a:srgbClr val="000000"/>
                </a:solidFill>
              </a:rPr>
              <a:t>. </a:t>
            </a:r>
            <a:r>
              <a:rPr lang="es-AR" sz="2300" dirty="0">
                <a:solidFill>
                  <a:srgbClr val="000000"/>
                </a:solidFill>
              </a:rPr>
              <a:t>Se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paga una prima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52652D-EDDB-46C4-B867-21EA55160C0A}"/>
                  </a:ext>
                </a:extLst>
              </p:cNvPr>
              <p:cNvSpPr txBox="1"/>
              <p:nvPr/>
            </p:nvSpPr>
            <p:spPr>
              <a:xfrm>
                <a:off x="469037" y="4226024"/>
                <a:ext cx="25460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𝑃𝑟𝑜𝑡𝑒𝑐𝑡𝑖𝑣𝑒𝑃𝑢𝑡</m:t>
                      </m:r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52652D-EDDB-46C4-B867-21EA55160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37" y="4226024"/>
                <a:ext cx="2546018" cy="646331"/>
              </a:xfrm>
              <a:prstGeom prst="rect">
                <a:avLst/>
              </a:prstGeom>
              <a:blipFill>
                <a:blip r:embed="rId2"/>
                <a:stretch>
                  <a:fillRect l="-2153" t="-5660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386E0F51-791B-47D4-BDB9-204111C67577}"/>
              </a:ext>
            </a:extLst>
          </p:cNvPr>
          <p:cNvGrpSpPr/>
          <p:nvPr/>
        </p:nvGrpSpPr>
        <p:grpSpPr>
          <a:xfrm>
            <a:off x="5295763" y="3140968"/>
            <a:ext cx="3452701" cy="3264371"/>
            <a:chOff x="3059832" y="3140968"/>
            <a:chExt cx="3452701" cy="326437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020AE8B-46F8-428B-90E7-815D89BC0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9832" y="3140968"/>
              <a:ext cx="3452701" cy="326437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B1EAF7-8F1A-4DEE-A0F3-E93CBEADE939}"/>
                </a:ext>
              </a:extLst>
            </p:cNvPr>
            <p:cNvSpPr txBox="1"/>
            <p:nvPr/>
          </p:nvSpPr>
          <p:spPr>
            <a:xfrm>
              <a:off x="3675277" y="6044326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12.1 (c)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E1F87C2D-29F5-48F1-AD3C-13FEF735BAB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0284" y="4962143"/>
              <a:ext cx="486547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45035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42456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98122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79866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E1F87C2D-29F5-48F1-AD3C-13FEF735BA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4685341"/>
                  </p:ext>
                </p:extLst>
              </p:nvPr>
            </p:nvGraphicFramePr>
            <p:xfrm>
              <a:off x="430284" y="4962143"/>
              <a:ext cx="486547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45035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42456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98122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79866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790000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4118" t="-1770" r="-248529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9661" t="-1770" r="-71864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0476" t="-1770" r="-952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4118" t="-129213" r="-248529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9661" t="-129213" r="-71864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0476" t="-129213" r="-952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8F3A91-4B3A-4C98-AF1E-53731A837E14}"/>
                  </a:ext>
                </a:extLst>
              </p:cNvPr>
              <p:cNvSpPr txBox="1"/>
              <p:nvPr/>
            </p:nvSpPr>
            <p:spPr>
              <a:xfrm>
                <a:off x="430284" y="2811775"/>
                <a:ext cx="608593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000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𝑖𝑙𝑖𝑚𝑖𝑡𝑎𝑑𝑜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8F3A91-4B3A-4C98-AF1E-53731A837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84" y="2811775"/>
                <a:ext cx="6085932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4777978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Covered Put</a:t>
            </a:r>
            <a:r>
              <a:rPr lang="en-US" altLang="en-US" sz="3200" dirty="0">
                <a:solidFill>
                  <a:srgbClr val="000000"/>
                </a:solidFill>
              </a:rPr>
              <a:t> – </a:t>
            </a:r>
            <a:r>
              <a:rPr lang="en-US" altLang="en-US" sz="3200" i="1" dirty="0">
                <a:solidFill>
                  <a:srgbClr val="000000"/>
                </a:solidFill>
              </a:rPr>
              <a:t>Put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</a:rPr>
              <a:t>Cubierta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666" y="1268760"/>
            <a:ext cx="8153967" cy="4968552"/>
          </a:xfrm>
        </p:spPr>
        <p:txBody>
          <a:bodyPr/>
          <a:lstStyle/>
          <a:p>
            <a:pPr marL="0" indent="0" eaLnBrk="1" hangingPunct="1">
              <a:buSzPct val="150000"/>
              <a:buNone/>
              <a:defRPr/>
            </a:pPr>
            <a:r>
              <a:rPr lang="es-AR" sz="2300" dirty="0">
                <a:solidFill>
                  <a:srgbClr val="000000"/>
                </a:solidFill>
              </a:rPr>
              <a:t>La estrategia consiste en vender el activo y a su vez vender un </a:t>
            </a:r>
            <a:r>
              <a:rPr lang="es-AR" sz="2300" i="1" dirty="0" err="1">
                <a:solidFill>
                  <a:srgbClr val="000000"/>
                </a:solidFill>
              </a:rPr>
              <a:t>put</a:t>
            </a:r>
            <a:r>
              <a:rPr lang="es-AR" sz="2300" dirty="0">
                <a:solidFill>
                  <a:srgbClr val="000000"/>
                </a:solidFill>
              </a:rPr>
              <a:t> sobre el mismo. La posición </a:t>
            </a:r>
            <a:r>
              <a:rPr lang="es-AR" sz="2300" i="1" dirty="0">
                <a:solidFill>
                  <a:srgbClr val="000000"/>
                </a:solidFill>
              </a:rPr>
              <a:t>short </a:t>
            </a:r>
            <a:r>
              <a:rPr lang="es-AR" sz="2300" dirty="0">
                <a:solidFill>
                  <a:srgbClr val="000000"/>
                </a:solidFill>
              </a:rPr>
              <a:t>en el activo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cubre</a:t>
            </a:r>
            <a:r>
              <a:rPr lang="es-AR" sz="2300" b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al inversor en el caso de una baja del activo, lo que haría subir mucho el valor del </a:t>
            </a:r>
            <a:r>
              <a:rPr lang="es-AR" sz="2300" i="1" dirty="0" err="1">
                <a:solidFill>
                  <a:srgbClr val="000000"/>
                </a:solidFill>
              </a:rPr>
              <a:t>put</a:t>
            </a:r>
            <a:r>
              <a:rPr lang="es-AR" sz="2300" dirty="0">
                <a:solidFill>
                  <a:srgbClr val="000000"/>
                </a:solidFill>
              </a:rPr>
              <a:t> vendido</a:t>
            </a:r>
            <a:r>
              <a:rPr lang="es-AR" sz="2300" i="1" dirty="0">
                <a:solidFill>
                  <a:srgbClr val="000000"/>
                </a:solidFill>
              </a:rPr>
              <a:t>. </a:t>
            </a:r>
            <a:r>
              <a:rPr lang="es-AR" sz="2300" dirty="0">
                <a:solidFill>
                  <a:srgbClr val="000000"/>
                </a:solidFill>
              </a:rPr>
              <a:t>Se </a:t>
            </a:r>
            <a:r>
              <a:rPr lang="es-AR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recibe una prima</a:t>
            </a:r>
          </a:p>
          <a:p>
            <a:pPr marL="0" indent="0">
              <a:buClr>
                <a:schemeClr val="tx1"/>
              </a:buClr>
              <a:buSzPct val="150000"/>
              <a:buNone/>
            </a:pPr>
            <a:endParaRPr lang="en-US" altLang="en-US" sz="2300" i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/>
              <p:nvPr/>
            </p:nvSpPr>
            <p:spPr>
              <a:xfrm>
                <a:off x="303666" y="4252386"/>
                <a:ext cx="24851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𝐶𝑜𝑣𝑒𝑟𝑒𝑑𝑃𝑢𝑡</m:t>
                      </m:r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4252386"/>
                <a:ext cx="2485104" cy="646331"/>
              </a:xfrm>
              <a:prstGeom prst="rect">
                <a:avLst/>
              </a:prstGeom>
              <a:blipFill>
                <a:blip r:embed="rId2"/>
                <a:stretch>
                  <a:fillRect l="-2211" t="-6604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3835538-0CB0-4EF9-B6BC-D95F5BB40B19}"/>
              </a:ext>
            </a:extLst>
          </p:cNvPr>
          <p:cNvGrpSpPr/>
          <p:nvPr/>
        </p:nvGrpSpPr>
        <p:grpSpPr>
          <a:xfrm>
            <a:off x="5010578" y="3153333"/>
            <a:ext cx="3600400" cy="3314962"/>
            <a:chOff x="2555776" y="3068960"/>
            <a:chExt cx="3600400" cy="331496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F81F180-3162-4182-B970-41F693066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5776" y="3068960"/>
              <a:ext cx="3600400" cy="33149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C5253C-CA35-4E64-9EDD-8CAE85800A42}"/>
                </a:ext>
              </a:extLst>
            </p:cNvPr>
            <p:cNvSpPr txBox="1"/>
            <p:nvPr/>
          </p:nvSpPr>
          <p:spPr>
            <a:xfrm>
              <a:off x="3463774" y="6079749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12.1 (d)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9" y="5039597"/>
              <a:ext cx="486547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45035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42456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98122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79866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sz="1600" b="0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4646808"/>
                  </p:ext>
                </p:extLst>
              </p:nvPr>
            </p:nvGraphicFramePr>
            <p:xfrm>
              <a:off x="187289" y="5039597"/>
              <a:ext cx="486547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45035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42456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98122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79866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790000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4118" t="-1770" r="-248529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9661" t="-1770" r="-71864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0476" t="-1770" r="-952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4118" t="-130682" r="-248529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9661" t="-130682" r="-71864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0476" t="-130682" r="-952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ECA36E-1A2D-4B12-BC94-A7B5A0DE6865}"/>
                  </a:ext>
                </a:extLst>
              </p:cNvPr>
              <p:cNvSpPr txBox="1"/>
              <p:nvPr/>
            </p:nvSpPr>
            <p:spPr>
              <a:xfrm>
                <a:off x="203261" y="2747884"/>
                <a:ext cx="608593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00000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𝑖𝑙𝑖𝑚𝑖𝑡𝑎𝑑𝑜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8ECA36E-1A2D-4B12-BC94-A7B5A0DE6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61" y="2747884"/>
                <a:ext cx="6085932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44531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Estrategias equivalentes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2230CEF0-EE6D-4805-AD4F-47E8A22D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91000"/>
            <a:ext cx="5943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150000"/>
            </a:pPr>
            <a:endParaRPr lang="en-US" altLang="en-US" sz="23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B2941E-01DE-4D9F-B35E-6341FDFE0E2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268413"/>
                <a:ext cx="8339138" cy="5040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algn="l">
                  <a:buNone/>
                </a:pPr>
                <a:r>
                  <a:rPr lang="es-AR" sz="2300" kern="0" dirty="0">
                    <a:solidFill>
                      <a:srgbClr val="000000"/>
                    </a:solidFill>
                  </a:rPr>
                  <a:t>Notar que los gráficos de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PnL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de las 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 estrategias son equivalentes a los perfiles de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PnL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de una short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put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long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put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long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call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y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short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call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, respectivamente. </a:t>
                </a:r>
              </a:p>
              <a:p>
                <a:pPr marL="0" indent="0" algn="l">
                  <a:buNone/>
                </a:pPr>
                <a:r>
                  <a:rPr lang="es-AR" sz="2300" kern="0" dirty="0">
                    <a:solidFill>
                      <a:srgbClr val="000000"/>
                    </a:solidFill>
                  </a:rPr>
                  <a:t>Esto se explica por la 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paridad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Put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–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Call</a:t>
                </a:r>
                <a:r>
                  <a:rPr lang="es-AR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 dividendos 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(clase 7)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s-AR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sSup>
                        <m:sSupPr>
                          <m:ctrlPr>
                            <a:rPr lang="es-AR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sz="23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𝑟𝑇</m:t>
                          </m:r>
                        </m:sup>
                      </m:sSup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𝐷𝑖𝑣</m:t>
                      </m:r>
                      <m:r>
                        <a:rPr lang="es-AR" sz="23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AR" sz="2300" kern="0" dirty="0">
                  <a:solidFill>
                    <a:srgbClr val="000000"/>
                  </a:solidFill>
                </a:endParaRPr>
              </a:p>
              <a:p>
                <a:pPr marL="0" indent="0" algn="l">
                  <a:buNone/>
                </a:pPr>
                <a:r>
                  <a:rPr lang="es-AR" sz="2300" kern="0" dirty="0">
                    <a:solidFill>
                      <a:srgbClr val="000000"/>
                    </a:solidFill>
                  </a:rPr>
                  <a:t>en donde </a:t>
                </a:r>
                <a14:m>
                  <m:oMath xmlns:m="http://schemas.openxmlformats.org/officeDocument/2006/math">
                    <m:r>
                      <a:rPr lang="es-AR" sz="23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𝐷𝑖</m:t>
                    </m:r>
                    <m:r>
                      <a:rPr lang="es-AR" sz="2300" i="1" kern="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s-AR" sz="2300" kern="0" dirty="0">
                    <a:solidFill>
                      <a:srgbClr val="000000"/>
                    </a:solidFill>
                  </a:rPr>
                  <a:t> era el valor presente de los dividendos anticipados durante la vida de la opción. </a:t>
                </a:r>
              </a:p>
              <a:p>
                <a:pPr marL="0" indent="0" algn="l">
                  <a:buNone/>
                </a:pPr>
                <a:endParaRPr lang="es-AR" sz="2300" kern="0" dirty="0">
                  <a:solidFill>
                    <a:srgbClr val="000000"/>
                  </a:solidFill>
                </a:endParaRPr>
              </a:p>
              <a:p>
                <a:pPr marL="0" indent="0" algn="l">
                  <a:buNone/>
                </a:pPr>
                <a:r>
                  <a:rPr lang="es-AR" sz="2300" kern="0" dirty="0">
                    <a:solidFill>
                      <a:srgbClr val="000000"/>
                    </a:solidFill>
                  </a:rPr>
                  <a:t>La ecuación anterior muestra que una estrategia que consiste en una posición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long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en una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put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europea combinada con una posición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long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en el activo 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subyacente es 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equivalente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 a una posición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long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en </a:t>
                </a:r>
                <a:r>
                  <a:rPr lang="en-US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una </a:t>
                </a:r>
                <a:r>
                  <a:rPr lang="en-US" sz="2300" b="1" i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call</a:t>
                </a:r>
                <a:r>
                  <a:rPr lang="en-US" sz="230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sz="2300" kern="0" dirty="0" err="1">
                    <a:solidFill>
                      <a:srgbClr val="000000"/>
                    </a:solidFill>
                  </a:rPr>
                  <a:t>europea</a:t>
                </a:r>
                <a:r>
                  <a:rPr lang="en-US" sz="2300" kern="0" dirty="0">
                    <a:solidFill>
                      <a:srgbClr val="000000"/>
                    </a:solidFill>
                  </a:rPr>
                  <a:t> mas un </a:t>
                </a:r>
                <a:r>
                  <a:rPr lang="en-US" sz="2300" kern="0" dirty="0" err="1">
                    <a:solidFill>
                      <a:srgbClr val="000000"/>
                    </a:solidFill>
                  </a:rPr>
                  <a:t>determianado</a:t>
                </a:r>
                <a:r>
                  <a:rPr lang="en-US" sz="2300" kern="0" dirty="0">
                    <a:solidFill>
                      <a:srgbClr val="000000"/>
                    </a:solidFill>
                  </a:rPr>
                  <a:t> </a:t>
                </a:r>
                <a:r>
                  <a:rPr lang="en-US" sz="2300" i="1" kern="0" dirty="0">
                    <a:solidFill>
                      <a:srgbClr val="000000"/>
                    </a:solidFill>
                  </a:rPr>
                  <a:t>cash [</a:t>
                </a:r>
                <a14:m>
                  <m:oMath xmlns:m="http://schemas.openxmlformats.org/officeDocument/2006/math">
                    <m:r>
                      <a:rPr lang="es-AR" sz="23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𝑟𝑇</m:t>
                        </m:r>
                      </m:sup>
                    </m:sSup>
                    <m:r>
                      <a:rPr lang="es-AR" sz="23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3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𝐷𝑖𝑣</m:t>
                    </m:r>
                  </m:oMath>
                </a14:m>
                <a:r>
                  <a:rPr lang="en-US" sz="2300" kern="0" dirty="0">
                    <a:solidFill>
                      <a:srgbClr val="000000"/>
                    </a:solidFill>
                  </a:rPr>
                  <a:t>]. </a:t>
                </a:r>
              </a:p>
              <a:p>
                <a:pPr marL="0" indent="0" algn="l">
                  <a:buNone/>
                </a:pPr>
                <a:r>
                  <a:rPr lang="es-AR" sz="2300" kern="0" dirty="0">
                    <a:solidFill>
                      <a:srgbClr val="000000"/>
                    </a:solidFill>
                  </a:rPr>
                  <a:t>Explica por que 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el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PnL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de la </a:t>
                </a:r>
                <a:r>
                  <a:rPr lang="es-AR" sz="2300" b="1" i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put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protectora es igual al de un </a:t>
                </a:r>
                <a:r>
                  <a:rPr lang="es-AR" sz="2300" b="1" kern="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call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</a:t>
                </a:r>
                <a:endParaRPr lang="es-AR" sz="2300" kern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B2941E-01DE-4D9F-B35E-6341FDFE0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68413"/>
                <a:ext cx="8339138" cy="5040312"/>
              </a:xfrm>
              <a:prstGeom prst="rect">
                <a:avLst/>
              </a:prstGeom>
              <a:blipFill>
                <a:blip r:embed="rId2"/>
                <a:stretch>
                  <a:fillRect l="-1023" t="-846" r="-1827" b="-18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01423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Estrategias de tipo </a:t>
            </a:r>
            <a:r>
              <a:rPr lang="es-AR" altLang="en-US" sz="3200" i="1" dirty="0">
                <a:solidFill>
                  <a:srgbClr val="000000"/>
                </a:solidFill>
              </a:rPr>
              <a:t>spread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2230CEF0-EE6D-4805-AD4F-47E8A22D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91000"/>
            <a:ext cx="5943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150000"/>
            </a:pPr>
            <a:endParaRPr lang="en-US" altLang="en-US" sz="23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2941E-01DE-4D9F-B35E-6341FDFE0E2E}"/>
              </a:ext>
            </a:extLst>
          </p:cNvPr>
          <p:cNvSpPr txBox="1">
            <a:spLocks/>
          </p:cNvSpPr>
          <p:nvPr/>
        </p:nvSpPr>
        <p:spPr bwMode="auto">
          <a:xfrm>
            <a:off x="457200" y="1268413"/>
            <a:ext cx="8339138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s-AR" sz="2300" kern="0" dirty="0">
                <a:solidFill>
                  <a:srgbClr val="000000"/>
                </a:solidFill>
              </a:rPr>
              <a:t>Las estrategias de tipo </a:t>
            </a:r>
            <a:r>
              <a:rPr lang="es-AR" sz="2300" b="1" i="1" kern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spread </a:t>
            </a:r>
            <a:r>
              <a:rPr lang="es-AR" sz="2300" b="1" kern="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involucran tomar posición en dos o mas opciones del mismo tipo </a:t>
            </a:r>
            <a:r>
              <a:rPr lang="es-AR" sz="2300" kern="0" dirty="0">
                <a:solidFill>
                  <a:srgbClr val="000000"/>
                </a:solidFill>
              </a:rPr>
              <a:t>sobre un mismo activo subyacente. Veremos las siguientes:</a:t>
            </a:r>
          </a:p>
          <a:p>
            <a:pPr marL="0" indent="0" eaLnBrk="1" hangingPunct="1">
              <a:buNone/>
              <a:defRPr/>
            </a:pPr>
            <a:endParaRPr lang="es-AR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300" i="1" kern="0" dirty="0">
                <a:solidFill>
                  <a:srgbClr val="000000"/>
                </a:solidFill>
              </a:rPr>
              <a:t>Bull Spread </a:t>
            </a:r>
            <a:r>
              <a:rPr lang="en-US" sz="2300" kern="0" dirty="0">
                <a:solidFill>
                  <a:srgbClr val="000000"/>
                </a:solidFill>
              </a:rPr>
              <a:t>(</a:t>
            </a:r>
            <a:r>
              <a:rPr lang="en-US" sz="2300" kern="0" dirty="0" err="1">
                <a:solidFill>
                  <a:srgbClr val="000000"/>
                </a:solidFill>
              </a:rPr>
              <a:t>alcista</a:t>
            </a:r>
            <a:r>
              <a:rPr lang="en-US" sz="2300" kern="0" dirty="0">
                <a:solidFill>
                  <a:srgbClr val="000000"/>
                </a:solidFill>
              </a:rPr>
              <a:t>)</a:t>
            </a:r>
            <a:endParaRPr lang="es-E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sz="2300" i="1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300" i="1" kern="0" dirty="0">
                <a:solidFill>
                  <a:srgbClr val="000000"/>
                </a:solidFill>
              </a:rPr>
              <a:t>Bear Spread </a:t>
            </a:r>
            <a:r>
              <a:rPr lang="en-US" sz="2300" kern="0" dirty="0">
                <a:solidFill>
                  <a:srgbClr val="000000"/>
                </a:solidFill>
              </a:rPr>
              <a:t>(</a:t>
            </a:r>
            <a:r>
              <a:rPr lang="en-US" sz="2300" kern="0" dirty="0" err="1">
                <a:solidFill>
                  <a:srgbClr val="000000"/>
                </a:solidFill>
              </a:rPr>
              <a:t>bajista</a:t>
            </a:r>
            <a:r>
              <a:rPr lang="en-US" sz="2300" kern="0" dirty="0">
                <a:solidFill>
                  <a:srgbClr val="000000"/>
                </a:solidFill>
              </a:rPr>
              <a:t>)</a:t>
            </a:r>
            <a:endParaRPr lang="es-E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altLang="en-US" sz="2300" i="1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s-AR" altLang="en-US" sz="2300" i="1" kern="0" dirty="0" err="1">
                <a:solidFill>
                  <a:srgbClr val="000000"/>
                </a:solidFill>
              </a:rPr>
              <a:t>Butterfly</a:t>
            </a:r>
            <a:r>
              <a:rPr lang="es-AR" altLang="en-US" sz="2300" i="1" kern="0" dirty="0">
                <a:solidFill>
                  <a:srgbClr val="000000"/>
                </a:solidFill>
              </a:rPr>
              <a:t> Spread </a:t>
            </a:r>
            <a:r>
              <a:rPr lang="es-AR" altLang="en-US" sz="2300" kern="0" dirty="0">
                <a:solidFill>
                  <a:srgbClr val="000000"/>
                </a:solidFill>
              </a:rPr>
              <a:t>(no direccional*)</a:t>
            </a:r>
            <a:endParaRPr lang="es-AR" altLang="en-US" sz="23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AR" sz="2300" i="1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s-AR" sz="2300" i="1" kern="0" dirty="0">
                <a:solidFill>
                  <a:srgbClr val="000000"/>
                </a:solidFill>
              </a:rPr>
              <a:t>Calendar Spread </a:t>
            </a:r>
            <a:r>
              <a:rPr lang="es-AR" sz="2300" kern="0" dirty="0">
                <a:solidFill>
                  <a:srgbClr val="000000"/>
                </a:solidFill>
              </a:rPr>
              <a:t>(direccional moderada)</a:t>
            </a:r>
          </a:p>
          <a:p>
            <a:pPr eaLnBrk="1" hangingPunct="1"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sz="2300" kern="0" dirty="0"/>
          </a:p>
        </p:txBody>
      </p:sp>
    </p:spTree>
    <p:extLst>
      <p:ext uri="{BB962C8B-B14F-4D97-AF65-F5344CB8AC3E}">
        <p14:creationId xmlns:p14="http://schemas.microsoft.com/office/powerpoint/2010/main" val="119409439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Bull Call Spread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ES" sz="2300" dirty="0">
                    <a:solidFill>
                      <a:srgbClr val="000000"/>
                    </a:solidFill>
                  </a:rPr>
                  <a:t>Se trata de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vertical que consiste en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ATM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y una posición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short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OTM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mas alto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. La perspectiva del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trader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es alcista. 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paga</a:t>
                </a:r>
                <a:endParaRPr lang="en-US" altLang="en-US" sz="2300" b="1" i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  <a:blipFill>
                <a:blip r:embed="rId2"/>
                <a:stretch>
                  <a:fillRect l="-1122" t="-859" r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/>
              <p:nvPr/>
            </p:nvSpPr>
            <p:spPr>
              <a:xfrm>
                <a:off x="303666" y="4252386"/>
                <a:ext cx="356501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𝐵𝑢𝑙𝑙𝐶𝑎𝑙𝑙𝑆𝑝𝑟𝑒𝑎𝑑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4252386"/>
                <a:ext cx="3565015" cy="646331"/>
              </a:xfrm>
              <a:prstGeom prst="rect">
                <a:avLst/>
              </a:prstGeom>
              <a:blipFill>
                <a:blip r:embed="rId3"/>
                <a:stretch>
                  <a:fillRect l="-1538" t="-660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562977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007999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6911091"/>
                  </p:ext>
                </p:extLst>
              </p:nvPr>
            </p:nvGraphicFramePr>
            <p:xfrm>
              <a:off x="187288" y="5039597"/>
              <a:ext cx="6562977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007999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1141379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410" t="-1770" r="-498193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2143" t="-1770" r="-1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2143" t="-1770" r="-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5789" t="-1770" r="-957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410" t="-130682" r="-498193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2143" t="-130682" r="-1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2143" t="-130682" r="-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5789" t="-130682" r="-957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95CD0CDF-E213-4EFF-BA8D-81DA78EDDF10}"/>
              </a:ext>
            </a:extLst>
          </p:cNvPr>
          <p:cNvGrpSpPr/>
          <p:nvPr/>
        </p:nvGrpSpPr>
        <p:grpSpPr>
          <a:xfrm>
            <a:off x="4479563" y="2852936"/>
            <a:ext cx="4518447" cy="2097582"/>
            <a:chOff x="4479563" y="2882130"/>
            <a:chExt cx="4518447" cy="20975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0F0A217-C618-4BA1-A097-20EE9F46A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79563" y="2882130"/>
              <a:ext cx="4518447" cy="209758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4F4CA9-EAF2-4B3B-AD1D-714FD28FCAC6}"/>
                </a:ext>
              </a:extLst>
            </p:cNvPr>
            <p:cNvSpPr txBox="1"/>
            <p:nvPr/>
          </p:nvSpPr>
          <p:spPr>
            <a:xfrm>
              <a:off x="6084168" y="464977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7362DD-7124-4C5C-8747-94539E4F4470}"/>
                  </a:ext>
                </a:extLst>
              </p:cNvPr>
              <p:cNvSpPr txBox="1"/>
              <p:nvPr/>
            </p:nvSpPr>
            <p:spPr>
              <a:xfrm>
                <a:off x="303666" y="2775058"/>
                <a:ext cx="383608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47362DD-7124-4C5C-8747-94539E4F4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2775058"/>
                <a:ext cx="3836080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015415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Bull Put Spread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ES" sz="2300" dirty="0">
                    <a:solidFill>
                      <a:srgbClr val="000000"/>
                    </a:solidFill>
                  </a:rPr>
                  <a:t>Se trata de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vertical que consiste en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cercana OTM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y una posición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short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 otra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OTM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mas alto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. La </a:t>
                </a:r>
                <a:r>
                  <a:rPr lang="es-ES" sz="2300" dirty="0" err="1">
                    <a:solidFill>
                      <a:srgbClr val="000000"/>
                    </a:solidFill>
                  </a:rPr>
                  <a:t>vision</a:t>
                </a:r>
                <a:r>
                  <a:rPr lang="es-ES" sz="2300" dirty="0">
                    <a:solidFill>
                      <a:srgbClr val="000000"/>
                    </a:solidFill>
                  </a:rPr>
                  <a:t> del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trader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es alcista.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Se recibe</a:t>
                </a:r>
                <a:endParaRPr lang="en-US" altLang="en-US" sz="23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  <a:blipFill>
                <a:blip r:embed="rId2"/>
                <a:stretch>
                  <a:fillRect l="-1122" t="-859" r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/>
              <p:nvPr/>
            </p:nvSpPr>
            <p:spPr>
              <a:xfrm>
                <a:off x="303666" y="4252386"/>
                <a:ext cx="35576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𝐵𝑢𝑙𝑙𝑃𝑢𝑡𝑆𝑝𝑟𝑒𝑎𝑑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4252386"/>
                <a:ext cx="3557641" cy="646331"/>
              </a:xfrm>
              <a:prstGeom prst="rect">
                <a:avLst/>
              </a:prstGeom>
              <a:blipFill>
                <a:blip r:embed="rId3"/>
                <a:stretch>
                  <a:fillRect l="-1544" t="-660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83259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7762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08366"/>
                  </p:ext>
                </p:extLst>
              </p:nvPr>
            </p:nvGraphicFramePr>
            <p:xfrm>
              <a:off x="187288" y="5039597"/>
              <a:ext cx="683259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7762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1191954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429" t="-1770" r="-393810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6429" t="-1770" r="-1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6429" t="-1770" r="-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6842" t="-1770" r="-957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429" t="-130682" r="-393810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6429" t="-130682" r="-1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6429" t="-130682" r="-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6842" t="-130682" r="-957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4910DFDD-5D12-4F81-B2E1-EA4EDBACD44D}"/>
              </a:ext>
            </a:extLst>
          </p:cNvPr>
          <p:cNvGrpSpPr/>
          <p:nvPr/>
        </p:nvGrpSpPr>
        <p:grpSpPr>
          <a:xfrm>
            <a:off x="4832600" y="2420888"/>
            <a:ext cx="4124112" cy="2481702"/>
            <a:chOff x="4788024" y="2463642"/>
            <a:chExt cx="4124112" cy="24817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BD62113-096A-4300-8D49-A634DD5F3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88024" y="2463642"/>
              <a:ext cx="4124112" cy="248170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F1EEE4-25A0-4EF6-8BE9-E48F0C9B9C25}"/>
                </a:ext>
              </a:extLst>
            </p:cNvPr>
            <p:cNvSpPr txBox="1"/>
            <p:nvPr/>
          </p:nvSpPr>
          <p:spPr>
            <a:xfrm>
              <a:off x="6084168" y="464977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C0A7EF-45B7-40F3-A938-B66A9A8EAF6C}"/>
                  </a:ext>
                </a:extLst>
              </p:cNvPr>
              <p:cNvSpPr txBox="1"/>
              <p:nvPr/>
            </p:nvSpPr>
            <p:spPr>
              <a:xfrm>
                <a:off x="303666" y="2817591"/>
                <a:ext cx="383608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C0A7EF-45B7-40F3-A938-B66A9A8EA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2817591"/>
                <a:ext cx="3836080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21812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Bear Call Spread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ES" sz="2300" dirty="0">
                    <a:solidFill>
                      <a:srgbClr val="000000"/>
                    </a:solidFill>
                  </a:rPr>
                  <a:t>Se trata de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vertical que consiste en una posición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short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OTM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y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otra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OTM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mas alto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. La perspectiva del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trader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es bajista. 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recibe</a:t>
                </a:r>
                <a:endParaRPr lang="en-US" altLang="en-US" sz="23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  <a:blipFill>
                <a:blip r:embed="rId2"/>
                <a:stretch>
                  <a:fillRect l="-1122" t="-859" r="-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/>
              <p:nvPr/>
            </p:nvSpPr>
            <p:spPr>
              <a:xfrm>
                <a:off x="303666" y="4252386"/>
                <a:ext cx="39842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𝐵𝑒𝑎𝑟𝐶𝑎𝑙𝑙𝑆𝑝𝑟𝑒𝑎𝑑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4252386"/>
                <a:ext cx="3984232" cy="646331"/>
              </a:xfrm>
              <a:prstGeom prst="rect">
                <a:avLst/>
              </a:prstGeom>
              <a:blipFill>
                <a:blip r:embed="rId3"/>
                <a:stretch>
                  <a:fillRect l="-1378" t="-660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562977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007999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3303933"/>
                  </p:ext>
                </p:extLst>
              </p:nvPr>
            </p:nvGraphicFramePr>
            <p:xfrm>
              <a:off x="187288" y="5039597"/>
              <a:ext cx="6562977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007999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1141379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410" t="-1770" r="-498193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2143" t="-1770" r="-1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2143" t="-1770" r="-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5789" t="-1770" r="-957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2410" t="-130682" r="-498193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2143" t="-130682" r="-1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2143" t="-130682" r="-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5789" t="-130682" r="-957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C7C4656-C0DE-4DE9-B9C5-715DE4359206}"/>
              </a:ext>
            </a:extLst>
          </p:cNvPr>
          <p:cNvGrpSpPr/>
          <p:nvPr/>
        </p:nvGrpSpPr>
        <p:grpSpPr>
          <a:xfrm>
            <a:off x="4660130" y="2675918"/>
            <a:ext cx="4299151" cy="2224599"/>
            <a:chOff x="4660130" y="2675918"/>
            <a:chExt cx="4299151" cy="22245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ECBC722-E2DE-4669-8B6A-3BFD44AAE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0130" y="2675918"/>
              <a:ext cx="4299151" cy="222459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DA91F9-92C7-40FD-8814-F0CCDBD5582D}"/>
                </a:ext>
              </a:extLst>
            </p:cNvPr>
            <p:cNvSpPr txBox="1"/>
            <p:nvPr/>
          </p:nvSpPr>
          <p:spPr>
            <a:xfrm>
              <a:off x="5786680" y="4559606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4ABD7E-616F-4CF6-878B-88EF67C3C4FB}"/>
                  </a:ext>
                </a:extLst>
              </p:cNvPr>
              <p:cNvSpPr txBox="1"/>
              <p:nvPr/>
            </p:nvSpPr>
            <p:spPr>
              <a:xfrm>
                <a:off x="229511" y="2796038"/>
                <a:ext cx="363824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4ABD7E-616F-4CF6-878B-88EF67C3C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1" y="2796038"/>
                <a:ext cx="3638240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8143202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Bear Put Spread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ES" sz="2300" dirty="0">
                    <a:solidFill>
                      <a:srgbClr val="000000"/>
                    </a:solidFill>
                  </a:rPr>
                  <a:t>Se trata de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vertical que consiste en una posición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short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OTM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y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 otra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ATM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mas alto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. La perspectiva del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trader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es bajista. 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paga</a:t>
                </a:r>
                <a:endParaRPr lang="en-US" altLang="en-US" sz="23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  <a:blipFill>
                <a:blip r:embed="rId2"/>
                <a:stretch>
                  <a:fillRect l="-1122" t="-859" r="-1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/>
              <p:nvPr/>
            </p:nvSpPr>
            <p:spPr>
              <a:xfrm>
                <a:off x="303666" y="4252386"/>
                <a:ext cx="37306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𝐵𝑒𝑎𝑟𝑃𝑢𝑡𝑆𝑝𝑟𝑒𝑎𝑑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4252386"/>
                <a:ext cx="3730637" cy="646331"/>
              </a:xfrm>
              <a:prstGeom prst="rect">
                <a:avLst/>
              </a:prstGeom>
              <a:blipFill>
                <a:blip r:embed="rId3"/>
                <a:stretch>
                  <a:fillRect l="-1471" t="-660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83259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7762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9629"/>
                  </p:ext>
                </p:extLst>
              </p:nvPr>
            </p:nvGraphicFramePr>
            <p:xfrm>
              <a:off x="187288" y="5039597"/>
              <a:ext cx="683259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7762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1191954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429" t="-1770" r="-393810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6429" t="-1770" r="-1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6429" t="-1770" r="-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6842" t="-1770" r="-957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429" t="-130682" r="-393810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6429" t="-130682" r="-1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6429" t="-130682" r="-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6842" t="-130682" r="-957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45C636-C550-4D6A-A53C-6AF9353C3385}"/>
                  </a:ext>
                </a:extLst>
              </p:cNvPr>
              <p:cNvSpPr txBox="1"/>
              <p:nvPr/>
            </p:nvSpPr>
            <p:spPr>
              <a:xfrm>
                <a:off x="229511" y="2796038"/>
                <a:ext cx="379854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45C636-C550-4D6A-A53C-6AF9353C3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1" y="2796038"/>
                <a:ext cx="3798540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0DFCF458-DF50-4CA5-87E7-32A8484503BA}"/>
              </a:ext>
            </a:extLst>
          </p:cNvPr>
          <p:cNvGrpSpPr/>
          <p:nvPr/>
        </p:nvGrpSpPr>
        <p:grpSpPr>
          <a:xfrm>
            <a:off x="4571433" y="2693121"/>
            <a:ext cx="4377778" cy="2218874"/>
            <a:chOff x="4571433" y="2693121"/>
            <a:chExt cx="4377778" cy="221887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1DE104-8964-4E17-8306-0C0E2DEA4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1433" y="2693121"/>
              <a:ext cx="4377778" cy="221887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D1D6D7-A59F-476A-A107-303ED55A472C}"/>
                </a:ext>
              </a:extLst>
            </p:cNvPr>
            <p:cNvSpPr txBox="1"/>
            <p:nvPr/>
          </p:nvSpPr>
          <p:spPr>
            <a:xfrm>
              <a:off x="5867758" y="458620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939492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Call Butterfly Spread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ES" sz="2300" dirty="0">
                    <a:solidFill>
                      <a:srgbClr val="000000"/>
                    </a:solidFill>
                  </a:rPr>
                  <a:t>Se trata de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lateral que consiste en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ITM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y una posición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short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</a:t>
                </a:r>
                <a:r>
                  <a:rPr lang="es-ES" sz="2300" b="1" dirty="0">
                    <a:solidFill>
                      <a:srgbClr val="000000"/>
                    </a:solidFill>
                  </a:rPr>
                  <a:t>dos </a:t>
                </a:r>
                <a:r>
                  <a:rPr lang="es-ES" sz="2300" dirty="0">
                    <a:solidFill>
                      <a:srgbClr val="000000"/>
                    </a:solidFill>
                  </a:rPr>
                  <a:t>opciones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ATM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 y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dirty="0">
                    <a:solidFill>
                      <a:srgbClr val="000000"/>
                    </a:solidFill>
                  </a:rPr>
                  <a:t>en una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dirty="0">
                    <a:solidFill>
                      <a:srgbClr val="000000"/>
                    </a:solidFill>
                  </a:rPr>
                  <a:t>OTM con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.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>
                    <a:solidFill>
                      <a:srgbClr val="000000"/>
                    </a:solidFill>
                    <a:latin typeface="+mj-lt"/>
                  </a:rPr>
                  <a:t>y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𝜿</m:t>
                    </m:r>
                  </m:oMath>
                </a14:m>
                <a:r>
                  <a:rPr lang="es-ES" sz="21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paga</a:t>
                </a:r>
                <a:endParaRPr lang="en-US" altLang="en-US" sz="2300" b="1" i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  <a:blipFill>
                <a:blip r:embed="rId2"/>
                <a:stretch>
                  <a:fillRect l="-1122" t="-859" r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/>
              <p:nvPr/>
            </p:nvSpPr>
            <p:spPr>
              <a:xfrm>
                <a:off x="303666" y="4252386"/>
                <a:ext cx="44423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𝐶𝑎𝑙𝑙𝐵𝑢𝑡𝑡𝑒𝑟𝑓𝑙𝑦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4252386"/>
                <a:ext cx="4442370" cy="646331"/>
              </a:xfrm>
              <a:prstGeom prst="rect">
                <a:avLst/>
              </a:prstGeom>
              <a:blipFill>
                <a:blip r:embed="rId3"/>
                <a:stretch>
                  <a:fillRect l="-1235" t="-660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333" y="5213067"/>
              <a:ext cx="900219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48609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90601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3736976399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1101056961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946653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4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4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14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4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4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m:rPr>
                                    <m:nor/>
                                  </m:rPr>
                                  <a:rPr lang="en-US" sz="1400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3190829"/>
                  </p:ext>
                </p:extLst>
              </p:nvPr>
            </p:nvGraphicFramePr>
            <p:xfrm>
              <a:off x="70333" y="5213067"/>
              <a:ext cx="900219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48609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90601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3736976399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1101056961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946653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1750000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3691" t="-1770" r="-839597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83" t="-1770" r="-358242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3212" t="-1770" r="-256934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4249" t="-1770" r="-157875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82847" t="-1770" r="-57299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3548" t="-1770" r="-1290" b="-796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3691" t="-130682" r="-839597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83" t="-130682" r="-358242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3212" t="-130682" r="-25693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4249" t="-130682" r="-157875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82847" t="-130682" r="-57299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3548" t="-130682" r="-1290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F040F33-FE90-4455-887C-96EF929DE3E4}"/>
              </a:ext>
            </a:extLst>
          </p:cNvPr>
          <p:cNvGrpSpPr/>
          <p:nvPr/>
        </p:nvGrpSpPr>
        <p:grpSpPr>
          <a:xfrm>
            <a:off x="5201246" y="2708920"/>
            <a:ext cx="3979266" cy="2307710"/>
            <a:chOff x="4602005" y="2586781"/>
            <a:chExt cx="4296519" cy="231193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60357BB-7E93-4115-9FBA-C6A298F65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02005" y="2586781"/>
              <a:ext cx="4296519" cy="231193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A445ED8-F3B3-4230-803C-CA092E751540}"/>
                </a:ext>
              </a:extLst>
            </p:cNvPr>
            <p:cNvSpPr txBox="1"/>
            <p:nvPr/>
          </p:nvSpPr>
          <p:spPr>
            <a:xfrm>
              <a:off x="5710817" y="4586204"/>
              <a:ext cx="23042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719648-DF9A-455E-BB87-139FE5D90877}"/>
                  </a:ext>
                </a:extLst>
              </p:cNvPr>
              <p:cNvSpPr txBox="1"/>
              <p:nvPr/>
            </p:nvSpPr>
            <p:spPr>
              <a:xfrm>
                <a:off x="229511" y="2796038"/>
                <a:ext cx="501881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b="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719648-DF9A-455E-BB87-139FE5D90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1" y="2796038"/>
                <a:ext cx="5018810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273134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Put Butterfly Spread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ES" sz="2300" dirty="0">
                    <a:solidFill>
                      <a:srgbClr val="000000"/>
                    </a:solidFill>
                  </a:rPr>
                  <a:t>Se trata de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lateral que consiste en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ITM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y una posición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short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en </a:t>
                </a:r>
                <a:r>
                  <a:rPr lang="es-ES" sz="2300" b="1" dirty="0">
                    <a:solidFill>
                      <a:srgbClr val="000000"/>
                    </a:solidFill>
                  </a:rPr>
                  <a:t>dos </a:t>
                </a:r>
                <a:r>
                  <a:rPr lang="es-ES" sz="2300" dirty="0">
                    <a:solidFill>
                      <a:srgbClr val="000000"/>
                    </a:solidFill>
                  </a:rPr>
                  <a:t>opciones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ATM con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 y una posición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long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dirty="0">
                    <a:solidFill>
                      <a:srgbClr val="000000"/>
                    </a:solidFill>
                  </a:rPr>
                  <a:t>en una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s-ES" sz="2300" dirty="0">
                    <a:solidFill>
                      <a:srgbClr val="000000"/>
                    </a:solidFill>
                  </a:rPr>
                  <a:t>OTM con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S" sz="2000" dirty="0">
                    <a:solidFill>
                      <a:srgbClr val="000000"/>
                    </a:solidFill>
                  </a:rPr>
                  <a:t>.</a:t>
                </a:r>
                <a:r>
                  <a:rPr lang="es-E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>
                    <a:solidFill>
                      <a:srgbClr val="000000"/>
                    </a:solidFill>
                    <a:latin typeface="+mj-lt"/>
                  </a:rPr>
                  <a:t>y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𝜿</m:t>
                    </m:r>
                  </m:oMath>
                </a14:m>
                <a:r>
                  <a:rPr lang="es-E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paga</a:t>
                </a:r>
                <a:endParaRPr lang="en-US" altLang="en-US" sz="2300" b="1" i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  <a:blipFill>
                <a:blip r:embed="rId2"/>
                <a:stretch>
                  <a:fillRect l="-1122" t="-859" r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/>
              <p:nvPr/>
            </p:nvSpPr>
            <p:spPr>
              <a:xfrm>
                <a:off x="303666" y="4252386"/>
                <a:ext cx="44901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𝑃𝑢𝑡𝐵𝑢𝑡𝑡𝑒𝑟𝑓𝑙𝑦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AD8AE1-B7D4-41C7-92CC-9FCAEF703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4252386"/>
                <a:ext cx="4490140" cy="646331"/>
              </a:xfrm>
              <a:prstGeom prst="rect">
                <a:avLst/>
              </a:prstGeom>
              <a:blipFill>
                <a:blip r:embed="rId3"/>
                <a:stretch>
                  <a:fillRect l="-1223" t="-660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333" y="5213067"/>
              <a:ext cx="900219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48609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90601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3736976399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1101056961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946653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4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4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1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14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1400" b="0" i="1" dirty="0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14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4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40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1400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14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40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m:rPr>
                                    <m:nor/>
                                  </m:rPr>
                                  <a:rPr lang="en-US" sz="1400" dirty="0">
                                    <a:solidFill>
                                      <a:srgbClr val="FF0000"/>
                                    </a:solidFill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BE881E1D-373C-4CE5-84C4-726FA64FC82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333" y="5213067"/>
              <a:ext cx="9002199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48609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906018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3736976399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1101056961"/>
                        </a:ext>
                      </a:extLst>
                    </a:gridCol>
                    <a:gridCol w="1665859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946653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1750000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3691" t="-1770" r="-839597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83" t="-1770" r="-358242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3212" t="-1770" r="-256934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4249" t="-1770" r="-157875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82847" t="-1770" r="-57299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3548" t="-1770" r="-1290" b="-796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3691" t="-130682" r="-839597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3883" t="-130682" r="-358242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83212" t="-130682" r="-25693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4249" t="-130682" r="-157875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82847" t="-130682" r="-57299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53548" t="-130682" r="-1290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719648-DF9A-455E-BB87-139FE5D90877}"/>
                  </a:ext>
                </a:extLst>
              </p:cNvPr>
              <p:cNvSpPr txBox="1"/>
              <p:nvPr/>
            </p:nvSpPr>
            <p:spPr>
              <a:xfrm>
                <a:off x="229511" y="2796038"/>
                <a:ext cx="460017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b="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7719648-DF9A-455E-BB87-139FE5D90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11" y="2796038"/>
                <a:ext cx="4600170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D3ECCF9-1726-4AF1-960A-5658EBBCD84C}"/>
              </a:ext>
            </a:extLst>
          </p:cNvPr>
          <p:cNvGrpSpPr/>
          <p:nvPr/>
        </p:nvGrpSpPr>
        <p:grpSpPr>
          <a:xfrm>
            <a:off x="4716016" y="2708920"/>
            <a:ext cx="4427984" cy="2365067"/>
            <a:chOff x="4657809" y="2858270"/>
            <a:chExt cx="4330936" cy="23107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10E644-9588-47B7-BAD7-5831EEA3C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57809" y="2858270"/>
              <a:ext cx="4330936" cy="231075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04E271-63C0-4F8F-9293-C20CA4F3AA9F}"/>
                </a:ext>
              </a:extLst>
            </p:cNvPr>
            <p:cNvSpPr txBox="1"/>
            <p:nvPr/>
          </p:nvSpPr>
          <p:spPr>
            <a:xfrm>
              <a:off x="5966281" y="4869160"/>
              <a:ext cx="2134111" cy="276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308077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Calendar Spreads (1/3)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ES" sz="2300" dirty="0">
                    <a:solidFill>
                      <a:srgbClr val="000000"/>
                    </a:solidFill>
                  </a:rPr>
                  <a:t>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de calendario se puede crear vendiendo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europea con un cierto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y vencimiento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 y comprando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europea de vencimiento más largo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 con el mismo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strike.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Cuanto más larga es la madurez de una opción, más caro suele ser. Un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calendar </a:t>
                </a:r>
                <a:r>
                  <a:rPr lang="es-ES" sz="2300" dirty="0">
                    <a:solidFill>
                      <a:srgbClr val="000000"/>
                    </a:solidFill>
                  </a:rPr>
                  <a:t>por lo general requiere una inversión inicial. </a:t>
                </a:r>
                <a:endParaRPr lang="en-US" altLang="en-US" sz="2300" b="1" i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3666" y="1268760"/>
                <a:ext cx="8153967" cy="4968552"/>
              </a:xfrm>
              <a:blipFill>
                <a:blip r:embed="rId2"/>
                <a:stretch>
                  <a:fillRect l="-1122" t="-859" r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3884CC4-98F4-4BE8-993E-B4E2169C4E5A}"/>
              </a:ext>
            </a:extLst>
          </p:cNvPr>
          <p:cNvGrpSpPr/>
          <p:nvPr/>
        </p:nvGrpSpPr>
        <p:grpSpPr>
          <a:xfrm>
            <a:off x="1691680" y="3068960"/>
            <a:ext cx="5266543" cy="3168352"/>
            <a:chOff x="1691680" y="3068960"/>
            <a:chExt cx="5266543" cy="316835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31483AC-D83B-496C-9403-C48C798C7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1680" y="3068960"/>
              <a:ext cx="5266543" cy="316835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61A8EB-5F9A-4DF7-AAC3-9544AFAD591A}"/>
                </a:ext>
              </a:extLst>
            </p:cNvPr>
            <p:cNvSpPr txBox="1"/>
            <p:nvPr/>
          </p:nvSpPr>
          <p:spPr>
            <a:xfrm>
              <a:off x="3504377" y="5960819"/>
              <a:ext cx="2134111" cy="276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247529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Calendar Spreads (2/3)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666" y="1268760"/>
            <a:ext cx="8153967" cy="4968552"/>
          </a:xfrm>
        </p:spPr>
        <p:txBody>
          <a:bodyPr/>
          <a:lstStyle/>
          <a:p>
            <a:pPr marL="0" indent="0" eaLnBrk="1" hangingPunct="1">
              <a:buSzPct val="150000"/>
              <a:buNone/>
              <a:defRPr/>
            </a:pPr>
            <a:r>
              <a:rPr lang="es-ES" sz="2300" dirty="0">
                <a:solidFill>
                  <a:srgbClr val="000000"/>
                </a:solidFill>
              </a:rPr>
              <a:t>El inversor obtiene un beneficio si el precio del subyacente al vencimiento de la opción de vencimiento corto está cerca del </a:t>
            </a:r>
            <a:r>
              <a:rPr lang="es-ES" sz="2300" i="1" dirty="0">
                <a:solidFill>
                  <a:srgbClr val="000000"/>
                </a:solidFill>
              </a:rPr>
              <a:t>strike</a:t>
            </a:r>
            <a:r>
              <a:rPr lang="es-ES" sz="2300" dirty="0">
                <a:solidFill>
                  <a:srgbClr val="000000"/>
                </a:solidFill>
              </a:rPr>
              <a:t>. Sin embargo, se produce una pérdida cuando el precio del subyacente está muy por encima o muy por debajo de este </a:t>
            </a:r>
            <a:r>
              <a:rPr lang="es-ES" sz="2300" i="1" dirty="0">
                <a:solidFill>
                  <a:srgbClr val="000000"/>
                </a:solidFill>
              </a:rPr>
              <a:t>strike</a:t>
            </a:r>
            <a:r>
              <a:rPr lang="es-ES" sz="2300" dirty="0">
                <a:solidFill>
                  <a:srgbClr val="000000"/>
                </a:solidFill>
              </a:rPr>
              <a:t>. </a:t>
            </a:r>
          </a:p>
          <a:p>
            <a:pPr eaLnBrk="1" hangingPunct="1">
              <a:buSzPct val="150000"/>
              <a:defRPr/>
            </a:pPr>
            <a:r>
              <a:rPr lang="es-ES" sz="2300" dirty="0">
                <a:solidFill>
                  <a:srgbClr val="000000"/>
                </a:solidFill>
              </a:rPr>
              <a:t>En un </a:t>
            </a:r>
            <a:r>
              <a:rPr lang="es-ES" sz="2300" i="1" dirty="0">
                <a:solidFill>
                  <a:srgbClr val="000000"/>
                </a:solidFill>
              </a:rPr>
              <a:t>spread</a:t>
            </a:r>
            <a:r>
              <a:rPr lang="es-ES" sz="2300" dirty="0">
                <a:solidFill>
                  <a:srgbClr val="000000"/>
                </a:solidFill>
              </a:rPr>
              <a:t> neutro, se elige un </a:t>
            </a:r>
            <a:r>
              <a:rPr lang="es-ES" sz="2300" i="1" dirty="0">
                <a:solidFill>
                  <a:srgbClr val="000000"/>
                </a:solidFill>
              </a:rPr>
              <a:t>strike</a:t>
            </a:r>
            <a:r>
              <a:rPr lang="es-ES" sz="2300" dirty="0">
                <a:solidFill>
                  <a:srgbClr val="000000"/>
                </a:solidFill>
              </a:rPr>
              <a:t> ATM </a:t>
            </a:r>
          </a:p>
          <a:p>
            <a:pPr eaLnBrk="1" hangingPunct="1">
              <a:buSzPct val="150000"/>
              <a:defRPr/>
            </a:pPr>
            <a:r>
              <a:rPr lang="es-ES" sz="2300" dirty="0">
                <a:solidFill>
                  <a:srgbClr val="000000"/>
                </a:solidFill>
              </a:rPr>
              <a:t>En un </a:t>
            </a:r>
            <a:r>
              <a:rPr lang="es-ES" sz="2300" i="1" dirty="0">
                <a:solidFill>
                  <a:srgbClr val="000000"/>
                </a:solidFill>
              </a:rPr>
              <a:t>spread</a:t>
            </a:r>
            <a:r>
              <a:rPr lang="es-ES" sz="2300" dirty="0">
                <a:solidFill>
                  <a:srgbClr val="000000"/>
                </a:solidFill>
              </a:rPr>
              <a:t> alcista, un </a:t>
            </a:r>
            <a:r>
              <a:rPr lang="es-ES" sz="2300" i="1" dirty="0">
                <a:solidFill>
                  <a:srgbClr val="000000"/>
                </a:solidFill>
              </a:rPr>
              <a:t>strike</a:t>
            </a:r>
            <a:r>
              <a:rPr lang="es-ES" sz="2300" dirty="0">
                <a:solidFill>
                  <a:srgbClr val="000000"/>
                </a:solidFill>
              </a:rPr>
              <a:t> OTM (para </a:t>
            </a:r>
            <a:r>
              <a:rPr lang="es-ES" sz="2300" i="1" dirty="0" err="1">
                <a:solidFill>
                  <a:srgbClr val="000000"/>
                </a:solidFill>
              </a:rPr>
              <a:t>calls</a:t>
            </a:r>
            <a:r>
              <a:rPr lang="es-ES" sz="2300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buSzPct val="150000"/>
              <a:defRPr/>
            </a:pPr>
            <a:r>
              <a:rPr lang="es-ES" sz="2300" dirty="0">
                <a:solidFill>
                  <a:srgbClr val="000000"/>
                </a:solidFill>
              </a:rPr>
              <a:t>En un </a:t>
            </a:r>
            <a:r>
              <a:rPr lang="es-ES" sz="2300" i="1" dirty="0">
                <a:solidFill>
                  <a:srgbClr val="000000"/>
                </a:solidFill>
              </a:rPr>
              <a:t>spread</a:t>
            </a:r>
            <a:r>
              <a:rPr lang="es-ES" sz="2300" dirty="0">
                <a:solidFill>
                  <a:srgbClr val="000000"/>
                </a:solidFill>
              </a:rPr>
              <a:t> bajista un </a:t>
            </a:r>
            <a:r>
              <a:rPr lang="es-ES" sz="2300" i="1" dirty="0">
                <a:solidFill>
                  <a:srgbClr val="000000"/>
                </a:solidFill>
              </a:rPr>
              <a:t>strike</a:t>
            </a:r>
            <a:r>
              <a:rPr lang="es-ES" sz="2300" dirty="0">
                <a:solidFill>
                  <a:srgbClr val="000000"/>
                </a:solidFill>
              </a:rPr>
              <a:t> ITM (para </a:t>
            </a:r>
            <a:r>
              <a:rPr lang="es-ES" sz="2300" i="1" dirty="0" err="1">
                <a:solidFill>
                  <a:srgbClr val="000000"/>
                </a:solidFill>
              </a:rPr>
              <a:t>calls</a:t>
            </a:r>
            <a:r>
              <a:rPr lang="es-ES" sz="2300" dirty="0">
                <a:solidFill>
                  <a:srgbClr val="000000"/>
                </a:solidFill>
              </a:rPr>
              <a:t>). </a:t>
            </a:r>
          </a:p>
          <a:p>
            <a:pPr marL="0" indent="0" eaLnBrk="1" hangingPunct="1">
              <a:buSzPct val="150000"/>
              <a:buNone/>
              <a:defRPr/>
            </a:pPr>
            <a:r>
              <a:rPr lang="es-ES" sz="2300" dirty="0">
                <a:solidFill>
                  <a:srgbClr val="000000"/>
                </a:solidFill>
              </a:rPr>
              <a:t>Existen las </a:t>
            </a:r>
            <a:r>
              <a:rPr lang="en-US" sz="2300" i="1" dirty="0">
                <a:solidFill>
                  <a:srgbClr val="000000"/>
                </a:solidFill>
              </a:rPr>
              <a:t>reverse calendar spread. </a:t>
            </a:r>
            <a:r>
              <a:rPr lang="es-AR" sz="2300" dirty="0">
                <a:solidFill>
                  <a:srgbClr val="000000"/>
                </a:solidFill>
              </a:rPr>
              <a:t>El inversor compra una opción de corto vencimiento y vende una de largo vencimiento. La ganancia se obtiene si el subyacente al momento del vencimiento corto se encuentra muy por encima o debajo del </a:t>
            </a:r>
            <a:r>
              <a:rPr lang="es-AR" sz="2300" i="1" dirty="0">
                <a:solidFill>
                  <a:srgbClr val="000000"/>
                </a:solidFill>
              </a:rPr>
              <a:t>strike</a:t>
            </a:r>
            <a:r>
              <a:rPr lang="es-AR" sz="2300" dirty="0">
                <a:solidFill>
                  <a:srgbClr val="000000"/>
                </a:solidFill>
              </a:rPr>
              <a:t>. Sin embargo, se incurrirá en una perdida si termina cerca del mismo.</a:t>
            </a:r>
            <a:endParaRPr lang="es-AR" altLang="en-US" sz="23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01692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Calendar Spreads (3/3)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666" y="1268760"/>
            <a:ext cx="8153967" cy="4968552"/>
          </a:xfrm>
        </p:spPr>
        <p:txBody>
          <a:bodyPr/>
          <a:lstStyle/>
          <a:p>
            <a:pPr marL="0" indent="0" eaLnBrk="1" hangingPunct="1">
              <a:buSzPct val="150000"/>
              <a:buNone/>
              <a:defRPr/>
            </a:pPr>
            <a:r>
              <a:rPr lang="es-ES" sz="2300" dirty="0">
                <a:solidFill>
                  <a:srgbClr val="000000"/>
                </a:solidFill>
              </a:rPr>
              <a:t>Los spreads de calendario se pueden también crear con </a:t>
            </a:r>
            <a:r>
              <a:rPr lang="es-ES" sz="2300" i="1" dirty="0" err="1">
                <a:solidFill>
                  <a:srgbClr val="000000"/>
                </a:solidFill>
              </a:rPr>
              <a:t>puts</a:t>
            </a:r>
            <a:r>
              <a:rPr lang="es-ES" sz="2300" dirty="0">
                <a:solidFill>
                  <a:srgbClr val="000000"/>
                </a:solidFill>
              </a:rPr>
              <a:t>.</a:t>
            </a:r>
            <a:r>
              <a:rPr lang="es-ES" sz="2300" i="1" dirty="0">
                <a:solidFill>
                  <a:srgbClr val="000000"/>
                </a:solidFill>
              </a:rPr>
              <a:t> </a:t>
            </a:r>
          </a:p>
          <a:p>
            <a:pPr marL="0" indent="0" eaLnBrk="1" hangingPunct="1">
              <a:buSzPct val="150000"/>
              <a:buNone/>
              <a:defRPr/>
            </a:pPr>
            <a:r>
              <a:rPr lang="es-ES" sz="2300" dirty="0">
                <a:solidFill>
                  <a:srgbClr val="000000"/>
                </a:solidFill>
              </a:rPr>
              <a:t>El inversor compra una opción </a:t>
            </a:r>
            <a:r>
              <a:rPr lang="es-ES" sz="2300" i="1" dirty="0" err="1">
                <a:solidFill>
                  <a:srgbClr val="000000"/>
                </a:solidFill>
              </a:rPr>
              <a:t>put</a:t>
            </a:r>
            <a:r>
              <a:rPr lang="es-ES" sz="2300" dirty="0">
                <a:solidFill>
                  <a:srgbClr val="000000"/>
                </a:solidFill>
              </a:rPr>
              <a:t> de vencimiento largo y vende una opción de </a:t>
            </a:r>
            <a:r>
              <a:rPr lang="es-ES" sz="2300" i="1" dirty="0" err="1">
                <a:solidFill>
                  <a:srgbClr val="000000"/>
                </a:solidFill>
              </a:rPr>
              <a:t>put</a:t>
            </a:r>
            <a:r>
              <a:rPr lang="es-ES" sz="2300" dirty="0">
                <a:solidFill>
                  <a:srgbClr val="000000"/>
                </a:solidFill>
              </a:rPr>
              <a:t> de vencimiento corto. </a:t>
            </a:r>
            <a:endParaRPr lang="en-US" altLang="en-US" sz="23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775C71D-7810-48BE-824A-913B035BBC5D}"/>
              </a:ext>
            </a:extLst>
          </p:cNvPr>
          <p:cNvGrpSpPr/>
          <p:nvPr/>
        </p:nvGrpSpPr>
        <p:grpSpPr>
          <a:xfrm>
            <a:off x="1547664" y="2989097"/>
            <a:ext cx="5257800" cy="3267075"/>
            <a:chOff x="1547664" y="2989097"/>
            <a:chExt cx="5257800" cy="32670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41CB523-E406-45CC-B64D-34108BE33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7664" y="2989097"/>
              <a:ext cx="5257800" cy="3267075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78FCC47-8313-4C2B-9BBD-0F7F9ACFD359}"/>
                </a:ext>
              </a:extLst>
            </p:cNvPr>
            <p:cNvSpPr txBox="1"/>
            <p:nvPr/>
          </p:nvSpPr>
          <p:spPr>
            <a:xfrm>
              <a:off x="3504377" y="5960819"/>
              <a:ext cx="2134111" cy="276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39366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dirty="0" err="1">
                <a:solidFill>
                  <a:srgbClr val="000000"/>
                </a:solidFill>
              </a:rPr>
              <a:t>Estrategias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</a:rPr>
              <a:t>combinadas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2230CEF0-EE6D-4805-AD4F-47E8A22D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91000"/>
            <a:ext cx="5943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1"/>
              </a:buClr>
              <a:buSzPct val="150000"/>
            </a:pPr>
            <a:endParaRPr lang="en-US" altLang="en-US" sz="23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2941E-01DE-4D9F-B35E-6341FDFE0E2E}"/>
              </a:ext>
            </a:extLst>
          </p:cNvPr>
          <p:cNvSpPr txBox="1">
            <a:spLocks/>
          </p:cNvSpPr>
          <p:nvPr/>
        </p:nvSpPr>
        <p:spPr bwMode="auto">
          <a:xfrm>
            <a:off x="457200" y="1268413"/>
            <a:ext cx="8339138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Char char="•"/>
              <a:defRPr sz="3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rgbClr val="4D4D4D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w"/>
              <a:defRPr sz="2400">
                <a:solidFill>
                  <a:srgbClr val="4D4D4D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rgbClr val="4D4D4D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anose="02020603050405020304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Times New Roman" pitchFamily="18" charset="0"/>
              <a:buChar char="-"/>
              <a:defRPr sz="2000">
                <a:solidFill>
                  <a:srgbClr val="4D4D4D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s-AR" sz="2300" kern="0" dirty="0">
                <a:solidFill>
                  <a:srgbClr val="000000"/>
                </a:solidFill>
              </a:rPr>
              <a:t>Las estrategias combinadas involucran tomar posición en dos o mas opciones combinando </a:t>
            </a:r>
            <a:r>
              <a:rPr lang="es-AR" sz="2300" i="1" kern="0" dirty="0" err="1">
                <a:solidFill>
                  <a:srgbClr val="000000"/>
                </a:solidFill>
              </a:rPr>
              <a:t>puts</a:t>
            </a:r>
            <a:r>
              <a:rPr lang="es-AR" sz="2300" kern="0" dirty="0">
                <a:solidFill>
                  <a:srgbClr val="000000"/>
                </a:solidFill>
              </a:rPr>
              <a:t> y </a:t>
            </a:r>
            <a:r>
              <a:rPr lang="es-AR" sz="2300" i="1" kern="0" dirty="0" err="1">
                <a:solidFill>
                  <a:srgbClr val="000000"/>
                </a:solidFill>
              </a:rPr>
              <a:t>calls</a:t>
            </a:r>
            <a:r>
              <a:rPr lang="es-AR" sz="2300" kern="0" dirty="0">
                <a:solidFill>
                  <a:srgbClr val="000000"/>
                </a:solidFill>
              </a:rPr>
              <a:t> sobre un mismo activo subyacente. Veremos las siguientes:</a:t>
            </a:r>
          </a:p>
          <a:p>
            <a:pPr marL="0" indent="0" eaLnBrk="1" hangingPunct="1">
              <a:buNone/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2300" i="1" kern="0" dirty="0">
                <a:solidFill>
                  <a:srgbClr val="000000"/>
                </a:solidFill>
              </a:rPr>
              <a:t>Box Spread</a:t>
            </a:r>
          </a:p>
          <a:p>
            <a:pPr eaLnBrk="1" hangingPunct="1">
              <a:defRPr/>
            </a:pPr>
            <a:endParaRPr lang="en-US" sz="2300" i="1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s-AR" sz="2300" i="1" kern="0" dirty="0" err="1">
                <a:solidFill>
                  <a:srgbClr val="000000"/>
                </a:solidFill>
              </a:rPr>
              <a:t>Straddle</a:t>
            </a:r>
            <a:r>
              <a:rPr lang="es-AR" sz="2300" i="1" kern="0" dirty="0">
                <a:solidFill>
                  <a:srgbClr val="000000"/>
                </a:solidFill>
              </a:rPr>
              <a:t> </a:t>
            </a:r>
            <a:r>
              <a:rPr lang="es-AR" sz="2300" kern="0" dirty="0">
                <a:solidFill>
                  <a:srgbClr val="000000"/>
                </a:solidFill>
              </a:rPr>
              <a:t>(no direccional)</a:t>
            </a:r>
          </a:p>
          <a:p>
            <a:pPr eaLnBrk="1" hangingPunct="1"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s-AR" sz="2300" i="1" kern="0" dirty="0" err="1">
                <a:solidFill>
                  <a:srgbClr val="000000"/>
                </a:solidFill>
              </a:rPr>
              <a:t>Strangle</a:t>
            </a:r>
            <a:r>
              <a:rPr lang="es-AR" sz="2300" i="1" kern="0" dirty="0">
                <a:solidFill>
                  <a:srgbClr val="000000"/>
                </a:solidFill>
              </a:rPr>
              <a:t> </a:t>
            </a:r>
            <a:r>
              <a:rPr lang="es-AR" sz="2300" kern="0" dirty="0">
                <a:solidFill>
                  <a:srgbClr val="000000"/>
                </a:solidFill>
              </a:rPr>
              <a:t>(no direccional*)</a:t>
            </a:r>
          </a:p>
          <a:p>
            <a:pPr eaLnBrk="1" hangingPunct="1">
              <a:defRPr/>
            </a:pPr>
            <a:endParaRPr lang="es-ES" sz="2300" i="1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s-ES" sz="2300" kern="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sz="2300" kern="0" dirty="0"/>
          </a:p>
        </p:txBody>
      </p:sp>
    </p:spTree>
    <p:extLst>
      <p:ext uri="{BB962C8B-B14F-4D97-AF65-F5344CB8AC3E}">
        <p14:creationId xmlns:p14="http://schemas.microsoft.com/office/powerpoint/2010/main" val="55023320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sz="3200" i="1" dirty="0" err="1">
                <a:solidFill>
                  <a:srgbClr val="000000"/>
                </a:solidFill>
              </a:rPr>
              <a:t>Straddle</a:t>
            </a:r>
            <a:endParaRPr lang="en-US" altLang="en-US" sz="3200" i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268760"/>
                <a:ext cx="8153967" cy="4968552"/>
              </a:xfrm>
            </p:spPr>
            <p:txBody>
              <a:bodyPr/>
              <a:lstStyle/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Esta es una estrategia de volatilidad (no direccional) que consiste en comprar un </a:t>
                </a:r>
                <a:r>
                  <a:rPr lang="es-AR" altLang="en-U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 ATM y un </a:t>
                </a:r>
                <a:r>
                  <a:rPr lang="es-AR" altLang="en-U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 ATM con mismo strike </a:t>
                </a:r>
                <a14:m>
                  <m:oMath xmlns:m="http://schemas.openxmlformats.org/officeDocument/2006/math">
                    <m:r>
                      <a:rPr lang="es-AR" altLang="en-US" sz="23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. Busco un movimiento grande del activo subyacente</a:t>
                </a:r>
                <a:r>
                  <a:rPr lang="en-US" altLang="en-US" sz="2300" dirty="0">
                    <a:solidFill>
                      <a:srgbClr val="000000"/>
                    </a:solidFill>
                  </a:rPr>
                  <a:t>.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Se paga</a:t>
                </a: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endParaRPr lang="es-AR" altLang="en-US" sz="2300" b="1" i="1" dirty="0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268760"/>
                <a:ext cx="8153967" cy="4968552"/>
              </a:xfrm>
              <a:blipFill>
                <a:blip r:embed="rId2"/>
                <a:stretch>
                  <a:fillRect l="-1122" t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941710-0E15-4892-B575-42ACC1784234}"/>
                  </a:ext>
                </a:extLst>
              </p:cNvPr>
              <p:cNvSpPr txBox="1"/>
              <p:nvPr/>
            </p:nvSpPr>
            <p:spPr>
              <a:xfrm>
                <a:off x="323528" y="2690336"/>
                <a:ext cx="3595023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b="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𝑖𝑙𝑖𝑚𝑖𝑡𝑎𝑑𝑜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941710-0E15-4892-B575-42ACC1784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690336"/>
                <a:ext cx="3595023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C6779FF-A06A-446F-8F25-85EF0F4976CF}"/>
              </a:ext>
            </a:extLst>
          </p:cNvPr>
          <p:cNvGrpSpPr/>
          <p:nvPr/>
        </p:nvGrpSpPr>
        <p:grpSpPr>
          <a:xfrm>
            <a:off x="4526950" y="2572444"/>
            <a:ext cx="4330004" cy="2273052"/>
            <a:chOff x="4526950" y="2572444"/>
            <a:chExt cx="4330004" cy="22730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9C09559-9AAE-442F-9766-808ADA1BC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950" y="2572444"/>
              <a:ext cx="4330004" cy="227305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423A0B-D411-4824-9D2C-BF63A8832958}"/>
                </a:ext>
              </a:extLst>
            </p:cNvPr>
            <p:cNvSpPr txBox="1"/>
            <p:nvPr/>
          </p:nvSpPr>
          <p:spPr>
            <a:xfrm>
              <a:off x="5809513" y="4513148"/>
              <a:ext cx="2134111" cy="276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12.10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18C655-747C-48E2-A427-1435CEE91927}"/>
                  </a:ext>
                </a:extLst>
              </p:cNvPr>
              <p:cNvSpPr txBox="1"/>
              <p:nvPr/>
            </p:nvSpPr>
            <p:spPr>
              <a:xfrm>
                <a:off x="292689" y="4005064"/>
                <a:ext cx="33748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𝑆𝑡𝑟𝑎𝑑𝑑𝑙𝑒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18C655-747C-48E2-A427-1435CEE91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9" y="4005064"/>
                <a:ext cx="3374835" cy="646331"/>
              </a:xfrm>
              <a:prstGeom prst="rect">
                <a:avLst/>
              </a:prstGeom>
              <a:blipFill>
                <a:blip r:embed="rId5"/>
                <a:stretch>
                  <a:fillRect l="-1444" t="-6604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B77E0C3F-D7D8-4E16-B2C8-EC498AEDB8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86072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0575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B77E0C3F-D7D8-4E16-B2C8-EC498AEDB8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86072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0575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t="-1770" r="-1197701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0465" t="-1770" r="-384651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98052" t="-1770" r="-1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8052" t="-1770" r="-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39234" t="-1770" r="-957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0465" t="-130682" r="-384651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98052" t="-130682" r="-1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98052" t="-130682" r="-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39234" t="-130682" r="-957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7382758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sz="3200" i="1" dirty="0" err="1">
                <a:solidFill>
                  <a:srgbClr val="000000"/>
                </a:solidFill>
              </a:rPr>
              <a:t>Strangle</a:t>
            </a:r>
            <a:endParaRPr lang="en-US" altLang="en-US" sz="3200" i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536" y="1268760"/>
                <a:ext cx="8153967" cy="4968552"/>
              </a:xfrm>
            </p:spPr>
            <p:txBody>
              <a:bodyPr/>
              <a:lstStyle/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s-AR" altLang="en-US" sz="2300" dirty="0">
                    <a:solidFill>
                      <a:srgbClr val="000000"/>
                    </a:solidFill>
                  </a:rPr>
                  <a:t>Esta es una estrategia de volatilidad (no direccional) que consiste en comprar un </a:t>
                </a:r>
                <a:r>
                  <a:rPr lang="es-AR" altLang="en-U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 OTM con </a:t>
                </a:r>
                <a:r>
                  <a:rPr lang="es-AR" altLang="en-US" sz="2300" i="1" dirty="0">
                    <a:solidFill>
                      <a:srgbClr val="000000"/>
                    </a:solidFill>
                  </a:rPr>
                  <a:t>strike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 y un </a:t>
                </a:r>
                <a:r>
                  <a:rPr lang="es-AR" altLang="en-U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altLang="en-US" sz="2300" dirty="0">
                    <a:solidFill>
                      <a:srgbClr val="000000"/>
                    </a:solidFill>
                  </a:rPr>
                  <a:t> OTM con </a:t>
                </a:r>
                <a:r>
                  <a:rPr lang="es-AR" altLang="en-US" sz="2300" i="1" dirty="0">
                    <a:solidFill>
                      <a:srgbClr val="000000"/>
                    </a:solidFill>
                  </a:rPr>
                  <a:t>strike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en-US" sz="23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,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altLang="en-U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AR" altLang="en-U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AR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AR" altLang="en-U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altLang="en-U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AR" altLang="en-U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. Busco gran movimiento de </a:t>
                </a:r>
                <a14:m>
                  <m:oMath xmlns:m="http://schemas.openxmlformats.org/officeDocument/2006/math">
                    <m:r>
                      <a:rPr lang="es-AR" altLang="en-U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AR" altLang="en-US" sz="2300" dirty="0">
                    <a:solidFill>
                      <a:srgbClr val="000000"/>
                    </a:solidFill>
                  </a:rPr>
                  <a:t>. Más me alejo del ATM, más barato será</a:t>
                </a:r>
                <a:r>
                  <a:rPr lang="en-US" altLang="en-US" sz="2300" dirty="0">
                    <a:solidFill>
                      <a:srgbClr val="000000"/>
                    </a:solidFill>
                  </a:rPr>
                  <a:t>. </a:t>
                </a:r>
                <a:r>
                  <a:rPr lang="es-ES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paga</a:t>
                </a:r>
                <a:endParaRPr lang="es-AR" altLang="en-US" sz="2300" dirty="0">
                  <a:solidFill>
                    <a:srgbClr val="000000"/>
                  </a:solidFill>
                </a:endParaRPr>
              </a:p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endParaRPr lang="es-AR" altLang="en-US" sz="2300" b="1" i="1" dirty="0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536" y="1268760"/>
                <a:ext cx="8153967" cy="4968552"/>
              </a:xfrm>
              <a:blipFill>
                <a:blip r:embed="rId2"/>
                <a:stretch>
                  <a:fillRect l="-1122" t="-859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941710-0E15-4892-B575-42ACC1784234}"/>
                  </a:ext>
                </a:extLst>
              </p:cNvPr>
              <p:cNvSpPr txBox="1"/>
              <p:nvPr/>
            </p:nvSpPr>
            <p:spPr>
              <a:xfrm>
                <a:off x="323528" y="2690336"/>
                <a:ext cx="379392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b="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𝑖𝑙𝑖𝑚𝑖𝑡𝑎𝑑𝑜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941710-0E15-4892-B575-42ACC1784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690336"/>
                <a:ext cx="3793924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18C655-747C-48E2-A427-1435CEE91927}"/>
                  </a:ext>
                </a:extLst>
              </p:cNvPr>
              <p:cNvSpPr txBox="1"/>
              <p:nvPr/>
            </p:nvSpPr>
            <p:spPr>
              <a:xfrm>
                <a:off x="292689" y="4005064"/>
                <a:ext cx="315278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𝑆𝑡𝑟𝑎𝑑𝑑𝑙𝑒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18C655-747C-48E2-A427-1435CEE91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9" y="4005064"/>
                <a:ext cx="3152786" cy="646331"/>
              </a:xfrm>
              <a:prstGeom prst="rect">
                <a:avLst/>
              </a:prstGeom>
              <a:blipFill>
                <a:blip r:embed="rId4"/>
                <a:stretch>
                  <a:fillRect l="-1547" t="-6604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B77E0C3F-D7D8-4E16-B2C8-EC498AEDB8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151" y="5045802"/>
              <a:ext cx="8664321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403096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922907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527810">
                      <a:extLst>
                        <a:ext uri="{9D8B030D-6E8A-4147-A177-3AD203B41FA5}">
                          <a16:colId xmlns:a16="http://schemas.microsoft.com/office/drawing/2014/main" val="1315251143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4030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1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solidFill>
                                <a:srgbClr val="00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dirty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B77E0C3F-D7D8-4E16-B2C8-EC498AEDB88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6151" y="5045802"/>
              <a:ext cx="8664321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403096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922907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527810">
                      <a:extLst>
                        <a:ext uri="{9D8B030D-6E8A-4147-A177-3AD203B41FA5}">
                          <a16:colId xmlns:a16="http://schemas.microsoft.com/office/drawing/2014/main" val="1315251143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4030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t="-1770" r="-1537931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7826" t="-1770" r="-481739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16" t="-1770" r="-250633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52191" t="-1770" r="-215538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87013" t="-1770" r="-75649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18261" t="-1770" r="-1304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7826" t="-130682" r="-481739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16" t="-130682" r="-250633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52191" t="-130682" r="-215538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87013" t="-130682" r="-75649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18261" t="-130682" r="-1304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63C23EA-C33D-4259-B292-8E74AC49DE38}"/>
              </a:ext>
            </a:extLst>
          </p:cNvPr>
          <p:cNvGrpSpPr/>
          <p:nvPr/>
        </p:nvGrpSpPr>
        <p:grpSpPr>
          <a:xfrm>
            <a:off x="4291358" y="2594389"/>
            <a:ext cx="4485109" cy="2167048"/>
            <a:chOff x="4291358" y="2594389"/>
            <a:chExt cx="4485109" cy="21670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CD73E93-4052-4287-8B47-44DF3F7A1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91358" y="2594389"/>
              <a:ext cx="4485109" cy="216704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41DA9A-EE61-43FE-A245-6246D484EB1F}"/>
                </a:ext>
              </a:extLst>
            </p:cNvPr>
            <p:cNvSpPr txBox="1"/>
            <p:nvPr/>
          </p:nvSpPr>
          <p:spPr>
            <a:xfrm>
              <a:off x="5688783" y="4426600"/>
              <a:ext cx="2134111" cy="276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Hull – Fig 12.12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5543590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sz="3200" dirty="0">
                <a:solidFill>
                  <a:srgbClr val="000000"/>
                </a:solidFill>
              </a:rPr>
              <a:t>Escribir un </a:t>
            </a:r>
            <a:r>
              <a:rPr lang="es-AR" sz="3200" i="1" dirty="0" err="1">
                <a:solidFill>
                  <a:srgbClr val="000000"/>
                </a:solidFill>
              </a:rPr>
              <a:t>Straddle</a:t>
            </a:r>
            <a:r>
              <a:rPr lang="es-AR" sz="3200" dirty="0">
                <a:solidFill>
                  <a:srgbClr val="000000"/>
                </a:solidFill>
              </a:rPr>
              <a:t> o un </a:t>
            </a:r>
            <a:r>
              <a:rPr lang="es-AR" sz="3200" i="1" dirty="0" err="1">
                <a:solidFill>
                  <a:srgbClr val="000000"/>
                </a:solidFill>
              </a:rPr>
              <a:t>Strangle</a:t>
            </a:r>
            <a:endParaRPr lang="en-US" altLang="en-US" sz="3200" i="1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856984" cy="5328592"/>
          </a:xfrm>
        </p:spPr>
        <p:txBody>
          <a:bodyPr/>
          <a:lstStyle/>
          <a:p>
            <a:pPr marL="0" indent="0" algn="l">
              <a:buNone/>
            </a:pPr>
            <a:r>
              <a:rPr lang="es-AR" altLang="en-US" sz="2300" dirty="0">
                <a:solidFill>
                  <a:srgbClr val="000000"/>
                </a:solidFill>
              </a:rPr>
              <a:t>Ambas estrategias vistas recién se consideran </a:t>
            </a:r>
            <a:r>
              <a:rPr lang="es-AR" altLang="en-US" sz="2300" i="1" dirty="0" err="1">
                <a:solidFill>
                  <a:srgbClr val="000000"/>
                </a:solidFill>
              </a:rPr>
              <a:t>long</a:t>
            </a:r>
            <a:r>
              <a:rPr lang="es-AR" altLang="en-US" sz="2300" dirty="0">
                <a:solidFill>
                  <a:srgbClr val="000000"/>
                </a:solidFill>
              </a:rPr>
              <a:t>. Existen las respectivas versiones </a:t>
            </a:r>
            <a:r>
              <a:rPr lang="es-AR" altLang="en-US" sz="2300" i="1" dirty="0">
                <a:solidFill>
                  <a:srgbClr val="000000"/>
                </a:solidFill>
              </a:rPr>
              <a:t>short</a:t>
            </a:r>
            <a:r>
              <a:rPr lang="es-AR" altLang="en-US" sz="2300" dirty="0">
                <a:solidFill>
                  <a:srgbClr val="000000"/>
                </a:solidFill>
              </a:rPr>
              <a:t>. (</a:t>
            </a:r>
            <a:r>
              <a:rPr lang="es-ES" sz="23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 recibe)</a:t>
            </a:r>
            <a:endParaRPr lang="es-AR" altLang="en-US" sz="2300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endParaRPr lang="es-AR" altLang="en-US" sz="2300" dirty="0">
              <a:solidFill>
                <a:srgbClr val="000000"/>
              </a:solidFill>
            </a:endParaRPr>
          </a:p>
          <a:p>
            <a:r>
              <a:rPr lang="es-AR" sz="2300" dirty="0">
                <a:solidFill>
                  <a:srgbClr val="000000"/>
                </a:solidFill>
              </a:rPr>
              <a:t>Escribir un </a:t>
            </a:r>
            <a:r>
              <a:rPr lang="es-AR" sz="2300" i="1" dirty="0" err="1">
                <a:solidFill>
                  <a:srgbClr val="000000"/>
                </a:solidFill>
              </a:rPr>
              <a:t>straddle</a:t>
            </a:r>
            <a:r>
              <a:rPr lang="es-AR" sz="2300" dirty="0">
                <a:solidFill>
                  <a:srgbClr val="000000"/>
                </a:solidFill>
              </a:rPr>
              <a:t> significa estar en la posición contraria. Resulta de vender un </a:t>
            </a:r>
            <a:r>
              <a:rPr lang="es-AR" sz="2300" i="1" dirty="0" err="1">
                <a:solidFill>
                  <a:srgbClr val="000000"/>
                </a:solidFill>
              </a:rPr>
              <a:t>call</a:t>
            </a:r>
            <a:r>
              <a:rPr lang="es-AR" sz="2300" dirty="0">
                <a:solidFill>
                  <a:srgbClr val="000000"/>
                </a:solidFill>
              </a:rPr>
              <a:t> y un </a:t>
            </a:r>
            <a:r>
              <a:rPr lang="es-AR" sz="2300" i="1" dirty="0" err="1">
                <a:solidFill>
                  <a:srgbClr val="000000"/>
                </a:solidFill>
              </a:rPr>
              <a:t>put</a:t>
            </a:r>
            <a:r>
              <a:rPr lang="es-AR" sz="2300" dirty="0">
                <a:solidFill>
                  <a:srgbClr val="000000"/>
                </a:solidFill>
              </a:rPr>
              <a:t> con mismo strike (ATM) y mismo vencimiento. Es una estrategia de mucho riesgo.</a:t>
            </a:r>
            <a:r>
              <a:rPr lang="en-US" sz="2300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Si el precio del subyacente  permanece cerca del </a:t>
            </a:r>
            <a:r>
              <a:rPr lang="es-AR" sz="2300" i="1" dirty="0">
                <a:solidFill>
                  <a:srgbClr val="000000"/>
                </a:solidFill>
              </a:rPr>
              <a:t>strike</a:t>
            </a:r>
            <a:r>
              <a:rPr lang="es-AR" sz="2300" dirty="0">
                <a:solidFill>
                  <a:srgbClr val="000000"/>
                </a:solidFill>
              </a:rPr>
              <a:t> hay un beneficio, sin embargo la pérdida potencial ante un movimiento (en cualquier dirección!) es ilimitada*</a:t>
            </a:r>
          </a:p>
          <a:p>
            <a:endParaRPr lang="es-AR" sz="2300" dirty="0">
              <a:solidFill>
                <a:srgbClr val="000000"/>
              </a:solidFill>
            </a:endParaRPr>
          </a:p>
          <a:p>
            <a:pPr algn="l"/>
            <a:r>
              <a:rPr lang="es-AR" sz="2300" dirty="0">
                <a:solidFill>
                  <a:srgbClr val="000000"/>
                </a:solidFill>
              </a:rPr>
              <a:t>Escribir un </a:t>
            </a:r>
            <a:r>
              <a:rPr lang="es-AR" sz="2300" i="1" dirty="0" err="1">
                <a:solidFill>
                  <a:srgbClr val="000000"/>
                </a:solidFill>
              </a:rPr>
              <a:t>strangle</a:t>
            </a:r>
            <a:r>
              <a:rPr lang="es-AR" sz="2300" dirty="0">
                <a:solidFill>
                  <a:srgbClr val="000000"/>
                </a:solidFill>
              </a:rPr>
              <a:t> puede ser apropiado para un inversor que estima que grandes movimientos del subyacente es poco probable. Al igual que con un </a:t>
            </a:r>
            <a:r>
              <a:rPr lang="es-AR" sz="2300" i="1" dirty="0" err="1">
                <a:solidFill>
                  <a:srgbClr val="000000"/>
                </a:solidFill>
              </a:rPr>
              <a:t>straddle</a:t>
            </a:r>
            <a:r>
              <a:rPr lang="es-AR" sz="2300" dirty="0">
                <a:solidFill>
                  <a:srgbClr val="000000"/>
                </a:solidFill>
              </a:rPr>
              <a:t>, la venta de un </a:t>
            </a:r>
            <a:r>
              <a:rPr lang="es-AR" sz="2300" i="1" dirty="0" err="1">
                <a:solidFill>
                  <a:srgbClr val="000000"/>
                </a:solidFill>
              </a:rPr>
              <a:t>strangle</a:t>
            </a:r>
            <a:r>
              <a:rPr lang="es-AR" sz="2300" i="1" dirty="0">
                <a:solidFill>
                  <a:srgbClr val="000000"/>
                </a:solidFill>
              </a:rPr>
              <a:t> </a:t>
            </a:r>
            <a:r>
              <a:rPr lang="es-AR" sz="2300" dirty="0">
                <a:solidFill>
                  <a:srgbClr val="000000"/>
                </a:solidFill>
              </a:rPr>
              <a:t>es una estrategia muy riesgosa (algo menos que la del </a:t>
            </a:r>
            <a:r>
              <a:rPr lang="es-AR" sz="2300" i="1" dirty="0" err="1">
                <a:solidFill>
                  <a:srgbClr val="000000"/>
                </a:solidFill>
              </a:rPr>
              <a:t>straddle</a:t>
            </a:r>
            <a:r>
              <a:rPr lang="es-AR" sz="2300" i="1" dirty="0">
                <a:solidFill>
                  <a:srgbClr val="000000"/>
                </a:solidFill>
              </a:rPr>
              <a:t>)</a:t>
            </a:r>
            <a:endParaRPr lang="es-AR" altLang="en-US" sz="2300" i="1" dirty="0">
              <a:solidFill>
                <a:srgbClr val="000000"/>
              </a:solidFill>
            </a:endParaRPr>
          </a:p>
          <a:p>
            <a:endParaRPr lang="es-AR" altLang="en-US" sz="23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37714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dirty="0">
                <a:solidFill>
                  <a:srgbClr val="000000"/>
                </a:solidFill>
              </a:rPr>
              <a:t>Box Spreads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DA63A20-3A5D-4222-AA6C-94F2652078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666" y="1268760"/>
                <a:ext cx="8653046" cy="4968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SzPct val="150000"/>
                  <a:buFontTx/>
                  <a:buNone/>
                  <a:defRPr/>
                </a:pPr>
                <a:r>
                  <a:rPr lang="es-AR" sz="2300" kern="0" dirty="0">
                    <a:solidFill>
                      <a:srgbClr val="000000"/>
                    </a:solidFill>
                  </a:rPr>
                  <a:t>Esta estrategia no direccional (</a:t>
                </a:r>
                <a:r>
                  <a:rPr lang="es-AR" sz="2300" b="1" kern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 arbitraje para Europeas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) se puede ver como la combinación de un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bull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y un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bear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. Consiste en estar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long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 una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 ITM con 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strike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2300" kern="0" dirty="0">
                    <a:solidFill>
                      <a:srgbClr val="000000"/>
                    </a:solidFill>
                  </a:rPr>
                  <a:t>, y 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short 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una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 OTM con 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strike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sz="2300" kern="0" dirty="0">
                    <a:solidFill>
                      <a:srgbClr val="000000"/>
                    </a:solidFill>
                  </a:rPr>
                  <a:t>,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long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 una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 ITM con 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strike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sz="2300" kern="0" dirty="0">
                    <a:solidFill>
                      <a:srgbClr val="000000"/>
                    </a:solidFill>
                  </a:rPr>
                  <a:t>, y short una </a:t>
                </a:r>
                <a:r>
                  <a:rPr lang="es-AR" sz="2300" i="1" kern="0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sz="2300" kern="0" dirty="0">
                    <a:solidFill>
                      <a:srgbClr val="000000"/>
                    </a:solidFill>
                  </a:rPr>
                  <a:t> OTM con </a:t>
                </a:r>
                <a:r>
                  <a:rPr lang="es-AR" sz="2300" i="1" kern="0" dirty="0">
                    <a:solidFill>
                      <a:srgbClr val="000000"/>
                    </a:solidFill>
                  </a:rPr>
                  <a:t>strike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3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2300" kern="0" dirty="0">
                    <a:solidFill>
                      <a:srgbClr val="000000"/>
                    </a:solidFill>
                  </a:rPr>
                  <a:t>. Asumiendo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b="1" i="1" kern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b="1" i="1" kern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s-AR" sz="2300" b="1" i="1" kern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300" b="1" i="1" kern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300" b="1" i="1" kern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kern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2300" b="1" i="1" kern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s-AR" sz="2300" b="1" i="1" kern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s-AR" sz="2300" b="1" i="1" ker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sz="2300" b="1" i="1" ker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2300" b="0" i="0" kern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nor/>
                      </m:rPr>
                      <a:rPr lang="es-ES" sz="23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Se</m:t>
                    </m:r>
                    <m:r>
                      <m:rPr>
                        <m:nor/>
                      </m:rPr>
                      <a:rPr lang="es-ES" sz="23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s-ES" sz="23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paga</m:t>
                    </m:r>
                  </m:oMath>
                </a14:m>
                <a:r>
                  <a:rPr lang="es-AR" altLang="en-US" sz="2300" i="1" kern="0" dirty="0">
                    <a:solidFill>
                      <a:srgbClr val="000000"/>
                    </a:solidFill>
                  </a:rPr>
                  <a:t>*</a:t>
                </a: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DA63A20-3A5D-4222-AA6C-94F265207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666" y="1268760"/>
                <a:ext cx="8653046" cy="4968552"/>
              </a:xfrm>
              <a:prstGeom prst="rect">
                <a:avLst/>
              </a:prstGeom>
              <a:blipFill>
                <a:blip r:embed="rId2"/>
                <a:stretch>
                  <a:fillRect l="-1057" t="-859" r="-49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D63F6B-3581-43B6-9967-0367B41C4F03}"/>
                  </a:ext>
                </a:extLst>
              </p:cNvPr>
              <p:cNvSpPr txBox="1"/>
              <p:nvPr/>
            </p:nvSpPr>
            <p:spPr>
              <a:xfrm>
                <a:off x="303666" y="3907280"/>
                <a:ext cx="47203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𝐵𝑜𝑥𝑆𝑝𝑟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D63F6B-3581-43B6-9967-0367B41C4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3907280"/>
                <a:ext cx="4720395" cy="646331"/>
              </a:xfrm>
              <a:prstGeom prst="rect">
                <a:avLst/>
              </a:prstGeom>
              <a:blipFill>
                <a:blip r:embed="rId3"/>
                <a:stretch>
                  <a:fillRect l="-1163" t="-660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10">
                <a:extLst>
                  <a:ext uri="{FF2B5EF4-FFF2-40B4-BE49-F238E27FC236}">
                    <a16:creationId xmlns:a16="http://schemas.microsoft.com/office/drawing/2014/main" id="{279AE214-ED0E-42B3-AF9C-9D3204911F6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83259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7762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10">
                <a:extLst>
                  <a:ext uri="{FF2B5EF4-FFF2-40B4-BE49-F238E27FC236}">
                    <a16:creationId xmlns:a16="http://schemas.microsoft.com/office/drawing/2014/main" id="{279AE214-ED0E-42B3-AF9C-9D3204911F6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7288" y="5039597"/>
              <a:ext cx="6832598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30542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27762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76870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270696">
                      <a:extLst>
                        <a:ext uri="{9D8B030D-6E8A-4147-A177-3AD203B41FA5}">
                          <a16:colId xmlns:a16="http://schemas.microsoft.com/office/drawing/2014/main" val="2902688592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1191954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429" t="-1770" r="-393810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6429" t="-1770" r="-1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6429" t="-1770" r="-68506" b="-805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6842" t="-1770" r="-957" b="-805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1429" t="-130682" r="-393810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6429" t="-130682" r="-1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96429" t="-130682" r="-68506" b="-34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36842" t="-130682" r="-957" b="-34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A4743F-2FDC-4ED5-9431-8AEC7913E6FE}"/>
                  </a:ext>
                </a:extLst>
              </p:cNvPr>
              <p:cNvSpPr txBox="1"/>
              <p:nvPr/>
            </p:nvSpPr>
            <p:spPr>
              <a:xfrm>
                <a:off x="303666" y="3134047"/>
                <a:ext cx="779322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endParaRPr lang="en-US" b="0" dirty="0">
                  <a:solidFill>
                    <a:srgbClr val="00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A4743F-2FDC-4ED5-9431-8AEC7913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66" y="3134047"/>
                <a:ext cx="7793224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766133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Forward </a:t>
            </a:r>
            <a:r>
              <a:rPr lang="es-AR" altLang="en-US" sz="3200" dirty="0">
                <a:solidFill>
                  <a:srgbClr val="000000"/>
                </a:solidFill>
              </a:rPr>
              <a:t>sintético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0481" y="1268760"/>
                <a:ext cx="8153967" cy="4968552"/>
              </a:xfrm>
            </p:spPr>
            <p:txBody>
              <a:bodyPr/>
              <a:lstStyle/>
              <a:p>
                <a:pPr marL="0" indent="0" eaLnBrk="1" hangingPunct="1">
                  <a:buSzPct val="150000"/>
                  <a:buNone/>
                  <a:defRPr/>
                </a:pPr>
                <a:r>
                  <a:rPr lang="es-AR" sz="2300" dirty="0">
                    <a:solidFill>
                      <a:srgbClr val="000000"/>
                    </a:solidFill>
                  </a:rPr>
                  <a:t>La estrategia consiste en comprar un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sz="2300" dirty="0">
                    <a:solidFill>
                      <a:srgbClr val="000000"/>
                    </a:solidFill>
                  </a:rPr>
                  <a:t> ATM y vender un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sz="2300" dirty="0">
                    <a:solidFill>
                      <a:srgbClr val="000000"/>
                    </a:solidFill>
                  </a:rPr>
                  <a:t> ATM sobre el mismo activo y la misma fecha de vencimiento. Replica un contrato forward a precio </a:t>
                </a:r>
                <a14:m>
                  <m:oMath xmlns:m="http://schemas.openxmlformats.org/officeDocument/2006/math">
                    <m:r>
                      <a:rPr lang="es-AR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 y vencimiento el de las opciones. </a:t>
                </a:r>
                <a:r>
                  <a:rPr lang="es-AR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paga o se recibe (</a:t>
                </a:r>
                <a14:m>
                  <m:oMath xmlns:m="http://schemas.openxmlformats.org/officeDocument/2006/math">
                    <m:r>
                      <a:rPr lang="es-AR" sz="2300" b="1" i="1" dirty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s-AR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0481" y="1268760"/>
                <a:ext cx="8153967" cy="4968552"/>
              </a:xfrm>
              <a:blipFill>
                <a:blip r:embed="rId2"/>
                <a:stretch>
                  <a:fillRect l="-1122" t="-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E5D2F9-0C7D-42EF-AD4E-C7D479B84244}"/>
                  </a:ext>
                </a:extLst>
              </p:cNvPr>
              <p:cNvSpPr txBox="1"/>
              <p:nvPr/>
            </p:nvSpPr>
            <p:spPr>
              <a:xfrm>
                <a:off x="395536" y="4183878"/>
                <a:ext cx="291695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𝑜𝑟𝑤𝑎𝑟𝑑𝑆𝑖𝑛𝑡𝑒𝑡𝑖𝑐𝑜</m:t>
                      </m:r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E5D2F9-0C7D-42EF-AD4E-C7D479B84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183878"/>
                <a:ext cx="2916952" cy="646331"/>
              </a:xfrm>
              <a:prstGeom prst="rect">
                <a:avLst/>
              </a:prstGeom>
              <a:blipFill>
                <a:blip r:embed="rId3"/>
                <a:stretch>
                  <a:fillRect l="-1883" t="-5660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5B2C7220-7743-4636-9CDB-BBDCF7CBE2C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23528" y="5097537"/>
              <a:ext cx="4933950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47306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8859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12858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85196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10">
                <a:extLst>
                  <a:ext uri="{FF2B5EF4-FFF2-40B4-BE49-F238E27FC236}">
                    <a16:creationId xmlns:a16="http://schemas.microsoft.com/office/drawing/2014/main" id="{5B2C7220-7743-4636-9CDB-BBDCF7CBE2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0525937"/>
                  </p:ext>
                </p:extLst>
              </p:nvPr>
            </p:nvGraphicFramePr>
            <p:xfrm>
              <a:off x="323528" y="5097537"/>
              <a:ext cx="4933950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547306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38859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1712858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285196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t="-1770" r="-802222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474" t="-1770" r="-216667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3167" t="-1770" r="-75801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3886" t="-1770" r="-948" b="-796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9474" t="-130682" r="-216667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13167" t="-130682" r="-75801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83886" t="-130682" r="-948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9C2EA8-A739-4943-AD1B-FDBC9C3F2814}"/>
                  </a:ext>
                </a:extLst>
              </p:cNvPr>
              <p:cNvSpPr txBox="1"/>
              <p:nvPr/>
            </p:nvSpPr>
            <p:spPr>
              <a:xfrm>
                <a:off x="370906" y="2791599"/>
                <a:ext cx="6085932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sz="1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9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sz="19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9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9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sz="19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19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9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sz="19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𝑖𝑙𝑖𝑚𝑖𝑡𝑎𝑑𝑜</m:t>
                    </m:r>
                  </m:oMath>
                </a14:m>
                <a:endParaRPr lang="en-US" sz="1900" b="0" dirty="0">
                  <a:solidFill>
                    <a:srgbClr val="00B050"/>
                  </a:solidFill>
                </a:endParaRPr>
              </a:p>
              <a:p>
                <a:r>
                  <a:rPr lang="en-US" sz="1900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9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9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9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sz="1900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F9C2EA8-A739-4943-AD1B-FDBC9C3F2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06" y="2791599"/>
                <a:ext cx="6085932" cy="15388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74BE9E4-FFF6-46C3-9E8F-3E3A1892E3B8}"/>
              </a:ext>
            </a:extLst>
          </p:cNvPr>
          <p:cNvGrpSpPr/>
          <p:nvPr/>
        </p:nvGrpSpPr>
        <p:grpSpPr>
          <a:xfrm>
            <a:off x="5257477" y="3212976"/>
            <a:ext cx="3764703" cy="3011762"/>
            <a:chOff x="5257477" y="3068960"/>
            <a:chExt cx="3764703" cy="3011762"/>
          </a:xfrm>
        </p:grpSpPr>
        <p:pic>
          <p:nvPicPr>
            <p:cNvPr id="6146" name="Picture 2" descr="Derivatives Crash Course for Dummies: What is wrong with the payoff profile  of the synthetic forward? | FinanceTrainingCourse.com">
              <a:extLst>
                <a:ext uri="{FF2B5EF4-FFF2-40B4-BE49-F238E27FC236}">
                  <a16:creationId xmlns:a16="http://schemas.microsoft.com/office/drawing/2014/main" id="{20E3E17D-F021-4046-BEF0-8CF26C4C70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477" y="3068960"/>
              <a:ext cx="3764703" cy="3011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122E5F-FFBC-4220-94BD-8E00808AA0BB}"/>
                </a:ext>
              </a:extLst>
            </p:cNvPr>
            <p:cNvSpPr txBox="1"/>
            <p:nvPr/>
          </p:nvSpPr>
          <p:spPr>
            <a:xfrm>
              <a:off x="5724128" y="5791766"/>
              <a:ext cx="32403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https://financetrainingcourse.com/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4864621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n-US" altLang="en-US" sz="3200" i="1" dirty="0">
                <a:solidFill>
                  <a:srgbClr val="000000"/>
                </a:solidFill>
              </a:rPr>
              <a:t>Combo – Risk Reversal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39504" y="1346312"/>
                <a:ext cx="8153967" cy="4968552"/>
              </a:xfrm>
            </p:spPr>
            <p:txBody>
              <a:bodyPr/>
              <a:lstStyle/>
              <a:p>
                <a:pPr marL="0" indent="0">
                  <a:buClr>
                    <a:schemeClr val="tx1"/>
                  </a:buClr>
                  <a:buSzPct val="150000"/>
                  <a:buNone/>
                </a:pPr>
                <a:r>
                  <a:rPr lang="es-AR" sz="2300" dirty="0">
                    <a:solidFill>
                      <a:srgbClr val="000000"/>
                    </a:solidFill>
                  </a:rPr>
                  <a:t>La estrategia consiste en comprar un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AR" sz="2300" dirty="0">
                    <a:solidFill>
                      <a:srgbClr val="000000"/>
                    </a:solidFill>
                  </a:rPr>
                  <a:t> OTM de strike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AR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 y vender un </a:t>
                </a:r>
                <a:r>
                  <a:rPr lang="es-AR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AR" sz="2300" i="1" dirty="0">
                    <a:solidFill>
                      <a:srgbClr val="000000"/>
                    </a:solidFill>
                  </a:rPr>
                  <a:t> OTM con un strike menor,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AR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AR" sz="2300" dirty="0">
                    <a:solidFill>
                      <a:srgbClr val="000000"/>
                    </a:solidFill>
                  </a:rPr>
                  <a:t>. La visión es alcista. </a:t>
                </a:r>
                <a:r>
                  <a:rPr lang="es-AR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Se paga o recibe (</a:t>
                </a:r>
                <a14:m>
                  <m:oMath xmlns:m="http://schemas.openxmlformats.org/officeDocument/2006/math">
                    <m:r>
                      <a:rPr lang="es-AR" sz="2300" b="1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s-AR" sz="23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  <a:endParaRPr lang="en-US" altLang="en-US" sz="2300" i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8915" name="Rectangle 3">
                <a:extLst>
                  <a:ext uri="{FF2B5EF4-FFF2-40B4-BE49-F238E27FC236}">
                    <a16:creationId xmlns:a16="http://schemas.microsoft.com/office/drawing/2014/main" id="{E1999C43-9F1A-42C4-850A-B864BEC2C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9504" y="1346312"/>
                <a:ext cx="8153967" cy="4968552"/>
              </a:xfrm>
              <a:blipFill>
                <a:blip r:embed="rId2"/>
                <a:stretch>
                  <a:fillRect l="-1046" t="-982" r="-1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8EEAD5-58F2-40F8-AC6A-1E1757ED2DE6}"/>
                  </a:ext>
                </a:extLst>
              </p:cNvPr>
              <p:cNvSpPr txBox="1"/>
              <p:nvPr/>
            </p:nvSpPr>
            <p:spPr>
              <a:xfrm>
                <a:off x="458998" y="4322652"/>
                <a:ext cx="270022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Estrategia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𝐶𝑜𝑚𝑏𝑜</m:t>
                      </m:r>
                      <m:r>
                        <a:rPr lang="en-US" sz="18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8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8EEAD5-58F2-40F8-AC6A-1E1757ED2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98" y="4322652"/>
                <a:ext cx="2700226" cy="646331"/>
              </a:xfrm>
              <a:prstGeom prst="rect">
                <a:avLst/>
              </a:prstGeom>
              <a:blipFill>
                <a:blip r:embed="rId10"/>
                <a:stretch>
                  <a:fillRect l="-1806" t="-5660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4D64DEA6-A655-4289-B3CA-B77467EA0C3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4976" y="5097537"/>
              <a:ext cx="8199907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1123653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61885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2074288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84807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498309">
                      <a:extLst>
                        <a:ext uri="{9D8B030D-6E8A-4147-A177-3AD203B41FA5}">
                          <a16:colId xmlns:a16="http://schemas.microsoft.com/office/drawing/2014/main" val="1839118923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sz="1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10">
                <a:extLst>
                  <a:ext uri="{FF2B5EF4-FFF2-40B4-BE49-F238E27FC236}">
                    <a16:creationId xmlns:a16="http://schemas.microsoft.com/office/drawing/2014/main" id="{4D64DEA6-A655-4289-B3CA-B77467EA0C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9545785"/>
                  </p:ext>
                </p:extLst>
              </p:nvPr>
            </p:nvGraphicFramePr>
            <p:xfrm>
              <a:off x="214976" y="5097537"/>
              <a:ext cx="8199907" cy="1220682"/>
            </p:xfrm>
            <a:graphic>
              <a:graphicData uri="http://schemas.openxmlformats.org/drawingml/2006/table">
                <a:tbl>
                  <a:tblPr firstRow="1" bandRow="1">
                    <a:tableStyleId>{74C1A8A3-306A-4EB7-A6B1-4F7E0EB9C5D6}</a:tableStyleId>
                  </a:tblPr>
                  <a:tblGrid>
                    <a:gridCol w="1123653">
                      <a:extLst>
                        <a:ext uri="{9D8B030D-6E8A-4147-A177-3AD203B41FA5}">
                          <a16:colId xmlns:a16="http://schemas.microsoft.com/office/drawing/2014/main" val="2370002044"/>
                        </a:ext>
                      </a:extLst>
                    </a:gridCol>
                    <a:gridCol w="1618850">
                      <a:extLst>
                        <a:ext uri="{9D8B030D-6E8A-4147-A177-3AD203B41FA5}">
                          <a16:colId xmlns:a16="http://schemas.microsoft.com/office/drawing/2014/main" val="1779284455"/>
                        </a:ext>
                      </a:extLst>
                    </a:gridCol>
                    <a:gridCol w="2074288">
                      <a:extLst>
                        <a:ext uri="{9D8B030D-6E8A-4147-A177-3AD203B41FA5}">
                          <a16:colId xmlns:a16="http://schemas.microsoft.com/office/drawing/2014/main" val="2374682298"/>
                        </a:ext>
                      </a:extLst>
                    </a:gridCol>
                    <a:gridCol w="1884807">
                      <a:extLst>
                        <a:ext uri="{9D8B030D-6E8A-4147-A177-3AD203B41FA5}">
                          <a16:colId xmlns:a16="http://schemas.microsoft.com/office/drawing/2014/main" val="2936650095"/>
                        </a:ext>
                      </a:extLst>
                    </a:gridCol>
                    <a:gridCol w="1498309">
                      <a:extLst>
                        <a:ext uri="{9D8B030D-6E8A-4147-A177-3AD203B41FA5}">
                          <a16:colId xmlns:a16="http://schemas.microsoft.com/office/drawing/2014/main" val="1839118923"/>
                        </a:ext>
                      </a:extLst>
                    </a:gridCol>
                  </a:tblGrid>
                  <a:tr h="684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t="-1770" r="-632609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69173" t="-1770" r="-337594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131965" t="-1770" r="-163343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255987" t="-1770" r="-80259" b="-79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447154" t="-1770" r="-813" b="-796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810495"/>
                      </a:ext>
                    </a:extLst>
                  </a:tr>
                  <a:tr h="5366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i="1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PnL</a:t>
                          </a:r>
                          <a:endParaRPr lang="en-US" sz="16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69173" t="-130682" r="-337594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131965" t="-130682" r="-163343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255987" t="-130682" r="-80259" b="-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1"/>
                          <a:stretch>
                            <a:fillRect l="-447154" t="-130682" r="-813" b="-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82356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40D992-A396-4E34-A9D6-3170FF69616C}"/>
                  </a:ext>
                </a:extLst>
              </p:cNvPr>
              <p:cNvSpPr txBox="1"/>
              <p:nvPr/>
            </p:nvSpPr>
            <p:spPr>
              <a:xfrm>
                <a:off x="336778" y="2708920"/>
                <a:ext cx="608593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b="0" dirty="0">
                  <a:solidFill>
                    <a:srgbClr val="00000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b="0" dirty="0">
                  <a:solidFill>
                    <a:srgbClr val="000000"/>
                  </a:solidFill>
                </a:endParaRPr>
              </a:p>
              <a:p>
                <a:r>
                  <a:rPr lang="en-US" b="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𝑖𝑙𝑖𝑚𝑖𝑡𝑎𝑑𝑜</m:t>
                    </m:r>
                  </m:oMath>
                </a14:m>
                <a:endParaRPr lang="en-US" b="0" dirty="0">
                  <a:solidFill>
                    <a:srgbClr val="00B050"/>
                  </a:solidFill>
                </a:endParaRPr>
              </a:p>
              <a:p>
                <a:r>
                  <a:rPr lang="en-US" b="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40D992-A396-4E34-A9D6-3170FF696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78" y="2708920"/>
                <a:ext cx="6085932" cy="147732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BD6E8DA-031C-4A1D-8860-DE246DEDE518}"/>
              </a:ext>
            </a:extLst>
          </p:cNvPr>
          <p:cNvGrpSpPr/>
          <p:nvPr/>
        </p:nvGrpSpPr>
        <p:grpSpPr>
          <a:xfrm>
            <a:off x="5442340" y="2440440"/>
            <a:ext cx="3240359" cy="2591157"/>
            <a:chOff x="5442340" y="2440440"/>
            <a:chExt cx="3240359" cy="2591157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5D31D047-0E6C-4AE8-8AF3-533E677708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2340" y="2440440"/>
              <a:ext cx="3034251" cy="25285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DF41607-6800-4E5C-9BF6-DEAE3D4A0C2C}"/>
                </a:ext>
              </a:extLst>
            </p:cNvPr>
            <p:cNvSpPr txBox="1"/>
            <p:nvPr/>
          </p:nvSpPr>
          <p:spPr>
            <a:xfrm>
              <a:off x="5442340" y="4754598"/>
              <a:ext cx="32403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Fuente: https://www.chittorgarh.com/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677168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Estrategias con opciones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6028" y="1281690"/>
            <a:ext cx="8153967" cy="4968552"/>
          </a:xfrm>
        </p:spPr>
        <p:txBody>
          <a:bodyPr/>
          <a:lstStyle/>
          <a:p>
            <a:pPr>
              <a:buClr>
                <a:schemeClr val="tx1"/>
              </a:buClr>
              <a:buSzPct val="150000"/>
            </a:pPr>
            <a:r>
              <a:rPr lang="es-AR" altLang="en-US" sz="2300" dirty="0">
                <a:solidFill>
                  <a:srgbClr val="000000"/>
                </a:solidFill>
              </a:rPr>
              <a:t>Hay estrategias para todos los gustos (ver </a:t>
            </a:r>
            <a:r>
              <a:rPr lang="es-AR" altLang="en-US" sz="2300" dirty="0" err="1">
                <a:solidFill>
                  <a:srgbClr val="000000"/>
                </a:solidFill>
              </a:rPr>
              <a:t>Serur</a:t>
            </a:r>
            <a:r>
              <a:rPr lang="es-AR" altLang="en-US" sz="2300" dirty="0">
                <a:solidFill>
                  <a:srgbClr val="000000"/>
                </a:solidFill>
              </a:rPr>
              <a:t>, </a:t>
            </a:r>
            <a:r>
              <a:rPr lang="es-AR" altLang="en-US" sz="2300" dirty="0" err="1">
                <a:solidFill>
                  <a:srgbClr val="000000"/>
                </a:solidFill>
              </a:rPr>
              <a:t>Kakushadze</a:t>
            </a:r>
            <a:r>
              <a:rPr lang="es-AR" altLang="en-US" sz="2300" dirty="0">
                <a:solidFill>
                  <a:srgbClr val="000000"/>
                </a:solidFill>
              </a:rPr>
              <a:t>, </a:t>
            </a:r>
            <a:r>
              <a:rPr lang="es-AR" altLang="en-US" sz="2300" i="1" dirty="0">
                <a:solidFill>
                  <a:srgbClr val="000000"/>
                </a:solidFill>
              </a:rPr>
              <a:t> </a:t>
            </a:r>
            <a:r>
              <a:rPr lang="de-DE" sz="2300" i="1" dirty="0">
                <a:solidFill>
                  <a:srgbClr val="000000"/>
                </a:solidFill>
              </a:rPr>
              <a:t>151 Trading Strategies </a:t>
            </a:r>
            <a:r>
              <a:rPr lang="es-AR" sz="2300" dirty="0">
                <a:solidFill>
                  <a:srgbClr val="000000"/>
                </a:solidFill>
              </a:rPr>
              <a:t>por ejemplo):</a:t>
            </a:r>
            <a:endParaRPr lang="en-US" altLang="en-US" sz="2300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98613-502E-4519-952E-7C179AE9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772816"/>
            <a:ext cx="1485160" cy="4625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B1A6F7-E021-4A0D-8521-F32C883D7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220" y="2137166"/>
            <a:ext cx="1880639" cy="418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3469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181DB6-370B-426D-964A-8544AC0B3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233" y="76200"/>
            <a:ext cx="7772400" cy="914400"/>
          </a:xfrm>
        </p:spPr>
        <p:txBody>
          <a:bodyPr/>
          <a:lstStyle/>
          <a:p>
            <a:r>
              <a:rPr lang="es-AR" altLang="en-US" sz="3200" dirty="0">
                <a:solidFill>
                  <a:srgbClr val="000000"/>
                </a:solidFill>
              </a:rPr>
              <a:t>Uso de estrategias en </a:t>
            </a:r>
            <a:r>
              <a:rPr lang="es-AR" altLang="en-US" sz="3200" i="1" dirty="0" err="1">
                <a:solidFill>
                  <a:srgbClr val="000000"/>
                </a:solidFill>
              </a:rPr>
              <a:t>brokers</a:t>
            </a:r>
            <a:r>
              <a:rPr lang="es-AR" altLang="en-US" sz="3200" dirty="0">
                <a:solidFill>
                  <a:srgbClr val="000000"/>
                </a:solidFill>
              </a:rPr>
              <a:t> - calculadora</a:t>
            </a:r>
            <a:endParaRPr lang="en-US" altLang="en-US" sz="3200" i="1" dirty="0">
              <a:solidFill>
                <a:srgbClr val="000000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1999C43-9F1A-42C4-850A-B864BEC2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856984" cy="5328592"/>
          </a:xfrm>
        </p:spPr>
        <p:txBody>
          <a:bodyPr/>
          <a:lstStyle/>
          <a:p>
            <a:pPr marL="0" indent="0">
              <a:buClr>
                <a:schemeClr val="tx1"/>
              </a:buClr>
              <a:buSzPct val="150000"/>
              <a:buNone/>
            </a:pPr>
            <a:endParaRPr lang="es-AR" altLang="en-US" sz="2300" dirty="0">
              <a:solidFill>
                <a:srgbClr val="000000"/>
              </a:solidFill>
            </a:endParaRPr>
          </a:p>
          <a:p>
            <a:pPr marL="0" indent="0">
              <a:buClr>
                <a:schemeClr val="tx1"/>
              </a:buClr>
              <a:buSzPct val="150000"/>
              <a:buNone/>
            </a:pPr>
            <a:r>
              <a:rPr lang="es-AR" altLang="en-US" sz="2300" dirty="0">
                <a:solidFill>
                  <a:srgbClr val="000000"/>
                </a:solidFill>
              </a:rPr>
              <a:t>Veamos como se utilizan en la operatoria</a:t>
            </a:r>
          </a:p>
          <a:p>
            <a:pPr algn="l"/>
            <a:endParaRPr lang="es-AR" sz="2300" dirty="0">
              <a:solidFill>
                <a:srgbClr val="000000"/>
              </a:solidFill>
            </a:endParaRPr>
          </a:p>
          <a:p>
            <a:r>
              <a:rPr lang="es-AR" altLang="en-US" sz="2300" dirty="0">
                <a:solidFill>
                  <a:srgbClr val="000000"/>
                </a:solidFill>
              </a:rPr>
              <a:t>Sitio para calcular precios y perfiles de ganancia con estrategias:</a:t>
            </a:r>
          </a:p>
          <a:p>
            <a:endParaRPr lang="es-AR" altLang="en-US" sz="23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US" altLang="en-US" sz="2300" dirty="0">
                <a:solidFill>
                  <a:srgbClr val="000000"/>
                </a:solidFill>
                <a:hlinkClick r:id="rId2"/>
              </a:rPr>
              <a:t>https://www.optionsprofitcalculator.com/</a:t>
            </a:r>
            <a:endParaRPr lang="en-US" altLang="en-US" sz="23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endParaRPr lang="es-AR" altLang="en-US" sz="2300" dirty="0">
              <a:solidFill>
                <a:srgbClr val="000000"/>
              </a:solidFill>
            </a:endParaRPr>
          </a:p>
          <a:p>
            <a:endParaRPr lang="es-AR" altLang="en-US" sz="23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s-AR" altLang="en-US" sz="2300" dirty="0">
                <a:solidFill>
                  <a:srgbClr val="000000"/>
                </a:solidFill>
              </a:rPr>
              <a:t>Plataforma en un </a:t>
            </a:r>
            <a:r>
              <a:rPr lang="es-AR" altLang="en-US" sz="2300" i="1" dirty="0" err="1">
                <a:solidFill>
                  <a:srgbClr val="000000"/>
                </a:solidFill>
              </a:rPr>
              <a:t>Broker</a:t>
            </a:r>
            <a:r>
              <a:rPr lang="es-AR" altLang="en-US" sz="2300" dirty="0">
                <a:solidFill>
                  <a:srgbClr val="000000"/>
                </a:solidFill>
              </a:rPr>
              <a:t> de USA (</a:t>
            </a:r>
            <a:r>
              <a:rPr lang="es-AR" altLang="en-US" sz="2300" dirty="0" err="1">
                <a:solidFill>
                  <a:srgbClr val="000000"/>
                </a:solidFill>
              </a:rPr>
              <a:t>paper</a:t>
            </a:r>
            <a:r>
              <a:rPr lang="es-AR" altLang="en-US" sz="2300" dirty="0">
                <a:solidFill>
                  <a:srgbClr val="000000"/>
                </a:solidFill>
              </a:rPr>
              <a:t>-trading):</a:t>
            </a:r>
          </a:p>
          <a:p>
            <a:endParaRPr lang="es-AR" altLang="en-US" sz="23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s-AR" altLang="en-US" sz="2300" dirty="0">
                <a:solidFill>
                  <a:srgbClr val="000000"/>
                </a:solidFill>
              </a:rPr>
              <a:t> </a:t>
            </a:r>
            <a:r>
              <a:rPr lang="es-AR" altLang="en-US" sz="2300" i="1" dirty="0" err="1">
                <a:solidFill>
                  <a:srgbClr val="000000"/>
                </a:solidFill>
              </a:rPr>
              <a:t>Thinkorswim</a:t>
            </a:r>
            <a:r>
              <a:rPr lang="es-AR" altLang="en-US" sz="2300" dirty="0">
                <a:solidFill>
                  <a:srgbClr val="000000"/>
                </a:solidFill>
              </a:rPr>
              <a:t> de </a:t>
            </a:r>
            <a:r>
              <a:rPr lang="es-AR" altLang="en-US" sz="2300" i="1" dirty="0" err="1">
                <a:solidFill>
                  <a:srgbClr val="000000"/>
                </a:solidFill>
              </a:rPr>
              <a:t>Ameritrade</a:t>
            </a:r>
            <a:endParaRPr lang="es-AR" altLang="en-US" sz="23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129189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99045-AA68-4614-A680-9E9F1B0AB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5C3A6C-2EF2-4429-8171-61B701167257}" type="slidenum">
              <a:rPr lang="en-US" altLang="en-US" smtClean="0"/>
              <a:pPr>
                <a:defRPr/>
              </a:pPr>
              <a:t>62</a:t>
            </a:fld>
            <a:endParaRPr lang="en-US" alt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B1ED3C3-179F-4914-8394-AF5367D1594A}"/>
              </a:ext>
            </a:extLst>
          </p:cNvPr>
          <p:cNvSpPr txBox="1">
            <a:spLocks/>
          </p:cNvSpPr>
          <p:nvPr/>
        </p:nvSpPr>
        <p:spPr>
          <a:xfrm>
            <a:off x="304800" y="-39688"/>
            <a:ext cx="8534400" cy="1143001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2pPr>
            <a:lvl3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3pPr>
            <a:lvl4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4pPr>
            <a:lvl5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Calibri" pitchFamily="34" charset="0"/>
              </a:defRPr>
            </a:lvl5pPr>
            <a:lvl6pPr marL="4572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6pPr>
            <a:lvl7pPr marL="9144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7pPr>
            <a:lvl8pPr marL="13716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8pPr>
            <a:lvl9pPr marL="1828800" algn="ctr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rgbClr val="4D4D4D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br>
              <a:rPr lang="es-AR" kern="0" dirty="0">
                <a:solidFill>
                  <a:srgbClr val="000000"/>
                </a:solidFill>
              </a:rPr>
            </a:br>
            <a:r>
              <a:rPr lang="es-AR" sz="3200" kern="0" dirty="0">
                <a:solidFill>
                  <a:srgbClr val="000000"/>
                </a:solidFill>
              </a:rPr>
              <a:t>Preguntas (Hull)</a:t>
            </a:r>
            <a:endParaRPr 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825" y="1163638"/>
                <a:ext cx="8642350" cy="5257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Char char="•"/>
                  <a:defRPr sz="3200">
                    <a:solidFill>
                      <a:srgbClr val="4D4D4D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rgbClr val="4D4D4D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w"/>
                  <a:defRPr sz="2400">
                    <a:solidFill>
                      <a:srgbClr val="4D4D4D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rgbClr val="4D4D4D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anose="02020603050405020304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Font typeface="Times New Roman" pitchFamily="18" charset="0"/>
                  <a:buChar char="-"/>
                  <a:defRPr sz="2000">
                    <a:solidFill>
                      <a:srgbClr val="4D4D4D"/>
                    </a:solidFill>
                    <a:latin typeface="+mn-lt"/>
                  </a:defRPr>
                </a:lvl9pPr>
              </a:lstStyle>
              <a:p>
                <a:r>
                  <a:rPr lang="es-ES" sz="2300" dirty="0">
                    <a:solidFill>
                      <a:srgbClr val="000000"/>
                    </a:solidFill>
                  </a:rPr>
                  <a:t>[12.1] ¿Qué se entiende por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protector? ¿Qué posición en las opciones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es equivalente a una colocación protectora?
</a:t>
                </a:r>
                <a:r>
                  <a:rPr lang="en-US" sz="2300" dirty="0">
                    <a:solidFill>
                      <a:srgbClr val="000000"/>
                    </a:solidFill>
                  </a:rPr>
                  <a:t>[12.6] </a:t>
                </a:r>
                <a:r>
                  <a:rPr lang="es-ES" sz="2300" dirty="0">
                    <a:solidFill>
                      <a:srgbClr val="000000"/>
                    </a:solidFill>
                  </a:rPr>
                  <a:t>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con un strike de $50 cuesta $2. Una opción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con un strike de $45 cuesta $3. Explicar cómo se puede crear un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strangle</a:t>
                </a:r>
                <a:r>
                  <a:rPr lang="es-ES" sz="2300" dirty="0">
                    <a:solidFill>
                      <a:srgbClr val="000000"/>
                    </a:solidFill>
                  </a:rPr>
                  <a:t> a partir de estas dos opciones. Construir la tabla de ganancia del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strangle</a:t>
                </a:r>
                <a:r>
                  <a:rPr lang="es-ES" sz="2300" dirty="0">
                    <a:solidFill>
                      <a:srgbClr val="000000"/>
                    </a:solidFill>
                  </a:rPr>
                  <a:t>
</a:t>
                </a:r>
                <a:r>
                  <a:rPr lang="en-US" sz="2300" dirty="0">
                    <a:solidFill>
                      <a:srgbClr val="000000"/>
                    </a:solidFill>
                  </a:rPr>
                  <a:t>[12.11] </a:t>
                </a:r>
                <a:r>
                  <a:rPr lang="es-ES" sz="2300" dirty="0">
                    <a:solidFill>
                      <a:srgbClr val="000000"/>
                    </a:solidFill>
                  </a:rPr>
                  <a:t>Utilice la paridad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put-call</a:t>
                </a:r>
                <a:r>
                  <a:rPr lang="es-ES" sz="2300" dirty="0">
                    <a:solidFill>
                      <a:srgbClr val="000000"/>
                    </a:solidFill>
                  </a:rPr>
                  <a:t> para demostrar que el costo de un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butterfly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creado a partir de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puts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europeos es idéntico al costo de un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butterfly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creado a partir de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calls</a:t>
                </a:r>
                <a:r>
                  <a:rPr lang="es-ES" sz="2300" dirty="0">
                    <a:solidFill>
                      <a:srgbClr val="000000"/>
                    </a:solidFill>
                  </a:rPr>
                  <a:t> europeas.
</a:t>
                </a:r>
                <a:r>
                  <a:rPr lang="en-US" sz="2300" dirty="0">
                    <a:solidFill>
                      <a:srgbClr val="000000"/>
                    </a:solidFill>
                  </a:rPr>
                  <a:t>[12.13] </a:t>
                </a:r>
                <a:r>
                  <a:rPr lang="es-ES" sz="2300" dirty="0">
                    <a:solidFill>
                      <a:srgbClr val="000000"/>
                    </a:solidFill>
                  </a:rPr>
                  <a:t>Construir una tabla que muestre la ganancia de un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bull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 spread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cuando se usan </a:t>
                </a:r>
                <a:r>
                  <a:rPr lang="es-ES" sz="2300" i="1" dirty="0" err="1">
                    <a:solidFill>
                      <a:srgbClr val="000000"/>
                    </a:solidFill>
                  </a:rPr>
                  <a:t>puts</a:t>
                </a:r>
                <a:r>
                  <a:rPr lang="es-ES" sz="2300" dirty="0">
                    <a:solidFill>
                      <a:srgbClr val="000000"/>
                    </a:solidFill>
                  </a:rPr>
                  <a:t> con </a:t>
                </a:r>
                <a:r>
                  <a:rPr lang="es-ES" sz="2300" i="1" dirty="0">
                    <a:solidFill>
                      <a:srgbClr val="000000"/>
                    </a:solidFill>
                  </a:rPr>
                  <a:t>strikes</a:t>
                </a:r>
                <a:r>
                  <a:rPr lang="es-ES" sz="23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, 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3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sz="23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s-ES" sz="23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300" dirty="0">
                    <a:solidFill>
                      <a:srgbClr val="000000"/>
                    </a:solidFill>
                  </a:rPr>
                  <a:t>.</a:t>
                </a:r>
              </a:p>
              <a:p>
                <a:r>
                  <a:rPr lang="en-US" sz="2300" dirty="0">
                    <a:solidFill>
                      <a:srgbClr val="000000"/>
                    </a:solidFill>
                  </a:rPr>
                  <a:t>[12.26]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Describir</a:t>
                </a:r>
                <a:r>
                  <a:rPr lang="en-US" sz="2300" dirty="0">
                    <a:solidFill>
                      <a:srgbClr val="000000"/>
                    </a:solidFill>
                  </a:rPr>
                  <a:t> la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siguiente</a:t>
                </a:r>
                <a:r>
                  <a:rPr lang="en-US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estrategia</a:t>
                </a:r>
                <a:r>
                  <a:rPr lang="en-US" sz="2300" dirty="0">
                    <a:solidFill>
                      <a:srgbClr val="000000"/>
                    </a:solidFill>
                  </a:rPr>
                  <a:t>: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long</a:t>
                </a:r>
                <a:r>
                  <a:rPr lang="en-US" sz="2300" dirty="0">
                    <a:solidFill>
                      <a:srgbClr val="000000"/>
                    </a:solidFill>
                  </a:rPr>
                  <a:t> un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strangle</a:t>
                </a:r>
                <a:r>
                  <a:rPr lang="en-US" sz="2300" dirty="0">
                    <a:solidFill>
                      <a:srgbClr val="000000"/>
                    </a:solidFill>
                  </a:rPr>
                  <a:t> y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short</a:t>
                </a:r>
                <a:r>
                  <a:rPr lang="en-US" sz="2300" dirty="0">
                    <a:solidFill>
                      <a:srgbClr val="000000"/>
                    </a:solidFill>
                  </a:rPr>
                  <a:t> un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straddle</a:t>
                </a:r>
                <a:r>
                  <a:rPr lang="en-US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mismo</a:t>
                </a:r>
                <a:r>
                  <a:rPr lang="en-US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vencimiento</a:t>
                </a:r>
                <a:r>
                  <a:rPr lang="en-US" sz="2300" dirty="0">
                    <a:solidFill>
                      <a:srgbClr val="000000"/>
                    </a:solidFill>
                  </a:rPr>
                  <a:t>. El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strike </a:t>
                </a:r>
                <a:r>
                  <a:rPr lang="en-US" sz="2300" dirty="0">
                    <a:solidFill>
                      <a:srgbClr val="000000"/>
                    </a:solidFill>
                  </a:rPr>
                  <a:t>del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straddle </a:t>
                </a:r>
                <a:r>
                  <a:rPr lang="en-US" sz="2300" dirty="0">
                    <a:solidFill>
                      <a:srgbClr val="000000"/>
                    </a:solidFill>
                  </a:rPr>
                  <a:t>es el unto medio entre los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strikes </a:t>
                </a:r>
                <a:r>
                  <a:rPr lang="en-US" sz="2300" dirty="0">
                    <a:solidFill>
                      <a:srgbClr val="000000"/>
                    </a:solidFill>
                  </a:rPr>
                  <a:t>del </a:t>
                </a:r>
                <a:r>
                  <a:rPr lang="en-US" sz="2300" i="1" dirty="0">
                    <a:solidFill>
                      <a:srgbClr val="000000"/>
                    </a:solidFill>
                  </a:rPr>
                  <a:t>strangle. </a:t>
                </a:r>
                <a:r>
                  <a:rPr lang="en-US" sz="2300" dirty="0">
                    <a:solidFill>
                      <a:srgbClr val="000000"/>
                    </a:solidFill>
                  </a:rPr>
                  <a:t>A que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otra</a:t>
                </a:r>
                <a:r>
                  <a:rPr lang="en-US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estrategia</a:t>
                </a:r>
                <a:r>
                  <a:rPr lang="en-US" sz="2300" dirty="0">
                    <a:solidFill>
                      <a:srgbClr val="000000"/>
                    </a:solidFill>
                  </a:rPr>
                  <a:t> se </a:t>
                </a:r>
                <a:r>
                  <a:rPr lang="en-US" sz="2300" dirty="0" err="1">
                    <a:solidFill>
                      <a:srgbClr val="000000"/>
                    </a:solidFill>
                  </a:rPr>
                  <a:t>asemeja</a:t>
                </a:r>
                <a:r>
                  <a:rPr lang="en-US" sz="2300" dirty="0">
                    <a:solidFill>
                      <a:srgbClr val="000000"/>
                    </a:solidFill>
                  </a:rPr>
                  <a:t>?</a:t>
                </a:r>
                <a:endParaRPr lang="es-ES" sz="23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DA85F14-2038-4E0F-A2AF-D31E91EB3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163638"/>
                <a:ext cx="8642350" cy="5257800"/>
              </a:xfrm>
              <a:prstGeom prst="rect">
                <a:avLst/>
              </a:prstGeom>
              <a:blipFill>
                <a:blip r:embed="rId2"/>
                <a:stretch>
                  <a:fillRect l="-1058" t="-1044" r="-987" b="-30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174835"/>
      </p:ext>
    </p:extLst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">
      <a:dk1>
        <a:srgbClr val="003399"/>
      </a:dk1>
      <a:lt1>
        <a:srgbClr val="FFFFFF"/>
      </a:lt1>
      <a:dk2>
        <a:srgbClr val="003399"/>
      </a:dk2>
      <a:lt2>
        <a:srgbClr val="E3E2C7"/>
      </a:lt2>
      <a:accent1>
        <a:srgbClr val="CCCC99"/>
      </a:accent1>
      <a:accent2>
        <a:srgbClr val="003399"/>
      </a:accent2>
      <a:accent3>
        <a:srgbClr val="FFFFFF"/>
      </a:accent3>
      <a:accent4>
        <a:srgbClr val="002A82"/>
      </a:accent4>
      <a:accent5>
        <a:srgbClr val="E2E2CA"/>
      </a:accent5>
      <a:accent6>
        <a:srgbClr val="002D8A"/>
      </a:accent6>
      <a:hlink>
        <a:srgbClr val="003399"/>
      </a:hlink>
      <a:folHlink>
        <a:srgbClr val="8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16704</TotalTime>
  <Words>5811</Words>
  <Application>Microsoft Office PowerPoint</Application>
  <PresentationFormat>On-screen Show (4:3)</PresentationFormat>
  <Paragraphs>798</Paragraphs>
  <Slides>62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Arial</vt:lpstr>
      <vt:lpstr>Calibri</vt:lpstr>
      <vt:lpstr>Calibri Light</vt:lpstr>
      <vt:lpstr>Cambria Math</vt:lpstr>
      <vt:lpstr>CMSS10</vt:lpstr>
      <vt:lpstr>Times New Roman</vt:lpstr>
      <vt:lpstr>Verdana</vt:lpstr>
      <vt:lpstr>Wingdings</vt:lpstr>
      <vt:lpstr>Straight Edge</vt:lpstr>
      <vt:lpstr>Office Theme</vt:lpstr>
      <vt:lpstr>PowerPoint Presentation</vt:lpstr>
      <vt:lpstr>Opciones</vt:lpstr>
      <vt:lpstr>Precio de una Opción </vt:lpstr>
      <vt:lpstr>El precio de una Opción NO depende de:</vt:lpstr>
      <vt:lpstr>El precio de una Opción SI depende de</vt:lpstr>
      <vt:lpstr>Sensibilidad del precio respecto a los parámetros</vt:lpstr>
      <vt:lpstr>Volatilidad implícita</vt:lpstr>
      <vt:lpstr>Sonrisa (sesgo) de volatilidad</vt:lpstr>
      <vt:lpstr>Sonrisa (sesgo) de volatilidad (2/2)</vt:lpstr>
      <vt:lpstr>Superficie de volatilidad</vt:lpstr>
      <vt:lpstr>Volatilidad Implícita (cont)</vt:lpstr>
      <vt:lpstr>Volatilidad Implícita (cont)</vt:lpstr>
      <vt:lpstr>PowerPoint Presentation</vt:lpstr>
      <vt:lpstr>Sensibilidad del precio respecto a los parámetros</vt:lpstr>
      <vt:lpstr>Cotas importantes en opciones - notación</vt:lpstr>
      <vt:lpstr>Cotas superiores (1/2)</vt:lpstr>
      <vt:lpstr>Cotas superiores (2/2)</vt:lpstr>
      <vt:lpstr>Cotas inferiores (1/2)</vt:lpstr>
      <vt:lpstr>Cotas inferiores (2/2)</vt:lpstr>
      <vt:lpstr>No arbitraje</vt:lpstr>
      <vt:lpstr>No arbitraje – Paridad Put-Call (1/4)</vt:lpstr>
      <vt:lpstr>No arbitraje – Paridad Put-Call (2/4)</vt:lpstr>
      <vt:lpstr>No arbitraje – Paridad Put-Call (3/4)</vt:lpstr>
      <vt:lpstr>No arbitraje – Paridad Put-Call (4/4)</vt:lpstr>
      <vt:lpstr>Relaciones entre Europeas y Americanas (1/2)</vt:lpstr>
      <vt:lpstr>Call americano sin dividendos (1/2)</vt:lpstr>
      <vt:lpstr>Put americano sin dividendos</vt:lpstr>
      <vt:lpstr>Otras relaciones PutCall</vt:lpstr>
      <vt:lpstr>Opciones Exóticas (y no tanto) (1/2)</vt:lpstr>
      <vt:lpstr>Opciones Exóticas (y no tanto) (2/2)</vt:lpstr>
      <vt:lpstr>Modelos Matemáticos en Finanzas Cuantitativas</vt:lpstr>
      <vt:lpstr>Otras relaciones PutCall - Binarias</vt:lpstr>
      <vt:lpstr>PowerPoint Presentation</vt:lpstr>
      <vt:lpstr>PowerPoint Presentation</vt:lpstr>
      <vt:lpstr>Estrategias de Trading con Opciones (1/2)</vt:lpstr>
      <vt:lpstr>Estrategias de Trading con Opciones (2/2)</vt:lpstr>
      <vt:lpstr>Una opción con su activo subyacente</vt:lpstr>
      <vt:lpstr>Covered Call – Call Cubierta</vt:lpstr>
      <vt:lpstr>Protective Call – Call Protectora</vt:lpstr>
      <vt:lpstr>Protective Put – Put Protectora</vt:lpstr>
      <vt:lpstr>Covered Put – Put Cubierta</vt:lpstr>
      <vt:lpstr>Estrategias equivalentes</vt:lpstr>
      <vt:lpstr>Estrategias de tipo spread</vt:lpstr>
      <vt:lpstr>Bull Call Spread</vt:lpstr>
      <vt:lpstr>Bull Put Spread</vt:lpstr>
      <vt:lpstr>Bear Call Spread</vt:lpstr>
      <vt:lpstr>Bear Put Spread</vt:lpstr>
      <vt:lpstr>Call Butterfly Spread</vt:lpstr>
      <vt:lpstr>Put Butterfly Spread</vt:lpstr>
      <vt:lpstr>Calendar Spreads (1/3)</vt:lpstr>
      <vt:lpstr>Calendar Spreads (2/3)</vt:lpstr>
      <vt:lpstr>Calendar Spreads (3/3)</vt:lpstr>
      <vt:lpstr>Estrategias combinadas</vt:lpstr>
      <vt:lpstr>Straddle</vt:lpstr>
      <vt:lpstr>Strangle</vt:lpstr>
      <vt:lpstr>Escribir un Straddle o un Strangle</vt:lpstr>
      <vt:lpstr>Box Spreads</vt:lpstr>
      <vt:lpstr>Forward sintético</vt:lpstr>
      <vt:lpstr>Combo – Risk Reversal</vt:lpstr>
      <vt:lpstr>Estrategias con opciones</vt:lpstr>
      <vt:lpstr>Uso de estrategias en brokers - calculadora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DF2022 - Clase 2</dc:title>
  <dc:creator>Manuel Maurette</dc:creator>
  <cp:lastModifiedBy>Manuel Maurette</cp:lastModifiedBy>
  <cp:revision>44</cp:revision>
  <dcterms:created xsi:type="dcterms:W3CDTF">2020-07-08T03:56:50Z</dcterms:created>
  <dcterms:modified xsi:type="dcterms:W3CDTF">2022-08-24T20:57:04Z</dcterms:modified>
</cp:coreProperties>
</file>