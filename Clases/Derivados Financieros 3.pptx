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7" r:id="rId2"/>
    <p:sldId id="270" r:id="rId3"/>
    <p:sldId id="274" r:id="rId4"/>
    <p:sldId id="275" r:id="rId5"/>
    <p:sldId id="280" r:id="rId6"/>
    <p:sldId id="264" r:id="rId7"/>
    <p:sldId id="402" r:id="rId8"/>
    <p:sldId id="482" r:id="rId9"/>
    <p:sldId id="395" r:id="rId10"/>
    <p:sldId id="483" r:id="rId11"/>
    <p:sldId id="484" r:id="rId12"/>
    <p:sldId id="485" r:id="rId13"/>
    <p:sldId id="486" r:id="rId14"/>
    <p:sldId id="374" r:id="rId15"/>
    <p:sldId id="370" r:id="rId16"/>
    <p:sldId id="433" r:id="rId17"/>
    <p:sldId id="434" r:id="rId18"/>
    <p:sldId id="371" r:id="rId19"/>
    <p:sldId id="377" r:id="rId20"/>
    <p:sldId id="378" r:id="rId21"/>
    <p:sldId id="435" r:id="rId22"/>
    <p:sldId id="382" r:id="rId23"/>
    <p:sldId id="383" r:id="rId24"/>
    <p:sldId id="456" r:id="rId25"/>
    <p:sldId id="452" r:id="rId26"/>
    <p:sldId id="487" r:id="rId27"/>
    <p:sldId id="488" r:id="rId28"/>
    <p:sldId id="419" r:id="rId29"/>
    <p:sldId id="437" r:id="rId30"/>
    <p:sldId id="438" r:id="rId31"/>
    <p:sldId id="439" r:id="rId32"/>
    <p:sldId id="440" r:id="rId33"/>
    <p:sldId id="441" r:id="rId34"/>
    <p:sldId id="436" r:id="rId35"/>
    <p:sldId id="308" r:id="rId36"/>
    <p:sldId id="399" r:id="rId37"/>
    <p:sldId id="422" r:id="rId38"/>
    <p:sldId id="481" r:id="rId39"/>
    <p:sldId id="471" r:id="rId40"/>
    <p:sldId id="369" r:id="rId41"/>
    <p:sldId id="472" r:id="rId42"/>
    <p:sldId id="473" r:id="rId43"/>
    <p:sldId id="474" r:id="rId44"/>
    <p:sldId id="373" r:id="rId45"/>
    <p:sldId id="475" r:id="rId46"/>
    <p:sldId id="375" r:id="rId47"/>
    <p:sldId id="376" r:id="rId48"/>
    <p:sldId id="476" r:id="rId49"/>
    <p:sldId id="477" r:id="rId50"/>
    <p:sldId id="379" r:id="rId51"/>
    <p:sldId id="478" r:id="rId52"/>
    <p:sldId id="479" r:id="rId53"/>
    <p:sldId id="480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A9928-1E8F-4AEF-9D17-0148CFD33298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5C158-4657-46E0-9013-F3FBC186F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866219F2-F265-4048-9278-209C5B1C5C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4375" indent="-274638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8550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38288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8025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352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924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496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068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5AEABBD-4A1E-4CD5-991D-CA2C26094214}" type="slidenum">
              <a:rPr lang="en-US" altLang="en-US" sz="1300" smtClean="0"/>
              <a:pPr>
                <a:spcBef>
                  <a:spcPct val="0"/>
                </a:spcBef>
              </a:pPr>
              <a:t>1</a:t>
            </a:fld>
            <a:endParaRPr lang="en-US" altLang="en-US" sz="1300"/>
          </a:p>
        </p:txBody>
      </p:sp>
      <p:sp>
        <p:nvSpPr>
          <p:cNvPr id="5123" name="Rectangle 7">
            <a:extLst>
              <a:ext uri="{FF2B5EF4-FFF2-40B4-BE49-F238E27FC236}">
                <a16:creationId xmlns:a16="http://schemas.microsoft.com/office/drawing/2014/main" id="{FDFBAE36-82B1-4888-B903-AC5A7376B06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87FE17B-1E3D-4CBB-BA33-E370B9F03936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06D53540-7A80-4A1D-8AAA-2264949B95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319BE930-F3E5-44E7-AF94-2BE651367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350AC42-E2DE-4FD3-AB82-19F6BB4FED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16" tIns="46409" rIns="92816" bIns="46409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4ED5DF-7628-4CCA-97CF-46DCFB4DA942}" type="slidenum">
              <a:rPr lang="en-US" altLang="en-US" sz="1300"/>
              <a:pPr algn="r" eaLnBrk="1" hangingPunct="1"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  <p:sp>
        <p:nvSpPr>
          <p:cNvPr id="7171" name="Rectangle 7">
            <a:extLst>
              <a:ext uri="{FF2B5EF4-FFF2-40B4-BE49-F238E27FC236}">
                <a16:creationId xmlns:a16="http://schemas.microsoft.com/office/drawing/2014/main" id="{67B2442E-0A48-42B3-B935-E3C736CA685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ECE4D56-AEED-419F-947E-78483CFCF81F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B173365B-DC53-4124-BD39-BB2A3C3EA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C9A7E1F-E204-403D-8982-BC9484C49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350AC42-E2DE-4FD3-AB82-19F6BB4FED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16" tIns="46409" rIns="92816" bIns="46409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4ED5DF-7628-4CCA-97CF-46DCFB4DA942}" type="slidenum">
              <a:rPr lang="en-US" altLang="en-US" sz="1300"/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 sz="1300"/>
          </a:p>
        </p:txBody>
      </p:sp>
      <p:sp>
        <p:nvSpPr>
          <p:cNvPr id="7171" name="Rectangle 7">
            <a:extLst>
              <a:ext uri="{FF2B5EF4-FFF2-40B4-BE49-F238E27FC236}">
                <a16:creationId xmlns:a16="http://schemas.microsoft.com/office/drawing/2014/main" id="{67B2442E-0A48-42B3-B935-E3C736CA685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ECE4D56-AEED-419F-947E-78483CFCF81F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B173365B-DC53-4124-BD39-BB2A3C3EA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C9A7E1F-E204-403D-8982-BC9484C49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465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350AC42-E2DE-4FD3-AB82-19F6BB4FED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16" tIns="46409" rIns="92816" bIns="46409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4ED5DF-7628-4CCA-97CF-46DCFB4DA942}" type="slidenum">
              <a:rPr lang="en-US" altLang="en-US" sz="1300"/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  <p:sp>
        <p:nvSpPr>
          <p:cNvPr id="7171" name="Rectangle 7">
            <a:extLst>
              <a:ext uri="{FF2B5EF4-FFF2-40B4-BE49-F238E27FC236}">
                <a16:creationId xmlns:a16="http://schemas.microsoft.com/office/drawing/2014/main" id="{67B2442E-0A48-42B3-B935-E3C736CA685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ECE4D56-AEED-419F-947E-78483CFCF81F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B173365B-DC53-4124-BD39-BB2A3C3EA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C9A7E1F-E204-403D-8982-BC9484C49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281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350AC42-E2DE-4FD3-AB82-19F6BB4FED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16" tIns="46409" rIns="92816" bIns="46409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4ED5DF-7628-4CCA-97CF-46DCFB4DA942}" type="slidenum">
              <a:rPr lang="en-US" altLang="en-US" sz="1300"/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 sz="1300"/>
          </a:p>
        </p:txBody>
      </p:sp>
      <p:sp>
        <p:nvSpPr>
          <p:cNvPr id="7171" name="Rectangle 7">
            <a:extLst>
              <a:ext uri="{FF2B5EF4-FFF2-40B4-BE49-F238E27FC236}">
                <a16:creationId xmlns:a16="http://schemas.microsoft.com/office/drawing/2014/main" id="{67B2442E-0A48-42B3-B935-E3C736CA685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ECE4D56-AEED-419F-947E-78483CFCF81F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B173365B-DC53-4124-BD39-BB2A3C3EA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C9A7E1F-E204-403D-8982-BC9484C49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050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350AC42-E2DE-4FD3-AB82-19F6BB4FED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16" tIns="46409" rIns="92816" bIns="46409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4ED5DF-7628-4CCA-97CF-46DCFB4DA942}" type="slidenum">
              <a:rPr lang="en-US" altLang="en-US" sz="1300"/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 sz="1300"/>
          </a:p>
        </p:txBody>
      </p:sp>
      <p:sp>
        <p:nvSpPr>
          <p:cNvPr id="7171" name="Rectangle 7">
            <a:extLst>
              <a:ext uri="{FF2B5EF4-FFF2-40B4-BE49-F238E27FC236}">
                <a16:creationId xmlns:a16="http://schemas.microsoft.com/office/drawing/2014/main" id="{67B2442E-0A48-42B3-B935-E3C736CA685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ECE4D56-AEED-419F-947E-78483CFCF81F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B173365B-DC53-4124-BD39-BB2A3C3EA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C9A7E1F-E204-403D-8982-BC9484C49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111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350AC42-E2DE-4FD3-AB82-19F6BB4FED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16" tIns="46409" rIns="92816" bIns="46409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4ED5DF-7628-4CCA-97CF-46DCFB4DA942}" type="slidenum">
              <a:rPr lang="en-US" altLang="en-US" sz="1300"/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  <p:sp>
        <p:nvSpPr>
          <p:cNvPr id="7171" name="Rectangle 7">
            <a:extLst>
              <a:ext uri="{FF2B5EF4-FFF2-40B4-BE49-F238E27FC236}">
                <a16:creationId xmlns:a16="http://schemas.microsoft.com/office/drawing/2014/main" id="{67B2442E-0A48-42B3-B935-E3C736CA685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ECE4D56-AEED-419F-947E-78483CFCF81F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B173365B-DC53-4124-BD39-BB2A3C3EA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C9A7E1F-E204-403D-8982-BC9484C49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477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350AC42-E2DE-4FD3-AB82-19F6BB4FED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16" tIns="46409" rIns="92816" bIns="46409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4ED5DF-7628-4CCA-97CF-46DCFB4DA942}" type="slidenum">
              <a:rPr lang="en-US" altLang="en-US" sz="1300"/>
              <a:pPr algn="r" eaLnBrk="1" hangingPunct="1">
                <a:spcBef>
                  <a:spcPct val="0"/>
                </a:spcBef>
              </a:pPr>
              <a:t>21</a:t>
            </a:fld>
            <a:endParaRPr lang="en-US" altLang="en-US" sz="1300"/>
          </a:p>
        </p:txBody>
      </p:sp>
      <p:sp>
        <p:nvSpPr>
          <p:cNvPr id="7171" name="Rectangle 7">
            <a:extLst>
              <a:ext uri="{FF2B5EF4-FFF2-40B4-BE49-F238E27FC236}">
                <a16:creationId xmlns:a16="http://schemas.microsoft.com/office/drawing/2014/main" id="{67B2442E-0A48-42B3-B935-E3C736CA685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ECE4D56-AEED-419F-947E-78483CFCF81F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B173365B-DC53-4124-BD39-BB2A3C3EA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C9A7E1F-E204-403D-8982-BC9484C49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73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D0DFBA06-1A5B-417D-81E2-B67DFF1ACB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4375" indent="-274638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8550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38288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8025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352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924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496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068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727C80-6D63-4728-9ED8-3DD2711030C8}" type="slidenum">
              <a:rPr lang="en-US" altLang="en-US" sz="1300" smtClean="0"/>
              <a:pPr>
                <a:spcBef>
                  <a:spcPct val="0"/>
                </a:spcBef>
              </a:pPr>
              <a:t>28</a:t>
            </a:fld>
            <a:endParaRPr lang="en-US" altLang="en-US" sz="1300"/>
          </a:p>
        </p:txBody>
      </p:sp>
      <p:sp>
        <p:nvSpPr>
          <p:cNvPr id="53251" name="Rectangle 7">
            <a:extLst>
              <a:ext uri="{FF2B5EF4-FFF2-40B4-BE49-F238E27FC236}">
                <a16:creationId xmlns:a16="http://schemas.microsoft.com/office/drawing/2014/main" id="{99780CA4-6DC5-4D55-9878-44BF484C751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69350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632" tIns="46315" rIns="92632" bIns="46315" anchor="b"/>
          <a:lstStyle>
            <a:lvl1pPr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>
                <a:srgbClr val="002285"/>
              </a:buClr>
              <a:buFont typeface="Times New Roman" panose="02020603050405020304" pitchFamily="18" charset="0"/>
              <a:buNone/>
            </a:pPr>
            <a:fld id="{080B0F9D-21C1-4031-A748-DAD56FB35F26}" type="slidenum">
              <a:rPr lang="en-GB" altLang="en-US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rPr>
              <a:pPr algn="r">
                <a:spcBef>
                  <a:spcPct val="0"/>
                </a:spcBef>
                <a:buClr>
                  <a:srgbClr val="002285"/>
                </a:buClr>
                <a:buFont typeface="Times New Roman" panose="02020603050405020304" pitchFamily="18" charset="0"/>
                <a:buNone/>
              </a:pPr>
              <a:t>28</a:t>
            </a:fld>
            <a:endParaRPr lang="en-GB" altLang="en-US">
              <a:solidFill>
                <a:srgbClr val="000000"/>
              </a:solidFill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3252" name="Text Box 2">
            <a:extLst>
              <a:ext uri="{FF2B5EF4-FFF2-40B4-BE49-F238E27FC236}">
                <a16:creationId xmlns:a16="http://schemas.microsoft.com/office/drawing/2014/main" id="{64CBBEBE-3BC9-4496-9D59-32C0EA5C0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90563"/>
            <a:ext cx="4600575" cy="34655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7803" tIns="43902" rIns="87803" bIns="43902" anchor="ctr"/>
          <a:lstStyle>
            <a:lvl1pPr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Clr>
                <a:srgbClr val="003399"/>
              </a:buClr>
              <a:buFont typeface="Times New Roman" panose="02020603050405020304" pitchFamily="18" charset="0"/>
              <a:buNone/>
            </a:pPr>
            <a:endParaRPr lang="es-ES" altLang="en-US" sz="2300">
              <a:solidFill>
                <a:schemeClr val="bg1"/>
              </a:solidFill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1DE6BD56-9718-4E23-B476-3A4C1C7F631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33450" y="4389438"/>
            <a:ext cx="5141913" cy="4156075"/>
          </a:xfrm>
          <a:noFill/>
        </p:spPr>
        <p:txBody>
          <a:bodyPr wrap="none" lIns="92632" tIns="46315" rIns="92632" bIns="46315" anchor="ctr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789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D0DFBA06-1A5B-417D-81E2-B67DFF1ACB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4375" indent="-274638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8550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38288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8025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352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924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496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068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727C80-6D63-4728-9ED8-3DD2711030C8}" type="slidenum">
              <a:rPr lang="en-US" altLang="en-US" sz="1300" smtClean="0"/>
              <a:pPr>
                <a:spcBef>
                  <a:spcPct val="0"/>
                </a:spcBef>
              </a:pPr>
              <a:t>35</a:t>
            </a:fld>
            <a:endParaRPr lang="en-US" altLang="en-US" sz="1300" dirty="0"/>
          </a:p>
        </p:txBody>
      </p:sp>
      <p:sp>
        <p:nvSpPr>
          <p:cNvPr id="53251" name="Rectangle 7">
            <a:extLst>
              <a:ext uri="{FF2B5EF4-FFF2-40B4-BE49-F238E27FC236}">
                <a16:creationId xmlns:a16="http://schemas.microsoft.com/office/drawing/2014/main" id="{99780CA4-6DC5-4D55-9878-44BF484C751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69350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632" tIns="46315" rIns="92632" bIns="46315" anchor="b"/>
          <a:lstStyle>
            <a:lvl1pPr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>
                <a:srgbClr val="002285"/>
              </a:buClr>
              <a:buFont typeface="Times New Roman" panose="02020603050405020304" pitchFamily="18" charset="0"/>
              <a:buNone/>
            </a:pPr>
            <a:fld id="{080B0F9D-21C1-4031-A748-DAD56FB35F26}" type="slidenum">
              <a:rPr lang="en-GB" altLang="en-US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rPr>
              <a:pPr algn="r">
                <a:spcBef>
                  <a:spcPct val="0"/>
                </a:spcBef>
                <a:buClr>
                  <a:srgbClr val="002285"/>
                </a:buClr>
                <a:buFont typeface="Times New Roman" panose="02020603050405020304" pitchFamily="18" charset="0"/>
                <a:buNone/>
              </a:pPr>
              <a:t>35</a:t>
            </a:fld>
            <a:endParaRPr lang="en-GB" altLang="en-US" dirty="0">
              <a:solidFill>
                <a:srgbClr val="000000"/>
              </a:solidFill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3252" name="Text Box 2">
            <a:extLst>
              <a:ext uri="{FF2B5EF4-FFF2-40B4-BE49-F238E27FC236}">
                <a16:creationId xmlns:a16="http://schemas.microsoft.com/office/drawing/2014/main" id="{64CBBEBE-3BC9-4496-9D59-32C0EA5C0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90563"/>
            <a:ext cx="4600575" cy="34655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7803" tIns="43902" rIns="87803" bIns="43902" anchor="ctr"/>
          <a:lstStyle>
            <a:lvl1pPr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Clr>
                <a:srgbClr val="003399"/>
              </a:buClr>
              <a:buFont typeface="Times New Roman" panose="02020603050405020304" pitchFamily="18" charset="0"/>
              <a:buNone/>
            </a:pPr>
            <a:endParaRPr lang="es-ES" altLang="en-US" sz="2300" dirty="0">
              <a:solidFill>
                <a:schemeClr val="bg1"/>
              </a:solidFill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1DE6BD56-9718-4E23-B476-3A4C1C7F631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33450" y="4389438"/>
            <a:ext cx="5141913" cy="4156075"/>
          </a:xfrm>
          <a:noFill/>
        </p:spPr>
        <p:txBody>
          <a:bodyPr wrap="none" lIns="92632" tIns="46315" rIns="92632" bIns="46315" anchor="ctr"/>
          <a:lstStyle/>
          <a:p>
            <a:pPr eaLnBrk="1" hangingPunct="1"/>
            <a:endParaRPr lang="es-E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D0DFBA06-1A5B-417D-81E2-B67DFF1ACB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4375" indent="-274638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8550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38288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8025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352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924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496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068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727C80-6D63-4728-9ED8-3DD2711030C8}" type="slidenum">
              <a:rPr lang="en-US" altLang="en-US" sz="1300" smtClean="0"/>
              <a:pPr>
                <a:spcBef>
                  <a:spcPct val="0"/>
                </a:spcBef>
              </a:pPr>
              <a:t>36</a:t>
            </a:fld>
            <a:endParaRPr lang="en-US" altLang="en-US" sz="1300"/>
          </a:p>
        </p:txBody>
      </p:sp>
      <p:sp>
        <p:nvSpPr>
          <p:cNvPr id="53251" name="Rectangle 7">
            <a:extLst>
              <a:ext uri="{FF2B5EF4-FFF2-40B4-BE49-F238E27FC236}">
                <a16:creationId xmlns:a16="http://schemas.microsoft.com/office/drawing/2014/main" id="{99780CA4-6DC5-4D55-9878-44BF484C751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0338" y="8769350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632" tIns="46315" rIns="92632" bIns="46315" anchor="b"/>
          <a:lstStyle>
            <a:lvl1pPr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30000"/>
              </a:spcBef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2813" algn="l"/>
                <a:tab pos="1825625" algn="l"/>
                <a:tab pos="2738438" algn="l"/>
                <a:tab pos="3649663" algn="l"/>
                <a:tab pos="4564063" algn="l"/>
                <a:tab pos="5475288" algn="l"/>
                <a:tab pos="6389688" algn="l"/>
                <a:tab pos="7302500" algn="l"/>
                <a:tab pos="8215313" algn="l"/>
                <a:tab pos="9128125" algn="l"/>
                <a:tab pos="100409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>
                <a:srgbClr val="002285"/>
              </a:buClr>
              <a:buFont typeface="Times New Roman" panose="02020603050405020304" pitchFamily="18" charset="0"/>
              <a:buNone/>
            </a:pPr>
            <a:fld id="{080B0F9D-21C1-4031-A748-DAD56FB35F26}" type="slidenum">
              <a:rPr lang="en-GB" altLang="en-US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rPr>
              <a:pPr algn="r">
                <a:spcBef>
                  <a:spcPct val="0"/>
                </a:spcBef>
                <a:buClr>
                  <a:srgbClr val="002285"/>
                </a:buClr>
                <a:buFont typeface="Times New Roman" panose="02020603050405020304" pitchFamily="18" charset="0"/>
                <a:buNone/>
              </a:pPr>
              <a:t>36</a:t>
            </a:fld>
            <a:endParaRPr lang="en-GB" altLang="en-US">
              <a:solidFill>
                <a:srgbClr val="000000"/>
              </a:solidFill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3252" name="Text Box 2">
            <a:extLst>
              <a:ext uri="{FF2B5EF4-FFF2-40B4-BE49-F238E27FC236}">
                <a16:creationId xmlns:a16="http://schemas.microsoft.com/office/drawing/2014/main" id="{64CBBEBE-3BC9-4496-9D59-32C0EA5C0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90563"/>
            <a:ext cx="4600575" cy="34655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7803" tIns="43902" rIns="87803" bIns="43902" anchor="ctr"/>
          <a:lstStyle>
            <a:lvl1pPr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Clr>
                <a:srgbClr val="003399"/>
              </a:buClr>
              <a:buFont typeface="Times New Roman" panose="02020603050405020304" pitchFamily="18" charset="0"/>
              <a:buNone/>
            </a:pPr>
            <a:endParaRPr lang="es-ES" altLang="en-US" sz="2300">
              <a:solidFill>
                <a:schemeClr val="bg1"/>
              </a:solidFill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1DE6BD56-9718-4E23-B476-3A4C1C7F631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33450" y="4389438"/>
            <a:ext cx="5141913" cy="4156075"/>
          </a:xfrm>
          <a:noFill/>
        </p:spPr>
        <p:txBody>
          <a:bodyPr wrap="none" lIns="92632" tIns="46315" rIns="92632" bIns="46315" anchor="ctr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075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866219F2-F265-4048-9278-209C5B1C5C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4375" indent="-274638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8550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38288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8025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352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924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496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068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5AEABBD-4A1E-4CD5-991D-CA2C26094214}" type="slidenum">
              <a:rPr lang="en-US" altLang="en-US" sz="1300" smtClean="0"/>
              <a:pPr>
                <a:spcBef>
                  <a:spcPct val="0"/>
                </a:spcBef>
              </a:pPr>
              <a:t>38</a:t>
            </a:fld>
            <a:endParaRPr lang="en-US" altLang="en-US" sz="1300"/>
          </a:p>
        </p:txBody>
      </p:sp>
      <p:sp>
        <p:nvSpPr>
          <p:cNvPr id="5123" name="Rectangle 7">
            <a:extLst>
              <a:ext uri="{FF2B5EF4-FFF2-40B4-BE49-F238E27FC236}">
                <a16:creationId xmlns:a16="http://schemas.microsoft.com/office/drawing/2014/main" id="{FDFBAE36-82B1-4888-B903-AC5A7376B06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087FE17B-1E3D-4CBB-BA33-E370B9F03936}" type="slidenum">
              <a:rPr lang="en-US" altLang="en-US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06D53540-7A80-4A1D-8AAA-2264949B95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690563"/>
            <a:ext cx="6157912" cy="3465512"/>
          </a:xfrm>
          <a:ln/>
        </p:spPr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319BE930-F3E5-44E7-AF94-2BE651367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624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9AEA7-F140-43E8-86ED-B095E4CAF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699120-4C97-4DE6-A28A-181059107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2F830-EF16-4449-91AA-3D72F9386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3F41-A17D-4CA0-8EFC-3623881FAF61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20FA5-2116-4265-88DB-3946A30EA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A6ACB-CA8F-49D6-89BE-906B65E2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B501-794C-4393-96CF-735675A1C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11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9202-B888-42A3-8993-B55A98DE8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15D90-F947-4351-AEAA-0B72FE8DB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42B92-9CEA-4EAF-A4A0-4808427BD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3F41-A17D-4CA0-8EFC-3623881FAF61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A713E-6D5F-46E4-8B4D-3CA015151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7039A-5137-4F8B-B976-A3CFC63F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B501-794C-4393-96CF-735675A1C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4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37020-5FC1-47F8-9364-41BD0BA11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36EA5-CD3F-4B37-82C2-5BEEDB325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0E939-B1BF-473B-BC5E-E0301814F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3F41-A17D-4CA0-8EFC-3623881FAF61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F6090-682C-454E-91CB-B16552C8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8F1EC-23AC-4A1D-880A-0FE0B20B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B501-794C-4393-96CF-735675A1C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4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EAE9-BF56-4F2A-B47D-D6146B29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79E2F-97FF-4B0A-A770-BA9397137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4057C-0138-40C1-A7AD-5975BC1F1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05F1C-2DEC-4009-AB40-01D3E76A9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3F41-A17D-4CA0-8EFC-3623881FAF61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4DF30-0E00-41EB-9F43-B99DBB37D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6D19A-3E81-4BB2-A59C-DA7CB3490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B501-794C-4393-96CF-735675A1C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717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A820F-E965-4FAE-A432-B34F9BB5C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5BD3C-999E-4640-91CB-FA2650E1D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E1242-B1CC-4185-AB01-96D26C1CA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06E9C-42E3-47CD-9441-43815FFB2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6973D0-1178-4E18-8E21-EED6CE01D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9856F-D4B5-4B4A-BBB5-414DBF9D5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3F41-A17D-4CA0-8EFC-3623881FAF61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01517A-A51A-490B-832C-EB9768D18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193A8F-8AB8-4ED3-A84B-F0BB951E7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B501-794C-4393-96CF-735675A1C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0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8FD9-128B-4082-8969-2AC2A2176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92F99-0212-4974-851B-BF79A3EE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3F41-A17D-4CA0-8EFC-3623881FAF61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95282-D9BA-4F13-A969-3807A06F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365D1C-5CD9-48C8-8038-80968960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B501-794C-4393-96CF-735675A1C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91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4A63A7-5D19-48ED-955F-8E16833C8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3F41-A17D-4CA0-8EFC-3623881FAF61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31AF6-3BBB-48E7-9417-C9024CF36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69CE1-C26B-4EAC-BD05-C93FB334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B501-794C-4393-96CF-735675A1C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4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5483-F71C-421F-9476-18ACB9D45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DB13B-2733-48D4-B2EE-BB528492C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BB9D7-3D68-428E-BF4B-0F31ECB27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4B12F-52E5-4955-8608-B2E0F74DD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3F41-A17D-4CA0-8EFC-3623881FAF61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2E898-78D7-4574-9EFB-C550AFA71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965BD-579C-44B8-93FC-76869BA1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B501-794C-4393-96CF-735675A1C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4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8820-2032-4ADC-90D0-1EB40FF4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20D73B-77BE-40A4-AE58-9EE56E1569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AD178-121B-460C-8830-37AF7BBBE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06ACC-25DA-4D13-A7BA-B1DD2D70B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3F41-A17D-4CA0-8EFC-3623881FAF61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504D9-A864-4B0A-A0C1-3891D734C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E57E0-53B6-4D76-B03D-E645001AD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B501-794C-4393-96CF-735675A1C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7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6491-51B9-443F-B8F2-7AA7981DB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DE1B8-C763-4E7D-AE11-74FDB67FE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FE5E8-0446-4073-BDE0-4A142D1FB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3F41-A17D-4CA0-8EFC-3623881FAF61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02608-2388-42EA-9E12-1BD0B8ABC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FB751-81A2-48D2-9634-0E1B05E7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B501-794C-4393-96CF-735675A1C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34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BC7DB3-1C1C-48C1-8FB2-53C370823F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A9AB7D-12B3-47FF-A996-A5DF8853C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4162B-02F6-4323-815B-71F2A7212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D3F41-A17D-4CA0-8EFC-3623881FAF61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6B37B-7DFC-4668-9940-DFF949EA7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1AF6F-F338-4F97-ACDE-729D55836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BB501-794C-4393-96CF-735675A1C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9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A6FCB-48D3-407C-BA42-32C9E8656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D7698-ADEA-4B84-99D5-AD3D73854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FBFC6-44A3-4B7C-A90E-7AD057382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D3F41-A17D-4CA0-8EFC-3623881FAF61}" type="datetimeFigureOut">
              <a:rPr lang="en-US" smtClean="0"/>
              <a:t>8/14/2022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92114-2AB1-44E0-B8AC-8B8817C04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8CD78-5966-4D75-92A7-79D6BC219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BB501-794C-4393-96CF-735675A1C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1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0.png"/><Relationship Id="rId5" Type="http://schemas.openxmlformats.org/officeDocument/2006/relationships/image" Target="../media/image590.png"/><Relationship Id="rId4" Type="http://schemas.openxmlformats.org/officeDocument/2006/relationships/image" Target="../media/image58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6">
            <a:extLst>
              <a:ext uri="{FF2B5EF4-FFF2-40B4-BE49-F238E27FC236}">
                <a16:creationId xmlns:a16="http://schemas.microsoft.com/office/drawing/2014/main" id="{3EAAC866-38B5-4BE7-A95A-608229DB97E5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524001" y="3395663"/>
            <a:ext cx="6981825" cy="2057400"/>
          </a:xfrm>
        </p:spPr>
        <p:txBody>
          <a:bodyPr>
            <a:normAutofit/>
          </a:bodyPr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Manu Maurette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s-AR" altLang="en-US" sz="2400" dirty="0">
              <a:solidFill>
                <a:srgbClr val="000000"/>
              </a:solidFill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s-AR" altLang="en-US" sz="2400" dirty="0">
              <a:solidFill>
                <a:srgbClr val="000000"/>
              </a:solidFill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s-AR" altLang="en-US" sz="2400" dirty="0">
                <a:solidFill>
                  <a:srgbClr val="000000"/>
                </a:solidFill>
              </a:rPr>
              <a:t>Clase 3: Modelo Binomial, hacia Black-Scholes</a:t>
            </a:r>
            <a:endParaRPr lang="en-US" altLang="en-US" sz="2400" dirty="0">
              <a:solidFill>
                <a:srgbClr val="000000"/>
              </a:solidFill>
            </a:endParaRPr>
          </a:p>
        </p:txBody>
      </p:sp>
      <p:sp>
        <p:nvSpPr>
          <p:cNvPr id="2054" name="Rectangle 9">
            <a:extLst>
              <a:ext uri="{FF2B5EF4-FFF2-40B4-BE49-F238E27FC236}">
                <a16:creationId xmlns:a16="http://schemas.microsoft.com/office/drawing/2014/main" id="{C97DC3A1-35E5-4E0C-8B9A-3A0E18614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604" y="1669368"/>
            <a:ext cx="838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Ø"/>
              <a:defRPr sz="2800">
                <a:solidFill>
                  <a:srgbClr val="4D4D4D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w"/>
              <a:defRPr sz="2400">
                <a:solidFill>
                  <a:srgbClr val="4D4D4D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§"/>
              <a:defRPr sz="2000">
                <a:solidFill>
                  <a:srgbClr val="4D4D4D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4000" dirty="0" err="1">
                <a:solidFill>
                  <a:srgbClr val="000000"/>
                </a:solidFill>
                <a:latin typeface="+mn-lt"/>
              </a:rPr>
              <a:t>Derivados</a:t>
            </a:r>
            <a:r>
              <a:rPr lang="en-US" altLang="en-US" sz="4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sz="4000" dirty="0" err="1">
                <a:solidFill>
                  <a:srgbClr val="000000"/>
                </a:solidFill>
                <a:latin typeface="+mn-lt"/>
              </a:rPr>
              <a:t>Financieros</a:t>
            </a:r>
            <a:r>
              <a:rPr lang="en-US" altLang="en-US" sz="4000" dirty="0">
                <a:solidFill>
                  <a:srgbClr val="000000"/>
                </a:solidFill>
                <a:latin typeface="+mn-lt"/>
              </a:rPr>
              <a:t> 3</a:t>
            </a:r>
          </a:p>
          <a:p>
            <a:pPr algn="ctr"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4000" dirty="0">
                <a:solidFill>
                  <a:srgbClr val="000000"/>
                </a:solidFill>
                <a:latin typeface="+mn-lt"/>
              </a:rPr>
              <a:t>2022</a:t>
            </a:r>
          </a:p>
        </p:txBody>
      </p:sp>
      <p:sp>
        <p:nvSpPr>
          <p:cNvPr id="4104" name="Line 22">
            <a:extLst>
              <a:ext uri="{FF2B5EF4-FFF2-40B4-BE49-F238E27FC236}">
                <a16:creationId xmlns:a16="http://schemas.microsoft.com/office/drawing/2014/main" id="{B8AF241C-92FF-4369-99C6-4BFD7E032E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268760"/>
            <a:ext cx="8458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05" name="Line 23">
            <a:extLst>
              <a:ext uri="{FF2B5EF4-FFF2-40B4-BE49-F238E27FC236}">
                <a16:creationId xmlns:a16="http://schemas.microsoft.com/office/drawing/2014/main" id="{216886FB-126A-4D10-92C7-22C7C0CCC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12976"/>
            <a:ext cx="8458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3" name="Picture 2" descr="A picture containing food&#10;&#10;Description automatically generated">
            <a:extLst>
              <a:ext uri="{FF2B5EF4-FFF2-40B4-BE49-F238E27FC236}">
                <a16:creationId xmlns:a16="http://schemas.microsoft.com/office/drawing/2014/main" id="{2400D78A-3C2B-4C45-8A14-A94448C01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233" y="5157193"/>
            <a:ext cx="1665535" cy="16655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Box 1">
            <a:extLst>
              <a:ext uri="{FF2B5EF4-FFF2-40B4-BE49-F238E27FC236}">
                <a16:creationId xmlns:a16="http://schemas.microsoft.com/office/drawing/2014/main" id="{61F2B170-EB0F-48BA-90FC-05C1CC8EA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719763"/>
            <a:ext cx="35115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AR" altLang="en-US"/>
              <a:t>Cuanto van a valer mañana, la semana que viene, en un año!?</a:t>
            </a:r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F34140-D59F-4877-BA00-6586E05E7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38" y="1406525"/>
            <a:ext cx="4106862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6B16A2-1474-4713-A028-1CBACD7DE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985839"/>
            <a:ext cx="410527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353593-A59C-423F-AF4F-E932F46C5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288" y="998538"/>
            <a:ext cx="4672012" cy="272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06A143-F3C3-4AD9-BD3F-57DF8A375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050" y="4308475"/>
            <a:ext cx="4059238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A6ABCDC-A308-4427-9E44-1C366FA48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638" y="4308475"/>
            <a:ext cx="4659312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64AAEC1-B8B8-47C9-AF62-B99FEE249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50" y="2822575"/>
            <a:ext cx="731838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9003FC-EC59-4431-B93B-202B61B25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638" y="4308475"/>
            <a:ext cx="71596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43C9682-BE8E-491D-AAA0-4FD4EFA7E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576" y="2162176"/>
            <a:ext cx="7080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933ECC1-5D96-470C-B8D1-F3D0B6D58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51" y="5110163"/>
            <a:ext cx="739775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6B1BE8-A799-46E5-8D05-F9366DD15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1" y="3730626"/>
            <a:ext cx="5802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AR" altLang="en-US" sz="2400">
                <a:solidFill>
                  <a:schemeClr val="bg1"/>
                </a:solidFill>
              </a:rPr>
              <a:t>Otra vez el comportamiento “errático”…</a:t>
            </a: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46F0B2D1-CA11-4BB7-9D3F-58021B7FF3D2}"/>
              </a:ext>
            </a:extLst>
          </p:cNvPr>
          <p:cNvSpPr txBox="1">
            <a:spLocks/>
          </p:cNvSpPr>
          <p:nvPr/>
        </p:nvSpPr>
        <p:spPr bwMode="auto">
          <a:xfrm>
            <a:off x="1828800" y="1"/>
            <a:ext cx="8534400" cy="110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s-AR" sz="3200" kern="0" dirty="0">
                <a:solidFill>
                  <a:srgbClr val="000000"/>
                </a:solidFill>
              </a:rPr>
              <a:t>¿Cómo se comportan los activos financieros?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557170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BDF3EE-D3B8-434B-8B9A-2B1E181F1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25" y="1625600"/>
            <a:ext cx="3359150" cy="279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FB3391-A079-4215-8BD0-F205EDDEF7E5}"/>
              </a:ext>
            </a:extLst>
          </p:cNvPr>
          <p:cNvSpPr txBox="1"/>
          <p:nvPr/>
        </p:nvSpPr>
        <p:spPr>
          <a:xfrm>
            <a:off x="2273745" y="4632325"/>
            <a:ext cx="808355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300" b="1" dirty="0">
                <a:solidFill>
                  <a:srgbClr val="000000"/>
                </a:solidFill>
                <a:latin typeface="+mj-lt"/>
              </a:rPr>
              <a:t>1828 </a:t>
            </a:r>
            <a:r>
              <a:rPr lang="en-US" sz="2300" dirty="0">
                <a:solidFill>
                  <a:srgbClr val="000000"/>
                </a:solidFill>
                <a:latin typeface="+mj-lt"/>
              </a:rPr>
              <a:t>El </a:t>
            </a:r>
            <a:r>
              <a:rPr lang="es-AR" sz="2300" dirty="0">
                <a:solidFill>
                  <a:srgbClr val="000000"/>
                </a:solidFill>
                <a:latin typeface="+mj-lt"/>
              </a:rPr>
              <a:t>botánico</a:t>
            </a:r>
            <a:r>
              <a:rPr lang="en-US" sz="23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3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Robert Brown </a:t>
            </a:r>
            <a:r>
              <a:rPr lang="es-ES" sz="2300" dirty="0">
                <a:solidFill>
                  <a:srgbClr val="000000"/>
                </a:solidFill>
                <a:latin typeface="+mj-lt"/>
              </a:rPr>
              <a:t>reporta que granos de polen suspendidos en una cierta sustancia vistos a través de un microscopio, realizaban un </a:t>
            </a:r>
            <a:r>
              <a:rPr lang="es-AR" sz="2300" dirty="0">
                <a:solidFill>
                  <a:srgbClr val="000000"/>
                </a:solidFill>
                <a:latin typeface="+mj-lt"/>
              </a:rPr>
              <a:t>movimiento</a:t>
            </a:r>
            <a:r>
              <a:rPr lang="en-US" sz="2300" dirty="0">
                <a:solidFill>
                  <a:srgbClr val="000000"/>
                </a:solidFill>
                <a:latin typeface="+mj-lt"/>
              </a:rPr>
              <a:t> irregular e inexplicable.</a:t>
            </a:r>
          </a:p>
        </p:txBody>
      </p:sp>
      <p:sp>
        <p:nvSpPr>
          <p:cNvPr id="44036" name="Title 4">
            <a:extLst>
              <a:ext uri="{FF2B5EF4-FFF2-40B4-BE49-F238E27FC236}">
                <a16:creationId xmlns:a16="http://schemas.microsoft.com/office/drawing/2014/main" id="{984AEBDD-3686-4187-A8E4-5CA2DF55E1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1"/>
            <a:ext cx="8534400" cy="1103313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¿En dónde mas se ven estos comportamientos?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29552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17B51FEC-B3ED-4A40-B75F-CAFD0FAAD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1268413"/>
            <a:ext cx="8458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s-ES" altLang="en-US" sz="2300" b="1" kern="0" dirty="0">
                <a:solidFill>
                  <a:srgbClr val="000000"/>
                </a:solidFill>
                <a:latin typeface="+mj-lt"/>
              </a:rPr>
              <a:t>1900</a:t>
            </a:r>
            <a:r>
              <a:rPr lang="es-ES" altLang="en-US" sz="2300" kern="0" dirty="0">
                <a:solidFill>
                  <a:srgbClr val="000000"/>
                </a:solidFill>
                <a:latin typeface="+mj-lt"/>
              </a:rPr>
              <a:t> </a:t>
            </a:r>
            <a:r>
              <a:rPr lang="es-ES" altLang="en-US" sz="23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Louis </a:t>
            </a:r>
            <a:r>
              <a:rPr lang="es-ES" altLang="en-US" sz="2300" b="1" i="1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Bachelier</a:t>
            </a:r>
            <a:r>
              <a:rPr lang="es-ES" altLang="en-US" sz="23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s-ES" altLang="en-US" sz="2300" kern="0" dirty="0">
                <a:solidFill>
                  <a:srgbClr val="000000"/>
                </a:solidFill>
                <a:latin typeface="+mj-lt"/>
              </a:rPr>
              <a:t>publica su tesis doctoral en matemáticas: Teoría de la especulación, en la que utiliza el movimiento browniano para modelar activos financieros.</a:t>
            </a:r>
          </a:p>
          <a:p>
            <a:pPr eaLnBrk="1" hangingPunct="1">
              <a:defRPr/>
            </a:pPr>
            <a:r>
              <a:rPr lang="es-ES" altLang="en-US" sz="2300" b="1" kern="0" dirty="0">
                <a:solidFill>
                  <a:srgbClr val="000000"/>
                </a:solidFill>
                <a:latin typeface="+mj-lt"/>
              </a:rPr>
              <a:t>1905</a:t>
            </a:r>
            <a:r>
              <a:rPr lang="es-ES" altLang="en-US" sz="2300" kern="0" dirty="0">
                <a:solidFill>
                  <a:srgbClr val="000000"/>
                </a:solidFill>
                <a:latin typeface="+mj-lt"/>
              </a:rPr>
              <a:t> </a:t>
            </a:r>
            <a:r>
              <a:rPr lang="es-ES" altLang="en-US" sz="23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Albert Einstein </a:t>
            </a:r>
            <a:r>
              <a:rPr lang="es-ES" altLang="en-US" sz="2300" kern="0" dirty="0">
                <a:solidFill>
                  <a:srgbClr val="000000"/>
                </a:solidFill>
                <a:latin typeface="+mj-lt"/>
              </a:rPr>
              <a:t>explica el movimiento browniano como múltiples colisiones aleatorias de las moléculas del líquido con los granos de polen.</a:t>
            </a:r>
          </a:p>
          <a:p>
            <a:pPr eaLnBrk="1" hangingPunct="1">
              <a:defRPr/>
            </a:pPr>
            <a:r>
              <a:rPr lang="es-ES" altLang="en-US" sz="2300" b="1" kern="0" dirty="0">
                <a:solidFill>
                  <a:srgbClr val="000000"/>
                </a:solidFill>
                <a:latin typeface="+mj-lt"/>
              </a:rPr>
              <a:t>1923</a:t>
            </a:r>
            <a:r>
              <a:rPr lang="es-ES" altLang="en-US" sz="2300" kern="0" dirty="0">
                <a:solidFill>
                  <a:srgbClr val="000000"/>
                </a:solidFill>
                <a:latin typeface="+mj-lt"/>
              </a:rPr>
              <a:t> </a:t>
            </a:r>
            <a:r>
              <a:rPr lang="es-ES" altLang="en-US" sz="23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Norbert Wiener </a:t>
            </a:r>
            <a:r>
              <a:rPr lang="es-ES" altLang="en-US" sz="2300" kern="0" dirty="0">
                <a:solidFill>
                  <a:srgbClr val="000000"/>
                </a:solidFill>
                <a:latin typeface="+mj-lt"/>
              </a:rPr>
              <a:t>formaliza matemáticamente el movimiento browniano.</a:t>
            </a:r>
          </a:p>
          <a:p>
            <a:pPr eaLnBrk="1" hangingPunct="1">
              <a:defRPr/>
            </a:pPr>
            <a:r>
              <a:rPr lang="es-ES" altLang="en-US" sz="2300" b="1" kern="0" dirty="0">
                <a:solidFill>
                  <a:srgbClr val="000000"/>
                </a:solidFill>
                <a:latin typeface="+mj-lt"/>
              </a:rPr>
              <a:t>1973</a:t>
            </a:r>
            <a:r>
              <a:rPr lang="es-ES" altLang="en-US" sz="2300" kern="0" dirty="0">
                <a:solidFill>
                  <a:srgbClr val="000000"/>
                </a:solidFill>
                <a:latin typeface="+mj-lt"/>
              </a:rPr>
              <a:t> El matemático </a:t>
            </a:r>
            <a:r>
              <a:rPr lang="es-ES" altLang="en-US" sz="23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Fisher Black </a:t>
            </a:r>
            <a:r>
              <a:rPr lang="es-ES" altLang="en-US" sz="2300" kern="0" dirty="0">
                <a:solidFill>
                  <a:srgbClr val="000000"/>
                </a:solidFill>
                <a:latin typeface="+mj-lt"/>
              </a:rPr>
              <a:t>y el economista </a:t>
            </a:r>
            <a:r>
              <a:rPr lang="es-ES" altLang="en-US" sz="23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Myron Scholes </a:t>
            </a:r>
            <a:r>
              <a:rPr lang="es-ES" altLang="en-US" sz="2300" kern="0" dirty="0">
                <a:solidFill>
                  <a:srgbClr val="000000"/>
                </a:solidFill>
                <a:latin typeface="+mj-lt"/>
              </a:rPr>
              <a:t>publican su trabajo sobre precios de opciones, y junto con el economista </a:t>
            </a:r>
            <a:r>
              <a:rPr lang="es-ES" altLang="en-US" sz="23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Robert Merton</a:t>
            </a:r>
            <a:r>
              <a:rPr lang="es-ES" altLang="en-US" sz="2300" kern="0" dirty="0">
                <a:solidFill>
                  <a:srgbClr val="000000"/>
                </a:solidFill>
                <a:latin typeface="+mj-lt"/>
              </a:rPr>
              <a:t>, logran dar una formula cerrada para el precio justo de estos contratos. </a:t>
            </a:r>
          </a:p>
          <a:p>
            <a:pPr eaLnBrk="1" hangingPunct="1">
              <a:defRPr/>
            </a:pPr>
            <a:r>
              <a:rPr lang="es-ES" sz="2300" b="1" kern="0" dirty="0">
                <a:solidFill>
                  <a:srgbClr val="000000"/>
                </a:solidFill>
                <a:latin typeface="+mj-lt"/>
              </a:rPr>
              <a:t>1997</a:t>
            </a:r>
            <a:r>
              <a:rPr lang="es-ES" sz="2300" dirty="0">
                <a:solidFill>
                  <a:srgbClr val="7030A0"/>
                </a:solidFill>
              </a:rPr>
              <a:t> </a:t>
            </a:r>
            <a:r>
              <a:rPr lang="es-ES" sz="2300" kern="0" dirty="0">
                <a:solidFill>
                  <a:srgbClr val="000000"/>
                </a:solidFill>
                <a:latin typeface="+mj-lt"/>
              </a:rPr>
              <a:t>Ganaron el premio NOBEL de economía</a:t>
            </a:r>
            <a:endParaRPr lang="en-US" sz="2300" kern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5B2B6B2A-63F9-42F9-9D3B-2ED5EB95D20B}"/>
              </a:ext>
            </a:extLst>
          </p:cNvPr>
          <p:cNvSpPr txBox="1">
            <a:spLocks/>
          </p:cNvSpPr>
          <p:nvPr/>
        </p:nvSpPr>
        <p:spPr bwMode="auto">
          <a:xfrm>
            <a:off x="1847850" y="1"/>
            <a:ext cx="8534400" cy="110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s-AR" sz="3200" kern="0" dirty="0">
                <a:solidFill>
                  <a:srgbClr val="000000"/>
                </a:solidFill>
              </a:rPr>
              <a:t>Movimiento Browniano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52086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6">
            <a:extLst>
              <a:ext uri="{FF2B5EF4-FFF2-40B4-BE49-F238E27FC236}">
                <a16:creationId xmlns:a16="http://schemas.microsoft.com/office/drawing/2014/main" id="{6F2C7662-C274-42B9-B285-5FDBFCAC2D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n-US" sz="3200">
                <a:solidFill>
                  <a:srgbClr val="000000"/>
                </a:solidFill>
              </a:rPr>
              <a:t>De aquí…matemáticos y físicos en Finanzas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41429DC-AC78-4B5C-A407-1D66F8421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341438"/>
            <a:ext cx="8458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s-AR" sz="2300" b="1" dirty="0">
                <a:solidFill>
                  <a:srgbClr val="000000"/>
                </a:solidFill>
                <a:latin typeface="CMSS10"/>
              </a:rPr>
              <a:t>80s-90s</a:t>
            </a:r>
            <a:r>
              <a:rPr lang="es-AR" sz="2300" dirty="0">
                <a:solidFill>
                  <a:srgbClr val="000000"/>
                </a:solidFill>
                <a:latin typeface="CMSS10"/>
              </a:rPr>
              <a:t>:</a:t>
            </a:r>
            <a:r>
              <a:rPr lang="es-AR" sz="2300" dirty="0"/>
              <a:t> </a:t>
            </a:r>
            <a:r>
              <a:rPr lang="es-AR" sz="2300" kern="0" dirty="0">
                <a:solidFill>
                  <a:srgbClr val="000000"/>
                </a:solidFill>
              </a:rPr>
              <a:t>grandes entidades financieras Bancos, fondos de inversión, y otras buscan a los mejores promedios de las mejores universidades - </a:t>
            </a:r>
            <a:r>
              <a:rPr lang="es-AR" sz="23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Época de Oro </a:t>
            </a:r>
            <a:r>
              <a:rPr lang="es-AR" sz="2300" i="1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Quant</a:t>
            </a:r>
            <a:endParaRPr lang="es-AR" sz="2300" dirty="0">
              <a:solidFill>
                <a:srgbClr val="00B050"/>
              </a:solidFill>
            </a:endParaRPr>
          </a:p>
          <a:p>
            <a:pPr>
              <a:defRPr/>
            </a:pPr>
            <a:r>
              <a:rPr lang="es-AR" sz="2300" b="1" dirty="0">
                <a:solidFill>
                  <a:srgbClr val="000000"/>
                </a:solidFill>
              </a:rPr>
              <a:t>2000s</a:t>
            </a:r>
            <a:r>
              <a:rPr lang="es-AR" sz="2300" dirty="0">
                <a:solidFill>
                  <a:srgbClr val="000000"/>
                </a:solidFill>
              </a:rPr>
              <a:t>:</a:t>
            </a:r>
            <a:r>
              <a:rPr lang="es-AR" sz="2300" dirty="0">
                <a:solidFill>
                  <a:srgbClr val="3333B3"/>
                </a:solidFill>
              </a:rPr>
              <a:t> </a:t>
            </a:r>
            <a:r>
              <a:rPr lang="es-AR" sz="2300" kern="0" dirty="0">
                <a:solidFill>
                  <a:srgbClr val="000000"/>
                </a:solidFill>
              </a:rPr>
              <a:t>Se estandariza la industria, todos los equipos tienen matemáticos. Surge el poder de las computadoras. Nuevos instrumentos complejos – </a:t>
            </a:r>
            <a:r>
              <a:rPr lang="es-AR" sz="23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CRISIS económica mundial 2007-2009</a:t>
            </a:r>
          </a:p>
          <a:p>
            <a:pPr>
              <a:defRPr/>
            </a:pPr>
            <a:r>
              <a:rPr lang="es-AR" sz="2300" b="1" dirty="0">
                <a:solidFill>
                  <a:srgbClr val="000000"/>
                </a:solidFill>
              </a:rPr>
              <a:t>2010s</a:t>
            </a:r>
            <a:r>
              <a:rPr lang="es-AR" sz="2300" dirty="0">
                <a:solidFill>
                  <a:srgbClr val="000000"/>
                </a:solidFill>
              </a:rPr>
              <a:t>:</a:t>
            </a:r>
            <a:r>
              <a:rPr lang="es-AR" sz="2300" dirty="0">
                <a:solidFill>
                  <a:srgbClr val="3333B3"/>
                </a:solidFill>
              </a:rPr>
              <a:t> </a:t>
            </a:r>
            <a:r>
              <a:rPr lang="es-AR" sz="2300" kern="0" dirty="0">
                <a:solidFill>
                  <a:srgbClr val="000000"/>
                </a:solidFill>
              </a:rPr>
              <a:t>Se dirigen todos los esfuerzos a el manejo de riesgo, para evitar que vuelva a pasar. Sigue creciendo la interacción con la computación. </a:t>
            </a:r>
            <a:r>
              <a:rPr lang="es-AR" sz="23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Todo </a:t>
            </a:r>
            <a:r>
              <a:rPr lang="es-AR" sz="2300" i="1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quant</a:t>
            </a:r>
            <a:r>
              <a:rPr lang="es-AR" sz="23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necesita saber programar.</a:t>
            </a:r>
          </a:p>
          <a:p>
            <a:pPr eaLnBrk="1" hangingPunct="1">
              <a:defRPr/>
            </a:pPr>
            <a:r>
              <a:rPr lang="es-AR" sz="2300" b="1" dirty="0">
                <a:solidFill>
                  <a:srgbClr val="000000"/>
                </a:solidFill>
              </a:rPr>
              <a:t>Hoy</a:t>
            </a:r>
            <a:r>
              <a:rPr lang="es-AR" sz="2300" dirty="0">
                <a:solidFill>
                  <a:srgbClr val="000000"/>
                </a:solidFill>
              </a:rPr>
              <a:t>:</a:t>
            </a:r>
            <a:r>
              <a:rPr lang="es-AR" sz="2300" dirty="0">
                <a:solidFill>
                  <a:srgbClr val="3333B3"/>
                </a:solidFill>
              </a:rPr>
              <a:t> </a:t>
            </a:r>
            <a:r>
              <a:rPr lang="es-AR" sz="2300" kern="0" dirty="0">
                <a:solidFill>
                  <a:srgbClr val="000000"/>
                </a:solidFill>
              </a:rPr>
              <a:t>Camino natural en el mundo pasar por matemática para terminar en finanzas. </a:t>
            </a:r>
            <a:r>
              <a:rPr lang="es-AR" sz="23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La informatización es plena</a:t>
            </a:r>
            <a:r>
              <a:rPr lang="es-AR" sz="2300" dirty="0">
                <a:solidFill>
                  <a:srgbClr val="7030A0"/>
                </a:solidFill>
              </a:rPr>
              <a:t>. </a:t>
            </a:r>
            <a:r>
              <a:rPr lang="es-AR" sz="2300" dirty="0">
                <a:solidFill>
                  <a:srgbClr val="000000"/>
                </a:solidFill>
              </a:rPr>
              <a:t>Casi que igual de importante saber informática-programación que matemática</a:t>
            </a:r>
            <a:r>
              <a:rPr lang="es-AR" sz="2300" dirty="0"/>
              <a:t>. </a:t>
            </a:r>
            <a:r>
              <a:rPr lang="es-AR" sz="2300" kern="0" dirty="0">
                <a:solidFill>
                  <a:srgbClr val="000000"/>
                </a:solidFill>
              </a:rPr>
              <a:t>Nuevas carreras Ingeniero Financiero, Finanzas Matemáticas, </a:t>
            </a:r>
            <a:r>
              <a:rPr lang="es-AR" sz="2300" kern="0" dirty="0" err="1">
                <a:solidFill>
                  <a:srgbClr val="000000"/>
                </a:solidFill>
              </a:rPr>
              <a:t>etc</a:t>
            </a:r>
            <a:endParaRPr lang="es-AR" altLang="en-US" sz="23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19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4DBB113-A533-4F65-9C8D-08FF69CC76A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63570" y="1803550"/>
            <a:ext cx="3788415" cy="785576"/>
          </a:xfrm>
          <a:prstGeom prst="rect">
            <a:avLst/>
          </a:prstGeom>
          <a:blipFill>
            <a:blip r:embed="rId2"/>
            <a:stretch>
              <a:fillRect l="-3382" t="-7752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DF138D-9EE9-4109-ACB1-621A21C4058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847345" y="1177471"/>
            <a:ext cx="4181086" cy="1754326"/>
          </a:xfrm>
          <a:prstGeom prst="rect">
            <a:avLst/>
          </a:prstGeom>
          <a:blipFill>
            <a:blip r:embed="rId3"/>
            <a:stretch>
              <a:fillRect l="-875" t="-2083" b="-4167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11E2E1-1935-4587-B6AF-CBBE9744D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813" y="2938464"/>
            <a:ext cx="6565900" cy="246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55EC7E-8A5A-4A5C-BAEA-9198D4C39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5407026"/>
            <a:ext cx="77104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AR" altLang="en-US" sz="2300" dirty="0">
                <a:solidFill>
                  <a:srgbClr val="000000"/>
                </a:solidFill>
                <a:latin typeface="+mn-lt"/>
              </a:rPr>
              <a:t>Esta rama de las matemáticas aplicadas se denomina</a:t>
            </a:r>
          </a:p>
          <a:p>
            <a:pPr algn="ctr"/>
            <a:r>
              <a:rPr lang="es-AR" altLang="en-US" sz="23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AR" altLang="en-US" sz="23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Finanzas Cuantitativas (</a:t>
            </a:r>
            <a:r>
              <a:rPr lang="es-AR" altLang="en-US" sz="2300" b="1" i="1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Quant</a:t>
            </a:r>
            <a:r>
              <a:rPr lang="es-AR" altLang="en-US" sz="23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s-AR" altLang="en-US" sz="2300" b="1" i="1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Finance</a:t>
            </a:r>
            <a:r>
              <a:rPr lang="es-AR" altLang="en-US" sz="23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)</a:t>
            </a:r>
            <a:endParaRPr lang="en-US" altLang="en-US" sz="2300" b="1" dirty="0">
              <a:solidFill>
                <a:schemeClr val="tx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41990" name="Title 4">
            <a:extLst>
              <a:ext uri="{FF2B5EF4-FFF2-40B4-BE49-F238E27FC236}">
                <a16:creationId xmlns:a16="http://schemas.microsoft.com/office/drawing/2014/main" id="{5F0FF1E5-0347-426C-8C33-DF918FA80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1"/>
            <a:ext cx="8534400" cy="1103313"/>
          </a:xfrm>
        </p:spPr>
        <p:txBody>
          <a:bodyPr>
            <a:normAutofit fontScale="90000"/>
          </a:bodyPr>
          <a:lstStyle/>
          <a:p>
            <a:br>
              <a:rPr lang="es-AR" altLang="en-US" dirty="0">
                <a:solidFill>
                  <a:srgbClr val="000000"/>
                </a:solidFill>
              </a:rPr>
            </a:br>
            <a:r>
              <a:rPr lang="es-AR" altLang="en-US" sz="3200" dirty="0">
                <a:solidFill>
                  <a:srgbClr val="000000"/>
                </a:solidFill>
              </a:rPr>
              <a:t>Ej. de modelo para el precio de una opción</a:t>
            </a:r>
            <a:br>
              <a:rPr lang="es-AR" altLang="en-US" dirty="0">
                <a:solidFill>
                  <a:srgbClr val="000000"/>
                </a:solidFill>
              </a:rPr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42965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6">
            <a:extLst>
              <a:ext uri="{FF2B5EF4-FFF2-40B4-BE49-F238E27FC236}">
                <a16:creationId xmlns:a16="http://schemas.microsoft.com/office/drawing/2014/main" id="{6F2C7662-C274-42B9-B285-5FDBFCAC2D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Modelos Matemáticos en Finanzas Cuantitativas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41429DC-AC78-4B5C-A407-1D66F8421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341438"/>
            <a:ext cx="8458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es-AR" sz="2300" dirty="0">
              <a:solidFill>
                <a:srgbClr val="000000"/>
              </a:solidFill>
              <a:latin typeface="CMSS10"/>
            </a:endParaRPr>
          </a:p>
          <a:p>
            <a:pPr eaLnBrk="1" hangingPunct="1">
              <a:defRPr/>
            </a:pPr>
            <a:r>
              <a:rPr lang="es-AR" sz="2300" dirty="0">
                <a:solidFill>
                  <a:srgbClr val="000000"/>
                </a:solidFill>
                <a:latin typeface="CMSS10"/>
              </a:rPr>
              <a:t>Fórmulas Cerradas / Aproximaciones analíticas</a:t>
            </a:r>
            <a:endParaRPr lang="es-AR" altLang="en-US" sz="230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s-AR" sz="2300" dirty="0">
              <a:solidFill>
                <a:srgbClr val="000000"/>
              </a:solidFill>
              <a:latin typeface="CMSS10"/>
            </a:endParaRPr>
          </a:p>
          <a:p>
            <a:pPr eaLnBrk="1" hangingPunct="1">
              <a:defRPr/>
            </a:pPr>
            <a:r>
              <a:rPr lang="es-AR" sz="2300" dirty="0">
                <a:solidFill>
                  <a:srgbClr val="000000"/>
                </a:solidFill>
                <a:latin typeface="CMSS10"/>
              </a:rPr>
              <a:t>Modelos de árboles (</a:t>
            </a:r>
            <a:r>
              <a:rPr lang="es-AR" sz="2300" i="1" dirty="0" err="1">
                <a:solidFill>
                  <a:srgbClr val="000000"/>
                </a:solidFill>
                <a:latin typeface="CMSS10"/>
              </a:rPr>
              <a:t>lattices</a:t>
            </a:r>
            <a:r>
              <a:rPr lang="es-AR" sz="2300" dirty="0">
                <a:solidFill>
                  <a:srgbClr val="000000"/>
                </a:solidFill>
                <a:latin typeface="CMSS10"/>
              </a:rPr>
              <a:t>)</a:t>
            </a:r>
            <a:r>
              <a:rPr lang="es-AR" sz="2300" dirty="0"/>
              <a:t> </a:t>
            </a:r>
          </a:p>
          <a:p>
            <a:pPr eaLnBrk="1" hangingPunct="1">
              <a:defRPr/>
            </a:pPr>
            <a:endParaRPr lang="es-AR" sz="2300" dirty="0">
              <a:solidFill>
                <a:srgbClr val="000000"/>
              </a:solidFill>
              <a:latin typeface="CMSS10"/>
            </a:endParaRPr>
          </a:p>
          <a:p>
            <a:pPr eaLnBrk="1" hangingPunct="1">
              <a:defRPr/>
            </a:pPr>
            <a:r>
              <a:rPr lang="es-AR" sz="2300" dirty="0">
                <a:solidFill>
                  <a:srgbClr val="000000"/>
                </a:solidFill>
                <a:latin typeface="CMSS10"/>
              </a:rPr>
              <a:t>Modelos de Ecuaciones Diferenciales</a:t>
            </a:r>
            <a:endParaRPr lang="es-AR" sz="2300" i="1" dirty="0">
              <a:solidFill>
                <a:srgbClr val="7030A0"/>
              </a:solidFill>
            </a:endParaRPr>
          </a:p>
          <a:p>
            <a:pPr>
              <a:defRPr/>
            </a:pPr>
            <a:endParaRPr lang="es-AR" sz="2300" dirty="0">
              <a:solidFill>
                <a:srgbClr val="000000"/>
              </a:solidFill>
              <a:latin typeface="CMSS10"/>
            </a:endParaRPr>
          </a:p>
          <a:p>
            <a:pPr>
              <a:defRPr/>
            </a:pPr>
            <a:r>
              <a:rPr lang="es-AR" sz="2300" dirty="0">
                <a:solidFill>
                  <a:srgbClr val="000000"/>
                </a:solidFill>
                <a:latin typeface="CMSS10"/>
              </a:rPr>
              <a:t>Montecarlo</a:t>
            </a:r>
          </a:p>
          <a:p>
            <a:pPr>
              <a:defRPr/>
            </a:pPr>
            <a:endParaRPr lang="es-AR" sz="2300" dirty="0">
              <a:solidFill>
                <a:srgbClr val="000000"/>
              </a:solidFill>
              <a:latin typeface="CMSS10"/>
            </a:endParaRPr>
          </a:p>
          <a:p>
            <a:pPr>
              <a:defRPr/>
            </a:pPr>
            <a:r>
              <a:rPr lang="es-AR" sz="2300" dirty="0">
                <a:solidFill>
                  <a:srgbClr val="000000"/>
                </a:solidFill>
                <a:latin typeface="CMSS10"/>
              </a:rPr>
              <a:t>Ad-hoc</a:t>
            </a:r>
          </a:p>
          <a:p>
            <a:pPr>
              <a:defRPr/>
            </a:pPr>
            <a:endParaRPr lang="es-AR" sz="2300" dirty="0">
              <a:solidFill>
                <a:srgbClr val="000000"/>
              </a:solidFill>
              <a:latin typeface="CMSS10"/>
            </a:endParaRPr>
          </a:p>
          <a:p>
            <a:pPr>
              <a:defRPr/>
            </a:pPr>
            <a:endParaRPr lang="es-AR" sz="2300" b="1" dirty="0">
              <a:solidFill>
                <a:srgbClr val="000000"/>
              </a:solidFill>
              <a:latin typeface="CMSS10"/>
            </a:endParaRPr>
          </a:p>
        </p:txBody>
      </p:sp>
    </p:spTree>
    <p:extLst>
      <p:ext uri="{BB962C8B-B14F-4D97-AF65-F5344CB8AC3E}">
        <p14:creationId xmlns:p14="http://schemas.microsoft.com/office/powerpoint/2010/main" val="1442374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0D4B8590-E9F8-4B47-B7D8-EE5CBE01596C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0" y="6553200"/>
            <a:ext cx="2133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A91AAF1-7646-4C0A-95AA-4D3D101EAE24}" type="slidenum">
              <a:rPr lang="en-US" altLang="en-US" sz="1400"/>
              <a:pPr algn="r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74CD850-F310-4580-8840-AC541349F8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51088" y="0"/>
            <a:ext cx="7416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Modelo Binomial de un paso (1/3)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E34B6E1-998B-4746-9D12-7C66372FA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268413"/>
            <a:ext cx="8458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s-AR" altLang="en-US" sz="2300" kern="0" dirty="0">
                <a:solidFill>
                  <a:srgbClr val="000000"/>
                </a:solidFill>
              </a:rPr>
              <a:t>Veamos nuestro </a:t>
            </a:r>
            <a:r>
              <a:rPr lang="es-AR" altLang="en-US" sz="2300" b="1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primer modelo </a:t>
            </a:r>
            <a:r>
              <a:rPr lang="es-AR" altLang="en-US" sz="2300" kern="0" dirty="0">
                <a:solidFill>
                  <a:srgbClr val="000000"/>
                </a:solidFill>
              </a:rPr>
              <a:t>para la valuación de un derivado financiero.</a:t>
            </a:r>
          </a:p>
          <a:p>
            <a:pPr marL="0" indent="0" eaLnBrk="1" hangingPunct="1">
              <a:buNone/>
              <a:defRPr/>
            </a:pPr>
            <a:r>
              <a:rPr lang="es-AR" altLang="en-US" sz="2300" b="1" kern="0" dirty="0">
                <a:solidFill>
                  <a:srgbClr val="000000"/>
                </a:solidFill>
              </a:rPr>
              <a:t>Ejemplo</a:t>
            </a:r>
            <a:r>
              <a:rPr lang="es-AR" altLang="en-US" sz="2300" kern="0" dirty="0">
                <a:solidFill>
                  <a:srgbClr val="000000"/>
                </a:solidFill>
              </a:rPr>
              <a:t>: </a:t>
            </a:r>
            <a:r>
              <a:rPr lang="es-ES" altLang="en-US" sz="2300" kern="0" dirty="0">
                <a:solidFill>
                  <a:srgbClr val="000000"/>
                </a:solidFill>
              </a:rPr>
              <a:t>Sea el activo </a:t>
            </a:r>
            <a:r>
              <a:rPr lang="es-ES" altLang="en-US" sz="2300" i="1" kern="0" dirty="0">
                <a:solidFill>
                  <a:srgbClr val="000000"/>
                </a:solidFill>
              </a:rPr>
              <a:t>ABC</a:t>
            </a:r>
            <a:r>
              <a:rPr lang="es-ES" altLang="en-US" sz="2300" kern="0" dirty="0">
                <a:solidFill>
                  <a:srgbClr val="000000"/>
                </a:solidFill>
              </a:rPr>
              <a:t> (acción de la compañía </a:t>
            </a:r>
            <a:r>
              <a:rPr lang="es-ES" altLang="en-US" sz="2300" i="1" kern="0" dirty="0">
                <a:solidFill>
                  <a:srgbClr val="000000"/>
                </a:solidFill>
              </a:rPr>
              <a:t>ABC</a:t>
            </a:r>
            <a:r>
              <a:rPr lang="es-ES" altLang="en-US" sz="2300" kern="0" dirty="0">
                <a:solidFill>
                  <a:srgbClr val="000000"/>
                </a:solidFill>
              </a:rPr>
              <a:t>), valuada hoy en $60, supongamos un mundo en el que el activo en 6 meses, solo puede tomar dos precios, $66 o $54 (subir o bajar 10 %). Supongamos que se puede pedir prestado/prestar dinero a una tasa del 6% anual (tasa libre de riesgo). Queremos ponerle </a:t>
            </a:r>
            <a:r>
              <a:rPr lang="es-ES" altLang="en-US" sz="2300" b="1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precio a la opción </a:t>
            </a:r>
            <a:r>
              <a:rPr lang="es-ES" altLang="en-US" sz="2300" b="1" i="1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cABC62</a:t>
            </a:r>
            <a:r>
              <a:rPr lang="es-ES" altLang="en-US" sz="2300" kern="0" dirty="0">
                <a:solidFill>
                  <a:srgbClr val="000000"/>
                </a:solidFill>
              </a:rPr>
              <a:t>. La opción CALL,  con strike de $62, que vence en 6 meses.</a:t>
            </a:r>
            <a:endParaRPr lang="es-AR" altLang="en-US" sz="2300" kern="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E87454-55D8-4907-B3A8-7F62539C4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788" y="4365105"/>
            <a:ext cx="5248275" cy="1952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0D4B8590-E9F8-4B47-B7D8-EE5CBE01596C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0" y="6553200"/>
            <a:ext cx="2133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A91AAF1-7646-4C0A-95AA-4D3D101EAE24}" type="slidenum">
              <a:rPr lang="en-US" altLang="en-US" sz="1400"/>
              <a:pPr algn="r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74CD850-F310-4580-8840-AC541349F8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51088" y="0"/>
            <a:ext cx="7416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Modelo Binomial de un paso (2/3)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E34B6E1-998B-4746-9D12-7C66372FA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552" y="1295400"/>
            <a:ext cx="8458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s-AR" altLang="en-US" sz="2300" kern="0" dirty="0">
                <a:solidFill>
                  <a:srgbClr val="000000"/>
                </a:solidFill>
              </a:rPr>
              <a:t>Notar que en un modelo de esta naturaleza, un </a:t>
            </a:r>
            <a:r>
              <a:rPr lang="es-AR" altLang="en-US" sz="2300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activo de </a:t>
            </a:r>
            <a:r>
              <a:rPr lang="es-AR" altLang="en-US" sz="2300" i="1" kern="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moneymarket</a:t>
            </a:r>
            <a:r>
              <a:rPr lang="es-AR" altLang="en-US" sz="2300" kern="0" dirty="0">
                <a:solidFill>
                  <a:srgbClr val="000000"/>
                </a:solidFill>
              </a:rPr>
              <a:t> se comportaría de la siguiente manera:</a:t>
            </a:r>
          </a:p>
          <a:p>
            <a:pPr marL="0" indent="0" eaLnBrk="1" hangingPunct="1">
              <a:buNone/>
              <a:defRPr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  <a:defRPr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  <a:defRPr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s-AR" altLang="en-US" sz="2300" kern="0" dirty="0">
                <a:solidFill>
                  <a:srgbClr val="000000"/>
                </a:solidFill>
              </a:rPr>
              <a:t>O equivalentemente</a:t>
            </a:r>
          </a:p>
          <a:p>
            <a:pPr marL="0" indent="0" eaLnBrk="1" hangingPunct="1">
              <a:buNone/>
              <a:defRPr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  <a:defRPr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  <a:defRPr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s-AR" altLang="en-US" sz="2300" kern="0" dirty="0">
                <a:solidFill>
                  <a:srgbClr val="000000"/>
                </a:solidFill>
              </a:rPr>
              <a:t>Es decir, en cualquier caso obtengo el mismo resultado. </a:t>
            </a:r>
            <a:r>
              <a:rPr lang="es-AR" altLang="en-US" sz="2300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NO hay presencia de riesgo</a:t>
            </a:r>
            <a:r>
              <a:rPr lang="es-AR" altLang="en-US" sz="2300" kern="0" dirty="0">
                <a:solidFill>
                  <a:srgbClr val="000000"/>
                </a:solidFill>
              </a:rPr>
              <a:t>, de aleatoriedad.</a:t>
            </a:r>
          </a:p>
          <a:p>
            <a:pPr marL="0" indent="0" eaLnBrk="1" hangingPunct="1">
              <a:buNone/>
              <a:defRPr/>
            </a:pPr>
            <a:endParaRPr lang="es-AR" altLang="en-US" sz="2300" i="1" kern="0" dirty="0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pPr marL="0" indent="0" eaLnBrk="1" hangingPunct="1">
              <a:buNone/>
              <a:defRPr/>
            </a:pPr>
            <a:endParaRPr lang="es-AR" altLang="en-US" sz="2300" kern="0" dirty="0">
              <a:solidFill>
                <a:srgbClr val="00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2FC4B3B-37BC-40A5-9981-C189305CD9C9}"/>
              </a:ext>
            </a:extLst>
          </p:cNvPr>
          <p:cNvCxnSpPr>
            <a:cxnSpLocks/>
          </p:cNvCxnSpPr>
          <p:nvPr/>
        </p:nvCxnSpPr>
        <p:spPr>
          <a:xfrm flipV="1">
            <a:off x="4665753" y="2165406"/>
            <a:ext cx="1916183" cy="49969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2734DD-1CD5-45A5-B55E-056C49CDF13D}"/>
                  </a:ext>
                </a:extLst>
              </p:cNvPr>
              <p:cNvSpPr txBox="1"/>
              <p:nvPr/>
            </p:nvSpPr>
            <p:spPr>
              <a:xfrm>
                <a:off x="3917639" y="2422658"/>
                <a:ext cx="720080" cy="48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s-AR" altLang="en-US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f>
                      <m:fPr>
                        <m:ctrlPr>
                          <a:rPr lang="es-AR" altLang="en-US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altLang="en-US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AR" altLang="en-US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s-AR" altLang="en-US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𝑟𝑇</m:t>
                        </m:r>
                      </m:den>
                    </m:f>
                  </m:oMath>
                </a14:m>
                <a:r>
                  <a:rPr lang="es-AR" altLang="en-US" kern="0" dirty="0">
                    <a:solidFill>
                      <a:srgbClr val="000000"/>
                    </a:solidFill>
                  </a:rPr>
                  <a:t>                               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2734DD-1CD5-45A5-B55E-056C49CDF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639" y="2422658"/>
                <a:ext cx="720080" cy="484876"/>
              </a:xfrm>
              <a:prstGeom prst="rect">
                <a:avLst/>
              </a:prstGeom>
              <a:blipFill>
                <a:blip r:embed="rId3"/>
                <a:stretch>
                  <a:fillRect r="-5085"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764AA5-2D9D-4853-9BC8-A88010772ADF}"/>
                  </a:ext>
                </a:extLst>
              </p:cNvPr>
              <p:cNvSpPr txBox="1"/>
              <p:nvPr/>
            </p:nvSpPr>
            <p:spPr>
              <a:xfrm>
                <a:off x="6797959" y="1949382"/>
                <a:ext cx="720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s-AR" altLang="en-US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764AA5-2D9D-4853-9BC8-A88010772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959" y="1949382"/>
                <a:ext cx="72008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DADC8B-8CD1-40D9-9A9D-823798895084}"/>
              </a:ext>
            </a:extLst>
          </p:cNvPr>
          <p:cNvCxnSpPr>
            <a:cxnSpLocks/>
          </p:cNvCxnSpPr>
          <p:nvPr/>
        </p:nvCxnSpPr>
        <p:spPr>
          <a:xfrm>
            <a:off x="4666579" y="2709745"/>
            <a:ext cx="1791816" cy="572046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026B52-1C81-4DD6-AA73-D84A84A10650}"/>
                  </a:ext>
                </a:extLst>
              </p:cNvPr>
              <p:cNvSpPr txBox="1"/>
              <p:nvPr/>
            </p:nvSpPr>
            <p:spPr>
              <a:xfrm>
                <a:off x="6779838" y="3052472"/>
                <a:ext cx="720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s-AR" altLang="en-US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026B52-1C81-4DD6-AA73-D84A84A10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838" y="3052472"/>
                <a:ext cx="7200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CEE065-A093-4AD7-AFCD-66098759D8F8}"/>
              </a:ext>
            </a:extLst>
          </p:cNvPr>
          <p:cNvCxnSpPr>
            <a:cxnSpLocks/>
          </p:cNvCxnSpPr>
          <p:nvPr/>
        </p:nvCxnSpPr>
        <p:spPr>
          <a:xfrm flipV="1">
            <a:off x="4634407" y="3566460"/>
            <a:ext cx="1916183" cy="49969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C875EF-69CF-45BB-A67C-0DDE85E34997}"/>
                  </a:ext>
                </a:extLst>
              </p:cNvPr>
              <p:cNvSpPr txBox="1"/>
              <p:nvPr/>
            </p:nvSpPr>
            <p:spPr>
              <a:xfrm>
                <a:off x="3886293" y="3823712"/>
                <a:ext cx="720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s-AR" altLang="en-US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C875EF-69CF-45BB-A67C-0DDE85E34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93" y="3823712"/>
                <a:ext cx="72008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B0A7B6-A1D9-460E-8094-AFB1EE0989DC}"/>
                  </a:ext>
                </a:extLst>
              </p:cNvPr>
              <p:cNvSpPr txBox="1"/>
              <p:nvPr/>
            </p:nvSpPr>
            <p:spPr>
              <a:xfrm>
                <a:off x="6766612" y="3350436"/>
                <a:ext cx="13456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AR" altLang="en-US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AR" altLang="en-US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e>
                      </m:d>
                      <m:r>
                        <a:rPr lang="es-AR" altLang="en-US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s-AR" altLang="en-US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B0A7B6-A1D9-460E-8094-AFB1EE098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612" y="3350436"/>
                <a:ext cx="134561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92F6659-303A-4BAE-966A-60E1D3D47602}"/>
              </a:ext>
            </a:extLst>
          </p:cNvPr>
          <p:cNvCxnSpPr>
            <a:cxnSpLocks/>
          </p:cNvCxnSpPr>
          <p:nvPr/>
        </p:nvCxnSpPr>
        <p:spPr>
          <a:xfrm>
            <a:off x="4635233" y="4110799"/>
            <a:ext cx="1791816" cy="572046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E0FACB-68E5-4C2C-A699-C6AA0F7A7A87}"/>
                  </a:ext>
                </a:extLst>
              </p:cNvPr>
              <p:cNvSpPr txBox="1"/>
              <p:nvPr/>
            </p:nvSpPr>
            <p:spPr>
              <a:xfrm>
                <a:off x="6780018" y="4396822"/>
                <a:ext cx="1260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AR" altLang="en-US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AR" altLang="en-US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e>
                      </m:d>
                      <m:r>
                        <a:rPr lang="es-AR" altLang="en-US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s-AR" altLang="en-US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E0FACB-68E5-4C2C-A699-C6AA0F7A7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018" y="4396822"/>
                <a:ext cx="126019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94903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0D4B8590-E9F8-4B47-B7D8-EE5CBE01596C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0" y="6553200"/>
            <a:ext cx="2133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A91AAF1-7646-4C0A-95AA-4D3D101EAE24}" type="slidenum">
              <a:rPr lang="en-US" altLang="en-US" sz="1400"/>
              <a:pPr algn="r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74CD850-F310-4580-8840-AC541349F8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51088" y="0"/>
            <a:ext cx="7416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Modelo Binomial de un paso (3/3)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27B8353C-9BDD-41EB-9B18-45034B6100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40" y="1808119"/>
            <a:ext cx="6008042" cy="188697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92EAF041-C498-4508-8125-5E216D211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4" y="1182389"/>
            <a:ext cx="849764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s-AR" altLang="en-US" sz="2300" kern="0" dirty="0">
                <a:solidFill>
                  <a:srgbClr val="000000"/>
                </a:solidFill>
              </a:rPr>
              <a:t>Veamos como se comportaría el precio del CALL a expiración: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8A81DE-A23B-47C6-9C8D-06A0A2D20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6349" y="3780169"/>
            <a:ext cx="7286625" cy="24193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02E25B-9234-4F5D-BFAB-1FBDEC7B8F44}"/>
              </a:ext>
            </a:extLst>
          </p:cNvPr>
          <p:cNvSpPr txBox="1"/>
          <p:nvPr/>
        </p:nvSpPr>
        <p:spPr>
          <a:xfrm>
            <a:off x="5807968" y="5695643"/>
            <a:ext cx="288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highlight>
                  <a:srgbClr val="C0C0C0"/>
                </a:highlight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919661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0D4B8590-E9F8-4B47-B7D8-EE5CBE01596C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0" y="6553200"/>
            <a:ext cx="2133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A91AAF1-7646-4C0A-95AA-4D3D101EAE24}" type="slidenum">
              <a:rPr lang="en-US" altLang="en-US" sz="1400"/>
              <a:pPr algn="r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74CD850-F310-4580-8840-AC541349F8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51088" y="0"/>
            <a:ext cx="7416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Estrategia de replicación </a:t>
            </a:r>
            <a:r>
              <a:rPr lang="es-AR" altLang="en-US" sz="3200" dirty="0">
                <a:solidFill>
                  <a:srgbClr val="000000"/>
                </a:solidFill>
              </a:rPr>
              <a:t> (1/3)</a:t>
            </a:r>
            <a:endParaRPr lang="es-AR" altLang="en-US" sz="3200" dirty="0">
              <a:solidFill>
                <a:srgbClr val="00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E34B6E1-998B-4746-9D12-7C66372FA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4826" y="1340770"/>
                <a:ext cx="8425631" cy="2448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Contamos con los siguientes activos a disposición</a:t>
                </a:r>
              </a:p>
              <a:p>
                <a:pPr eaLnBrk="1" hangingPunct="1"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Activo </a:t>
                </a:r>
                <a14:m>
                  <m:oMath xmlns:m="http://schemas.openxmlformats.org/officeDocument/2006/math"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Opción </a:t>
                </a:r>
                <a14:m>
                  <m:oMath xmlns:m="http://schemas.openxmlformats.org/officeDocument/2006/math"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Dinero (prestar o pedir prestado) B – </a:t>
                </a:r>
                <a:r>
                  <a:rPr lang="es-AR" altLang="en-US" sz="2300" i="1" kern="0" dirty="0" err="1">
                    <a:solidFill>
                      <a:srgbClr val="000000"/>
                    </a:solidFill>
                  </a:rPr>
                  <a:t>moneymarket</a:t>
                </a:r>
                <a:endParaRPr lang="es-AR" altLang="en-US" sz="2300" i="1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La idea es </a:t>
                </a:r>
                <a:r>
                  <a:rPr lang="es-AR" altLang="en-US" sz="2300" b="1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replicar a </a:t>
                </a:r>
                <a14:m>
                  <m:oMath xmlns:m="http://schemas.openxmlformats.org/officeDocument/2006/math">
                    <m:r>
                      <a:rPr lang="es-AR" altLang="en-US" sz="2300" b="1" i="1" kern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s-AR" altLang="en-US" sz="2300" b="1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 con </a:t>
                </a:r>
                <a14:m>
                  <m:oMath xmlns:m="http://schemas.openxmlformats.org/officeDocument/2006/math">
                    <m:r>
                      <a:rPr lang="es-AR" altLang="en-US" sz="2300" b="1" i="1" kern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s-AR" altLang="en-US" sz="2300" b="1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 y </a:t>
                </a:r>
                <a14:m>
                  <m:oMath xmlns:m="http://schemas.openxmlformats.org/officeDocument/2006/math">
                    <m:r>
                      <a:rPr lang="es-AR" altLang="en-US" sz="2300" b="1" i="1" kern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</a:rPr>
                  <a:t>. Recordar que </a:t>
                </a:r>
                <a14:m>
                  <m:oMath xmlns:m="http://schemas.openxmlformats.org/officeDocument/2006/math"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</a:rPr>
                  <a:t> es libre de riesgo Sea: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E34B6E1-998B-4746-9D12-7C66372FA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4826" y="1340770"/>
                <a:ext cx="8425631" cy="2448271"/>
              </a:xfrm>
              <a:prstGeom prst="rect">
                <a:avLst/>
              </a:prstGeom>
              <a:blipFill>
                <a:blip r:embed="rId3"/>
                <a:stretch>
                  <a:fillRect l="-1085" t="-1990" b="-646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AA206CB-36D6-4B23-BE05-2A328B8C8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8866" y="3429001"/>
            <a:ext cx="7657575" cy="297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8762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0D4B8590-E9F8-4B47-B7D8-EE5CBE01596C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0" y="6553200"/>
            <a:ext cx="2133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A91AAF1-7646-4C0A-95AA-4D3D101EAE24}" type="slidenum">
              <a:rPr lang="en-US" altLang="en-US" sz="1400"/>
              <a:pPr algn="r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74CD850-F310-4580-8840-AC541349F8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51088" y="0"/>
            <a:ext cx="7416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Estrategia de replicación (2/3)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E34B6E1-998B-4746-9D12-7C66372FA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1340769"/>
            <a:ext cx="8425631" cy="518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s-AR" altLang="en-US" sz="2300" kern="0" dirty="0">
                <a:solidFill>
                  <a:srgbClr val="000000"/>
                </a:solidFill>
              </a:rPr>
              <a:t>Haciendo algunas </a:t>
            </a:r>
            <a:r>
              <a:rPr lang="es-AR" altLang="en-US" sz="2300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cuentas</a:t>
            </a:r>
            <a:r>
              <a:rPr lang="en-US" altLang="en-US" sz="2300" kern="0" dirty="0">
                <a:solidFill>
                  <a:srgbClr val="000000"/>
                </a:solidFill>
              </a:rPr>
              <a:t>:</a:t>
            </a:r>
          </a:p>
          <a:p>
            <a:pPr marL="0" indent="0" eaLnBrk="1" hangingPunct="1">
              <a:buNone/>
              <a:defRPr/>
            </a:pPr>
            <a:endParaRPr lang="en-US" altLang="en-US" sz="2300" kern="0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  <a:defRPr/>
            </a:pPr>
            <a:endParaRPr lang="es-AR" altLang="en-US" sz="2300" kern="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87DF42-C366-4440-8E3F-173D71DD3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646" y="2138362"/>
            <a:ext cx="6911367" cy="323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3872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90BCBA-979A-4EEB-A4C8-819A65AD7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3C2E81-D736-4899-956D-5D12703FB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5" y="1412776"/>
            <a:ext cx="7879069" cy="3816424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3D759A75-1F5E-4150-B67B-46A8E21E5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0"/>
            <a:ext cx="741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s-AR" altLang="en-US" sz="3200" kern="0" dirty="0">
                <a:solidFill>
                  <a:srgbClr val="000000"/>
                </a:solidFill>
                <a:latin typeface="+mn-lt"/>
              </a:rPr>
              <a:t>Estrategia de replicación (3/3)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4F4CBC9B-02A3-4EBA-BE03-13200B02F4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4826" y="5229200"/>
                <a:ext cx="8425631" cy="1297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La </a:t>
                </a:r>
                <a:r>
                  <a:rPr lang="es-AR" altLang="en-US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prima de la opción </a:t>
                </a:r>
                <a:r>
                  <a:rPr lang="es-AR" altLang="en-US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call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 entonces es </a:t>
                </a:r>
                <a14:m>
                  <m:oMath xmlns:m="http://schemas.openxmlformats.org/officeDocument/2006/math"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$2.52</m:t>
                    </m:r>
                  </m:oMath>
                </a14:m>
                <a:endParaRPr lang="en-US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n-US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4F4CBC9B-02A3-4EBA-BE03-13200B02F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4826" y="5229200"/>
                <a:ext cx="8425631" cy="1297013"/>
              </a:xfrm>
              <a:prstGeom prst="rect">
                <a:avLst/>
              </a:prstGeom>
              <a:blipFill>
                <a:blip r:embed="rId3"/>
                <a:stretch>
                  <a:fillRect l="-10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265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0D4B8590-E9F8-4B47-B7D8-EE5CBE01596C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0" y="6553200"/>
            <a:ext cx="2133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A91AAF1-7646-4C0A-95AA-4D3D101EAE24}" type="slidenum">
              <a:rPr lang="en-US" altLang="en-US" sz="1400"/>
              <a:pPr algn="r"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74CD850-F310-4580-8840-AC541349F8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51088" y="0"/>
            <a:ext cx="7416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Modelo Binomial de un paso – caso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E34B6E1-998B-4746-9D12-7C66372FA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4825" y="1268413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 eaLnBrk="1" hangingPunct="1">
                  <a:buNone/>
                  <a:defRPr/>
                </a:pPr>
                <a:r>
                  <a:rPr lang="es-ES" altLang="en-US" sz="2300" kern="0" dirty="0">
                    <a:solidFill>
                      <a:srgbClr val="000000"/>
                    </a:solidFill>
                  </a:rPr>
                  <a:t>Sea el activo </a:t>
                </a:r>
                <a14:m>
                  <m:oMath xmlns:m="http://schemas.openxmlformats.org/officeDocument/2006/math"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ES" altLang="en-US" sz="2300" kern="0" dirty="0">
                    <a:solidFill>
                      <a:srgbClr val="000000"/>
                    </a:solidFill>
                  </a:rPr>
                  <a:t>, valuado hoy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altLang="en-US" sz="2300" kern="0" dirty="0">
                    <a:solidFill>
                      <a:srgbClr val="000000"/>
                    </a:solidFill>
                  </a:rPr>
                  <a:t>, supongamos un mundo en el que el activo en un tiempo </a:t>
                </a:r>
                <a14:m>
                  <m:oMath xmlns:m="http://schemas.openxmlformats.org/officeDocument/2006/math"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" altLang="en-US" sz="2300" kern="0" dirty="0">
                    <a:solidFill>
                      <a:srgbClr val="000000"/>
                    </a:solidFill>
                  </a:rPr>
                  <a:t>, solo puede tomar dos precios:</a:t>
                </a:r>
              </a:p>
              <a:p>
                <a:pPr marL="0" indent="0" eaLnBrk="1" hangingPunct="1">
                  <a:buNone/>
                  <a:defRPr/>
                </a:pPr>
                <a:r>
                  <a:rPr lang="es-ES" altLang="en-US" sz="2300" kern="0" dirty="0">
                    <a:solidFill>
                      <a:srgbClr val="000000"/>
                    </a:solidFill>
                  </a:rPr>
                  <a:t>			  </a:t>
                </a:r>
                <a14:m>
                  <m:oMath xmlns:m="http://schemas.openxmlformats.org/officeDocument/2006/math"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𝑆𝑢</m:t>
                    </m:r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ES" altLang="en-US" sz="2300" i="1" kern="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𝑢𝑆</m:t>
                    </m:r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𝑆𝑑</m:t>
                    </m:r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ES" altLang="en-US" sz="2300" i="1" kern="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𝑑𝑆</m:t>
                    </m:r>
                  </m:oMath>
                </a14:m>
                <a:r>
                  <a:rPr lang="es-ES" altLang="en-US" sz="2300" kern="0" dirty="0">
                    <a:solidFill>
                      <a:srgbClr val="000000"/>
                    </a:solidFill>
                  </a:rPr>
                  <a:t>. </a:t>
                </a:r>
              </a:p>
              <a:p>
                <a:pPr marL="0" indent="0" eaLnBrk="1" hangingPunct="1">
                  <a:buNone/>
                  <a:defRPr/>
                </a:pPr>
                <a:r>
                  <a:rPr lang="es-ES" altLang="en-US" sz="2300" kern="0" dirty="0">
                    <a:solidFill>
                      <a:srgbClr val="000000"/>
                    </a:solidFill>
                  </a:rPr>
                  <a:t>Supongamos que se puede pedir prestado/prestar dinero a una tasa del </a:t>
                </a:r>
                <a14:m>
                  <m:oMath xmlns:m="http://schemas.openxmlformats.org/officeDocument/2006/math"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s-ES" altLang="en-US" sz="2300" kern="0" dirty="0">
                    <a:solidFill>
                      <a:srgbClr val="000000"/>
                    </a:solidFill>
                  </a:rPr>
                  <a:t> anual (tasa libre de riesgo). Queremos ponerle </a:t>
                </a:r>
                <a:r>
                  <a:rPr lang="es-ES" altLang="en-US" sz="2300" b="1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precio a la opción </a:t>
                </a:r>
                <a14:m>
                  <m:oMath xmlns:m="http://schemas.openxmlformats.org/officeDocument/2006/math">
                    <m:r>
                      <a:rPr lang="es-ES" altLang="en-US" sz="2300" b="1" i="1" kern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s-ES" altLang="en-US" sz="2300" kern="0" dirty="0">
                    <a:solidFill>
                      <a:srgbClr val="000000"/>
                    </a:solidFill>
                  </a:rPr>
                  <a:t>. La opción </a:t>
                </a:r>
                <a:r>
                  <a:rPr lang="es-ES" altLang="en-US" sz="2300" i="1" kern="0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altLang="en-US" sz="2300" kern="0" dirty="0">
                    <a:solidFill>
                      <a:srgbClr val="000000"/>
                    </a:solidFill>
                  </a:rPr>
                  <a:t>, con </a:t>
                </a:r>
                <a:r>
                  <a:rPr lang="es-ES" altLang="en-US" sz="2300" i="1" kern="0" dirty="0">
                    <a:solidFill>
                      <a:srgbClr val="000000"/>
                    </a:solidFill>
                  </a:rPr>
                  <a:t>strike</a:t>
                </a:r>
                <a:r>
                  <a:rPr lang="es-ES" altLang="en-US" sz="2300" kern="0" dirty="0">
                    <a:solidFill>
                      <a:srgbClr val="000000"/>
                    </a:solidFill>
                  </a:rPr>
                  <a:t> de </a:t>
                </a:r>
                <a14:m>
                  <m:oMath xmlns:m="http://schemas.openxmlformats.org/officeDocument/2006/math"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" altLang="en-US" sz="2300" kern="0" dirty="0">
                    <a:solidFill>
                      <a:srgbClr val="000000"/>
                    </a:solidFill>
                  </a:rPr>
                  <a:t>, que vence en tiempo </a:t>
                </a:r>
                <a14:m>
                  <m:oMath xmlns:m="http://schemas.openxmlformats.org/officeDocument/2006/math">
                    <m:r>
                      <a:rPr lang="es-ES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" altLang="en-US" sz="2300" kern="0" dirty="0">
                    <a:solidFill>
                      <a:srgbClr val="000000"/>
                    </a:solidFill>
                  </a:rPr>
                  <a:t>.</a:t>
                </a:r>
                <a:endParaRPr lang="es-AR" altLang="en-US" sz="2300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E34B6E1-998B-4746-9D12-7C66372FA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4825" y="1268413"/>
                <a:ext cx="8458200" cy="5257800"/>
              </a:xfrm>
              <a:prstGeom prst="rect">
                <a:avLst/>
              </a:prstGeom>
              <a:blipFill>
                <a:blip r:embed="rId3"/>
                <a:stretch>
                  <a:fillRect l="-1009" t="-8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830B2EA-6FA9-42CB-BA04-36EED3981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569" y="3645024"/>
            <a:ext cx="644842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7471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41F799-326E-4E79-B8B3-38A534F7F8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A15289-B569-4C63-869E-64209BBC7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0"/>
            <a:ext cx="741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s-AR" altLang="en-US" sz="3200" kern="0" dirty="0">
                <a:solidFill>
                  <a:srgbClr val="000000"/>
                </a:solidFill>
                <a:latin typeface="+mn-lt"/>
              </a:rPr>
              <a:t>Condición de no arbitraje (1/3)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AF0D9B-0A2D-4ADB-A969-35691371A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268413"/>
            <a:ext cx="8458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s-AR" altLang="en-US" sz="2300" kern="0" dirty="0">
                <a:solidFill>
                  <a:srgbClr val="000000"/>
                </a:solidFill>
              </a:rPr>
              <a:t>Veamos que en este caso: Hay ausencia de arbitraje </a:t>
            </a:r>
            <a:r>
              <a:rPr lang="es-AR" altLang="en-US" sz="2300" b="1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siempre y cuando</a:t>
            </a:r>
            <a:r>
              <a:rPr lang="es-AR" altLang="en-US" sz="2300" kern="0" dirty="0">
                <a:solidFill>
                  <a:srgbClr val="000000"/>
                </a:solidFill>
              </a:rPr>
              <a:t> se cumpla la condición</a:t>
            </a:r>
          </a:p>
          <a:p>
            <a:pPr marL="0" indent="0">
              <a:buNone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s-AR" altLang="en-US" sz="2300" b="1" kern="0" dirty="0">
                <a:solidFill>
                  <a:srgbClr val="000000"/>
                </a:solidFill>
              </a:rPr>
              <a:t>Prueba</a:t>
            </a:r>
          </a:p>
          <a:p>
            <a:pPr marL="0" indent="0">
              <a:buNone/>
            </a:pPr>
            <a:r>
              <a:rPr lang="es-AR" altLang="en-US" sz="2300" kern="0" dirty="0">
                <a:solidFill>
                  <a:srgbClr val="000000"/>
                </a:solidFill>
              </a:rPr>
              <a:t>Supongamos que lo anterior NO sucede. Es decir, no se cumple alguna de las dos desigualdades (asumimos siempre valido que todos son mayores a 0).</a:t>
            </a:r>
          </a:p>
          <a:p>
            <a:pPr marL="0" indent="0">
              <a:buNone/>
            </a:pPr>
            <a:r>
              <a:rPr lang="es-AR" altLang="en-US" sz="2300" kern="0" dirty="0">
                <a:solidFill>
                  <a:srgbClr val="000000"/>
                </a:solidFill>
              </a:rPr>
              <a:t>Por ejemplo </a:t>
            </a:r>
            <a:r>
              <a:rPr lang="es-AR" altLang="en-US" sz="2300" b="1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supongamos</a:t>
            </a:r>
            <a:r>
              <a:rPr lang="es-AR" altLang="en-US" sz="2300" kern="0" dirty="0">
                <a:solidFill>
                  <a:srgbClr val="000000"/>
                </a:solidFill>
              </a:rPr>
              <a:t> por un momento que </a:t>
            </a:r>
          </a:p>
          <a:p>
            <a:pPr marL="0" indent="0">
              <a:buNone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s-AR" altLang="en-US" sz="2300" kern="0" dirty="0">
                <a:solidFill>
                  <a:srgbClr val="000000"/>
                </a:solidFill>
              </a:rPr>
              <a:t>La idea es construirnos un portafolio que genere arbitraje</a:t>
            </a:r>
          </a:p>
          <a:p>
            <a:pPr marL="0" indent="0">
              <a:buNone/>
            </a:pPr>
            <a:endParaRPr lang="es-AR" altLang="en-US" sz="2300" kern="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DE7A3C-76B5-4CDE-84B3-1D842D91D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777" y="2204864"/>
            <a:ext cx="3079491" cy="7200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6DE23F-B093-44F3-AFC6-8B13273CB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177" y="4869160"/>
            <a:ext cx="2189043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77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41F799-326E-4E79-B8B3-38A534F7F8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A15289-B569-4C63-869E-64209BBC7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0"/>
            <a:ext cx="741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s-AR" altLang="en-US" sz="3200" kern="0" dirty="0">
                <a:solidFill>
                  <a:srgbClr val="000000"/>
                </a:solidFill>
                <a:latin typeface="+mn-lt"/>
              </a:rPr>
              <a:t>Condición de no arbitraje (2/3)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AF0D9B-0A2D-4ADB-A969-35691371A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388" y="1160140"/>
            <a:ext cx="8458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s-AR" altLang="en-US" sz="2300" kern="0" dirty="0">
                <a:solidFill>
                  <a:srgbClr val="000000"/>
                </a:solidFill>
              </a:rPr>
              <a:t>Sea el portafolio </a:t>
            </a:r>
          </a:p>
          <a:p>
            <a:pPr marL="0" indent="0">
              <a:buNone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s-AR" altLang="en-US" sz="2300" kern="0" dirty="0">
                <a:solidFill>
                  <a:srgbClr val="000000"/>
                </a:solidFill>
              </a:rPr>
              <a:t>Este portafolio se lee:</a:t>
            </a:r>
          </a:p>
          <a:p>
            <a:r>
              <a:rPr lang="es-AR" altLang="en-US" sz="2300" kern="0" dirty="0">
                <a:solidFill>
                  <a:srgbClr val="000000"/>
                </a:solidFill>
              </a:rPr>
              <a:t>Una unidad del activo </a:t>
            </a:r>
            <a:r>
              <a:rPr lang="es-AR" altLang="en-US" sz="2300" i="1" kern="0" dirty="0" err="1">
                <a:solidFill>
                  <a:srgbClr val="000000"/>
                </a:solidFill>
              </a:rPr>
              <a:t>long</a:t>
            </a:r>
            <a:endParaRPr lang="es-AR" altLang="en-US" sz="2300" i="1" kern="0" dirty="0">
              <a:solidFill>
                <a:srgbClr val="000000"/>
              </a:solidFill>
            </a:endParaRPr>
          </a:p>
          <a:p>
            <a:r>
              <a:rPr lang="es-AR" altLang="en-US" sz="2300" kern="0" dirty="0">
                <a:solidFill>
                  <a:srgbClr val="000000"/>
                </a:solidFill>
              </a:rPr>
              <a:t>               unidades de dinero </a:t>
            </a:r>
            <a:r>
              <a:rPr lang="es-AR" altLang="en-US" sz="2300" i="1" kern="0" dirty="0">
                <a:solidFill>
                  <a:srgbClr val="000000"/>
                </a:solidFill>
              </a:rPr>
              <a:t>short</a:t>
            </a:r>
            <a:r>
              <a:rPr lang="es-AR" altLang="en-US" sz="2300" kern="0" dirty="0">
                <a:solidFill>
                  <a:srgbClr val="000000"/>
                </a:solidFill>
              </a:rPr>
              <a:t> (pido prestado al </a:t>
            </a:r>
            <a:r>
              <a:rPr lang="es-AR" altLang="en-US" sz="2300" i="1" kern="0" dirty="0" err="1">
                <a:solidFill>
                  <a:srgbClr val="000000"/>
                </a:solidFill>
              </a:rPr>
              <a:t>moneymarket</a:t>
            </a:r>
            <a:r>
              <a:rPr lang="es-AR" altLang="en-US" sz="2300" kern="0" dirty="0">
                <a:solidFill>
                  <a:srgbClr val="000000"/>
                </a:solidFill>
              </a:rPr>
              <a:t>)</a:t>
            </a:r>
          </a:p>
          <a:p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s-AR" altLang="en-US" sz="2300" kern="0" dirty="0">
                <a:solidFill>
                  <a:srgbClr val="000000"/>
                </a:solidFill>
              </a:rPr>
              <a:t>A tiempo inicial, el portafolio tiene un valor de:</a:t>
            </a:r>
          </a:p>
          <a:p>
            <a:pPr marL="0" indent="0">
              <a:buNone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s-AR" altLang="en-US" sz="2300" kern="0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A926E9-107F-4D24-9893-F7EF2D633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760" y="1636281"/>
            <a:ext cx="3384376" cy="74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533E89-03B0-4308-8847-0D1DE8E26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561" y="3302636"/>
            <a:ext cx="1140127" cy="4320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2FB079-440F-4FC9-866C-75F3816BA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625" y="4786251"/>
            <a:ext cx="5822776" cy="99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10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41F799-326E-4E79-B8B3-38A534F7F8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A15289-B569-4C63-869E-64209BBC7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0"/>
            <a:ext cx="741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s-AR" altLang="en-US" sz="3200" kern="0" dirty="0">
                <a:solidFill>
                  <a:srgbClr val="000000"/>
                </a:solidFill>
                <a:latin typeface="+mn-lt"/>
              </a:rPr>
              <a:t>Condición de no arbitraje (3/3)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AAF0D9B-0A2D-4ADB-A969-35691371A9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0388" y="1124744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>
                  <a:buNone/>
                </a:pP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s-ES" sz="2300" kern="0" dirty="0">
                    <a:solidFill>
                      <a:srgbClr val="000000"/>
                    </a:solidFill>
                  </a:rPr>
                  <a:t>En el caso de que el activo </a:t>
                </a:r>
                <a:r>
                  <a:rPr lang="es-ES" sz="2300" b="1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suba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, a tiempo T:</a:t>
                </a:r>
              </a:p>
              <a:p>
                <a:pPr marL="0" indent="0">
                  <a:buNone/>
                </a:pP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s-ES" sz="2300" kern="0" dirty="0">
                    <a:solidFill>
                      <a:srgbClr val="000000"/>
                    </a:solidFill>
                  </a:rPr>
                  <a:t>En el caso de que el activo </a:t>
                </a:r>
                <a:r>
                  <a:rPr lang="es-ES" sz="2300" b="1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baje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, a tiempo T:</a:t>
                </a:r>
              </a:p>
              <a:p>
                <a:pPr marL="0" indent="0">
                  <a:buNone/>
                </a:pP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s-ES" sz="2300" b="1" kern="0" dirty="0">
                    <a:solidFill>
                      <a:srgbClr val="000000"/>
                    </a:solidFill>
                  </a:rPr>
                  <a:t>En resumen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: Empezamos con un portafolio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300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s-ES" sz="2300" kern="0" dirty="0">
                    <a:solidFill>
                      <a:srgbClr val="000000"/>
                    </a:solidFill>
                  </a:rPr>
                  <a:t> con valor inicial 0 y en ambos casos (todas las posibilidades posibles en nuestro modelo), el portafolio tiene valor positivo. Eso implica la </a:t>
                </a:r>
                <a:r>
                  <a:rPr lang="es-ES" sz="2300" b="1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presencia de arbitraje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!</a:t>
                </a:r>
              </a:p>
              <a:p>
                <a:pPr marL="0" indent="0">
                  <a:buNone/>
                </a:pP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s-ES" sz="2300" kern="0" dirty="0">
                    <a:solidFill>
                      <a:srgbClr val="000000"/>
                    </a:solidFill>
                  </a:rPr>
                  <a:t>Del mismo modo si se supone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AAF0D9B-0A2D-4ADB-A969-35691371A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0388" y="1124744"/>
                <a:ext cx="8458200" cy="5257800"/>
              </a:xfrm>
              <a:prstGeom prst="rect">
                <a:avLst/>
              </a:prstGeom>
              <a:blipFill>
                <a:blip r:embed="rId2"/>
                <a:stretch>
                  <a:fillRect l="-1009" r="-2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05958DF-586E-4E3C-8BE3-F901BEE90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608" y="2204865"/>
            <a:ext cx="6477000" cy="485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FDA93F-4536-4C1A-BB1C-01A06B3FD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608" y="3473426"/>
            <a:ext cx="6515100" cy="523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0EBC8F-47FB-4A8C-9723-E24CED6A7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945" y="5661248"/>
            <a:ext cx="162877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94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B92C7A-DD2B-4C18-A1A2-1DCDFF422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A4EF7B8-961B-4369-B6B4-74F0ADC02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0"/>
            <a:ext cx="741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s-AR" altLang="en-US" sz="3200" kern="0" dirty="0">
                <a:solidFill>
                  <a:srgbClr val="000000"/>
                </a:solidFill>
                <a:latin typeface="+mn-lt"/>
              </a:rPr>
              <a:t>Portafolio replicador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24E1B2-F376-483B-97FD-72E0549FE5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0388" y="1267544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>
                  <a:buNone/>
                </a:pPr>
                <a:r>
                  <a:rPr lang="es-AR" sz="2300" dirty="0">
                    <a:solidFill>
                      <a:srgbClr val="000000"/>
                    </a:solidFill>
                    <a:latin typeface="+mj-lt"/>
                  </a:rPr>
                  <a:t>Siguiendo con el caso general, recordemos que buscamos el precio de del </a:t>
                </a:r>
                <a:r>
                  <a:rPr lang="es-AR" sz="2300" i="1" dirty="0" err="1">
                    <a:solidFill>
                      <a:srgbClr val="000000"/>
                    </a:solidFill>
                    <a:latin typeface="+mj-lt"/>
                  </a:rPr>
                  <a:t>call</a:t>
                </a:r>
                <a:r>
                  <a:rPr lang="es-AR" sz="23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s-AR" sz="2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s-AR" sz="2300" dirty="0">
                    <a:solidFill>
                      <a:srgbClr val="000000"/>
                    </a:solidFill>
                    <a:latin typeface="+mj-lt"/>
                  </a:rPr>
                  <a:t> (es decir,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AR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AR" sz="2300" dirty="0">
                    <a:solidFill>
                      <a:srgbClr val="000000"/>
                    </a:solidFill>
                    <a:latin typeface="+mj-lt"/>
                  </a:rPr>
                  <a:t>) Armemos el portfolio  con una opción short y unidades del activo </a:t>
                </a:r>
                <a:r>
                  <a:rPr lang="es-AR" sz="2300" i="1" dirty="0" err="1">
                    <a:solidFill>
                      <a:srgbClr val="000000"/>
                    </a:solidFill>
                    <a:latin typeface="+mj-lt"/>
                  </a:rPr>
                  <a:t>long</a:t>
                </a:r>
                <a:r>
                  <a:rPr lang="es-AR" sz="2300" dirty="0">
                    <a:solidFill>
                      <a:srgbClr val="000000"/>
                    </a:solidFill>
                    <a:latin typeface="+mj-lt"/>
                  </a:rPr>
                  <a:t>:</a:t>
                </a:r>
              </a:p>
              <a:p>
                <a:pPr marL="0" indent="0">
                  <a:buNone/>
                </a:pPr>
                <a:endParaRPr lang="es-AR" sz="230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>
                  <a:buNone/>
                </a:pPr>
                <a:endParaRPr lang="es-AR" sz="230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>
                  <a:buNone/>
                </a:pPr>
                <a:endParaRPr lang="es-AR" sz="230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>
                  <a:buNone/>
                </a:pPr>
                <a:r>
                  <a:rPr lang="es-AR" sz="2300" dirty="0">
                    <a:solidFill>
                      <a:srgbClr val="000000"/>
                    </a:solidFill>
                    <a:latin typeface="+mj-lt"/>
                  </a:rPr>
                  <a:t>Se puede ver (sin mucho trabajo) que resulta                     . El </a:t>
                </a:r>
                <a:r>
                  <a:rPr lang="es-AR" sz="2300" b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+mj-lt"/>
                  </a:rPr>
                  <a:t>valor esperado </a:t>
                </a:r>
                <a:r>
                  <a:rPr lang="es-AR" sz="2300" dirty="0">
                    <a:solidFill>
                      <a:srgbClr val="000000"/>
                    </a:solidFill>
                    <a:latin typeface="+mj-lt"/>
                  </a:rPr>
                  <a:t>(comentario):</a:t>
                </a:r>
              </a:p>
              <a:p>
                <a:endParaRPr lang="es-AR" sz="230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>
                  <a:buNone/>
                </a:pPr>
                <a:endParaRPr lang="es-AR" sz="230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>
                  <a:buNone/>
                </a:pPr>
                <a:r>
                  <a:rPr lang="es-AR" sz="2300" dirty="0">
                    <a:solidFill>
                      <a:srgbClr val="000000"/>
                    </a:solidFill>
                    <a:latin typeface="+mj-lt"/>
                  </a:rPr>
                  <a:t>entonces:</a:t>
                </a: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24E1B2-F376-483B-97FD-72E0549FE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0388" y="1267544"/>
                <a:ext cx="8458200" cy="5257800"/>
              </a:xfrm>
              <a:prstGeom prst="rect">
                <a:avLst/>
              </a:prstGeom>
              <a:blipFill>
                <a:blip r:embed="rId2"/>
                <a:stretch>
                  <a:fillRect l="-1009" t="-928" r="-79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FE7FD78-B9F9-4A82-970E-CC43A9D34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784" y="2447926"/>
            <a:ext cx="2990850" cy="981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602B3E-811E-42F5-BBB8-7E0050119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203" y="3670471"/>
            <a:ext cx="1343025" cy="485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F51737-B689-4786-ACF0-49A080A47B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4802" y="4437112"/>
            <a:ext cx="7124700" cy="685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BB3095-574B-498D-85AA-0BB1B3E858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9737" y="5385823"/>
            <a:ext cx="3571875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09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B92C7A-DD2B-4C18-A1A2-1DCDFF422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A4EF7B8-961B-4369-B6B4-74F0ADC02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0"/>
            <a:ext cx="741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s-AR" altLang="en-US" sz="3200" kern="0" dirty="0">
                <a:solidFill>
                  <a:srgbClr val="000000"/>
                </a:solidFill>
                <a:latin typeface="+mn-lt"/>
              </a:rPr>
              <a:t>Despejando…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24E1B2-F376-483B-97FD-72E0549FE5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0388" y="1267544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>
                  <a:buNone/>
                </a:pPr>
                <a:r>
                  <a:rPr lang="es-AR" sz="2400" dirty="0">
                    <a:solidFill>
                      <a:srgbClr val="000000"/>
                    </a:solidFill>
                    <a:latin typeface="CMSS10"/>
                  </a:rPr>
                  <a:t>Despejando</a:t>
                </a:r>
                <a:r>
                  <a:rPr lang="en-US" sz="2400" dirty="0">
                    <a:solidFill>
                      <a:srgbClr val="000000"/>
                    </a:solidFill>
                    <a:latin typeface="CMSS1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s-AR" sz="2400" dirty="0">
                    <a:solidFill>
                      <a:srgbClr val="000000"/>
                    </a:solidFill>
                    <a:latin typeface="CMSS10"/>
                  </a:rPr>
                  <a:t>, nos queda</a:t>
                </a:r>
                <a:r>
                  <a:rPr lang="en-US" sz="2400" dirty="0">
                    <a:solidFill>
                      <a:srgbClr val="000000"/>
                    </a:solidFill>
                    <a:latin typeface="CMSS10"/>
                  </a:rPr>
                  <a:t>: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rgbClr val="000000"/>
                  </a:solidFill>
                  <a:latin typeface="CMSS10"/>
                </a:endParaRPr>
              </a:p>
              <a:p>
                <a:pPr marL="0" indent="0">
                  <a:buNone/>
                </a:pPr>
                <a:endParaRPr lang="es-ES" sz="2400" dirty="0">
                  <a:solidFill>
                    <a:srgbClr val="000000"/>
                  </a:solidFill>
                  <a:latin typeface="CMSS10"/>
                </a:endParaRPr>
              </a:p>
              <a:p>
                <a:pPr marL="0" indent="0">
                  <a:buNone/>
                </a:pPr>
                <a:endParaRPr lang="es-ES" sz="2400" dirty="0">
                  <a:solidFill>
                    <a:srgbClr val="000000"/>
                  </a:solidFill>
                  <a:latin typeface="CMSS10"/>
                </a:endParaRPr>
              </a:p>
              <a:p>
                <a:pPr marL="0" indent="0"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CMSS10"/>
                  </a:rPr>
                  <a:t>Reemplazando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s-ES" sz="2400" dirty="0">
                    <a:solidFill>
                      <a:srgbClr val="000000"/>
                    </a:solidFill>
                    <a:latin typeface="CMSS10"/>
                  </a:rPr>
                  <a:t>: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rgbClr val="000000"/>
                  </a:solidFill>
                  <a:latin typeface="CMSS10"/>
                </a:endParaRP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24E1B2-F376-483B-97FD-72E0549FE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0388" y="1267544"/>
                <a:ext cx="8458200" cy="5257800"/>
              </a:xfrm>
              <a:prstGeom prst="rect">
                <a:avLst/>
              </a:prstGeom>
              <a:blipFill>
                <a:blip r:embed="rId2"/>
                <a:stretch>
                  <a:fillRect l="-1081" t="-9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71A755B-AB5D-4B31-AB74-38B9A08BA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738" y="1772817"/>
            <a:ext cx="4381500" cy="695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429F1D-97F9-4948-8B90-F39C4AE22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5640" y="3724636"/>
            <a:ext cx="622935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99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B92C7A-DD2B-4C18-A1A2-1DCDFF422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A4EF7B8-961B-4369-B6B4-74F0ADC02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0"/>
            <a:ext cx="741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s-AR" altLang="en-US" sz="3200" kern="0" dirty="0">
                <a:solidFill>
                  <a:srgbClr val="000000"/>
                </a:solidFill>
                <a:latin typeface="+mn-lt"/>
              </a:rPr>
              <a:t>Despejando… (2/2)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24E1B2-F376-483B-97FD-72E0549FE5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0388" y="1267544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CMSS10"/>
                  </a:rPr>
                  <a:t>Se puede escribir entonces al valor del </a:t>
                </a:r>
                <a:r>
                  <a:rPr lang="es-ES" sz="2400" i="1" dirty="0" err="1">
                    <a:solidFill>
                      <a:srgbClr val="000000"/>
                    </a:solidFill>
                    <a:latin typeface="CMSS10"/>
                  </a:rPr>
                  <a:t>call</a:t>
                </a:r>
                <a:r>
                  <a:rPr lang="es-ES" sz="2400" dirty="0">
                    <a:solidFill>
                      <a:srgbClr val="000000"/>
                    </a:solidFill>
                    <a:latin typeface="CMSS10"/>
                  </a:rPr>
                  <a:t> como:</a:t>
                </a:r>
              </a:p>
              <a:p>
                <a:pPr marL="0" indent="0">
                  <a:buNone/>
                </a:pPr>
                <a:endParaRPr lang="es-ES" sz="2400" dirty="0">
                  <a:solidFill>
                    <a:srgbClr val="000000"/>
                  </a:solidFill>
                  <a:latin typeface="CMSS10"/>
                </a:endParaRPr>
              </a:p>
              <a:p>
                <a:pPr marL="0" indent="0">
                  <a:buNone/>
                </a:pPr>
                <a:endParaRPr lang="es-ES" sz="2400" dirty="0">
                  <a:solidFill>
                    <a:srgbClr val="000000"/>
                  </a:solidFill>
                  <a:latin typeface="CMSS10"/>
                </a:endParaRPr>
              </a:p>
              <a:p>
                <a:pPr marL="0" indent="0">
                  <a:buNone/>
                </a:pPr>
                <a:endParaRPr lang="es-ES" sz="2400" dirty="0">
                  <a:solidFill>
                    <a:srgbClr val="000000"/>
                  </a:solidFill>
                  <a:latin typeface="CMSS10"/>
                </a:endParaRPr>
              </a:p>
              <a:p>
                <a:pPr marL="0" indent="0"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CMSS10"/>
                  </a:rPr>
                  <a:t>En este modelo recordar que                                     , con lo cual</a:t>
                </a:r>
              </a:p>
              <a:p>
                <a:pPr marL="0" indent="0">
                  <a:buNone/>
                </a:pPr>
                <a:endParaRPr lang="es-ES" sz="2400" dirty="0">
                  <a:solidFill>
                    <a:srgbClr val="000000"/>
                  </a:solidFill>
                  <a:latin typeface="CMSS10"/>
                </a:endParaRPr>
              </a:p>
              <a:p>
                <a:pPr marL="0" indent="0">
                  <a:buNone/>
                </a:pPr>
                <a:endParaRPr lang="es-ES" sz="2400" dirty="0">
                  <a:solidFill>
                    <a:srgbClr val="000000"/>
                  </a:solidFill>
                  <a:latin typeface="CMSS10"/>
                </a:endParaRPr>
              </a:p>
              <a:p>
                <a:pPr marL="0" indent="0"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CMSS10"/>
                  </a:rPr>
                  <a:t>dividiendo numerador y denominador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AR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2400" dirty="0">
                    <a:solidFill>
                      <a:srgbClr val="000000"/>
                    </a:solidFill>
                    <a:latin typeface="CMSS10"/>
                  </a:rPr>
                  <a:t>(distinto a 0!):</a:t>
                </a: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24E1B2-F376-483B-97FD-72E0549FE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0388" y="1267544"/>
                <a:ext cx="8458200" cy="5257800"/>
              </a:xfrm>
              <a:prstGeom prst="rect">
                <a:avLst/>
              </a:prstGeom>
              <a:blipFill>
                <a:blip r:embed="rId2"/>
                <a:stretch>
                  <a:fillRect l="-1081" t="-9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93430A2-09F5-4353-9F96-9F91380A3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988" y="1772816"/>
            <a:ext cx="6477000" cy="800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519905-C493-4C98-8C24-20506F8CC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944" y="3058410"/>
            <a:ext cx="2400300" cy="371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53E5A6-E1B3-4096-A091-8F24EFF67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3833" y="3554428"/>
            <a:ext cx="2562225" cy="857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FB71BE-644B-4A90-B2C4-055E412CCD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3833" y="5035124"/>
            <a:ext cx="21240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751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0D4B8590-E9F8-4B47-B7D8-EE5CBE01596C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0" y="6553200"/>
            <a:ext cx="2133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A91AAF1-7646-4C0A-95AA-4D3D101EAE24}" type="slidenum">
              <a:rPr lang="en-US" altLang="en-US" sz="1400"/>
              <a:pPr algn="r"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74CD850-F310-4580-8840-AC541349F8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51088" y="0"/>
            <a:ext cx="7416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Descuento Continuo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E34B6E1-998B-4746-9D12-7C66372FA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3552" y="1295400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Si consideramos una tasa de descuento </a:t>
                </a:r>
                <a:r>
                  <a:rPr lang="es-AR" altLang="en-US" sz="2300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continua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: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Las únicas modificaciones del análisis son:</a:t>
                </a:r>
              </a:p>
              <a:p>
                <a:pPr eaLnBrk="1" hangingPunct="1"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Condición de no arbitraje: </a:t>
                </a:r>
                <a14:m>
                  <m:oMath xmlns:m="http://schemas.openxmlformats.org/officeDocument/2006/math">
                    <m:r>
                      <a:rPr lang="en-US" altLang="en-US" sz="23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en-US" sz="23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en-US" sz="23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𝑟𝑇</m:t>
                        </m:r>
                      </m:sup>
                    </m:sSup>
                    <m:r>
                      <a:rPr lang="en-US" altLang="en-US" sz="23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en-US" sz="23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n-US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Probabilidad de riesgo neutral</a:t>
                </a:r>
                <a:r>
                  <a:rPr lang="en-US" altLang="en-US" sz="2300" kern="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en-US" sz="23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en-US" sz="23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en-US" sz="23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3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en-US" sz="23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𝑟𝑇</m:t>
                            </m:r>
                          </m:sup>
                        </m:sSup>
                        <m: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endParaRPr lang="en-US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n-US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r>
                  <a:rPr lang="en-US" altLang="en-US" sz="2300" kern="0" dirty="0">
                    <a:solidFill>
                      <a:srgbClr val="000000"/>
                    </a:solidFill>
                  </a:rPr>
                  <a:t>Valor del </a:t>
                </a:r>
                <a:r>
                  <a:rPr lang="en-US" altLang="en-US" sz="2300" i="1" kern="0" dirty="0">
                    <a:solidFill>
                      <a:srgbClr val="000000"/>
                    </a:solidFill>
                  </a:rPr>
                  <a:t>call</a:t>
                </a:r>
                <a:r>
                  <a:rPr lang="en-US" altLang="en-US" sz="2300" kern="0" dirty="0">
                    <a:solidFill>
                      <a:srgbClr val="000000"/>
                    </a:solidFill>
                  </a:rPr>
                  <a:t>:</a:t>
                </a:r>
              </a:p>
              <a:p>
                <a:pPr marL="0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3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en-US" sz="23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altLang="en-US" sz="23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3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sSub>
                        <m:sSubPr>
                          <m:ctrlP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en-US" sz="23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sSub>
                        <m:sSubPr>
                          <m:ctrlP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en-US" sz="23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2E34B6E1-998B-4746-9D12-7C66372FA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3552" y="1295400"/>
                <a:ext cx="8458200" cy="5257800"/>
              </a:xfrm>
              <a:prstGeom prst="rect">
                <a:avLst/>
              </a:prstGeom>
              <a:blipFill>
                <a:blip r:embed="rId3"/>
                <a:stretch>
                  <a:fillRect l="-1081" t="-9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2FC4B3B-37BC-40A5-9981-C189305CD9C9}"/>
              </a:ext>
            </a:extLst>
          </p:cNvPr>
          <p:cNvCxnSpPr>
            <a:cxnSpLocks/>
          </p:cNvCxnSpPr>
          <p:nvPr/>
        </p:nvCxnSpPr>
        <p:spPr>
          <a:xfrm flipV="1">
            <a:off x="4395842" y="1844824"/>
            <a:ext cx="1916183" cy="499690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2734DD-1CD5-45A5-B55E-056C49CDF13D}"/>
                  </a:ext>
                </a:extLst>
              </p:cNvPr>
              <p:cNvSpPr txBox="1"/>
              <p:nvPr/>
            </p:nvSpPr>
            <p:spPr>
              <a:xfrm>
                <a:off x="3647728" y="2102076"/>
                <a:ext cx="720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s-AR" altLang="en-US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en-US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</m:oMath>
                  </m:oMathPara>
                </a14:m>
                <a:endParaRPr lang="es-AR" altLang="en-US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2734DD-1CD5-45A5-B55E-056C49CDF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728" y="2102076"/>
                <a:ext cx="720080" cy="369332"/>
              </a:xfrm>
              <a:prstGeom prst="rect">
                <a:avLst/>
              </a:prstGeom>
              <a:blipFill>
                <a:blip r:embed="rId4"/>
                <a:stretch>
                  <a:fillRect r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764AA5-2D9D-4853-9BC8-A88010772ADF}"/>
                  </a:ext>
                </a:extLst>
              </p:cNvPr>
              <p:cNvSpPr txBox="1"/>
              <p:nvPr/>
            </p:nvSpPr>
            <p:spPr>
              <a:xfrm>
                <a:off x="6528048" y="1628800"/>
                <a:ext cx="720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s-AR" altLang="en-US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764AA5-2D9D-4853-9BC8-A88010772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048" y="1628800"/>
                <a:ext cx="7200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DADC8B-8CD1-40D9-9A9D-823798895084}"/>
              </a:ext>
            </a:extLst>
          </p:cNvPr>
          <p:cNvCxnSpPr>
            <a:cxnSpLocks/>
          </p:cNvCxnSpPr>
          <p:nvPr/>
        </p:nvCxnSpPr>
        <p:spPr>
          <a:xfrm>
            <a:off x="4396668" y="2389163"/>
            <a:ext cx="1791816" cy="572046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026B52-1C81-4DD6-AA73-D84A84A10650}"/>
                  </a:ext>
                </a:extLst>
              </p:cNvPr>
              <p:cNvSpPr txBox="1"/>
              <p:nvPr/>
            </p:nvSpPr>
            <p:spPr>
              <a:xfrm>
                <a:off x="6509927" y="2731890"/>
                <a:ext cx="720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s-AR" altLang="en-US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026B52-1C81-4DD6-AA73-D84A84A10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927" y="2731890"/>
                <a:ext cx="72008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409707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B92C7A-DD2B-4C18-A1A2-1DCDFF422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A4EF7B8-961B-4369-B6B4-74F0ADC02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0"/>
            <a:ext cx="741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s-AR" altLang="en-US" sz="3200" kern="0" dirty="0">
                <a:solidFill>
                  <a:srgbClr val="000000"/>
                </a:solidFill>
                <a:latin typeface="+mn-lt"/>
              </a:rPr>
              <a:t>Probabilidad de Riesgo Neutral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24E1B2-F376-483B-97FD-72E0549FE5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0388" y="1267544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>
                  <a:buNone/>
                </a:pPr>
                <a:r>
                  <a:rPr lang="es-ES" sz="2400" dirty="0">
                    <a:solidFill>
                      <a:srgbClr val="000000"/>
                    </a:solidFill>
                  </a:rPr>
                  <a:t>Haciendo un análisis similar al anterior, resulta que:</a:t>
                </a:r>
              </a:p>
              <a:p>
                <a:pPr marL="0" indent="0">
                  <a:buNone/>
                </a:pPr>
                <a:endParaRPr lang="es-ES" sz="24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s-ES" sz="24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s-ES" sz="2400" dirty="0">
                    <a:solidFill>
                      <a:srgbClr val="000000"/>
                    </a:solidFill>
                  </a:rPr>
                  <a:t>Notar que </a:t>
                </a:r>
                <a14:m>
                  <m:oMath xmlns:m="http://schemas.openxmlformats.org/officeDocument/2006/math">
                    <m:r>
                      <a:rPr lang="es-E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ES" sz="2400" dirty="0">
                    <a:solidFill>
                      <a:srgbClr val="000000"/>
                    </a:solidFill>
                  </a:rPr>
                  <a:t> no depende de </a:t>
                </a:r>
                <a14:m>
                  <m:oMath xmlns:m="http://schemas.openxmlformats.org/officeDocument/2006/math">
                    <m:r>
                      <a:rPr lang="es-E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ES" sz="2400" dirty="0">
                    <a:solidFill>
                      <a:srgbClr val="000000"/>
                    </a:solidFill>
                  </a:rPr>
                  <a:t>, es decir, no depende del precio del activo sino que es </a:t>
                </a:r>
                <a:r>
                  <a:rPr lang="es-ES" sz="2400" b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intrínseco al activo</a:t>
                </a:r>
                <a:r>
                  <a:rPr lang="es-ES" sz="2400" dirty="0">
                    <a:solidFill>
                      <a:srgbClr val="000000"/>
                    </a:solidFill>
                  </a:rPr>
                  <a:t>, lo que es mas cercano a la realidad.</a:t>
                </a: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24E1B2-F376-483B-97FD-72E0549FE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0388" y="1267544"/>
                <a:ext cx="8458200" cy="5257800"/>
              </a:xfrm>
              <a:prstGeom prst="rect">
                <a:avLst/>
              </a:prstGeom>
              <a:blipFill>
                <a:blip r:embed="rId2"/>
                <a:stretch>
                  <a:fillRect l="-1081" t="-9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DE9387A-EED0-443F-8DF0-E86C236BF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864" y="1700808"/>
            <a:ext cx="1562100" cy="76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D51475-3836-45B3-AF6A-BF1023BFF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3413" y="4005065"/>
            <a:ext cx="8378351" cy="158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591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B92C7A-DD2B-4C18-A1A2-1DCDFF422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A4EF7B8-961B-4369-B6B4-74F0ADC02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0"/>
            <a:ext cx="741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s-AR" altLang="en-US" sz="3200" kern="0" dirty="0">
                <a:solidFill>
                  <a:srgbClr val="000000"/>
                </a:solidFill>
                <a:latin typeface="+mn-lt"/>
              </a:rPr>
              <a:t>Que es esto de Riesgo Neutral?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024E1B2-F376-483B-97FD-72E0549FE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388" y="1267544"/>
            <a:ext cx="8458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s-AR" sz="2400" dirty="0">
                <a:solidFill>
                  <a:srgbClr val="000000"/>
                </a:solidFill>
              </a:rPr>
              <a:t>Este concepto de probabilidad de que el activo suba es uno de los conceptos básicos en teoría de valuación:</a:t>
            </a:r>
          </a:p>
          <a:p>
            <a:r>
              <a:rPr lang="es-AR" sz="2400" dirty="0">
                <a:solidFill>
                  <a:srgbClr val="000000"/>
                </a:solidFill>
              </a:rPr>
              <a:t>No solo con opciones! </a:t>
            </a:r>
            <a:r>
              <a:rPr lang="es-AR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Cualquier derivado</a:t>
            </a:r>
          </a:p>
          <a:p>
            <a:r>
              <a:rPr lang="es-AR" sz="2400" dirty="0">
                <a:solidFill>
                  <a:srgbClr val="000000"/>
                </a:solidFill>
              </a:rPr>
              <a:t>Es </a:t>
            </a:r>
            <a:r>
              <a:rPr lang="es-AR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independiente</a:t>
            </a:r>
            <a:r>
              <a:rPr lang="es-AR" sz="2400" dirty="0">
                <a:solidFill>
                  <a:srgbClr val="000000"/>
                </a:solidFill>
              </a:rPr>
              <a:t> al modelo usado. (</a:t>
            </a:r>
            <a:r>
              <a:rPr lang="es-AR" sz="2400" i="1" dirty="0" err="1">
                <a:solidFill>
                  <a:srgbClr val="000000"/>
                </a:solidFill>
              </a:rPr>
              <a:t>model-independent</a:t>
            </a:r>
            <a:r>
              <a:rPr lang="es-AR" sz="2400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DBB9C7-DD05-410B-8903-4FE751D71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267" y="2924944"/>
            <a:ext cx="87249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339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899045-AA68-4614-A680-9E9F1B0AB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B1ED3C3-179F-4914-8394-AF5367D1594A}"/>
              </a:ext>
            </a:extLst>
          </p:cNvPr>
          <p:cNvSpPr txBox="1">
            <a:spLocks/>
          </p:cNvSpPr>
          <p:nvPr/>
        </p:nvSpPr>
        <p:spPr>
          <a:xfrm>
            <a:off x="1828800" y="-39688"/>
            <a:ext cx="8534400" cy="1143001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br>
              <a:rPr lang="es-AR" kern="0" dirty="0">
                <a:solidFill>
                  <a:srgbClr val="000000"/>
                </a:solidFill>
              </a:rPr>
            </a:br>
            <a:r>
              <a:rPr lang="es-AR" sz="3200" kern="0" dirty="0">
                <a:solidFill>
                  <a:srgbClr val="000000"/>
                </a:solidFill>
              </a:rPr>
              <a:t>Árbol Binomial (1/3)</a:t>
            </a:r>
            <a:endParaRPr lang="en-US" kern="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DA85F14-2038-4E0F-A2AF-D31E91EB3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163638"/>
            <a:ext cx="864235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es-ES" altLang="en-US" sz="23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30556335-6821-485C-8B7E-922F1538B6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3552" y="1235076"/>
                <a:ext cx="8299648" cy="5002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r>
                  <a:rPr lang="es-AR" sz="2300" dirty="0">
                    <a:solidFill>
                      <a:srgbClr val="000000"/>
                    </a:solidFill>
                  </a:rPr>
                  <a:t>La idea ahora es que el precio de la acción pueda subir o bajar no solo una vez, sino </a:t>
                </a:r>
                <a:r>
                  <a:rPr lang="es-AR" sz="2300" b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un numero finito </a:t>
                </a:r>
                <a14:m>
                  <m:oMath xmlns:m="http://schemas.openxmlformats.org/officeDocument/2006/math">
                    <m:r>
                      <a:rPr lang="es-AR" sz="2300" b="1" i="1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s-AR" sz="2300" b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 de veces </a:t>
                </a:r>
                <a:r>
                  <a:rPr lang="es-AR" sz="2300" dirty="0">
                    <a:solidFill>
                      <a:srgbClr val="000000"/>
                    </a:solidFill>
                  </a:rPr>
                  <a:t>en el intervalo </a:t>
                </a:r>
                <a14:m>
                  <m:oMath xmlns:m="http://schemas.openxmlformats.org/officeDocument/2006/math">
                    <m:r>
                      <a:rPr lang="es-AR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[0,</m:t>
                    </m:r>
                    <m:r>
                      <a:rPr lang="es-AR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AR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s-AR" sz="2300" dirty="0">
                    <a:solidFill>
                      <a:srgbClr val="000000"/>
                    </a:solidFill>
                  </a:rPr>
                  <a:t>cada </a:t>
                </a:r>
                <a14:m>
                  <m:oMath xmlns:m="http://schemas.openxmlformats.org/officeDocument/2006/math">
                    <m:r>
                      <a:rPr lang="es-AR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s-AR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AR" sz="2300" dirty="0">
                    <a:solidFill>
                      <a:srgbClr val="000000"/>
                    </a:solidFill>
                  </a:rPr>
                  <a:t> con </a:t>
                </a:r>
                <a14:m>
                  <m:oMath xmlns:m="http://schemas.openxmlformats.org/officeDocument/2006/math">
                    <m:r>
                      <a:rPr lang="es-AR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AR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AR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AR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s-AR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AR" sz="2300" dirty="0">
                    <a:solidFill>
                      <a:srgbClr val="000000"/>
                    </a:solidFill>
                  </a:rPr>
                  <a:t>. Este modelo es:</a:t>
                </a:r>
              </a:p>
              <a:p>
                <a:pPr lvl="1"/>
                <a:r>
                  <a:rPr lang="es-AR" sz="2300" b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Simple</a:t>
                </a:r>
                <a:r>
                  <a:rPr lang="es-AR" sz="2300" dirty="0">
                    <a:solidFill>
                      <a:srgbClr val="000000"/>
                    </a:solidFill>
                  </a:rPr>
                  <a:t> como para trabajar explícitamente</a:t>
                </a:r>
              </a:p>
              <a:p>
                <a:pPr lvl="1"/>
                <a:r>
                  <a:rPr lang="es-AR" sz="2300" dirty="0">
                    <a:solidFill>
                      <a:srgbClr val="000000"/>
                    </a:solidFill>
                  </a:rPr>
                  <a:t>Ayuda para </a:t>
                </a:r>
                <a:r>
                  <a:rPr lang="es-AR" sz="2300" b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comprender</a:t>
                </a:r>
                <a:r>
                  <a:rPr lang="es-AR" sz="2300" dirty="0">
                    <a:solidFill>
                      <a:srgbClr val="000000"/>
                    </a:solidFill>
                  </a:rPr>
                  <a:t> la valuación de derivados y aproximar problemas mas realistas.</a:t>
                </a:r>
              </a:p>
              <a:p>
                <a:pPr>
                  <a:buFont typeface="+mj-lt"/>
                  <a:buAutoNum type="arabicPeriod"/>
                </a:pPr>
                <a:r>
                  <a:rPr lang="es-AR" sz="2300" dirty="0">
                    <a:solidFill>
                      <a:srgbClr val="000000"/>
                    </a:solidFill>
                  </a:rPr>
                  <a:t>Se construye un árbol con los posibles valores del activo, dado un valor inicial de este.</a:t>
                </a:r>
              </a:p>
              <a:p>
                <a:pPr>
                  <a:buFont typeface="+mj-lt"/>
                  <a:buAutoNum type="arabicPeriod"/>
                </a:pPr>
                <a:r>
                  <a:rPr lang="es-AR" sz="2300" dirty="0">
                    <a:solidFill>
                      <a:srgbClr val="000000"/>
                    </a:solidFill>
                  </a:rPr>
                  <a:t>Se analizar los posibles precios a tiempo </a:t>
                </a:r>
                <a14:m>
                  <m:oMath xmlns:m="http://schemas.openxmlformats.org/officeDocument/2006/math">
                    <m:r>
                      <a:rPr lang="es-AR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AR" sz="2300" dirty="0">
                    <a:solidFill>
                      <a:srgbClr val="000000"/>
                    </a:solidFill>
                  </a:rPr>
                  <a:t> y determinar la probabilidad de riesgo neutral.</a:t>
                </a:r>
              </a:p>
              <a:p>
                <a:pPr>
                  <a:buFont typeface="+mj-lt"/>
                  <a:buAutoNum type="arabicPeriod"/>
                </a:pPr>
                <a:r>
                  <a:rPr lang="es-AR" sz="2300" dirty="0">
                    <a:solidFill>
                      <a:srgbClr val="000000"/>
                    </a:solidFill>
                  </a:rPr>
                  <a:t>Yendo para atrás por el árbol y, a partir de la relación anterior, se calculan los valores en cada nodo.</a:t>
                </a: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30556335-6821-485C-8B7E-922F1538B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3552" y="1235076"/>
                <a:ext cx="8299648" cy="5002237"/>
              </a:xfrm>
              <a:prstGeom prst="rect">
                <a:avLst/>
              </a:prstGeom>
              <a:blipFill>
                <a:blip r:embed="rId2"/>
                <a:stretch>
                  <a:fillRect l="-1102" t="-1098" r="-14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653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899045-AA68-4614-A680-9E9F1B0AB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25</a:t>
            </a:fld>
            <a:endParaRPr lang="en-US" alt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B1ED3C3-179F-4914-8394-AF5367D1594A}"/>
              </a:ext>
            </a:extLst>
          </p:cNvPr>
          <p:cNvSpPr txBox="1">
            <a:spLocks/>
          </p:cNvSpPr>
          <p:nvPr/>
        </p:nvSpPr>
        <p:spPr>
          <a:xfrm>
            <a:off x="1828800" y="-39688"/>
            <a:ext cx="8534400" cy="1143001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br>
              <a:rPr lang="es-AR" kern="0" dirty="0">
                <a:solidFill>
                  <a:srgbClr val="000000"/>
                </a:solidFill>
              </a:rPr>
            </a:br>
            <a:r>
              <a:rPr lang="es-AR" sz="3200" kern="0" dirty="0">
                <a:solidFill>
                  <a:srgbClr val="000000"/>
                </a:solidFill>
              </a:rPr>
              <a:t>Árbol Binomial (2/3)</a:t>
            </a:r>
            <a:endParaRPr lang="en-US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3DA85F14-2038-4E0F-A2AF-D31E91EB38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4826" y="1163638"/>
                <a:ext cx="4753223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>
                  <a:buNone/>
                </a:pPr>
                <a:endParaRPr lang="es-AR" sz="2300" dirty="0">
                  <a:solidFill>
                    <a:srgbClr val="000000"/>
                  </a:solidFill>
                  <a:latin typeface="CMSS10"/>
                </a:endParaRPr>
              </a:p>
              <a:p>
                <a:pPr marL="0" indent="0">
                  <a:buNone/>
                </a:pPr>
                <a:r>
                  <a:rPr lang="es-AR" sz="2300" dirty="0">
                    <a:solidFill>
                      <a:srgbClr val="000000"/>
                    </a:solidFill>
                    <a:latin typeface="CMSS10"/>
                  </a:rPr>
                  <a:t>Se toma en este modelo      </a:t>
                </a:r>
              </a:p>
              <a:p>
                <a:pPr marL="0" indent="0">
                  <a:buNone/>
                </a:pPr>
                <a:endParaRPr lang="es-AR" sz="2300" dirty="0">
                  <a:solidFill>
                    <a:srgbClr val="000000"/>
                  </a:solidFill>
                  <a:latin typeface="CMSS10"/>
                </a:endParaRPr>
              </a:p>
              <a:p>
                <a:pPr marL="0" indent="0">
                  <a:buNone/>
                </a:pPr>
                <a:r>
                  <a:rPr lang="es-AR" sz="2300" dirty="0">
                    <a:solidFill>
                      <a:srgbClr val="000000"/>
                    </a:solidFill>
                    <a:latin typeface="CMSS10"/>
                  </a:rPr>
                  <a:t>                                                    </a:t>
                </a:r>
              </a:p>
              <a:p>
                <a:pPr marL="0" indent="0">
                  <a:buNone/>
                </a:pPr>
                <a:endParaRPr lang="es-AR" sz="2300" b="1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CMSS10"/>
                </a:endParaRPr>
              </a:p>
              <a:p>
                <a:pPr marL="0" indent="0">
                  <a:buNone/>
                </a:pPr>
                <a:r>
                  <a:rPr lang="es-AR" sz="2300" b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CMSS10"/>
                  </a:rPr>
                  <a:t>Notación</a:t>
                </a:r>
                <a:r>
                  <a:rPr lang="es-AR" sz="2300" dirty="0">
                    <a:solidFill>
                      <a:srgbClr val="000000"/>
                    </a:solidFill>
                    <a:latin typeface="CMSS10"/>
                  </a:rPr>
                  <a:t>:</a:t>
                </a:r>
              </a:p>
              <a:p>
                <a:pPr marL="0" indent="0">
                  <a:buNone/>
                </a:pPr>
                <a:endParaRPr lang="es-AR" sz="2300" dirty="0">
                  <a:solidFill>
                    <a:srgbClr val="000000"/>
                  </a:solidFill>
                  <a:latin typeface="CMSS10"/>
                </a:endParaRPr>
              </a:p>
              <a:p>
                <a:pPr marL="0" indent="0">
                  <a:buNone/>
                </a:pPr>
                <a:r>
                  <a:rPr lang="es-AR" sz="2300" dirty="0">
                    <a:solidFill>
                      <a:srgbClr val="000000"/>
                    </a:solidFill>
                    <a:latin typeface="CMSS10"/>
                  </a:rPr>
                  <a:t>Tomaremos como factor de descuento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AR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AR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s-AR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AR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s-AR" sz="2300" dirty="0">
                    <a:solidFill>
                      <a:srgbClr val="000000"/>
                    </a:solidFill>
                    <a:latin typeface="CMSS10"/>
                  </a:rPr>
                  <a:t>, es decir un interés continuo. El árbol resulta entonces: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3DA85F14-2038-4E0F-A2AF-D31E91EB3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4826" y="1163638"/>
                <a:ext cx="4753223" cy="5257800"/>
              </a:xfrm>
              <a:prstGeom prst="rect">
                <a:avLst/>
              </a:prstGeom>
              <a:blipFill>
                <a:blip r:embed="rId2"/>
                <a:stretch>
                  <a:fillRect l="-1795" r="-294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7F78B18-9655-4EE0-ADB2-42C0919F0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240" y="1628800"/>
            <a:ext cx="2880320" cy="47032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FB3A49-0775-4152-97B5-7CF2D41F3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864" y="1628800"/>
            <a:ext cx="4271720" cy="4024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9576AA-C347-4778-98D1-1135575819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3954" y="2267148"/>
            <a:ext cx="6482286" cy="73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559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B92C7A-DD2B-4C18-A1A2-1DCDFF422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24E1B2-F376-483B-97FD-72E0549FE5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3552" y="1340768"/>
                <a:ext cx="8352928" cy="49685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>
                  <a:buNone/>
                </a:pPr>
                <a:r>
                  <a:rPr lang="es-ES" sz="2300" dirty="0">
                    <a:solidFill>
                      <a:srgbClr val="000000"/>
                    </a:solidFill>
                  </a:rPr>
                  <a:t>Como vimos en el ejemplo, surge la siguiente formula recursiva:</a:t>
                </a:r>
              </a:p>
              <a:p>
                <a:pPr marL="0" indent="0">
                  <a:buNone/>
                </a:pPr>
                <a:endParaRPr lang="es-ES" sz="23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E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sSubSup>
                                    <m:sSubSupPr>
                                      <m:ctrlPr>
                                        <a:rPr lang="en-US" sz="2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n-US" sz="2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bSup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+(1−</m:t>
                                  </m:r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bSup>
                                    <m:sSubSupPr>
                                      <m:ctrlPr>
                                        <a:rPr lang="en-US" sz="2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n-US" sz="2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0≤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−1, 0≤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nor/>
                                </m:rPr>
                                <a:rPr lang="en-US" sz="2300" dirty="0">
                                  <a:solidFill>
                                    <a:srgbClr val="000000"/>
                                  </a:solidFill>
                                </a:rPr>
                                <m:t> 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  <m:sup>
                                      <m:r>
                                        <a:rPr lang="en-US" sz="23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e>
                              </m:d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0≤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sz="23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s-ES" sz="23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s-ES" sz="2300" dirty="0">
                    <a:solidFill>
                      <a:srgbClr val="000000"/>
                    </a:solidFill>
                  </a:rPr>
                  <a:t>Conociendo el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Payoff</a:t>
                </a:r>
                <a:r>
                  <a:rPr lang="es-ES" sz="2300" dirty="0">
                    <a:solidFill>
                      <a:srgbClr val="000000"/>
                    </a:solidFill>
                  </a:rPr>
                  <a:t>, </a:t>
                </a:r>
                <a:r>
                  <a:rPr lang="es-ES" sz="2300" b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yendo para atrás en el árbol </a:t>
                </a:r>
                <a:r>
                  <a:rPr lang="es-ES" sz="2300" dirty="0">
                    <a:solidFill>
                      <a:srgbClr val="000000"/>
                    </a:solidFill>
                  </a:rPr>
                  <a:t>se pueden conocer todas los valores del derivado, hasta llegar al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AR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AR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AR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AR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2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300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sz="23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s-AR" sz="2300" dirty="0">
                    <a:solidFill>
                      <a:srgbClr val="000000"/>
                    </a:solidFill>
                  </a:rPr>
                  <a:t>Esta formula es la base del algoritmo de </a:t>
                </a:r>
                <a:r>
                  <a:rPr lang="es-AR" sz="2300" b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Árbol Binomial</a:t>
                </a: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24E1B2-F376-483B-97FD-72E0549FE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3552" y="1340768"/>
                <a:ext cx="8352928" cy="4968552"/>
              </a:xfrm>
              <a:prstGeom prst="rect">
                <a:avLst/>
              </a:prstGeom>
              <a:blipFill>
                <a:blip r:embed="rId2"/>
                <a:stretch>
                  <a:fillRect l="-1095" t="-98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FF0FFC23-346C-4D32-A45A-58DBFA69EB07}"/>
              </a:ext>
            </a:extLst>
          </p:cNvPr>
          <p:cNvSpPr txBox="1">
            <a:spLocks/>
          </p:cNvSpPr>
          <p:nvPr/>
        </p:nvSpPr>
        <p:spPr>
          <a:xfrm>
            <a:off x="1828800" y="-39688"/>
            <a:ext cx="8534400" cy="1143001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br>
              <a:rPr lang="es-AR" kern="0" dirty="0">
                <a:solidFill>
                  <a:srgbClr val="000000"/>
                </a:solidFill>
              </a:rPr>
            </a:br>
            <a:r>
              <a:rPr lang="es-AR" sz="3200" kern="0" dirty="0">
                <a:solidFill>
                  <a:srgbClr val="000000"/>
                </a:solidFill>
              </a:rPr>
              <a:t>Árbol Binomial (3/3)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60632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B92C7A-DD2B-4C18-A1A2-1DCDFF422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27</a:t>
            </a:fld>
            <a:endParaRPr lang="en-US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024E1B2-F376-483B-97FD-72E0549FE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6791" y="1807908"/>
            <a:ext cx="6343650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es-AR" sz="1800" dirty="0">
              <a:solidFill>
                <a:srgbClr val="000000"/>
              </a:solidFill>
              <a:latin typeface="CMSS1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0969DB-34E7-4717-9194-0436B7E01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013" y="1412777"/>
            <a:ext cx="7261975" cy="462383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E29406C-6246-419D-9819-1D96DD97BC9F}"/>
              </a:ext>
            </a:extLst>
          </p:cNvPr>
          <p:cNvSpPr txBox="1">
            <a:spLocks/>
          </p:cNvSpPr>
          <p:nvPr/>
        </p:nvSpPr>
        <p:spPr>
          <a:xfrm>
            <a:off x="1828800" y="-39688"/>
            <a:ext cx="8534400" cy="1143001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br>
              <a:rPr lang="es-AR" kern="0" dirty="0">
                <a:solidFill>
                  <a:srgbClr val="000000"/>
                </a:solidFill>
              </a:rPr>
            </a:br>
            <a:r>
              <a:rPr lang="es-AR" sz="3200" kern="0" dirty="0">
                <a:solidFill>
                  <a:srgbClr val="000000"/>
                </a:solidFill>
              </a:rPr>
              <a:t>Bondades del árbol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304877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>
            <a:extLst>
              <a:ext uri="{FF2B5EF4-FFF2-40B4-BE49-F238E27FC236}">
                <a16:creationId xmlns:a16="http://schemas.microsoft.com/office/drawing/2014/main" id="{6C3AC5A9-0DB7-4C4D-8E0E-97D9BCED5890}"/>
              </a:ext>
            </a:extLst>
          </p:cNvPr>
          <p:cNvSpPr txBox="1">
            <a:spLocks noGrp="1"/>
          </p:cNvSpPr>
          <p:nvPr/>
        </p:nvSpPr>
        <p:spPr bwMode="auto">
          <a:xfrm>
            <a:off x="8976320" y="6541962"/>
            <a:ext cx="1599010" cy="37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7500" tIns="35100" rIns="67500" bIns="35100"/>
          <a:lstStyle>
            <a:lvl1pPr defTabSz="457200">
              <a:spcBef>
                <a:spcPct val="20000"/>
              </a:spcBef>
              <a:buClr>
                <a:schemeClr val="folHlink"/>
              </a:buClr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>
                <a:srgbClr val="4D4D4D"/>
              </a:buClr>
              <a:buFont typeface="Times New Roman" panose="02020603050405020304" pitchFamily="18" charset="0"/>
              <a:buNone/>
            </a:pPr>
            <a:fld id="{67709870-7819-45E1-BAEA-EE19D085AA13}" type="slidenum">
              <a:rPr lang="en-GB" altLang="en-US" sz="1050">
                <a:latin typeface="Times New Roman" panose="02020603050405020304" pitchFamily="18" charset="0"/>
                <a:cs typeface="Lucida Sans Unicode" panose="020B0602030504020204" pitchFamily="34" charset="0"/>
              </a:rPr>
              <a:pPr algn="r">
                <a:spcBef>
                  <a:spcPct val="0"/>
                </a:spcBef>
                <a:buClr>
                  <a:srgbClr val="4D4D4D"/>
                </a:buClr>
                <a:buFont typeface="Times New Roman" panose="02020603050405020304" pitchFamily="18" charset="0"/>
                <a:buNone/>
              </a:pPr>
              <a:t>28</a:t>
            </a:fld>
            <a:endParaRPr lang="en-GB" altLang="en-US" sz="1050" dirty="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228" name="Rectangle 3">
                <a:extLst>
                  <a:ext uri="{FF2B5EF4-FFF2-40B4-BE49-F238E27FC236}">
                    <a16:creationId xmlns:a16="http://schemas.microsoft.com/office/drawing/2014/main" id="{98DF7870-8AC3-4611-9D68-182736F29E96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2207568" y="1268760"/>
                <a:ext cx="7920880" cy="5112568"/>
              </a:xfrm>
            </p:spPr>
            <p:txBody>
              <a:bodyPr vert="horz" wrap="square" lIns="67500" tIns="35100" rIns="67500" bIns="35100" numCol="1" rtlCol="0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marL="457200" indent="-457200" defTabSz="342900">
                  <a:buClr>
                    <a:srgbClr val="000000"/>
                  </a:buClr>
                  <a:tabLst>
                    <a:tab pos="540544" algn="l"/>
                    <a:tab pos="883444" algn="l"/>
                    <a:tab pos="1226344" algn="l"/>
                    <a:tab pos="1569244" algn="l"/>
                    <a:tab pos="1912144" algn="l"/>
                    <a:tab pos="2255044" algn="l"/>
                    <a:tab pos="2597944" algn="l"/>
                    <a:tab pos="2940844" algn="l"/>
                    <a:tab pos="3283744" algn="l"/>
                    <a:tab pos="3626644" algn="l"/>
                    <a:tab pos="3969544" algn="l"/>
                    <a:tab pos="4312444" algn="l"/>
                    <a:tab pos="4655344" algn="l"/>
                    <a:tab pos="4998244" algn="l"/>
                    <a:tab pos="5341144" algn="l"/>
                    <a:tab pos="5684044" algn="l"/>
                    <a:tab pos="6026944" algn="l"/>
                    <a:tab pos="6369844" algn="l"/>
                    <a:tab pos="6712744" algn="l"/>
                    <a:tab pos="7055644" algn="l"/>
                  </a:tabLst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El modelo del árbol binomial nos permite muy fácilmente agregar la opcionalidad de </a:t>
                </a:r>
                <a:r>
                  <a:rPr lang="es-AR" altLang="en-US" sz="23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ejercicio anticipado </a:t>
                </a:r>
                <a:r>
                  <a:rPr lang="es-AR" altLang="en-US" sz="2300" dirty="0">
                    <a:solidFill>
                      <a:srgbClr val="000000"/>
                    </a:solidFill>
                  </a:rPr>
                  <a:t>(Americanas).</a:t>
                </a:r>
              </a:p>
              <a:p>
                <a:pPr marL="457200" indent="-457200" defTabSz="342900">
                  <a:buClr>
                    <a:srgbClr val="000000"/>
                  </a:buClr>
                  <a:tabLst>
                    <a:tab pos="540544" algn="l"/>
                    <a:tab pos="883444" algn="l"/>
                    <a:tab pos="1226344" algn="l"/>
                    <a:tab pos="1569244" algn="l"/>
                    <a:tab pos="1912144" algn="l"/>
                    <a:tab pos="2255044" algn="l"/>
                    <a:tab pos="2597944" algn="l"/>
                    <a:tab pos="2940844" algn="l"/>
                    <a:tab pos="3283744" algn="l"/>
                    <a:tab pos="3626644" algn="l"/>
                    <a:tab pos="3969544" algn="l"/>
                    <a:tab pos="4312444" algn="l"/>
                    <a:tab pos="4655344" algn="l"/>
                    <a:tab pos="4998244" algn="l"/>
                    <a:tab pos="5341144" algn="l"/>
                    <a:tab pos="5684044" algn="l"/>
                    <a:tab pos="6026944" algn="l"/>
                    <a:tab pos="6369844" algn="l"/>
                    <a:tab pos="6712744" algn="l"/>
                    <a:tab pos="7055644" algn="l"/>
                  </a:tabLst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En cada paso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altLang="en-US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altLang="en-US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s-AR" altLang="en-US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s-AR" altLang="en-US" sz="2300" dirty="0">
                    <a:solidFill>
                      <a:srgbClr val="000000"/>
                    </a:solidFill>
                  </a:rPr>
                  <a:t>del árbol habrá que decidir entre dos:</a:t>
                </a:r>
              </a:p>
              <a:p>
                <a:pPr marL="757238" lvl="1" indent="-457200" defTabSz="342900">
                  <a:buClr>
                    <a:srgbClr val="000000"/>
                  </a:buClr>
                  <a:tabLst>
                    <a:tab pos="540544" algn="l"/>
                    <a:tab pos="883444" algn="l"/>
                    <a:tab pos="1226344" algn="l"/>
                    <a:tab pos="1569244" algn="l"/>
                    <a:tab pos="1912144" algn="l"/>
                    <a:tab pos="2255044" algn="l"/>
                    <a:tab pos="2597944" algn="l"/>
                    <a:tab pos="2940844" algn="l"/>
                    <a:tab pos="3283744" algn="l"/>
                    <a:tab pos="3626644" algn="l"/>
                    <a:tab pos="3969544" algn="l"/>
                    <a:tab pos="4312444" algn="l"/>
                    <a:tab pos="4655344" algn="l"/>
                    <a:tab pos="4998244" algn="l"/>
                    <a:tab pos="5341144" algn="l"/>
                    <a:tab pos="5684044" algn="l"/>
                    <a:tab pos="6026944" algn="l"/>
                    <a:tab pos="6369844" algn="l"/>
                    <a:tab pos="6712744" algn="l"/>
                    <a:tab pos="7055644" algn="l"/>
                  </a:tabLst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(A) </a:t>
                </a:r>
                <a:r>
                  <a:rPr lang="es-AR" altLang="en-US" sz="2300" dirty="0">
                    <a:solidFill>
                      <a:srgbClr val="7030A0"/>
                    </a:solidFill>
                  </a:rPr>
                  <a:t>No ejercer y mantener: </a:t>
                </a:r>
                <a14:m>
                  <m:oMath xmlns:m="http://schemas.openxmlformats.org/officeDocument/2006/math">
                    <m:r>
                      <a:rPr lang="es-AR" altLang="en-US" sz="23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s-AR" altLang="en-US" sz="23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AR" altLang="en-US" sz="23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altLang="en-US" sz="23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s-AR" altLang="en-US" sz="23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en-US" sz="23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en-US" sz="23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sz="23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en-US" sz="23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3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en-US" sz="23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en-US" sz="23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300" dirty="0">
                  <a:solidFill>
                    <a:srgbClr val="000000"/>
                  </a:solidFill>
                </a:endParaRPr>
              </a:p>
              <a:p>
                <a:pPr marL="757238" lvl="1" indent="-457200" defTabSz="342900">
                  <a:buClr>
                    <a:srgbClr val="000000"/>
                  </a:buClr>
                  <a:tabLst>
                    <a:tab pos="540544" algn="l"/>
                    <a:tab pos="883444" algn="l"/>
                    <a:tab pos="1226344" algn="l"/>
                    <a:tab pos="1569244" algn="l"/>
                    <a:tab pos="1912144" algn="l"/>
                    <a:tab pos="2255044" algn="l"/>
                    <a:tab pos="2597944" algn="l"/>
                    <a:tab pos="2940844" algn="l"/>
                    <a:tab pos="3283744" algn="l"/>
                    <a:tab pos="3626644" algn="l"/>
                    <a:tab pos="3969544" algn="l"/>
                    <a:tab pos="4312444" algn="l"/>
                    <a:tab pos="4655344" algn="l"/>
                    <a:tab pos="4998244" algn="l"/>
                    <a:tab pos="5341144" algn="l"/>
                    <a:tab pos="5684044" algn="l"/>
                    <a:tab pos="6026944" algn="l"/>
                    <a:tab pos="6369844" algn="l"/>
                    <a:tab pos="6712744" algn="l"/>
                    <a:tab pos="7055644" algn="l"/>
                  </a:tabLst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(B) </a:t>
                </a:r>
                <a:r>
                  <a:rPr lang="es-AR" altLang="en-US" sz="2300" dirty="0">
                    <a:solidFill>
                      <a:srgbClr val="00B0F0"/>
                    </a:solidFill>
                  </a:rPr>
                  <a:t>Ejercer y recibir:</a:t>
                </a:r>
                <a14:m>
                  <m:oMath xmlns:m="http://schemas.openxmlformats.org/officeDocument/2006/math">
                    <m:r>
                      <a:rPr lang="es-AR" altLang="en-US" sz="23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AR" altLang="en-US" sz="23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AR" altLang="en-US" sz="2300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altLang="en-US" sz="2300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s-AR" altLang="en-US" sz="2300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AR" altLang="en-US" sz="2300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s-AR" altLang="en-US" sz="2300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s-AR" altLang="en-US" sz="23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AR" altLang="en-US" sz="23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en-US" sz="23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 |(</m:t>
                    </m:r>
                    <m:r>
                      <a:rPr lang="es-AR" altLang="en-US" sz="23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en-US" sz="23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3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sz="23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en-US" sz="23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3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en-US" sz="23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en-US" sz="23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s-AR" altLang="en-US" sz="2300" dirty="0">
                  <a:solidFill>
                    <a:srgbClr val="00B0F0"/>
                  </a:solidFill>
                </a:endParaRPr>
              </a:p>
              <a:p>
                <a:pPr marL="457200" indent="-457200" defTabSz="342900">
                  <a:buClr>
                    <a:srgbClr val="000000"/>
                  </a:buClr>
                  <a:tabLst>
                    <a:tab pos="540544" algn="l"/>
                    <a:tab pos="883444" algn="l"/>
                    <a:tab pos="1226344" algn="l"/>
                    <a:tab pos="1569244" algn="l"/>
                    <a:tab pos="1912144" algn="l"/>
                    <a:tab pos="2255044" algn="l"/>
                    <a:tab pos="2597944" algn="l"/>
                    <a:tab pos="2940844" algn="l"/>
                    <a:tab pos="3283744" algn="l"/>
                    <a:tab pos="3626644" algn="l"/>
                    <a:tab pos="3969544" algn="l"/>
                    <a:tab pos="4312444" algn="l"/>
                    <a:tab pos="4655344" algn="l"/>
                    <a:tab pos="4998244" algn="l"/>
                    <a:tab pos="5341144" algn="l"/>
                    <a:tab pos="5684044" algn="l"/>
                    <a:tab pos="6026944" algn="l"/>
                    <a:tab pos="6369844" algn="l"/>
                    <a:tab pos="6712744" algn="l"/>
                    <a:tab pos="7055644" algn="l"/>
                  </a:tabLst>
                </a:pPr>
                <a:endParaRPr lang="es-AR" altLang="en-US" sz="2300" dirty="0">
                  <a:solidFill>
                    <a:srgbClr val="000000"/>
                  </a:solidFill>
                </a:endParaRPr>
              </a:p>
              <a:p>
                <a:pPr marL="457200" indent="-457200" defTabSz="342900">
                  <a:buClr>
                    <a:srgbClr val="000000"/>
                  </a:buClr>
                  <a:tabLst>
                    <a:tab pos="540544" algn="l"/>
                    <a:tab pos="883444" algn="l"/>
                    <a:tab pos="1226344" algn="l"/>
                    <a:tab pos="1569244" algn="l"/>
                    <a:tab pos="1912144" algn="l"/>
                    <a:tab pos="2255044" algn="l"/>
                    <a:tab pos="2597944" algn="l"/>
                    <a:tab pos="2940844" algn="l"/>
                    <a:tab pos="3283744" algn="l"/>
                    <a:tab pos="3626644" algn="l"/>
                    <a:tab pos="3969544" algn="l"/>
                    <a:tab pos="4312444" algn="l"/>
                    <a:tab pos="4655344" algn="l"/>
                    <a:tab pos="4998244" algn="l"/>
                    <a:tab pos="5341144" algn="l"/>
                    <a:tab pos="5684044" algn="l"/>
                    <a:tab pos="6026944" algn="l"/>
                    <a:tab pos="6369844" algn="l"/>
                    <a:tab pos="6712744" algn="l"/>
                    <a:tab pos="7055644" algn="l"/>
                  </a:tabLst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La forma de decisión será simplemente evaluar cual de las posiciones tiene valor más alto:</a:t>
                </a:r>
              </a:p>
              <a:p>
                <a:pPr marL="457200" indent="-457200" defTabSz="342900">
                  <a:buClr>
                    <a:srgbClr val="000000"/>
                  </a:buClr>
                  <a:tabLst>
                    <a:tab pos="540544" algn="l"/>
                    <a:tab pos="883444" algn="l"/>
                    <a:tab pos="1226344" algn="l"/>
                    <a:tab pos="1569244" algn="l"/>
                    <a:tab pos="1912144" algn="l"/>
                    <a:tab pos="2255044" algn="l"/>
                    <a:tab pos="2597944" algn="l"/>
                    <a:tab pos="2940844" algn="l"/>
                    <a:tab pos="3283744" algn="l"/>
                    <a:tab pos="3626644" algn="l"/>
                    <a:tab pos="3969544" algn="l"/>
                    <a:tab pos="4312444" algn="l"/>
                    <a:tab pos="4655344" algn="l"/>
                    <a:tab pos="4998244" algn="l"/>
                    <a:tab pos="5341144" algn="l"/>
                    <a:tab pos="5684044" algn="l"/>
                    <a:tab pos="6026944" algn="l"/>
                    <a:tab pos="6369844" algn="l"/>
                    <a:tab pos="6712744" algn="l"/>
                    <a:tab pos="7055644" algn="l"/>
                  </a:tabLst>
                </a:pPr>
                <a:endParaRPr lang="es-AR" altLang="en-US" sz="2300" dirty="0">
                  <a:solidFill>
                    <a:srgbClr val="000000"/>
                  </a:solidFill>
                </a:endParaRPr>
              </a:p>
              <a:p>
                <a:pPr marL="0" indent="0" defTabSz="342900">
                  <a:buClr>
                    <a:srgbClr val="000000"/>
                  </a:buClr>
                  <a:buNone/>
                  <a:tabLst>
                    <a:tab pos="540544" algn="l"/>
                    <a:tab pos="883444" algn="l"/>
                    <a:tab pos="1226344" algn="l"/>
                    <a:tab pos="1569244" algn="l"/>
                    <a:tab pos="1912144" algn="l"/>
                    <a:tab pos="2255044" algn="l"/>
                    <a:tab pos="2597944" algn="l"/>
                    <a:tab pos="2940844" algn="l"/>
                    <a:tab pos="3283744" algn="l"/>
                    <a:tab pos="3626644" algn="l"/>
                    <a:tab pos="3969544" algn="l"/>
                    <a:tab pos="4312444" algn="l"/>
                    <a:tab pos="4655344" algn="l"/>
                    <a:tab pos="4998244" algn="l"/>
                    <a:tab pos="5341144" algn="l"/>
                    <a:tab pos="5684044" algn="l"/>
                    <a:tab pos="6026944" algn="l"/>
                    <a:tab pos="6369844" algn="l"/>
                    <a:tab pos="6712744" algn="l"/>
                    <a:tab pos="7055644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eqArr>
                            <m:eqArrPr>
                              <m:ctrlP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3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3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p>
                                      </m:sSubSup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d>
                                        <m:dPr>
                                          <m:ctrlPr>
                                            <a:rPr lang="en-US" sz="23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3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sz="23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d>
                                      <m:sSubSup>
                                        <m:sSubSupPr>
                                          <m:ctrlPr>
                                            <a:rPr lang="en-US" sz="23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3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3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sz="23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sz="23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23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3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sz="23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  <m:r>
                                    <a:rPr lang="en-US" sz="23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3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d>
                            </m:e>
                            <m:e/>
                          </m:eqArr>
                        </m:e>
                      </m:func>
                    </m:oMath>
                  </m:oMathPara>
                </a14:m>
                <a:endParaRPr lang="en-US" sz="2300" dirty="0">
                  <a:solidFill>
                    <a:srgbClr val="00B0F0"/>
                  </a:solidFill>
                </a:endParaRPr>
              </a:p>
              <a:p>
                <a:pPr marL="0" indent="0" defTabSz="342900">
                  <a:buClr>
                    <a:srgbClr val="000000"/>
                  </a:buClr>
                  <a:buNone/>
                  <a:tabLst>
                    <a:tab pos="540544" algn="l"/>
                    <a:tab pos="883444" algn="l"/>
                    <a:tab pos="1226344" algn="l"/>
                    <a:tab pos="1569244" algn="l"/>
                    <a:tab pos="1912144" algn="l"/>
                    <a:tab pos="2255044" algn="l"/>
                    <a:tab pos="2597944" algn="l"/>
                    <a:tab pos="2940844" algn="l"/>
                    <a:tab pos="3283744" algn="l"/>
                    <a:tab pos="3626644" algn="l"/>
                    <a:tab pos="3969544" algn="l"/>
                    <a:tab pos="4312444" algn="l"/>
                    <a:tab pos="4655344" algn="l"/>
                    <a:tab pos="4998244" algn="l"/>
                    <a:tab pos="5341144" algn="l"/>
                    <a:tab pos="5684044" algn="l"/>
                    <a:tab pos="6026944" algn="l"/>
                    <a:tab pos="6369844" algn="l"/>
                    <a:tab pos="6712744" algn="l"/>
                    <a:tab pos="7055644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3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3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3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3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3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sz="23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3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3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sSubSup>
                                    <m:sSubSupPr>
                                      <m:ctrlP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bSup>
                                  <m:r>
                                    <a:rPr lang="en-US" sz="23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n-US" sz="23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3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3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3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3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3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3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3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s-AR" altLang="en-US" sz="2300" dirty="0">
                  <a:solidFill>
                    <a:srgbClr val="000000"/>
                  </a:solidFill>
                </a:endParaRPr>
              </a:p>
              <a:p>
                <a:pPr marL="457200" indent="-457200" defTabSz="342900">
                  <a:buClr>
                    <a:srgbClr val="000000"/>
                  </a:buClr>
                  <a:tabLst>
                    <a:tab pos="540544" algn="l"/>
                    <a:tab pos="883444" algn="l"/>
                    <a:tab pos="1226344" algn="l"/>
                    <a:tab pos="1569244" algn="l"/>
                    <a:tab pos="1912144" algn="l"/>
                    <a:tab pos="2255044" algn="l"/>
                    <a:tab pos="2597944" algn="l"/>
                    <a:tab pos="2940844" algn="l"/>
                    <a:tab pos="3283744" algn="l"/>
                    <a:tab pos="3626644" algn="l"/>
                    <a:tab pos="3969544" algn="l"/>
                    <a:tab pos="4312444" algn="l"/>
                    <a:tab pos="4655344" algn="l"/>
                    <a:tab pos="4998244" algn="l"/>
                    <a:tab pos="5341144" algn="l"/>
                    <a:tab pos="5684044" algn="l"/>
                    <a:tab pos="6026944" algn="l"/>
                    <a:tab pos="6369844" algn="l"/>
                    <a:tab pos="6712744" algn="l"/>
                    <a:tab pos="7055644" algn="l"/>
                  </a:tabLst>
                </a:pPr>
                <a:endParaRPr lang="es-AR" altLang="en-US" sz="1725" dirty="0">
                  <a:solidFill>
                    <a:srgbClr val="000000"/>
                  </a:solidFill>
                </a:endParaRPr>
              </a:p>
              <a:p>
                <a:pPr marL="457200" indent="-457200" defTabSz="342900">
                  <a:buClr>
                    <a:srgbClr val="000000"/>
                  </a:buClr>
                  <a:tabLst>
                    <a:tab pos="540544" algn="l"/>
                    <a:tab pos="883444" algn="l"/>
                    <a:tab pos="1226344" algn="l"/>
                    <a:tab pos="1569244" algn="l"/>
                    <a:tab pos="1912144" algn="l"/>
                    <a:tab pos="2255044" algn="l"/>
                    <a:tab pos="2597944" algn="l"/>
                    <a:tab pos="2940844" algn="l"/>
                    <a:tab pos="3283744" algn="l"/>
                    <a:tab pos="3626644" algn="l"/>
                    <a:tab pos="3969544" algn="l"/>
                    <a:tab pos="4312444" algn="l"/>
                    <a:tab pos="4655344" algn="l"/>
                    <a:tab pos="4998244" algn="l"/>
                    <a:tab pos="5341144" algn="l"/>
                    <a:tab pos="5684044" algn="l"/>
                    <a:tab pos="6026944" algn="l"/>
                    <a:tab pos="6369844" algn="l"/>
                    <a:tab pos="6712744" algn="l"/>
                    <a:tab pos="7055644" algn="l"/>
                  </a:tabLst>
                </a:pPr>
                <a:endParaRPr lang="es-AR" altLang="en-US" sz="1725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2228" name="Rectangle 3">
                <a:extLst>
                  <a:ext uri="{FF2B5EF4-FFF2-40B4-BE49-F238E27FC236}">
                    <a16:creationId xmlns:a16="http://schemas.microsoft.com/office/drawing/2014/main" id="{98DF7870-8AC3-4611-9D68-182736F29E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207568" y="1268760"/>
                <a:ext cx="7920880" cy="5112568"/>
              </a:xfrm>
              <a:blipFill>
                <a:blip r:embed="rId3"/>
                <a:stretch>
                  <a:fillRect l="-1232" t="-1788" r="-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4">
            <a:extLst>
              <a:ext uri="{FF2B5EF4-FFF2-40B4-BE49-F238E27FC236}">
                <a16:creationId xmlns:a16="http://schemas.microsoft.com/office/drawing/2014/main" id="{B1F75719-76CA-4073-BBB5-D3AD2DB9A785}"/>
              </a:ext>
            </a:extLst>
          </p:cNvPr>
          <p:cNvSpPr txBox="1">
            <a:spLocks/>
          </p:cNvSpPr>
          <p:nvPr/>
        </p:nvSpPr>
        <p:spPr>
          <a:xfrm>
            <a:off x="1828800" y="-39688"/>
            <a:ext cx="8534400" cy="1143001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br>
              <a:rPr lang="es-AR" kern="0" dirty="0">
                <a:solidFill>
                  <a:srgbClr val="000000"/>
                </a:solidFill>
              </a:rPr>
            </a:br>
            <a:r>
              <a:rPr lang="es-AR" altLang="en-US" sz="3200" dirty="0">
                <a:solidFill>
                  <a:srgbClr val="000000"/>
                </a:solidFill>
              </a:rPr>
              <a:t>Ejercicio anticipado - Americanas</a:t>
            </a:r>
            <a:endParaRPr lang="es-AR" kern="0" dirty="0"/>
          </a:p>
        </p:txBody>
      </p:sp>
    </p:spTree>
    <p:extLst>
      <p:ext uri="{BB962C8B-B14F-4D97-AF65-F5344CB8AC3E}">
        <p14:creationId xmlns:p14="http://schemas.microsoft.com/office/powerpoint/2010/main" val="205631095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B92C7A-DD2B-4C18-A1A2-1DCDFF422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A4EF7B8-961B-4369-B6B4-74F0ADC02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0"/>
            <a:ext cx="741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s-AR" altLang="en-US" sz="3200" kern="0" dirty="0">
                <a:solidFill>
                  <a:srgbClr val="000000"/>
                </a:solidFill>
                <a:latin typeface="+mn-lt"/>
              </a:rPr>
              <a:t>Fórmula recursiva – Caso General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88329-2FB8-4DFD-AEBF-0483B2219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087" y="786237"/>
            <a:ext cx="8612187" cy="557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2643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B92C7A-DD2B-4C18-A1A2-1DCDFF422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A4EF7B8-961B-4369-B6B4-74F0ADC02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0"/>
            <a:ext cx="741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s-AR" altLang="en-US" sz="3200" kern="0" dirty="0">
                <a:solidFill>
                  <a:srgbClr val="000000"/>
                </a:solidFill>
                <a:latin typeface="+mn-lt"/>
              </a:rPr>
              <a:t>Fórmula cerrada – Caso 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F458F1-CF85-41DF-900C-0BF5C82F2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12" y="928687"/>
            <a:ext cx="928687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7360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F9C4C6-2F4D-4129-AE46-7A2AA7936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1095375"/>
            <a:ext cx="9172575" cy="5638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587CE7C-40A8-4C14-ABD9-4A14A792D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0"/>
            <a:ext cx="741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s-AR" altLang="en-US" sz="3200" kern="0" dirty="0">
                <a:solidFill>
                  <a:srgbClr val="000000"/>
                </a:solidFill>
                <a:latin typeface="+mn-lt"/>
              </a:rPr>
              <a:t>Fórmula cerrada – Caso general</a:t>
            </a:r>
          </a:p>
        </p:txBody>
      </p:sp>
    </p:spTree>
    <p:extLst>
      <p:ext uri="{BB962C8B-B14F-4D97-AF65-F5344CB8AC3E}">
        <p14:creationId xmlns:p14="http://schemas.microsoft.com/office/powerpoint/2010/main" val="12247103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A1BCBB-7062-44CC-9271-25C294BDD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828674"/>
            <a:ext cx="9220200" cy="45910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B2FBC70-94EC-44B2-8486-7B9CAB1C6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0"/>
            <a:ext cx="741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s-AR" altLang="en-US" sz="3200" kern="0" dirty="0">
                <a:solidFill>
                  <a:srgbClr val="000000"/>
                </a:solidFill>
                <a:latin typeface="+mn-lt"/>
              </a:rPr>
              <a:t>Fórmula cerrada – Caso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192CA9F-E2BF-476C-A3FD-01A11A9DDE74}"/>
                  </a:ext>
                </a:extLst>
              </p:cNvPr>
              <p:cNvSpPr/>
              <p:nvPr/>
            </p:nvSpPr>
            <p:spPr>
              <a:xfrm>
                <a:off x="1406220" y="5452382"/>
                <a:ext cx="9299879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 err="1">
                    <a:solidFill>
                      <a:srgbClr val="000000"/>
                    </a:solidFill>
                  </a:rPr>
                  <a:t>Obs</a:t>
                </a:r>
                <a:r>
                  <a:rPr lang="es-AR" b="1" dirty="0">
                    <a:solidFill>
                      <a:srgbClr val="000000"/>
                    </a:solidFill>
                  </a:rPr>
                  <a:t>:</a:t>
                </a:r>
                <a:r>
                  <a:rPr lang="es-AR" dirty="0">
                    <a:solidFill>
                      <a:srgbClr val="000000"/>
                    </a:solidFill>
                  </a:rPr>
                  <a:t> El numero combinatorio                                          </a:t>
                </a:r>
                <a:r>
                  <a:rPr lang="en-US" dirty="0">
                    <a:solidFill>
                      <a:srgbClr val="000000"/>
                    </a:solidFill>
                  </a:rPr>
                  <a:t>involucre </a:t>
                </a:r>
                <a:r>
                  <a:rPr lang="en-US" dirty="0" err="1">
                    <a:solidFill>
                      <a:srgbClr val="000000"/>
                    </a:solidFill>
                  </a:rPr>
                  <a:t>el</a:t>
                </a:r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  <a:r>
                  <a:rPr lang="es-AR" dirty="0">
                    <a:solidFill>
                      <a:srgbClr val="000000"/>
                    </a:solidFill>
                  </a:rPr>
                  <a:t>calculo</a:t>
                </a:r>
                <a:r>
                  <a:rPr lang="en-US" dirty="0">
                    <a:solidFill>
                      <a:srgbClr val="000000"/>
                    </a:solidFill>
                  </a:rPr>
                  <a:t> del factorial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endParaRPr lang="es-ES" b="1" i="1" dirty="0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s-ES" dirty="0">
                    <a:solidFill>
                      <a:srgbClr val="000000"/>
                    </a:solidFill>
                  </a:rPr>
                  <a:t>El calculo del numero factorial es un problema computacional en si mismo (tiene un limite)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192CA9F-E2BF-476C-A3FD-01A11A9DDE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220" y="5452382"/>
                <a:ext cx="9299879" cy="923330"/>
              </a:xfrm>
              <a:prstGeom prst="rect">
                <a:avLst/>
              </a:prstGeom>
              <a:blipFill>
                <a:blip r:embed="rId3"/>
                <a:stretch>
                  <a:fillRect l="-590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652E35-3468-42C4-9503-D686C0774590}"/>
                  </a:ext>
                </a:extLst>
              </p:cNvPr>
              <p:cNvSpPr txBox="1"/>
              <p:nvPr/>
            </p:nvSpPr>
            <p:spPr>
              <a:xfrm>
                <a:off x="4416582" y="5358157"/>
                <a:ext cx="1882246" cy="557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652E35-3468-42C4-9503-D686C0774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582" y="5358157"/>
                <a:ext cx="1882246" cy="557781"/>
              </a:xfrm>
              <a:prstGeom prst="rect">
                <a:avLst/>
              </a:prstGeom>
              <a:blipFill>
                <a:blip r:embed="rId4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9329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96193C-F505-4C97-B3DF-DC28F60C2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137660"/>
            <a:ext cx="8887051" cy="658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06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B92C7A-DD2B-4C18-A1A2-1DCDFF422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A4EF7B8-961B-4369-B6B4-74F0ADC02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0"/>
            <a:ext cx="741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s-AR" altLang="en-US" sz="3200" kern="0" dirty="0">
                <a:solidFill>
                  <a:srgbClr val="000000"/>
                </a:solidFill>
                <a:latin typeface="+mn-lt"/>
              </a:rPr>
              <a:t>Bondades del árbol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024E1B2-F376-483B-97FD-72E0549FE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388" y="1267544"/>
            <a:ext cx="8458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es-AR" sz="2400" dirty="0">
              <a:solidFill>
                <a:srgbClr val="000000"/>
              </a:solidFill>
              <a:latin typeface="CMSS1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0969DB-34E7-4717-9194-0436B7E01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033" y="1412776"/>
            <a:ext cx="7910855" cy="503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5095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>
            <a:extLst>
              <a:ext uri="{FF2B5EF4-FFF2-40B4-BE49-F238E27FC236}">
                <a16:creationId xmlns:a16="http://schemas.microsoft.com/office/drawing/2014/main" id="{6C3AC5A9-0DB7-4C4D-8E0E-97D9BCED5890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1" y="6553201"/>
            <a:ext cx="2132013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defTabSz="457200">
              <a:spcBef>
                <a:spcPct val="20000"/>
              </a:spcBef>
              <a:buClr>
                <a:schemeClr val="folHlink"/>
              </a:buClr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>
                <a:srgbClr val="4D4D4D"/>
              </a:buClr>
              <a:buFont typeface="Times New Roman" panose="02020603050405020304" pitchFamily="18" charset="0"/>
              <a:buNone/>
            </a:pPr>
            <a:fld id="{67709870-7819-45E1-BAEA-EE19D085AA13}" type="slidenum">
              <a:rPr lang="en-GB" altLang="en-US" sz="1400">
                <a:latin typeface="Times New Roman" panose="02020603050405020304" pitchFamily="18" charset="0"/>
                <a:cs typeface="Lucida Sans Unicode" panose="020B0602030504020204" pitchFamily="34" charset="0"/>
              </a:rPr>
              <a:pPr algn="r">
                <a:spcBef>
                  <a:spcPct val="0"/>
                </a:spcBef>
                <a:buClr>
                  <a:srgbClr val="4D4D4D"/>
                </a:buClr>
                <a:buFont typeface="Times New Roman" panose="02020603050405020304" pitchFamily="18" charset="0"/>
                <a:buNone/>
              </a:pPr>
              <a:t>35</a:t>
            </a:fld>
            <a:endParaRPr lang="en-GB" altLang="en-US" sz="140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8E244AEF-CE4E-435F-B0D8-447469519B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38401" y="0"/>
            <a:ext cx="7381875" cy="1144588"/>
          </a:xfrm>
        </p:spPr>
        <p:txBody>
          <a:bodyPr vert="horz" lIns="90000" tIns="46800" rIns="90000" bIns="46800" rtlCol="0" anchor="ctr">
            <a:normAutofit/>
          </a:bodyPr>
          <a:lstStyle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s-AR" altLang="en-US" sz="3200" dirty="0">
                <a:solidFill>
                  <a:srgbClr val="000000"/>
                </a:solidFill>
              </a:rPr>
              <a:t>Elección de parámetros para el algoritmo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228" name="Rectangle 3">
                <a:extLst>
                  <a:ext uri="{FF2B5EF4-FFF2-40B4-BE49-F238E27FC236}">
                    <a16:creationId xmlns:a16="http://schemas.microsoft.com/office/drawing/2014/main" id="{98DF7870-8AC3-4611-9D68-182736F29E96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1992313" y="1412876"/>
                <a:ext cx="8229600" cy="4956175"/>
              </a:xfrm>
            </p:spPr>
            <p:txBody>
              <a:bodyPr vert="horz" lIns="90000" tIns="46800" rIns="90000" bIns="46800" rtlCol="0">
                <a:normAutofit lnSpcReduction="10000"/>
              </a:bodyPr>
              <a:lstStyle/>
              <a:p>
                <a:pPr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Los de siempre:</a:t>
                </a:r>
              </a:p>
              <a:p>
                <a:pPr lvl="1"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14:m>
                  <m:oMath xmlns:m="http://schemas.openxmlformats.org/officeDocument/2006/math">
                    <m:r>
                      <a:rPr lang="es-AR" altLang="en-US" sz="1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AR" altLang="en-US" sz="1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AR" altLang="en-US" sz="1900" dirty="0">
                    <a:solidFill>
                      <a:srgbClr val="000000"/>
                    </a:solidFill>
                  </a:rPr>
                  <a:t> precio del subyacente 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altLang="en-US" sz="1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s-AR" altLang="en-US" sz="1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AR" altLang="en-US" sz="1900" dirty="0">
                    <a:solidFill>
                      <a:srgbClr val="000000"/>
                    </a:solidFill>
                  </a:rPr>
                  <a:t>tiempo de expiración</a:t>
                </a:r>
              </a:p>
              <a:p>
                <a:pPr lvl="1"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altLang="en-US" sz="1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s-AR" altLang="en-US" sz="19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AR" altLang="en-US" sz="1900" dirty="0">
                    <a:solidFill>
                      <a:srgbClr val="000000"/>
                    </a:solidFill>
                  </a:rPr>
                  <a:t> precio de ejercicio ; </a:t>
                </a:r>
                <a14:m>
                  <m:oMath xmlns:m="http://schemas.openxmlformats.org/officeDocument/2006/math">
                    <m:r>
                      <a:rPr lang="en-US" altLang="en-US" sz="19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s-AR" altLang="en-US" sz="1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AR" altLang="en-US" sz="1900" dirty="0">
                    <a:solidFill>
                      <a:srgbClr val="000000"/>
                    </a:solidFill>
                  </a:rPr>
                  <a:t>volatilidad</a:t>
                </a:r>
              </a:p>
              <a:p>
                <a:pPr lvl="1"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14:m>
                  <m:oMath xmlns:m="http://schemas.openxmlformats.org/officeDocument/2006/math">
                    <m:r>
                      <a:rPr lang="es-AR" altLang="en-US" sz="1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AR" altLang="en-US" sz="19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AR" altLang="en-US" sz="1900" dirty="0">
                    <a:solidFill>
                      <a:srgbClr val="000000"/>
                    </a:solidFill>
                  </a:rPr>
                  <a:t>tasa libre de riesgo ; </a:t>
                </a:r>
                <a:r>
                  <a:rPr lang="es-AR" altLang="en-US" sz="1900" i="1" dirty="0" err="1">
                    <a:solidFill>
                      <a:srgbClr val="000000"/>
                    </a:solidFill>
                  </a:rPr>
                  <a:t>div</a:t>
                </a:r>
                <a:r>
                  <a:rPr lang="es-AR" altLang="en-US" sz="1900" dirty="0">
                    <a:solidFill>
                      <a:srgbClr val="000000"/>
                    </a:solidFill>
                  </a:rPr>
                  <a:t> = dividendo (tasa)</a:t>
                </a:r>
              </a:p>
              <a:p>
                <a:pPr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Modelo CRR (Cox Ross Rubinstein):</a:t>
                </a:r>
              </a:p>
              <a:p>
                <a:pPr lvl="1"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14:m>
                  <m:oMath xmlns:m="http://schemas.openxmlformats.org/officeDocument/2006/math">
                    <m:r>
                      <a:rPr lang="es-A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A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AR" altLang="en-US" sz="19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número de pasos del árbol</a:t>
                </a:r>
              </a:p>
              <a:p>
                <a:pPr lvl="1"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14:m>
                  <m:oMath xmlns:m="http://schemas.openxmlformats.org/officeDocument/2006/math">
                    <m:r>
                      <a:rPr lang="es-A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s-A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A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A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s-A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s-AR" altLang="en-US" sz="19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1"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14:m>
                  <m:oMath xmlns:m="http://schemas.openxmlformats.org/officeDocument/2006/math">
                    <m:r>
                      <a:rPr lang="es-AR" altLang="en-US" sz="1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AR" altLang="en-US" sz="1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s-AR" altLang="en-US" sz="19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altLang="en-US" sz="19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s-AR" altLang="en-US" sz="19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rad>
                      </m:sup>
                    </m:sSup>
                    <m:r>
                      <a:rPr lang="es-AR" altLang="en-US" sz="1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AR" altLang="en-US" sz="1900" dirty="0">
                  <a:solidFill>
                    <a:srgbClr val="000000"/>
                  </a:solidFill>
                </a:endParaRPr>
              </a:p>
              <a:p>
                <a:pPr lvl="1"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14:m>
                  <m:oMath xmlns:m="http://schemas.openxmlformats.org/officeDocument/2006/math">
                    <m:r>
                      <a:rPr lang="es-AR" altLang="en-US" sz="1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AR" altLang="en-US" sz="1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s-AR" altLang="en-US" sz="19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AR" altLang="en-US" sz="19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s-AR" altLang="en-US" sz="19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rad>
                      </m:sup>
                    </m:sSup>
                    <m:r>
                      <a:rPr lang="es-AR" altLang="en-US" sz="1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;</m:t>
                    </m:r>
                    <m:r>
                      <a:rPr lang="es-AR" altLang="en-US" sz="1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AR" altLang="en-US" sz="1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endParaRPr lang="es-AR" altLang="en-US" sz="1900" dirty="0">
                  <a:solidFill>
                    <a:srgbClr val="000000"/>
                  </a:solidFill>
                </a:endParaRPr>
              </a:p>
              <a:p>
                <a:pPr lvl="1"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𝑝𝑟𝑜𝑏</m:t>
                        </m:r>
                      </m:sub>
                    </m:sSub>
                    <m:r>
                      <a:rPr lang="es-AR" altLang="en-US" sz="19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AR" altLang="en-US" sz="19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AR" altLang="en-US" sz="19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AR" altLang="en-US" sz="19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AR" altLang="en-US" sz="19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s-AR" altLang="en-US" sz="19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AR" altLang="en-US" sz="19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𝑑𝑖𝑣</m:t>
                            </m:r>
                            <m:r>
                              <a:rPr lang="es-AR" altLang="en-US" sz="19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AR" altLang="en-US" sz="19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s-AR" altLang="en-US" sz="19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AR" altLang="en-US" sz="19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endParaRPr lang="es-AR" altLang="en-US" sz="1900" dirty="0">
                  <a:solidFill>
                    <a:srgbClr val="000000"/>
                  </a:solidFill>
                </a:endParaRPr>
              </a:p>
              <a:p>
                <a:pPr marL="609600" indent="-609600"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:endParaRPr lang="es-AR" altLang="en-US" sz="2300" dirty="0">
                  <a:solidFill>
                    <a:srgbClr val="000000"/>
                  </a:solidFill>
                </a:endParaRPr>
              </a:p>
              <a:p>
                <a:pPr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Hay muchas otras formas de elección de parámetros. CRR y variantes de este son los más usados en la industria.</a:t>
                </a:r>
              </a:p>
              <a:p>
                <a:pPr marL="609600" indent="-609600"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:endParaRPr lang="es-AR" altLang="en-US" sz="2300" dirty="0">
                  <a:solidFill>
                    <a:srgbClr val="000000"/>
                  </a:solidFill>
                </a:endParaRPr>
              </a:p>
              <a:p>
                <a:pPr marL="609600" indent="-609600"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:endParaRPr lang="es-AR" altLang="en-US" sz="2300" dirty="0">
                  <a:solidFill>
                    <a:srgbClr val="000000"/>
                  </a:solidFill>
                </a:endParaRPr>
              </a:p>
              <a:p>
                <a:pPr marL="609600" indent="-609600"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:endParaRPr lang="es-AR" altLang="en-US" sz="2300" dirty="0">
                  <a:solidFill>
                    <a:srgbClr val="000000"/>
                  </a:solidFill>
                </a:endParaRPr>
              </a:p>
              <a:p>
                <a:pPr marL="609600" indent="-609600" defTabSz="457200">
                  <a:buClr>
                    <a:srgbClr val="000000"/>
                  </a:buClr>
                  <a:tabLst>
                    <a:tab pos="720725" algn="l"/>
                    <a:tab pos="1177925" algn="l"/>
                    <a:tab pos="1635125" algn="l"/>
                    <a:tab pos="2092325" algn="l"/>
                    <a:tab pos="2549525" algn="l"/>
                    <a:tab pos="3006725" algn="l"/>
                    <a:tab pos="3463925" algn="l"/>
                    <a:tab pos="3921125" algn="l"/>
                    <a:tab pos="4378325" algn="l"/>
                    <a:tab pos="4835525" algn="l"/>
                    <a:tab pos="5292725" algn="l"/>
                    <a:tab pos="5749925" algn="l"/>
                    <a:tab pos="6207125" algn="l"/>
                    <a:tab pos="6664325" algn="l"/>
                    <a:tab pos="7121525" algn="l"/>
                    <a:tab pos="7578725" algn="l"/>
                    <a:tab pos="8035925" algn="l"/>
                    <a:tab pos="8493125" algn="l"/>
                    <a:tab pos="8950325" algn="l"/>
                    <a:tab pos="9407525" algn="l"/>
                  </a:tabLst>
                </a:pPr>
                <a:endParaRPr lang="es-AR" altLang="en-US" sz="23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2228" name="Rectangle 3">
                <a:extLst>
                  <a:ext uri="{FF2B5EF4-FFF2-40B4-BE49-F238E27FC236}">
                    <a16:creationId xmlns:a16="http://schemas.microsoft.com/office/drawing/2014/main" id="{98DF7870-8AC3-4611-9D68-182736F29E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1992313" y="1412876"/>
                <a:ext cx="8229600" cy="4956175"/>
              </a:xfrm>
              <a:blipFill>
                <a:blip r:embed="rId3"/>
                <a:stretch>
                  <a:fillRect l="-889" t="-2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>
            <a:extLst>
              <a:ext uri="{FF2B5EF4-FFF2-40B4-BE49-F238E27FC236}">
                <a16:creationId xmlns:a16="http://schemas.microsoft.com/office/drawing/2014/main" id="{6C3AC5A9-0DB7-4C4D-8E0E-97D9BCED5890}"/>
              </a:ext>
            </a:extLst>
          </p:cNvPr>
          <p:cNvSpPr txBox="1">
            <a:spLocks noGrp="1"/>
          </p:cNvSpPr>
          <p:nvPr/>
        </p:nvSpPr>
        <p:spPr bwMode="auto">
          <a:xfrm>
            <a:off x="8534401" y="6553201"/>
            <a:ext cx="2132013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defTabSz="457200">
              <a:spcBef>
                <a:spcPct val="20000"/>
              </a:spcBef>
              <a:buClr>
                <a:schemeClr val="folHlink"/>
              </a:buClr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Clr>
                <a:srgbClr val="4D4D4D"/>
              </a:buClr>
              <a:buFont typeface="Times New Roman" panose="02020603050405020304" pitchFamily="18" charset="0"/>
              <a:buNone/>
            </a:pPr>
            <a:fld id="{67709870-7819-45E1-BAEA-EE19D085AA13}" type="slidenum">
              <a:rPr lang="en-GB" altLang="en-US" sz="1400">
                <a:latin typeface="Times New Roman" panose="02020603050405020304" pitchFamily="18" charset="0"/>
                <a:cs typeface="Lucida Sans Unicode" panose="020B0602030504020204" pitchFamily="34" charset="0"/>
              </a:rPr>
              <a:pPr algn="r">
                <a:spcBef>
                  <a:spcPct val="0"/>
                </a:spcBef>
                <a:buClr>
                  <a:srgbClr val="4D4D4D"/>
                </a:buClr>
                <a:buFont typeface="Times New Roman" panose="02020603050405020304" pitchFamily="18" charset="0"/>
                <a:buNone/>
              </a:pPr>
              <a:t>36</a:t>
            </a:fld>
            <a:endParaRPr lang="en-GB" altLang="en-US" sz="1400" dirty="0">
              <a:latin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8E244AEF-CE4E-435F-B0D8-447469519B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38401" y="0"/>
            <a:ext cx="7381875" cy="1144588"/>
          </a:xfrm>
        </p:spPr>
        <p:txBody>
          <a:bodyPr vert="horz" lIns="90000" tIns="46800" rIns="90000" bIns="46800" rtlCol="0" anchor="ctr">
            <a:normAutofit/>
          </a:bodyPr>
          <a:lstStyle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dirty="0">
                <a:solidFill>
                  <a:srgbClr val="000000"/>
                </a:solidFill>
              </a:rPr>
              <a:t>Python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78F677-B839-4888-9058-F21057D89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678" y="1042859"/>
            <a:ext cx="9445923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340714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899045-AA68-4614-A680-9E9F1B0AB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37</a:t>
            </a:fld>
            <a:endParaRPr lang="en-US" alt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B1ED3C3-179F-4914-8394-AF5367D1594A}"/>
              </a:ext>
            </a:extLst>
          </p:cNvPr>
          <p:cNvSpPr txBox="1">
            <a:spLocks/>
          </p:cNvSpPr>
          <p:nvPr/>
        </p:nvSpPr>
        <p:spPr>
          <a:xfrm>
            <a:off x="1828800" y="-39688"/>
            <a:ext cx="8534400" cy="1143001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br>
              <a:rPr lang="es-AR" kern="0" dirty="0">
                <a:solidFill>
                  <a:srgbClr val="000000"/>
                </a:solidFill>
              </a:rPr>
            </a:br>
            <a:r>
              <a:rPr lang="es-AR" sz="3200" kern="0" dirty="0">
                <a:solidFill>
                  <a:srgbClr val="000000"/>
                </a:solidFill>
              </a:rPr>
              <a:t>Preguntas (Hull)</a:t>
            </a:r>
            <a:endParaRPr lang="en-US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3DA85F14-2038-4E0F-A2AF-D31E91EB38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4825" y="1163638"/>
                <a:ext cx="864235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r>
                  <a:rPr lang="es-ES" sz="2250" dirty="0">
                    <a:solidFill>
                      <a:srgbClr val="000000"/>
                    </a:solidFill>
                  </a:rPr>
                  <a:t>[13.1] El precio de una acción es $40. Se sabe que al final de 1 mes será $42 o $38. La tasa de interés libre de riesgo es del 8% anual Cuál es el valor de una opción </a:t>
                </a:r>
                <a:r>
                  <a:rPr lang="es-ES" sz="225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250" i="1" dirty="0">
                    <a:solidFill>
                      <a:srgbClr val="000000"/>
                    </a:solidFill>
                  </a:rPr>
                  <a:t> </a:t>
                </a:r>
                <a:r>
                  <a:rPr lang="es-ES" sz="2250" dirty="0">
                    <a:solidFill>
                      <a:srgbClr val="000000"/>
                    </a:solidFill>
                  </a:rPr>
                  <a:t>europea de 1 mes con </a:t>
                </a:r>
                <a:r>
                  <a:rPr lang="es-ES" sz="225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250" dirty="0">
                    <a:solidFill>
                      <a:srgbClr val="000000"/>
                    </a:solidFill>
                  </a:rPr>
                  <a:t> $39? 
[13.10] El precio de una acción es $80. Se sabe que al final de 4 meses será $75 o $85. La tasa de interés libre de riesgo es del 5%. ¿Cuál es el valor de una opción </a:t>
                </a:r>
                <a:r>
                  <a:rPr lang="es-ES" sz="225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ES" sz="2250" dirty="0">
                    <a:solidFill>
                      <a:srgbClr val="000000"/>
                    </a:solidFill>
                  </a:rPr>
                  <a:t> europea de 4 meses con un strike de $80? Utilice argumentos de no arbitraje.
</a:t>
                </a:r>
                <a:r>
                  <a:rPr lang="en-US" sz="2250" dirty="0">
                    <a:solidFill>
                      <a:srgbClr val="000000"/>
                    </a:solidFill>
                  </a:rPr>
                  <a:t>[13.16] </a:t>
                </a:r>
                <a:r>
                  <a:rPr lang="es-ES" sz="2250" dirty="0">
                    <a:solidFill>
                      <a:srgbClr val="000000"/>
                    </a:solidFill>
                  </a:rPr>
                  <a:t>La volatilidad de una acción que no paga dividendos, cuyo precio es de $78, es del 30%. La tasa libre de riesgo es del 3% anual para todos los vencimientos. Calcule los valores para </a:t>
                </a:r>
                <a14:m>
                  <m:oMath xmlns:m="http://schemas.openxmlformats.org/officeDocument/2006/math">
                    <m:r>
                      <a:rPr lang="es-ES" sz="225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" sz="225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s-ES" sz="225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ES" sz="2250" dirty="0">
                    <a:solidFill>
                      <a:srgbClr val="000000"/>
                    </a:solidFill>
                  </a:rPr>
                  <a:t> y </a:t>
                </a:r>
                <a14:m>
                  <m:oMath xmlns:m="http://schemas.openxmlformats.org/officeDocument/2006/math">
                    <m:r>
                      <a:rPr lang="en-US" sz="225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ES" sz="2250" dirty="0">
                    <a:solidFill>
                      <a:srgbClr val="000000"/>
                    </a:solidFill>
                  </a:rPr>
                  <a:t> si se usa un paso de tiempo de 2 meses. ¿Cuál es el valor de una opción </a:t>
                </a:r>
                <a:r>
                  <a:rPr lang="es-ES" sz="225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250" dirty="0">
                    <a:solidFill>
                      <a:srgbClr val="000000"/>
                    </a:solidFill>
                  </a:rPr>
                  <a:t> europea de 4 meses con </a:t>
                </a:r>
                <a:r>
                  <a:rPr lang="es-ES" sz="225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250" dirty="0">
                    <a:solidFill>
                      <a:srgbClr val="000000"/>
                    </a:solidFill>
                  </a:rPr>
                  <a:t> $80 dado por un árbol binomial de dos pasos. Supongamos que un </a:t>
                </a:r>
                <a:r>
                  <a:rPr lang="es-ES" sz="2250" i="1" dirty="0" err="1">
                    <a:solidFill>
                      <a:srgbClr val="000000"/>
                    </a:solidFill>
                  </a:rPr>
                  <a:t>trader</a:t>
                </a:r>
                <a:r>
                  <a:rPr lang="es-ES" sz="2250" dirty="0">
                    <a:solidFill>
                      <a:srgbClr val="000000"/>
                    </a:solidFill>
                  </a:rPr>
                  <a:t> vende 1.000 opciones (10 contratos). ¿Qué posición en la acción es necesaria para cubrir la posición del </a:t>
                </a:r>
                <a:r>
                  <a:rPr lang="es-ES" sz="2250" i="1" dirty="0" err="1">
                    <a:solidFill>
                      <a:srgbClr val="000000"/>
                    </a:solidFill>
                  </a:rPr>
                  <a:t>trader</a:t>
                </a:r>
                <a:r>
                  <a:rPr lang="es-ES" sz="2250" dirty="0">
                    <a:solidFill>
                      <a:srgbClr val="000000"/>
                    </a:solidFill>
                  </a:rPr>
                  <a:t> en el momento de la operación?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3DA85F14-2038-4E0F-A2AF-D31E91EB3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4825" y="1163638"/>
                <a:ext cx="8642350" cy="5257800"/>
              </a:xfrm>
              <a:prstGeom prst="rect">
                <a:avLst/>
              </a:prstGeom>
              <a:blipFill>
                <a:blip r:embed="rId2"/>
                <a:stretch>
                  <a:fillRect l="-987" t="-1044" r="-1622" b="-475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7021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6">
            <a:extLst>
              <a:ext uri="{FF2B5EF4-FFF2-40B4-BE49-F238E27FC236}">
                <a16:creationId xmlns:a16="http://schemas.microsoft.com/office/drawing/2014/main" id="{3EAAC866-38B5-4BE7-A95A-608229DB97E5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524001" y="3395663"/>
            <a:ext cx="6981825" cy="2057400"/>
          </a:xfrm>
        </p:spPr>
        <p:txBody>
          <a:bodyPr>
            <a:normAutofit/>
          </a:bodyPr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endParaRPr lang="es-AR" altLang="en-US" sz="2400" dirty="0">
              <a:solidFill>
                <a:srgbClr val="000000"/>
              </a:solidFill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s-AR" altLang="en-US" sz="2400" dirty="0">
              <a:solidFill>
                <a:srgbClr val="000000"/>
              </a:solidFill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s-AR" altLang="en-US" sz="2400" dirty="0">
                <a:solidFill>
                  <a:srgbClr val="000000"/>
                </a:solidFill>
              </a:rPr>
              <a:t>Del árbol binomial a Black Scholes</a:t>
            </a:r>
            <a:endParaRPr lang="en-US" altLang="en-US" sz="2400" dirty="0">
              <a:solidFill>
                <a:srgbClr val="000000"/>
              </a:solidFill>
            </a:endParaRPr>
          </a:p>
        </p:txBody>
      </p:sp>
      <p:sp>
        <p:nvSpPr>
          <p:cNvPr id="2054" name="Rectangle 9">
            <a:extLst>
              <a:ext uri="{FF2B5EF4-FFF2-40B4-BE49-F238E27FC236}">
                <a16:creationId xmlns:a16="http://schemas.microsoft.com/office/drawing/2014/main" id="{C97DC3A1-35E5-4E0C-8B9A-3A0E18614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604" y="1669368"/>
            <a:ext cx="838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Ø"/>
              <a:defRPr sz="2800">
                <a:solidFill>
                  <a:srgbClr val="4D4D4D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w"/>
              <a:defRPr sz="2400">
                <a:solidFill>
                  <a:srgbClr val="4D4D4D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§"/>
              <a:defRPr sz="2000">
                <a:solidFill>
                  <a:srgbClr val="4D4D4D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4000" dirty="0" err="1">
                <a:solidFill>
                  <a:srgbClr val="000000"/>
                </a:solidFill>
                <a:latin typeface="+mn-lt"/>
              </a:rPr>
              <a:t>Apendice</a:t>
            </a:r>
            <a:endParaRPr lang="en-US" altLang="en-US" sz="4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104" name="Line 22">
            <a:extLst>
              <a:ext uri="{FF2B5EF4-FFF2-40B4-BE49-F238E27FC236}">
                <a16:creationId xmlns:a16="http://schemas.microsoft.com/office/drawing/2014/main" id="{B8AF241C-92FF-4369-99C6-4BFD7E032E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268760"/>
            <a:ext cx="8458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05" name="Line 23">
            <a:extLst>
              <a:ext uri="{FF2B5EF4-FFF2-40B4-BE49-F238E27FC236}">
                <a16:creationId xmlns:a16="http://schemas.microsoft.com/office/drawing/2014/main" id="{216886FB-126A-4D10-92C7-22C7C0CCC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12976"/>
            <a:ext cx="8458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33688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010B1-A23D-46C3-A2F0-4934E81DD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0"/>
            <a:ext cx="738187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defTabSz="4572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kern="0" dirty="0" err="1">
                <a:solidFill>
                  <a:srgbClr val="000000"/>
                </a:solidFill>
              </a:rPr>
              <a:t>Variación</a:t>
            </a:r>
            <a:r>
              <a:rPr lang="en-GB" altLang="en-US" sz="3200" kern="0" dirty="0">
                <a:solidFill>
                  <a:srgbClr val="000000"/>
                </a:solidFill>
              </a:rPr>
              <a:t> de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Crecimiento</a:t>
            </a:r>
            <a:endParaRPr lang="en-GB" altLang="en-US" sz="3200" kern="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D0CDA-C57F-48D9-AEA8-41896DA97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1" y="1278568"/>
            <a:ext cx="8294315" cy="514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5910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010B1-A23D-46C3-A2F0-4934E81DD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0"/>
            <a:ext cx="738187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defTabSz="4572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kern="0" dirty="0">
                <a:solidFill>
                  <a:srgbClr val="000000"/>
                </a:solidFill>
              </a:rPr>
              <a:t>Esperanza de la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variación</a:t>
            </a:r>
            <a:r>
              <a:rPr lang="en-GB" altLang="en-US" sz="3200" kern="0" dirty="0">
                <a:solidFill>
                  <a:srgbClr val="000000"/>
                </a:solidFill>
              </a:rPr>
              <a:t> de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crecimiento</a:t>
            </a:r>
            <a:endParaRPr lang="en-GB" altLang="en-US" sz="3200" kern="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AD08A-2496-49C0-B827-7C7DF2380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672" y="1340768"/>
            <a:ext cx="7324748" cy="496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663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010B1-A23D-46C3-A2F0-4934E81DD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0"/>
            <a:ext cx="738187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defTabSz="4572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kern="0" dirty="0" err="1">
                <a:solidFill>
                  <a:srgbClr val="000000"/>
                </a:solidFill>
              </a:rPr>
              <a:t>Varianza</a:t>
            </a:r>
            <a:r>
              <a:rPr lang="en-GB" altLang="en-US" sz="3200" kern="0" dirty="0">
                <a:solidFill>
                  <a:srgbClr val="000000"/>
                </a:solidFill>
              </a:rPr>
              <a:t> de la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variación</a:t>
            </a:r>
            <a:r>
              <a:rPr lang="en-GB" altLang="en-US" sz="3200" kern="0" dirty="0">
                <a:solidFill>
                  <a:srgbClr val="000000"/>
                </a:solidFill>
              </a:rPr>
              <a:t> de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crecimiento</a:t>
            </a:r>
            <a:endParaRPr lang="en-GB" altLang="en-US" sz="3200" kern="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99FFF-7E9C-47D7-B975-EE2944045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1268760"/>
            <a:ext cx="7200800" cy="507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289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010B1-A23D-46C3-A2F0-4934E81DD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0"/>
            <a:ext cx="738187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defTabSz="4572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kern="0" dirty="0" err="1">
                <a:solidFill>
                  <a:srgbClr val="000000"/>
                </a:solidFill>
              </a:rPr>
              <a:t>Volatilidad</a:t>
            </a:r>
            <a:endParaRPr lang="en-GB" altLang="en-US" sz="3200" kern="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C6571-0F44-4B29-8291-B478350BE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481" y="1270986"/>
            <a:ext cx="7939038" cy="510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063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C5010B1-A23D-46C3-A2F0-4934E81DD0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8401" y="0"/>
                <a:ext cx="7381875" cy="1144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0000" tIns="46800" rIns="90000" bIns="46800" numCol="1" anchor="ctr" anchorCtr="0" compatLnSpc="1">
                <a:prstTxWarp prst="textNoShape">
                  <a:avLst/>
                </a:prstTxWarp>
              </a:bodyPr>
              <a:lstStyle>
                <a:lvl1pPr algn="ctr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Calibri" pitchFamily="34" charset="0"/>
                  </a:defRPr>
                </a:lvl2pPr>
                <a:lvl3pPr algn="ctr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Calibri" pitchFamily="34" charset="0"/>
                  </a:defRPr>
                </a:lvl3pPr>
                <a:lvl4pPr algn="ctr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Calibri" pitchFamily="34" charset="0"/>
                  </a:defRPr>
                </a:lvl4pPr>
                <a:lvl5pPr algn="ctr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Calibri" pitchFamily="34" charset="0"/>
                  </a:defRPr>
                </a:lvl5pPr>
                <a:lvl6pPr marL="457200" algn="ctr" rtl="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Times New Roman" pitchFamily="18" charset="0"/>
                  </a:defRPr>
                </a:lvl6pPr>
                <a:lvl7pPr marL="914400" algn="ctr" rtl="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Times New Roman" pitchFamily="18" charset="0"/>
                  </a:defRPr>
                </a:lvl7pPr>
                <a:lvl8pPr marL="1371600" algn="ctr" rtl="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Times New Roman" pitchFamily="18" charset="0"/>
                  </a:defRPr>
                </a:lvl8pPr>
                <a:lvl9pPr marL="1828800" algn="ctr" rtl="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Times New Roman" pitchFamily="18" charset="0"/>
                  </a:defRPr>
                </a:lvl9pPr>
              </a:lstStyle>
              <a:p>
                <a:pPr defTabSz="457200" eaLnBrk="1" hangingPunct="1"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r>
                  <a:rPr lang="en-GB" altLang="en-US" sz="3200" kern="0" dirty="0">
                    <a:solidFill>
                      <a:srgbClr val="000000"/>
                    </a:solidFill>
                  </a:rPr>
                  <a:t>Elección de </a:t>
                </a:r>
                <a14:m>
                  <m:oMath xmlns:m="http://schemas.openxmlformats.org/officeDocument/2006/math">
                    <m:r>
                      <a:rPr lang="en-GB" altLang="en-US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altLang="en-US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en-US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altLang="en-US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en-US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altLang="en-US" sz="3200" kern="0" dirty="0">
                    <a:solidFill>
                      <a:srgbClr val="000000"/>
                    </a:solidFill>
                  </a:rPr>
                  <a:t> (1/3)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C5010B1-A23D-46C3-A2F0-4934E81DD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1" y="0"/>
                <a:ext cx="7381875" cy="11445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B2B7B82-C957-44F4-93AA-9BE3D98C6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153" y="1362432"/>
            <a:ext cx="7134184" cy="487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629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C5010B1-A23D-46C3-A2F0-4934E81DD0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8401" y="0"/>
                <a:ext cx="7381875" cy="1144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0000" tIns="46800" rIns="90000" bIns="46800" numCol="1" anchor="ctr" anchorCtr="0" compatLnSpc="1">
                <a:prstTxWarp prst="textNoShape">
                  <a:avLst/>
                </a:prstTxWarp>
              </a:bodyPr>
              <a:lstStyle>
                <a:lvl1pPr algn="ctr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Calibri" pitchFamily="34" charset="0"/>
                  </a:defRPr>
                </a:lvl2pPr>
                <a:lvl3pPr algn="ctr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Calibri" pitchFamily="34" charset="0"/>
                  </a:defRPr>
                </a:lvl3pPr>
                <a:lvl4pPr algn="ctr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Calibri" pitchFamily="34" charset="0"/>
                  </a:defRPr>
                </a:lvl4pPr>
                <a:lvl5pPr algn="ctr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Calibri" pitchFamily="34" charset="0"/>
                  </a:defRPr>
                </a:lvl5pPr>
                <a:lvl6pPr marL="457200" algn="ctr" rtl="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Times New Roman" pitchFamily="18" charset="0"/>
                  </a:defRPr>
                </a:lvl6pPr>
                <a:lvl7pPr marL="914400" algn="ctr" rtl="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Times New Roman" pitchFamily="18" charset="0"/>
                  </a:defRPr>
                </a:lvl7pPr>
                <a:lvl8pPr marL="1371600" algn="ctr" rtl="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Times New Roman" pitchFamily="18" charset="0"/>
                  </a:defRPr>
                </a:lvl8pPr>
                <a:lvl9pPr marL="1828800" algn="ctr" rtl="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Times New Roman" pitchFamily="18" charset="0"/>
                  </a:defRPr>
                </a:lvl9pPr>
              </a:lstStyle>
              <a:p>
                <a:pPr defTabSz="457200" eaLnBrk="1" hangingPunct="1"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r>
                  <a:rPr lang="en-GB" altLang="en-US" sz="3200" kern="0" dirty="0">
                    <a:solidFill>
                      <a:srgbClr val="000000"/>
                    </a:solidFill>
                  </a:rPr>
                  <a:t>Elección de </a:t>
                </a:r>
                <a14:m>
                  <m:oMath xmlns:m="http://schemas.openxmlformats.org/officeDocument/2006/math">
                    <m:r>
                      <a:rPr lang="en-GB" altLang="en-US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altLang="en-US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en-US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altLang="en-US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en-US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altLang="en-US" sz="3200" kern="0" dirty="0">
                    <a:solidFill>
                      <a:srgbClr val="000000"/>
                    </a:solidFill>
                  </a:rPr>
                  <a:t> (2/3)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C5010B1-A23D-46C3-A2F0-4934E81DD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1" y="0"/>
                <a:ext cx="7381875" cy="11445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B174B87-E881-49DA-8EF0-CDA20CAB9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5" y="1412777"/>
            <a:ext cx="740092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13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C5010B1-A23D-46C3-A2F0-4934E81DD0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8401" y="0"/>
                <a:ext cx="7381875" cy="1144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0000" tIns="46800" rIns="90000" bIns="46800" numCol="1" anchor="ctr" anchorCtr="0" compatLnSpc="1">
                <a:prstTxWarp prst="textNoShape">
                  <a:avLst/>
                </a:prstTxWarp>
              </a:bodyPr>
              <a:lstStyle>
                <a:lvl1pPr algn="ctr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Calibri" pitchFamily="34" charset="0"/>
                  </a:defRPr>
                </a:lvl2pPr>
                <a:lvl3pPr algn="ctr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Calibri" pitchFamily="34" charset="0"/>
                  </a:defRPr>
                </a:lvl3pPr>
                <a:lvl4pPr algn="ctr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Calibri" pitchFamily="34" charset="0"/>
                  </a:defRPr>
                </a:lvl4pPr>
                <a:lvl5pPr algn="ctr" rtl="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Calibri" pitchFamily="34" charset="0"/>
                  </a:defRPr>
                </a:lvl5pPr>
                <a:lvl6pPr marL="457200" algn="ctr" rtl="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Times New Roman" pitchFamily="18" charset="0"/>
                  </a:defRPr>
                </a:lvl6pPr>
                <a:lvl7pPr marL="914400" algn="ctr" rtl="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Times New Roman" pitchFamily="18" charset="0"/>
                  </a:defRPr>
                </a:lvl7pPr>
                <a:lvl8pPr marL="1371600" algn="ctr" rtl="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Times New Roman" pitchFamily="18" charset="0"/>
                  </a:defRPr>
                </a:lvl8pPr>
                <a:lvl9pPr marL="1828800" algn="ctr" rtl="0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sz="4000">
                    <a:solidFill>
                      <a:srgbClr val="4D4D4D"/>
                    </a:solidFill>
                    <a:latin typeface="Times New Roman" pitchFamily="18" charset="0"/>
                  </a:defRPr>
                </a:lvl9pPr>
              </a:lstStyle>
              <a:p>
                <a:pPr defTabSz="457200" eaLnBrk="1" hangingPunct="1"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r>
                  <a:rPr lang="en-GB" altLang="en-US" sz="3200" kern="0" dirty="0">
                    <a:solidFill>
                      <a:srgbClr val="000000"/>
                    </a:solidFill>
                  </a:rPr>
                  <a:t>Elección de </a:t>
                </a:r>
                <a14:m>
                  <m:oMath xmlns:m="http://schemas.openxmlformats.org/officeDocument/2006/math">
                    <m:r>
                      <a:rPr lang="en-GB" altLang="en-US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altLang="en-US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en-US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altLang="en-US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en-US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altLang="en-US" sz="3200" kern="0" dirty="0">
                    <a:solidFill>
                      <a:srgbClr val="000000"/>
                    </a:solidFill>
                  </a:rPr>
                  <a:t> (3/3)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C5010B1-A23D-46C3-A2F0-4934E81DD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1" y="0"/>
                <a:ext cx="7381875" cy="11445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2F60444-0C57-4285-A47E-79CC0A8E1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275" y="1374763"/>
            <a:ext cx="862012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8220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010B1-A23D-46C3-A2F0-4934E81DD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0"/>
            <a:ext cx="738187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defTabSz="4572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kern="0" dirty="0" err="1">
                <a:solidFill>
                  <a:srgbClr val="000000"/>
                </a:solidFill>
              </a:rPr>
              <a:t>Elecciones</a:t>
            </a:r>
            <a:r>
              <a:rPr lang="en-GB" altLang="en-US" sz="3200" kern="0" dirty="0">
                <a:solidFill>
                  <a:srgbClr val="000000"/>
                </a:solidFill>
              </a:rPr>
              <a:t>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comunes</a:t>
            </a:r>
            <a:endParaRPr lang="en-GB" altLang="en-US" sz="3200" kern="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75D6DA-F727-445D-8C84-C97414E2E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1412777"/>
            <a:ext cx="841057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043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010B1-A23D-46C3-A2F0-4934E81DD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0"/>
            <a:ext cx="738187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defTabSz="4572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kern="0" dirty="0">
                <a:solidFill>
                  <a:srgbClr val="000000"/>
                </a:solidFill>
              </a:rPr>
              <a:t>El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paso</a:t>
            </a:r>
            <a:r>
              <a:rPr lang="en-GB" altLang="en-US" sz="3200" kern="0" dirty="0">
                <a:solidFill>
                  <a:srgbClr val="000000"/>
                </a:solidFill>
              </a:rPr>
              <a:t> al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límite</a:t>
            </a:r>
            <a:r>
              <a:rPr lang="en-GB" altLang="en-US" sz="3200" kern="0" dirty="0">
                <a:solidFill>
                  <a:srgbClr val="000000"/>
                </a:solidFill>
              </a:rPr>
              <a:t> del Árbol Binomial (1/4)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930728-9E0E-4ACE-B8CD-F24A15FF6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987" y="1277144"/>
            <a:ext cx="86487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658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010B1-A23D-46C3-A2F0-4934E81DD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0"/>
            <a:ext cx="738187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defTabSz="4572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kern="0" dirty="0">
                <a:solidFill>
                  <a:srgbClr val="000000"/>
                </a:solidFill>
              </a:rPr>
              <a:t>El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paso</a:t>
            </a:r>
            <a:r>
              <a:rPr lang="en-GB" altLang="en-US" sz="3200" kern="0" dirty="0">
                <a:solidFill>
                  <a:srgbClr val="000000"/>
                </a:solidFill>
              </a:rPr>
              <a:t> al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límite</a:t>
            </a:r>
            <a:r>
              <a:rPr lang="en-GB" altLang="en-US" sz="3200" kern="0" dirty="0">
                <a:solidFill>
                  <a:srgbClr val="000000"/>
                </a:solidFill>
              </a:rPr>
              <a:t> del Árbol Binomial (2/4)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DCDB2-39FF-4F96-A3FD-3AEA82CC5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38" y="1268761"/>
            <a:ext cx="8467725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30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010B1-A23D-46C3-A2F0-4934E81DD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0"/>
            <a:ext cx="738187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defTabSz="4572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kern="0" dirty="0">
                <a:solidFill>
                  <a:srgbClr val="000000"/>
                </a:solidFill>
              </a:rPr>
              <a:t>El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paso</a:t>
            </a:r>
            <a:r>
              <a:rPr lang="en-GB" altLang="en-US" sz="3200" kern="0" dirty="0">
                <a:solidFill>
                  <a:srgbClr val="000000"/>
                </a:solidFill>
              </a:rPr>
              <a:t> al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límite</a:t>
            </a:r>
            <a:r>
              <a:rPr lang="en-GB" altLang="en-US" sz="3200" kern="0" dirty="0">
                <a:solidFill>
                  <a:srgbClr val="000000"/>
                </a:solidFill>
              </a:rPr>
              <a:t> del Árbol Binomial (3/4)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9E5B3-6C4B-4C6B-9F4D-731157FF3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7" y="1340769"/>
            <a:ext cx="7218777" cy="504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730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010B1-A23D-46C3-A2F0-4934E81DD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0"/>
            <a:ext cx="738187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defTabSz="4572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kern="0" dirty="0">
                <a:solidFill>
                  <a:srgbClr val="000000"/>
                </a:solidFill>
              </a:rPr>
              <a:t>El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paso</a:t>
            </a:r>
            <a:r>
              <a:rPr lang="en-GB" altLang="en-US" sz="3200" kern="0" dirty="0">
                <a:solidFill>
                  <a:srgbClr val="000000"/>
                </a:solidFill>
              </a:rPr>
              <a:t> al </a:t>
            </a:r>
            <a:r>
              <a:rPr lang="en-GB" altLang="en-US" sz="3200" kern="0" dirty="0" err="1">
                <a:solidFill>
                  <a:srgbClr val="000000"/>
                </a:solidFill>
              </a:rPr>
              <a:t>límite</a:t>
            </a:r>
            <a:r>
              <a:rPr lang="en-GB" altLang="en-US" sz="3200" kern="0" dirty="0">
                <a:solidFill>
                  <a:srgbClr val="000000"/>
                </a:solidFill>
              </a:rPr>
              <a:t> del Árbol Binomial (4/4)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2C6231-AB88-4B75-8AD9-F75AA2005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1301698"/>
            <a:ext cx="8190630" cy="509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411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010B1-A23D-46C3-A2F0-4934E81DD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0"/>
            <a:ext cx="738187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defTabSz="4572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kern="0" dirty="0">
                <a:solidFill>
                  <a:srgbClr val="000000"/>
                </a:solidFill>
              </a:rPr>
              <a:t>Camino a Black-Scholes (1/2)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979B1-5A69-4060-9ECA-E35A36B4E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1556792"/>
            <a:ext cx="830580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4677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010B1-A23D-46C3-A2F0-4934E81DD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0"/>
            <a:ext cx="738187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defTabSz="4572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kern="0" dirty="0">
                <a:solidFill>
                  <a:srgbClr val="000000"/>
                </a:solidFill>
              </a:rPr>
              <a:t>Camino a Black-Scholes (2/2)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877A3-CAAE-47BD-9F9E-1BA101EBE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1340768"/>
            <a:ext cx="84582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4566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9C4E8-581A-4E73-B27B-71D0BD093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010B1-A23D-46C3-A2F0-4934E81DD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0"/>
            <a:ext cx="738187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defTabSz="457200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kern="0" dirty="0" err="1">
                <a:solidFill>
                  <a:srgbClr val="000000"/>
                </a:solidFill>
              </a:rPr>
              <a:t>Fórmula</a:t>
            </a:r>
            <a:r>
              <a:rPr lang="en-GB" altLang="en-US" sz="3200" kern="0" dirty="0">
                <a:solidFill>
                  <a:srgbClr val="000000"/>
                </a:solidFill>
              </a:rPr>
              <a:t> de Black-Scholes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8E26E6-3493-43B0-8BF1-9AAEE84FE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7" y="1277144"/>
            <a:ext cx="8162925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7CAA60-174C-48AF-8DA1-53897A8A2B5A}"/>
              </a:ext>
            </a:extLst>
          </p:cNvPr>
          <p:cNvSpPr/>
          <p:nvPr/>
        </p:nvSpPr>
        <p:spPr>
          <a:xfrm>
            <a:off x="4191990" y="3360717"/>
            <a:ext cx="3770415" cy="92033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72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19874</TotalTime>
  <Words>2047</Words>
  <Application>Microsoft Office PowerPoint</Application>
  <PresentationFormat>Widescreen</PresentationFormat>
  <Paragraphs>301</Paragraphs>
  <Slides>53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Calibri</vt:lpstr>
      <vt:lpstr>Calibri Light</vt:lpstr>
      <vt:lpstr>Cambria Math</vt:lpstr>
      <vt:lpstr>CMSS10</vt:lpstr>
      <vt:lpstr>Times New Roman</vt:lpstr>
      <vt:lpstr>Wingdings</vt:lpstr>
      <vt:lpstr>Office Theme</vt:lpstr>
      <vt:lpstr>PowerPoint Presentation</vt:lpstr>
      <vt:lpstr>PowerPoint Presentation</vt:lpstr>
      <vt:lpstr>¿En dónde mas se ven estos comportamientos?</vt:lpstr>
      <vt:lpstr>PowerPoint Presentation</vt:lpstr>
      <vt:lpstr>De aquí…matemáticos y físicos en Finanzas</vt:lpstr>
      <vt:lpstr> Ej. de modelo para el precio de una opción </vt:lpstr>
      <vt:lpstr>Modelos Matemáticos en Finanzas Cuantitativas</vt:lpstr>
      <vt:lpstr>Modelo Binomial de un paso (1/3)</vt:lpstr>
      <vt:lpstr>Modelo Binomial de un paso (2/3)</vt:lpstr>
      <vt:lpstr>Modelo Binomial de un paso (3/3)</vt:lpstr>
      <vt:lpstr>Estrategia de replicación  (1/3)</vt:lpstr>
      <vt:lpstr>Estrategia de replicación (2/3)</vt:lpstr>
      <vt:lpstr>PowerPoint Presentation</vt:lpstr>
      <vt:lpstr>Modelo Binomial de un paso – caso general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Descuento Continuo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Elección de parámetros para el algoritmo</vt:lpstr>
      <vt:lpstr>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DF2021 - Clase 3</dc:title>
  <dc:creator>Manuel Maurette</dc:creator>
  <cp:lastModifiedBy>Manuel Maurette</cp:lastModifiedBy>
  <cp:revision>34</cp:revision>
  <dcterms:created xsi:type="dcterms:W3CDTF">2020-07-22T19:02:36Z</dcterms:created>
  <dcterms:modified xsi:type="dcterms:W3CDTF">2022-08-14T18:12:40Z</dcterms:modified>
</cp:coreProperties>
</file>