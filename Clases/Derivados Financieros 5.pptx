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504" r:id="rId3"/>
    <p:sldId id="460" r:id="rId4"/>
    <p:sldId id="414" r:id="rId5"/>
    <p:sldId id="337" r:id="rId6"/>
    <p:sldId id="462" r:id="rId7"/>
    <p:sldId id="419" r:id="rId8"/>
    <p:sldId id="463" r:id="rId9"/>
    <p:sldId id="464" r:id="rId10"/>
    <p:sldId id="465" r:id="rId11"/>
    <p:sldId id="473" r:id="rId12"/>
    <p:sldId id="468" r:id="rId13"/>
    <p:sldId id="471" r:id="rId14"/>
    <p:sldId id="466" r:id="rId15"/>
    <p:sldId id="474" r:id="rId16"/>
    <p:sldId id="467" r:id="rId17"/>
    <p:sldId id="475" r:id="rId18"/>
    <p:sldId id="477" r:id="rId19"/>
    <p:sldId id="472" r:id="rId20"/>
    <p:sldId id="476" r:id="rId21"/>
    <p:sldId id="469" r:id="rId22"/>
    <p:sldId id="470" r:id="rId23"/>
    <p:sldId id="478" r:id="rId24"/>
    <p:sldId id="479" r:id="rId25"/>
    <p:sldId id="506" r:id="rId26"/>
    <p:sldId id="507" r:id="rId27"/>
    <p:sldId id="50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9" autoAdjust="0"/>
    <p:restoredTop sz="94660"/>
  </p:normalViewPr>
  <p:slideViewPr>
    <p:cSldViewPr snapToGrid="0">
      <p:cViewPr varScale="1">
        <p:scale>
          <a:sx n="73" d="100"/>
          <a:sy n="73" d="100"/>
        </p:scale>
        <p:origin x="3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FB574B-AD63-411D-9756-DA4A4CAEC956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8E7D-E3FD-4261-8B39-442861CB0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522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866219F2-F265-4048-9278-209C5B1C5C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4375" indent="-274638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98550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38288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78025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352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924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496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068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5AEABBD-4A1E-4CD5-991D-CA2C26094214}" type="slidenum">
              <a:rPr lang="en-US" altLang="en-US" sz="1300" smtClean="0"/>
              <a:pPr>
                <a:spcBef>
                  <a:spcPct val="0"/>
                </a:spcBef>
              </a:pPr>
              <a:t>1</a:t>
            </a:fld>
            <a:endParaRPr lang="en-US" altLang="en-US" sz="1300" dirty="0"/>
          </a:p>
        </p:txBody>
      </p:sp>
      <p:sp>
        <p:nvSpPr>
          <p:cNvPr id="5123" name="Rectangle 7">
            <a:extLst>
              <a:ext uri="{FF2B5EF4-FFF2-40B4-BE49-F238E27FC236}">
                <a16:creationId xmlns:a16="http://schemas.microsoft.com/office/drawing/2014/main" id="{FDFBAE36-82B1-4888-B903-AC5A7376B06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8750" y="8767763"/>
            <a:ext cx="30416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69" tIns="46385" rIns="92769" bIns="46385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087FE17B-1E3D-4CBB-BA33-E370B9F03936}" type="slidenum">
              <a:rPr lang="en-US" altLang="en-US"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1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06D53540-7A80-4A1D-8AAA-2264949B95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0563"/>
            <a:ext cx="6157912" cy="3465512"/>
          </a:xfrm>
          <a:ln/>
        </p:spPr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319BE930-F3E5-44E7-AF94-2BE6513671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9438"/>
            <a:ext cx="5143500" cy="4156075"/>
          </a:xfrm>
          <a:noFill/>
        </p:spPr>
        <p:txBody>
          <a:bodyPr lIns="92769" tIns="46385" rIns="92769" bIns="46385"/>
          <a:lstStyle/>
          <a:p>
            <a:pPr eaLnBrk="1" hangingPunct="1"/>
            <a:endParaRPr lang="es-E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350AC42-E2DE-4FD3-AB82-19F6BB4FED9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0338" y="8772525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816" tIns="46409" rIns="92816" bIns="46409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24ED5DF-7628-4CCA-97CF-46DCFB4DA942}" type="slidenum">
              <a:rPr lang="en-US" altLang="en-US" sz="1300"/>
              <a:pPr algn="r" eaLnBrk="1" hangingPunct="1">
                <a:spcBef>
                  <a:spcPct val="0"/>
                </a:spcBef>
              </a:pPr>
              <a:t>5</a:t>
            </a:fld>
            <a:endParaRPr lang="en-US" altLang="en-US" sz="1300"/>
          </a:p>
        </p:txBody>
      </p:sp>
      <p:sp>
        <p:nvSpPr>
          <p:cNvPr id="7171" name="Rectangle 7">
            <a:extLst>
              <a:ext uri="{FF2B5EF4-FFF2-40B4-BE49-F238E27FC236}">
                <a16:creationId xmlns:a16="http://schemas.microsoft.com/office/drawing/2014/main" id="{67B2442E-0A48-42B3-B935-E3C736CA685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8750" y="8767763"/>
            <a:ext cx="30416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69" tIns="46385" rIns="92769" bIns="46385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0ECE4D56-AEED-419F-947E-78483CFCF81F}" type="slidenum">
              <a:rPr lang="en-US" altLang="en-US"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B173365B-DC53-4124-BD39-BB2A3C3EAD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0563"/>
            <a:ext cx="6157912" cy="3465512"/>
          </a:xfrm>
          <a:ln/>
        </p:spPr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AC9A7E1F-E204-403D-8982-BC9484C49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9438"/>
            <a:ext cx="5143500" cy="4156075"/>
          </a:xfrm>
          <a:noFill/>
        </p:spPr>
        <p:txBody>
          <a:bodyPr lIns="92769" tIns="46385" rIns="92769" bIns="46385"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374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350AC42-E2DE-4FD3-AB82-19F6BB4FED9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0338" y="8772525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816" tIns="46409" rIns="92816" bIns="46409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24ED5DF-7628-4CCA-97CF-46DCFB4DA942}" type="slidenum">
              <a:rPr lang="en-US" altLang="en-US" sz="1300"/>
              <a:pPr algn="r" eaLnBrk="1" hangingPunct="1">
                <a:spcBef>
                  <a:spcPct val="0"/>
                </a:spcBef>
              </a:pPr>
              <a:t>6</a:t>
            </a:fld>
            <a:endParaRPr lang="en-US" altLang="en-US" sz="1300"/>
          </a:p>
        </p:txBody>
      </p:sp>
      <p:sp>
        <p:nvSpPr>
          <p:cNvPr id="7171" name="Rectangle 7">
            <a:extLst>
              <a:ext uri="{FF2B5EF4-FFF2-40B4-BE49-F238E27FC236}">
                <a16:creationId xmlns:a16="http://schemas.microsoft.com/office/drawing/2014/main" id="{67B2442E-0A48-42B3-B935-E3C736CA685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8750" y="8767763"/>
            <a:ext cx="30416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69" tIns="46385" rIns="92769" bIns="46385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0ECE4D56-AEED-419F-947E-78483CFCF81F}" type="slidenum">
              <a:rPr lang="en-US" altLang="en-US"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B173365B-DC53-4124-BD39-BB2A3C3EAD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0563"/>
            <a:ext cx="6157912" cy="3465512"/>
          </a:xfrm>
          <a:ln/>
        </p:spPr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AC9A7E1F-E204-403D-8982-BC9484C49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9438"/>
            <a:ext cx="5143500" cy="4156075"/>
          </a:xfrm>
          <a:noFill/>
        </p:spPr>
        <p:txBody>
          <a:bodyPr lIns="92769" tIns="46385" rIns="92769" bIns="46385"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874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350AC42-E2DE-4FD3-AB82-19F6BB4FED9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0338" y="8772525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816" tIns="46409" rIns="92816" bIns="46409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24ED5DF-7628-4CCA-97CF-46DCFB4DA942}" type="slidenum">
              <a:rPr lang="en-US" altLang="en-US" sz="1300"/>
              <a:pPr algn="r" eaLnBrk="1" hangingPunct="1">
                <a:spcBef>
                  <a:spcPct val="0"/>
                </a:spcBef>
              </a:pPr>
              <a:t>7</a:t>
            </a:fld>
            <a:endParaRPr lang="en-US" altLang="en-US" sz="1300"/>
          </a:p>
        </p:txBody>
      </p:sp>
      <p:sp>
        <p:nvSpPr>
          <p:cNvPr id="7171" name="Rectangle 7">
            <a:extLst>
              <a:ext uri="{FF2B5EF4-FFF2-40B4-BE49-F238E27FC236}">
                <a16:creationId xmlns:a16="http://schemas.microsoft.com/office/drawing/2014/main" id="{67B2442E-0A48-42B3-B935-E3C736CA685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8750" y="8767763"/>
            <a:ext cx="30416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69" tIns="46385" rIns="92769" bIns="46385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0ECE4D56-AEED-419F-947E-78483CFCF81F}" type="slidenum">
              <a:rPr lang="en-US" altLang="en-US"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B173365B-DC53-4124-BD39-BB2A3C3EAD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0563"/>
            <a:ext cx="6157912" cy="3465512"/>
          </a:xfrm>
          <a:ln/>
        </p:spPr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AC9A7E1F-E204-403D-8982-BC9484C49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9438"/>
            <a:ext cx="5143500" cy="4156075"/>
          </a:xfrm>
          <a:noFill/>
        </p:spPr>
        <p:txBody>
          <a:bodyPr lIns="92769" tIns="46385" rIns="92769" bIns="46385"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3766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D0DFBA06-1A5B-417D-81E2-B67DFF1ACB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4375" indent="-274638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98550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38288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78025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352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924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496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068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4727C80-6D63-4728-9ED8-3DD2711030C8}" type="slidenum">
              <a:rPr lang="en-US" altLang="en-US" sz="1300" smtClean="0"/>
              <a:pPr>
                <a:spcBef>
                  <a:spcPct val="0"/>
                </a:spcBef>
              </a:pPr>
              <a:t>8</a:t>
            </a:fld>
            <a:endParaRPr lang="en-US" altLang="en-US" sz="1300"/>
          </a:p>
        </p:txBody>
      </p:sp>
      <p:sp>
        <p:nvSpPr>
          <p:cNvPr id="53251" name="Rectangle 7">
            <a:extLst>
              <a:ext uri="{FF2B5EF4-FFF2-40B4-BE49-F238E27FC236}">
                <a16:creationId xmlns:a16="http://schemas.microsoft.com/office/drawing/2014/main" id="{99780CA4-6DC5-4D55-9878-44BF484C751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0338" y="8769350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632" tIns="46315" rIns="92632" bIns="46315" anchor="b"/>
          <a:lstStyle>
            <a:lvl1pPr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>
                <a:srgbClr val="002285"/>
              </a:buClr>
              <a:buFont typeface="Times New Roman" panose="02020603050405020304" pitchFamily="18" charset="0"/>
              <a:buNone/>
            </a:pPr>
            <a:fld id="{080B0F9D-21C1-4031-A748-DAD56FB35F26}" type="slidenum">
              <a:rPr lang="en-GB" altLang="en-US">
                <a:solidFill>
                  <a:srgbClr val="00000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rPr>
              <a:pPr algn="r">
                <a:spcBef>
                  <a:spcPct val="0"/>
                </a:spcBef>
                <a:buClr>
                  <a:srgbClr val="002285"/>
                </a:buClr>
                <a:buFont typeface="Times New Roman" panose="02020603050405020304" pitchFamily="18" charset="0"/>
                <a:buNone/>
              </a:pPr>
              <a:t>8</a:t>
            </a:fld>
            <a:endParaRPr lang="en-GB" altLang="en-US">
              <a:solidFill>
                <a:srgbClr val="000000"/>
              </a:solidFill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53252" name="Text Box 2">
            <a:extLst>
              <a:ext uri="{FF2B5EF4-FFF2-40B4-BE49-F238E27FC236}">
                <a16:creationId xmlns:a16="http://schemas.microsoft.com/office/drawing/2014/main" id="{64CBBEBE-3BC9-4496-9D59-32C0EA5C0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690563"/>
            <a:ext cx="4600575" cy="34655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7803" tIns="43902" rIns="87803" bIns="43902" anchor="ctr"/>
          <a:lstStyle>
            <a:lvl1pPr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buClr>
                <a:srgbClr val="003399"/>
              </a:buClr>
              <a:buFont typeface="Times New Roman" panose="02020603050405020304" pitchFamily="18" charset="0"/>
              <a:buNone/>
            </a:pPr>
            <a:endParaRPr lang="es-ES" altLang="en-US" sz="2300">
              <a:solidFill>
                <a:schemeClr val="bg1"/>
              </a:solidFill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1DE6BD56-9718-4E23-B476-3A4C1C7F631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33450" y="4389438"/>
            <a:ext cx="5141913" cy="4156075"/>
          </a:xfrm>
          <a:noFill/>
        </p:spPr>
        <p:txBody>
          <a:bodyPr wrap="none" lIns="92632" tIns="46315" rIns="92632" bIns="46315" anchor="ctr"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747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350AC42-E2DE-4FD3-AB82-19F6BB4FED9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0338" y="8772525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816" tIns="46409" rIns="92816" bIns="46409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24ED5DF-7628-4CCA-97CF-46DCFB4DA942}" type="slidenum">
              <a:rPr lang="en-US" altLang="en-US" sz="1300"/>
              <a:pPr algn="r" eaLnBrk="1" hangingPunct="1">
                <a:spcBef>
                  <a:spcPct val="0"/>
                </a:spcBef>
              </a:pPr>
              <a:t>10</a:t>
            </a:fld>
            <a:endParaRPr lang="en-US" altLang="en-US" sz="1300"/>
          </a:p>
        </p:txBody>
      </p:sp>
      <p:sp>
        <p:nvSpPr>
          <p:cNvPr id="7171" name="Rectangle 7">
            <a:extLst>
              <a:ext uri="{FF2B5EF4-FFF2-40B4-BE49-F238E27FC236}">
                <a16:creationId xmlns:a16="http://schemas.microsoft.com/office/drawing/2014/main" id="{67B2442E-0A48-42B3-B935-E3C736CA685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8750" y="8767763"/>
            <a:ext cx="30416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69" tIns="46385" rIns="92769" bIns="46385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0ECE4D56-AEED-419F-947E-78483CFCF81F}" type="slidenum">
              <a:rPr lang="en-US" altLang="en-US"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B173365B-DC53-4124-BD39-BB2A3C3EAD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0563"/>
            <a:ext cx="6157912" cy="3465512"/>
          </a:xfrm>
          <a:ln/>
        </p:spPr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AC9A7E1F-E204-403D-8982-BC9484C49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9438"/>
            <a:ext cx="5143500" cy="4156075"/>
          </a:xfrm>
          <a:noFill/>
        </p:spPr>
        <p:txBody>
          <a:bodyPr lIns="92769" tIns="46385" rIns="92769" bIns="46385"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391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350AC42-E2DE-4FD3-AB82-19F6BB4FED9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0338" y="8772525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816" tIns="46409" rIns="92816" bIns="46409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24ED5DF-7628-4CCA-97CF-46DCFB4DA942}" type="slidenum">
              <a:rPr lang="en-US" altLang="en-US" sz="1300"/>
              <a:pPr algn="r" eaLnBrk="1" hangingPunct="1">
                <a:spcBef>
                  <a:spcPct val="0"/>
                </a:spcBef>
              </a:pPr>
              <a:t>11</a:t>
            </a:fld>
            <a:endParaRPr lang="en-US" altLang="en-US" sz="1300"/>
          </a:p>
        </p:txBody>
      </p:sp>
      <p:sp>
        <p:nvSpPr>
          <p:cNvPr id="7171" name="Rectangle 7">
            <a:extLst>
              <a:ext uri="{FF2B5EF4-FFF2-40B4-BE49-F238E27FC236}">
                <a16:creationId xmlns:a16="http://schemas.microsoft.com/office/drawing/2014/main" id="{67B2442E-0A48-42B3-B935-E3C736CA685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8750" y="8767763"/>
            <a:ext cx="30416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69" tIns="46385" rIns="92769" bIns="46385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0ECE4D56-AEED-419F-947E-78483CFCF81F}" type="slidenum">
              <a:rPr lang="en-US" altLang="en-US"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B173365B-DC53-4124-BD39-BB2A3C3EAD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0563"/>
            <a:ext cx="6157912" cy="3465512"/>
          </a:xfrm>
          <a:ln/>
        </p:spPr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AC9A7E1F-E204-403D-8982-BC9484C49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9438"/>
            <a:ext cx="5143500" cy="4156075"/>
          </a:xfrm>
          <a:noFill/>
        </p:spPr>
        <p:txBody>
          <a:bodyPr lIns="92769" tIns="46385" rIns="92769" bIns="46385"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403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350AC42-E2DE-4FD3-AB82-19F6BB4FED9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0338" y="8772525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816" tIns="46409" rIns="92816" bIns="46409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24ED5DF-7628-4CCA-97CF-46DCFB4DA942}" type="slidenum">
              <a:rPr lang="en-US" altLang="en-US" sz="1300"/>
              <a:pPr algn="r" eaLnBrk="1" hangingPunct="1">
                <a:spcBef>
                  <a:spcPct val="0"/>
                </a:spcBef>
              </a:pPr>
              <a:t>12</a:t>
            </a:fld>
            <a:endParaRPr lang="en-US" altLang="en-US" sz="1300" dirty="0"/>
          </a:p>
        </p:txBody>
      </p:sp>
      <p:sp>
        <p:nvSpPr>
          <p:cNvPr id="7171" name="Rectangle 7">
            <a:extLst>
              <a:ext uri="{FF2B5EF4-FFF2-40B4-BE49-F238E27FC236}">
                <a16:creationId xmlns:a16="http://schemas.microsoft.com/office/drawing/2014/main" id="{67B2442E-0A48-42B3-B935-E3C736CA685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8750" y="8767763"/>
            <a:ext cx="30416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69" tIns="46385" rIns="92769" bIns="46385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0ECE4D56-AEED-419F-947E-78483CFCF81F}" type="slidenum">
              <a:rPr lang="en-US" altLang="en-US"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12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B173365B-DC53-4124-BD39-BB2A3C3EAD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0563"/>
            <a:ext cx="6157912" cy="3465512"/>
          </a:xfrm>
          <a:ln/>
        </p:spPr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AC9A7E1F-E204-403D-8982-BC9484C49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9438"/>
            <a:ext cx="5143500" cy="4156075"/>
          </a:xfrm>
          <a:noFill/>
        </p:spPr>
        <p:txBody>
          <a:bodyPr lIns="92769" tIns="46385" rIns="92769" bIns="46385"/>
          <a:lstStyle/>
          <a:p>
            <a:pPr eaLnBrk="1" hangingPunct="1"/>
            <a:endParaRPr lang="es-E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837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D0DFBA06-1A5B-417D-81E2-B67DFF1ACB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4375" indent="-274638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98550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38288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78025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352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924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496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068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4727C80-6D63-4728-9ED8-3DD2711030C8}" type="slidenum">
              <a:rPr lang="en-US" altLang="en-US" sz="1300" smtClean="0"/>
              <a:pPr>
                <a:spcBef>
                  <a:spcPct val="0"/>
                </a:spcBef>
              </a:pPr>
              <a:t>20</a:t>
            </a:fld>
            <a:endParaRPr lang="en-US" altLang="en-US" sz="1300"/>
          </a:p>
        </p:txBody>
      </p:sp>
      <p:sp>
        <p:nvSpPr>
          <p:cNvPr id="53251" name="Rectangle 7">
            <a:extLst>
              <a:ext uri="{FF2B5EF4-FFF2-40B4-BE49-F238E27FC236}">
                <a16:creationId xmlns:a16="http://schemas.microsoft.com/office/drawing/2014/main" id="{99780CA4-6DC5-4D55-9878-44BF484C751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0338" y="8769350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632" tIns="46315" rIns="92632" bIns="46315" anchor="b"/>
          <a:lstStyle>
            <a:lvl1pPr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>
                <a:srgbClr val="002285"/>
              </a:buClr>
              <a:buFont typeface="Times New Roman" panose="02020603050405020304" pitchFamily="18" charset="0"/>
              <a:buNone/>
            </a:pPr>
            <a:fld id="{080B0F9D-21C1-4031-A748-DAD56FB35F26}" type="slidenum">
              <a:rPr lang="en-GB" altLang="en-US">
                <a:solidFill>
                  <a:srgbClr val="00000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rPr>
              <a:pPr algn="r">
                <a:spcBef>
                  <a:spcPct val="0"/>
                </a:spcBef>
                <a:buClr>
                  <a:srgbClr val="002285"/>
                </a:buClr>
                <a:buFont typeface="Times New Roman" panose="02020603050405020304" pitchFamily="18" charset="0"/>
                <a:buNone/>
              </a:pPr>
              <a:t>20</a:t>
            </a:fld>
            <a:endParaRPr lang="en-GB" altLang="en-US">
              <a:solidFill>
                <a:srgbClr val="000000"/>
              </a:solidFill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53252" name="Text Box 2">
            <a:extLst>
              <a:ext uri="{FF2B5EF4-FFF2-40B4-BE49-F238E27FC236}">
                <a16:creationId xmlns:a16="http://schemas.microsoft.com/office/drawing/2014/main" id="{64CBBEBE-3BC9-4496-9D59-32C0EA5C0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690563"/>
            <a:ext cx="4600575" cy="34655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7803" tIns="43902" rIns="87803" bIns="43902" anchor="ctr"/>
          <a:lstStyle>
            <a:lvl1pPr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buClr>
                <a:srgbClr val="003399"/>
              </a:buClr>
              <a:buFont typeface="Times New Roman" panose="02020603050405020304" pitchFamily="18" charset="0"/>
              <a:buNone/>
            </a:pPr>
            <a:endParaRPr lang="es-ES" altLang="en-US" sz="2300">
              <a:solidFill>
                <a:schemeClr val="bg1"/>
              </a:solidFill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1DE6BD56-9718-4E23-B476-3A4C1C7F631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33450" y="4389438"/>
            <a:ext cx="5141913" cy="4156075"/>
          </a:xfrm>
          <a:noFill/>
        </p:spPr>
        <p:txBody>
          <a:bodyPr wrap="none" lIns="92632" tIns="46315" rIns="92632" bIns="46315" anchor="ctr"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089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DC2EF-C85A-4BB9-921E-4DEFFF69A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1C1DB-602D-4176-B4C8-09B17A47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E84DF-A6E1-4370-81CC-36F90F73B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3952-0A83-4081-814F-930A5F3328D3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515B4-15E1-44EE-926D-DE281673E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DEBB6-7737-424D-BED7-41EDE272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7084-9839-4AED-B2E4-8231AB4AD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540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6B3C3-E301-4D63-94F6-C28B9087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0C2C9-E4D6-4C14-B5A8-EDA5BBC1D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C46D3-4C52-4332-B8F2-C6D8D9B70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3952-0A83-4081-814F-930A5F3328D3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A1CAF-5312-485A-A2A8-F4C949642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567E3-5261-4A4C-B34B-1F00E6DC6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7084-9839-4AED-B2E4-8231AB4AD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153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0A074-65A0-4B3C-BDEC-5143EF109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255E6-DDD1-4F82-9DBD-068A48F0B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2F005-7485-41D3-B3A9-B75E1CA07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3952-0A83-4081-814F-930A5F3328D3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F3D2D-3649-4C29-97ED-E695F86E1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D8CFE-8388-4EC2-BC09-37BDD6B47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7084-9839-4AED-B2E4-8231AB4AD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76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58A2A-695B-4BB0-BB52-5A2EA6FB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D222B-7538-4D4A-A4D3-508ECCCFDE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FE57D-BAFE-400E-94B5-ECC51CD93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73D71-428E-44F8-9285-01AFF285E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3952-0A83-4081-814F-930A5F3328D3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B8AD4-4DFB-420F-9E75-478156156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64277-D66F-4674-9490-9721290FC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7084-9839-4AED-B2E4-8231AB4AD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0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62AD-DB36-4013-86F9-3A10290EF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910F8-A491-43CD-98A1-FB8C60DD4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B54BE2-C807-421D-9E53-502FC7876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237C03-A72A-45F3-970D-9D0A6F7C0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63CA92-F1D3-4AAB-AE2C-A43CB9E208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3D72F2-BAA6-4298-8204-ACD78B2C0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3952-0A83-4081-814F-930A5F3328D3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F98BE8-24E6-47AA-99F6-173847927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6E1DA2-AB8D-48D1-9C90-7C829215B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7084-9839-4AED-B2E4-8231AB4AD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4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88685-ECDC-4944-AE75-6747C3C87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F3C5F2-BC8D-4231-B692-5E0DA236D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3952-0A83-4081-814F-930A5F3328D3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D88E2A-267A-471C-870A-B0284B5C4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FCD39A-5C67-49DF-8983-7DD1DF4B1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7084-9839-4AED-B2E4-8231AB4AD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774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ED2023-6D51-49F5-8CEC-0E95A0A58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3952-0A83-4081-814F-930A5F3328D3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09DC76-7F1F-48CA-B3F3-3C4749C5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49028-0316-4442-AE6E-01B74AE9B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7084-9839-4AED-B2E4-8231AB4AD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87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53E35-D960-40A8-BEEE-EC8BE04EA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5C919-CB21-4CD2-8499-14D8D4277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1C198-BBDC-458F-A753-A6A6B9600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0F136-7DA0-4BEF-B542-199DB9D27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3952-0A83-4081-814F-930A5F3328D3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EBBB8-DEC5-48A2-9CC6-316A339EC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61364-204F-47E1-AEA0-3F87D0438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7084-9839-4AED-B2E4-8231AB4AD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11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18E29-D6E3-410F-912F-64C7D2CF5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56A54-5F4C-4FEA-96D8-759545C527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49FDB-D727-4088-83C9-54DEC2CBB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5B5F0-7567-4F9A-B60C-D15AD33AB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3952-0A83-4081-814F-930A5F3328D3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DD748-28E9-4588-8507-9F4177DD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1CCFE-3F8B-4B2F-A54D-614AB1996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7084-9839-4AED-B2E4-8231AB4AD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15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4E9EC-FACB-4E9D-9FAF-7F78D0477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B9A884-AA3E-4ACA-8C52-D87520D72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B5CFC-0480-40D5-84CB-86D9BDC51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3952-0A83-4081-814F-930A5F3328D3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32D07-01B9-4391-B5E7-5B3D3E2EC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E15D7-E78B-45BC-9419-5D29A814A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7084-9839-4AED-B2E4-8231AB4AD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55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33CAF9-D435-4181-A857-BAF2625DD4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67A3E6-24DA-48ED-A608-B88C446DF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CC099-DE1E-4BFF-A660-B40606008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3952-0A83-4081-814F-930A5F3328D3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ED594-920B-4318-9A0F-0E29BCDB2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B4D9B-836C-4E55-A39F-D28D1AEB8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7084-9839-4AED-B2E4-8231AB4AD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65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C7F4D2-C89B-432C-84F1-8CC8876E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520B5-05D9-4BE3-BA85-04D57A2B0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AB085-65EF-43B1-91AF-894841722A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B63952-0A83-4081-814F-930A5F3328D3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D17B6-CC0A-4353-9470-40783C669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9CE6E-736D-4797-99CB-1358F8297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97084-9839-4AED-B2E4-8231AB4AD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277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6">
            <a:extLst>
              <a:ext uri="{FF2B5EF4-FFF2-40B4-BE49-F238E27FC236}">
                <a16:creationId xmlns:a16="http://schemas.microsoft.com/office/drawing/2014/main" id="{3EAAC866-38B5-4BE7-A95A-608229DB97E5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524001" y="3395663"/>
            <a:ext cx="6981825" cy="2057400"/>
          </a:xfrm>
        </p:spPr>
        <p:txBody>
          <a:bodyPr>
            <a:normAutofit/>
          </a:bodyPr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Manu </a:t>
            </a:r>
            <a:r>
              <a:rPr lang="en-US" altLang="en-US" sz="2400" dirty="0">
                <a:solidFill>
                  <a:srgbClr val="000000"/>
                </a:solidFill>
              </a:rPr>
              <a:t>Maurette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s-AR" altLang="en-US" sz="2400" dirty="0">
              <a:solidFill>
                <a:srgbClr val="000000"/>
              </a:solidFill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s-AR" altLang="en-US" sz="2400" dirty="0">
              <a:solidFill>
                <a:srgbClr val="000000"/>
              </a:solidFill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s-AR" altLang="en-US" sz="2400" dirty="0">
                <a:solidFill>
                  <a:srgbClr val="000000"/>
                </a:solidFill>
              </a:rPr>
              <a:t>Clase 5: Mas modelos de </a:t>
            </a:r>
            <a:r>
              <a:rPr lang="es-AR" altLang="en-US" sz="2400" i="1" dirty="0" err="1">
                <a:solidFill>
                  <a:srgbClr val="000000"/>
                </a:solidFill>
              </a:rPr>
              <a:t>pricing</a:t>
            </a:r>
            <a:r>
              <a:rPr lang="es-AR" altLang="en-US" sz="2400" dirty="0">
                <a:solidFill>
                  <a:srgbClr val="000000"/>
                </a:solidFill>
              </a:rPr>
              <a:t>, comentarios finales</a:t>
            </a:r>
            <a:endParaRPr lang="en-US" altLang="en-US" sz="2400" dirty="0">
              <a:solidFill>
                <a:srgbClr val="000000"/>
              </a:solidFill>
            </a:endParaRPr>
          </a:p>
        </p:txBody>
      </p:sp>
      <p:sp>
        <p:nvSpPr>
          <p:cNvPr id="2054" name="Rectangle 9">
            <a:extLst>
              <a:ext uri="{FF2B5EF4-FFF2-40B4-BE49-F238E27FC236}">
                <a16:creationId xmlns:a16="http://schemas.microsoft.com/office/drawing/2014/main" id="{C97DC3A1-35E5-4E0C-8B9A-3A0E18614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604" y="1669368"/>
            <a:ext cx="838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Ø"/>
              <a:defRPr sz="2800">
                <a:solidFill>
                  <a:srgbClr val="4D4D4D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w"/>
              <a:defRPr sz="2400">
                <a:solidFill>
                  <a:srgbClr val="4D4D4D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§"/>
              <a:defRPr sz="2000">
                <a:solidFill>
                  <a:srgbClr val="4D4D4D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4000" dirty="0" err="1">
                <a:solidFill>
                  <a:srgbClr val="000000"/>
                </a:solidFill>
                <a:latin typeface="+mn-lt"/>
              </a:rPr>
              <a:t>Derivados</a:t>
            </a:r>
            <a:r>
              <a:rPr lang="en-US" altLang="en-US" sz="4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+mn-lt"/>
              </a:rPr>
              <a:t>Financieros</a:t>
            </a:r>
            <a:r>
              <a:rPr lang="en-US" altLang="en-US" sz="4000" dirty="0">
                <a:solidFill>
                  <a:srgbClr val="000000"/>
                </a:solidFill>
                <a:latin typeface="+mn-lt"/>
              </a:rPr>
              <a:t> 5</a:t>
            </a:r>
          </a:p>
          <a:p>
            <a:pPr algn="ctr" eaLnBrk="1" hangingPunct="1">
              <a:lnSpc>
                <a:spcPct val="85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4000" dirty="0">
                <a:solidFill>
                  <a:srgbClr val="000000"/>
                </a:solidFill>
                <a:latin typeface="+mn-lt"/>
              </a:rPr>
              <a:t>2022</a:t>
            </a:r>
          </a:p>
        </p:txBody>
      </p:sp>
      <p:sp>
        <p:nvSpPr>
          <p:cNvPr id="4104" name="Line 22">
            <a:extLst>
              <a:ext uri="{FF2B5EF4-FFF2-40B4-BE49-F238E27FC236}">
                <a16:creationId xmlns:a16="http://schemas.microsoft.com/office/drawing/2014/main" id="{B8AF241C-92FF-4369-99C6-4BFD7E032E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1268760"/>
            <a:ext cx="84582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4105" name="Line 23">
            <a:extLst>
              <a:ext uri="{FF2B5EF4-FFF2-40B4-BE49-F238E27FC236}">
                <a16:creationId xmlns:a16="http://schemas.microsoft.com/office/drawing/2014/main" id="{216886FB-126A-4D10-92C7-22C7C0CCC5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212976"/>
            <a:ext cx="84582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pic>
        <p:nvPicPr>
          <p:cNvPr id="3" name="Picture 2" descr="A picture containing food&#10;&#10;Description automatically generated">
            <a:extLst>
              <a:ext uri="{FF2B5EF4-FFF2-40B4-BE49-F238E27FC236}">
                <a16:creationId xmlns:a16="http://schemas.microsoft.com/office/drawing/2014/main" id="{2400D78A-3C2B-4C45-8A14-A94448C01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233" y="5157193"/>
            <a:ext cx="1665535" cy="166553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038FC-64D5-4023-B3FD-E129683EE6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EF20BF1-110A-4F0A-B78C-BF180770B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8542" y="0"/>
            <a:ext cx="7381875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defTabSz="4572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3200" kern="0" dirty="0" err="1">
                <a:solidFill>
                  <a:srgbClr val="000000"/>
                </a:solidFill>
              </a:rPr>
              <a:t>Explicacion</a:t>
            </a:r>
            <a:r>
              <a:rPr lang="en-GB" altLang="en-US" sz="3200" kern="0" dirty="0">
                <a:solidFill>
                  <a:srgbClr val="000000"/>
                </a:solidFill>
              </a:rPr>
              <a:t> de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PnL</a:t>
            </a:r>
            <a:endParaRPr lang="en-GB" altLang="en-US" sz="3200" kern="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C59B5F-C768-4846-86D4-F962594764FC}"/>
                  </a:ext>
                </a:extLst>
              </p:cNvPr>
              <p:cNvSpPr txBox="1"/>
              <p:nvPr/>
            </p:nvSpPr>
            <p:spPr>
              <a:xfrm>
                <a:off x="324091" y="1196752"/>
                <a:ext cx="12043458" cy="5074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s-AR" altLang="en-US" sz="2300" kern="0" dirty="0">
                  <a:solidFill>
                    <a:srgbClr val="000000"/>
                  </a:solidFill>
                  <a:latin typeface="+mj-lt"/>
                </a:endParaRPr>
              </a:p>
              <a:p>
                <a:r>
                  <a:rPr lang="es-AR" sz="2300" dirty="0">
                    <a:solidFill>
                      <a:srgbClr val="000000"/>
                    </a:solidFill>
                    <a:latin typeface="+mj-lt"/>
                  </a:rPr>
                  <a:t>Por que cambia el precio de un derivado? Veamos por ejemplo una opción:</a:t>
                </a:r>
              </a:p>
              <a:p>
                <a:endParaRPr lang="es-AR" sz="2300" dirty="0">
                  <a:solidFill>
                    <a:srgbClr val="000000"/>
                  </a:solidFill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𝑃𝑛𝐿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𝑑𝐶</m:t>
                      </m:r>
                      <m:d>
                        <m:d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h𝑜𝑦</m:t>
                          </m:r>
                        </m:e>
                      </m:d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h𝑜𝑦</m:t>
                          </m:r>
                        </m:e>
                      </m:d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𝑎𝑦𝑒𝑟</m:t>
                          </m:r>
                        </m:e>
                      </m:d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𝑑𝐶</m:t>
                          </m:r>
                        </m:num>
                        <m:den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s-AR" sz="2300" dirty="0">
                  <a:solidFill>
                    <a:srgbClr val="000000"/>
                  </a:solidFill>
                  <a:latin typeface="+mj-lt"/>
                </a:endParaRPr>
              </a:p>
              <a:p>
                <a:endParaRPr lang="es-AR" sz="2300" dirty="0">
                  <a:solidFill>
                    <a:srgbClr val="000000"/>
                  </a:solidFill>
                  <a:latin typeface="+mj-lt"/>
                </a:endParaRPr>
              </a:p>
              <a:p>
                <a:endParaRPr lang="es-AR" sz="2300" dirty="0">
                  <a:solidFill>
                    <a:srgbClr val="000000"/>
                  </a:solidFill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300" i="1" dirty="0" err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𝑑𝐶</m:t>
                          </m:r>
                        </m:num>
                        <m:den>
                          <m:r>
                            <a:rPr lang="es-AR" sz="2300" i="1" dirty="0" err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AR" sz="23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AR" sz="23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𝑎𝑦𝑒𝑟</m:t>
                          </m:r>
                          <m: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s-AR" sz="23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d>
                        <m:dPr>
                          <m:ctrlPr>
                            <a:rPr lang="es-AR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3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s-AR" sz="23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3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s-AR" sz="23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sSub>
                        <m:sSubPr>
                          <m:ctrlP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ctrlPr>
                            <a:rPr lang="es-AR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s-AR" sz="23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AR" sz="23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23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3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3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d>
                        <m:dPr>
                          <m:ctrlPr>
                            <a:rPr lang="en-US" sz="23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s-AR" sz="23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AR" sz="23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3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𝑆𝑆</m:t>
                          </m:r>
                        </m:sub>
                      </m:sSub>
                      <m:d>
                        <m:dPr>
                          <m:ctrlP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s-AR" sz="2300" i="1" dirty="0" err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2300" i="1" dirty="0" err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3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3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 </m:t>
                      </m:r>
                    </m:oMath>
                  </m:oMathPara>
                </a14:m>
                <a:endParaRPr lang="es-AR" sz="2300" dirty="0">
                  <a:solidFill>
                    <a:srgbClr val="000000"/>
                  </a:solidFill>
                  <a:latin typeface="+mj-lt"/>
                </a:endParaRPr>
              </a:p>
              <a:p>
                <a:endParaRPr lang="es-AR" sz="2300" dirty="0">
                  <a:solidFill>
                    <a:srgbClr val="000000"/>
                  </a:solidFill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0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𝑃𝑛</m:t>
                      </m:r>
                      <m:r>
                        <a:rPr lang="en-US" sz="20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0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s-AR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(0)(</m:t>
                      </m:r>
                      <m:r>
                        <a:rPr lang="en-US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0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h𝑜𝑦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0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AR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s-AR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𝑉𝑒𝑔𝑎</m:t>
                      </m:r>
                      <m:r>
                        <a:rPr lang="en-US" sz="20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0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0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h𝑜𝑦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0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sSup>
                        <m:sSupPr>
                          <m:ctrlPr>
                            <a:rPr lang="en-US" sz="20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h𝑜𝑦</m:t>
                                  </m:r>
                                </m:e>
                              </m:d>
                              <m:r>
                                <a:rPr lang="en-US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0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es-AR" sz="20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AR" sz="2000" dirty="0">
                  <a:solidFill>
                    <a:srgbClr val="000000"/>
                  </a:solidFill>
                  <a:latin typeface="+mj-lt"/>
                </a:endParaRPr>
              </a:p>
              <a:p>
                <a:endParaRPr lang="es-AR" sz="2000" dirty="0">
                  <a:solidFill>
                    <a:srgbClr val="000000"/>
                  </a:solidFill>
                  <a:latin typeface="+mj-lt"/>
                </a:endParaRPr>
              </a:p>
              <a:p>
                <a:r>
                  <a:rPr lang="es-AR" sz="2300" dirty="0">
                    <a:solidFill>
                      <a:srgbClr val="000000"/>
                    </a:solidFill>
                    <a:latin typeface="+mj-lt"/>
                  </a:rPr>
                  <a:t>Ejercicio: Estudiar el </a:t>
                </a:r>
                <a:r>
                  <a:rPr lang="es-AR" sz="2300" dirty="0" err="1">
                    <a:solidFill>
                      <a:srgbClr val="000000"/>
                    </a:solidFill>
                    <a:latin typeface="+mj-lt"/>
                  </a:rPr>
                  <a:t>PnL</a:t>
                </a:r>
                <a:r>
                  <a:rPr lang="es-AR" sz="2300" dirty="0">
                    <a:solidFill>
                      <a:srgbClr val="000000"/>
                    </a:solidFill>
                    <a:latin typeface="+mj-lt"/>
                  </a:rPr>
                  <a:t> con datos históricos de opciones.</a:t>
                </a:r>
              </a:p>
              <a:p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C59B5F-C768-4846-86D4-F96259476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91" y="1196752"/>
                <a:ext cx="12043458" cy="5074851"/>
              </a:xfrm>
              <a:prstGeom prst="rect">
                <a:avLst/>
              </a:prstGeom>
              <a:blipFill>
                <a:blip r:embed="rId2"/>
                <a:stretch>
                  <a:fillRect l="-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601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9C4E8-581A-4E73-B27B-71D0BD093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5010B1-A23D-46C3-A2F0-4934E81DD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8542" y="0"/>
            <a:ext cx="7381875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defTabSz="4572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3200" kern="0" dirty="0" err="1">
                <a:solidFill>
                  <a:srgbClr val="000000"/>
                </a:solidFill>
              </a:rPr>
              <a:t>Disparadores</a:t>
            </a:r>
            <a:r>
              <a:rPr lang="en-GB" altLang="en-US" sz="3200" kern="0" dirty="0">
                <a:solidFill>
                  <a:srgbClr val="000000"/>
                </a:solidFill>
              </a:rPr>
              <a:t> a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otros</a:t>
            </a:r>
            <a:r>
              <a:rPr lang="en-GB" altLang="en-US" sz="3200" kern="0" dirty="0">
                <a:solidFill>
                  <a:srgbClr val="000000"/>
                </a:solidFill>
              </a:rPr>
              <a:t>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modelos</a:t>
            </a:r>
            <a:r>
              <a:rPr lang="en-GB" altLang="en-US" sz="3200" kern="0" dirty="0">
                <a:solidFill>
                  <a:srgbClr val="000000"/>
                </a:solidFill>
              </a:rPr>
              <a:t> -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Montecarlo</a:t>
            </a:r>
            <a:endParaRPr lang="en-GB" altLang="en-US" sz="3200" kern="0" dirty="0">
              <a:solidFill>
                <a:srgbClr val="000000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E49DB00-3752-4571-A409-8E893F91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264" y="1268760"/>
            <a:ext cx="8602216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endParaRPr lang="es-AR" altLang="en-US" sz="2300" kern="0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48B336-DDF0-4B0C-97BA-86C7E3D45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897" y="2328862"/>
            <a:ext cx="912495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89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233" y="76200"/>
            <a:ext cx="7772400" cy="914400"/>
          </a:xfrm>
        </p:spPr>
        <p:txBody>
          <a:bodyPr/>
          <a:lstStyle/>
          <a:p>
            <a:r>
              <a:rPr lang="en-US" altLang="en-US" sz="3200" dirty="0">
                <a:solidFill>
                  <a:srgbClr val="000000"/>
                </a:solidFill>
              </a:rPr>
              <a:t>El </a:t>
            </a:r>
            <a:r>
              <a:rPr lang="en-US" altLang="en-US" sz="3200" dirty="0" err="1">
                <a:solidFill>
                  <a:srgbClr val="000000"/>
                </a:solidFill>
              </a:rPr>
              <a:t>Browniano</a:t>
            </a:r>
            <a:r>
              <a:rPr lang="en-US" altLang="en-US" sz="3200" dirty="0">
                <a:solidFill>
                  <a:srgbClr val="000000"/>
                </a:solidFill>
              </a:rPr>
              <a:t> </a:t>
            </a:r>
            <a:r>
              <a:rPr lang="en-US" altLang="en-US" sz="3200" dirty="0" err="1">
                <a:solidFill>
                  <a:srgbClr val="000000"/>
                </a:solidFill>
              </a:rPr>
              <a:t>Geométrico</a:t>
            </a:r>
            <a:r>
              <a:rPr lang="en-US" altLang="en-US" sz="3200" dirty="0">
                <a:solidFill>
                  <a:srgbClr val="000000"/>
                </a:solidFill>
              </a:rPr>
              <a:t> (1/2)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870029" y="1281690"/>
                <a:ext cx="8153967" cy="524365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Clr>
                    <a:schemeClr val="tx1"/>
                  </a:buClr>
                  <a:buSzPct val="150000"/>
                  <a:buNone/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El movimiento browniano geométrico que le da la dinámica al precio del activo</a:t>
                </a:r>
                <a:r>
                  <a:rPr lang="en-US" altLang="en-US" sz="2300" dirty="0">
                    <a:solidFill>
                      <a:srgbClr val="000000"/>
                    </a:solidFill>
                  </a:rPr>
                  <a:t>:</a:t>
                </a:r>
              </a:p>
              <a:p>
                <a:pPr marL="0" indent="0">
                  <a:buClr>
                    <a:schemeClr val="tx1"/>
                  </a:buClr>
                  <a:buSzPct val="15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3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𝑑𝑆</m:t>
                      </m:r>
                      <m:d>
                        <m:dPr>
                          <m:ctrlPr>
                            <a:rPr lang="en-US" altLang="en-US" sz="23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3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en-US" sz="23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3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en-US" sz="23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sz="23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3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en-US" sz="23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en-US" sz="23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sz="23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3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en-US" sz="23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sz="23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3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en-US" sz="23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𝑑𝑊</m:t>
                      </m:r>
                      <m:d>
                        <m:dPr>
                          <m:ctrlPr>
                            <a:rPr lang="en-US" altLang="en-US" sz="23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3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en-US" sz="23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Clr>
                    <a:schemeClr val="tx1"/>
                  </a:buClr>
                  <a:buSzPct val="15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3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  </m:t>
                      </m:r>
                      <m:r>
                        <m:rPr>
                          <m:sty m:val="p"/>
                        </m:rPr>
                        <a:rPr lang="en-US" altLang="en-US" sz="23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en-US" altLang="en-US" sz="23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3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en-US" sz="23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3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 sz="23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en-US" sz="23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en-US" sz="2300" dirty="0">
                  <a:solidFill>
                    <a:srgbClr val="0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SzPct val="150000"/>
                  <a:buNone/>
                </a:pPr>
                <a:endParaRPr lang="en-US" altLang="en-US" sz="2300" dirty="0">
                  <a:solidFill>
                    <a:srgbClr val="0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SzPct val="150000"/>
                  <a:buNone/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se puede expresar de la siguiente manera</a:t>
                </a:r>
              </a:p>
              <a:p>
                <a:pPr marL="0" indent="0">
                  <a:buClr>
                    <a:schemeClr val="tx1"/>
                  </a:buClr>
                  <a:buSzPct val="15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altLang="en-US" sz="2300" dirty="0">
                  <a:solidFill>
                    <a:srgbClr val="0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SzPct val="150000"/>
                  <a:buNone/>
                </a:pPr>
                <a:endParaRPr lang="en-US" altLang="en-US" sz="2300" dirty="0">
                  <a:solidFill>
                    <a:srgbClr val="0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SzPct val="150000"/>
                  <a:buNone/>
                </a:pPr>
                <a:r>
                  <a:rPr lang="en-US" altLang="en-US" sz="2300" dirty="0">
                    <a:solidFill>
                      <a:srgbClr val="000000"/>
                    </a:solidFill>
                  </a:rPr>
                  <a:t>Con </a:t>
                </a:r>
                <a14:m>
                  <m:oMath xmlns:m="http://schemas.openxmlformats.org/officeDocument/2006/math">
                    <m:r>
                      <a:rPr lang="en-US" altLang="en-US" sz="23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s-AR" altLang="en-US" sz="23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altLang="en-US" sz="23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AR" altLang="en-US" sz="23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300" dirty="0">
                    <a:solidFill>
                      <a:srgbClr val="000000"/>
                    </a:solidFill>
                  </a:rPr>
                  <a:t> un M.B. y </a:t>
                </a:r>
                <a14:m>
                  <m:oMath xmlns:m="http://schemas.openxmlformats.org/officeDocument/2006/math">
                    <m:r>
                      <a:rPr lang="es-AR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s-AR" alt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alt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alt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  <m:r>
                      <a:rPr lang="en-US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en-US" altLang="en-US" sz="23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Clr>
                    <a:schemeClr val="tx1"/>
                  </a:buClr>
                  <a:buSzPct val="150000"/>
                  <a:buNone/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Con lo cual, a tiempo final, tenemos una expresión para </a:t>
                </a:r>
                <a14:m>
                  <m:oMath xmlns:m="http://schemas.openxmlformats.org/officeDocument/2006/math">
                    <m:r>
                      <a:rPr lang="en-US" altLang="en-US" sz="23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sz="23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3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en-US" sz="23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2300" dirty="0">
                  <a:solidFill>
                    <a:srgbClr val="0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SzPct val="150000"/>
                  <a:buNone/>
                </a:pPr>
                <a:endParaRPr lang="en-US" altLang="en-US" sz="2300" dirty="0">
                  <a:solidFill>
                    <a:srgbClr val="0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SzPct val="15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alt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rad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p>
                      </m:sSup>
                    </m:oMath>
                  </m:oMathPara>
                </a14:m>
                <a:endParaRPr lang="en-US" altLang="en-US" sz="2300" dirty="0">
                  <a:solidFill>
                    <a:srgbClr val="0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SzPct val="150000"/>
                  <a:buNone/>
                </a:pPr>
                <a:r>
                  <a:rPr lang="en-US" altLang="en-US" sz="2300" dirty="0">
                    <a:solidFill>
                      <a:srgbClr val="000000"/>
                    </a:solidFill>
                  </a:rPr>
                  <a:t>Con </a:t>
                </a:r>
                <a14:m>
                  <m:oMath xmlns:m="http://schemas.openxmlformats.org/officeDocument/2006/math">
                    <m:r>
                      <a:rPr lang="en-US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en-US" sz="23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870029" y="1281690"/>
                <a:ext cx="8153967" cy="5243654"/>
              </a:xfrm>
              <a:blipFill>
                <a:blip r:embed="rId2"/>
                <a:stretch>
                  <a:fillRect l="-1122" t="-1977" r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313851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>
            <a:extLst>
              <a:ext uri="{FF2B5EF4-FFF2-40B4-BE49-F238E27FC236}">
                <a16:creationId xmlns:a16="http://schemas.microsoft.com/office/drawing/2014/main" id="{0D4B8590-E9F8-4B47-B7D8-EE5CBE01596C}"/>
              </a:ext>
            </a:extLst>
          </p:cNvPr>
          <p:cNvSpPr txBox="1">
            <a:spLocks noGrp="1"/>
          </p:cNvSpPr>
          <p:nvPr/>
        </p:nvSpPr>
        <p:spPr bwMode="auto">
          <a:xfrm>
            <a:off x="8534400" y="6553200"/>
            <a:ext cx="2133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A91AAF1-7646-4C0A-95AA-4D3D101EAE24}" type="slidenum">
              <a:rPr lang="en-US" altLang="en-US" sz="1400"/>
              <a:pPr algn="r"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074CD850-F310-4580-8840-AC541349F8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51088" y="0"/>
            <a:ext cx="7416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200" dirty="0">
                <a:solidFill>
                  <a:srgbClr val="000000"/>
                </a:solidFill>
              </a:rPr>
              <a:t>El </a:t>
            </a:r>
            <a:r>
              <a:rPr lang="en-US" altLang="en-US" sz="3200" dirty="0" err="1">
                <a:solidFill>
                  <a:srgbClr val="000000"/>
                </a:solidFill>
              </a:rPr>
              <a:t>Browniano</a:t>
            </a:r>
            <a:r>
              <a:rPr lang="en-US" altLang="en-US" sz="3200" dirty="0">
                <a:solidFill>
                  <a:srgbClr val="000000"/>
                </a:solidFill>
              </a:rPr>
              <a:t> </a:t>
            </a:r>
            <a:r>
              <a:rPr lang="en-US" altLang="en-US" sz="3200" dirty="0" err="1">
                <a:solidFill>
                  <a:srgbClr val="000000"/>
                </a:solidFill>
              </a:rPr>
              <a:t>Geométrico</a:t>
            </a:r>
            <a:r>
              <a:rPr lang="en-US" altLang="en-US" sz="3200" dirty="0">
                <a:solidFill>
                  <a:srgbClr val="000000"/>
                </a:solidFill>
              </a:rPr>
              <a:t> (2/2)</a:t>
            </a:r>
            <a:endParaRPr lang="es-AR" altLang="en-US" sz="32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E34B6E1-998B-4746-9D12-7C66372FA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268413"/>
            <a:ext cx="8458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r>
              <a:rPr lang="es-ES" sz="2300" dirty="0">
                <a:solidFill>
                  <a:srgbClr val="000000"/>
                </a:solidFill>
              </a:rPr>
              <a:t>Recordemos la formula mas importante que venimos repitiendo clase tras clase que llamamos el Teorema Fundamental de la valuación de activos. En el caso de un </a:t>
            </a:r>
            <a:r>
              <a:rPr lang="es-ES" sz="2300" i="1" dirty="0" err="1">
                <a:solidFill>
                  <a:srgbClr val="000000"/>
                </a:solidFill>
              </a:rPr>
              <a:t>call</a:t>
            </a:r>
            <a:r>
              <a:rPr lang="es-ES" sz="2300" dirty="0">
                <a:solidFill>
                  <a:srgbClr val="000000"/>
                </a:solidFill>
              </a:rPr>
              <a:t> Europeo:</a:t>
            </a:r>
          </a:p>
          <a:p>
            <a:endParaRPr lang="es-ES" sz="2300" dirty="0">
              <a:solidFill>
                <a:srgbClr val="000000"/>
              </a:solidFill>
            </a:endParaRPr>
          </a:p>
          <a:p>
            <a:endParaRPr lang="es-ES" sz="23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ES" sz="2300" dirty="0">
              <a:solidFill>
                <a:srgbClr val="000000"/>
              </a:solidFill>
            </a:endParaRPr>
          </a:p>
          <a:p>
            <a:r>
              <a:rPr lang="es-ES" sz="2300" dirty="0">
                <a:solidFill>
                  <a:srgbClr val="000000"/>
                </a:solidFill>
              </a:rPr>
              <a:t>Usando la formula anterior:</a:t>
            </a:r>
          </a:p>
          <a:p>
            <a:endParaRPr lang="es-ES" altLang="en-US" sz="2300" kern="0" dirty="0">
              <a:solidFill>
                <a:srgbClr val="000000"/>
              </a:solidFill>
            </a:endParaRPr>
          </a:p>
          <a:p>
            <a:endParaRPr lang="es-AR" altLang="en-US" sz="2300" kern="0" dirty="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A9B500-9BBD-4C1F-AA72-09F32F0A0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721" y="2788530"/>
            <a:ext cx="4149211" cy="6297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343B55-78F5-42C3-BE93-9A20AFF19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3769" y="4653136"/>
            <a:ext cx="7080657" cy="143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2865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>
            <a:extLst>
              <a:ext uri="{FF2B5EF4-FFF2-40B4-BE49-F238E27FC236}">
                <a16:creationId xmlns:a16="http://schemas.microsoft.com/office/drawing/2014/main" id="{0D4B8590-E9F8-4B47-B7D8-EE5CBE01596C}"/>
              </a:ext>
            </a:extLst>
          </p:cNvPr>
          <p:cNvSpPr txBox="1">
            <a:spLocks noGrp="1"/>
          </p:cNvSpPr>
          <p:nvPr/>
        </p:nvSpPr>
        <p:spPr bwMode="auto">
          <a:xfrm>
            <a:off x="8534400" y="6553200"/>
            <a:ext cx="2133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A91AAF1-7646-4C0A-95AA-4D3D101EAE24}" type="slidenum">
              <a:rPr lang="en-US" altLang="en-US" sz="1400"/>
              <a:pPr algn="r"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074CD850-F310-4580-8840-AC541349F8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51088" y="0"/>
            <a:ext cx="7416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AR" altLang="en-US" sz="3200" dirty="0">
                <a:solidFill>
                  <a:srgbClr val="000000"/>
                </a:solidFill>
                <a:latin typeface="+mn-lt"/>
              </a:rPr>
              <a:t>Modelo de Montecarlo (1/2)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2E34B6E1-998B-4746-9D12-7C66372FAA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4825" y="1268413"/>
                <a:ext cx="8458200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>
                  <a:buNone/>
                </a:pPr>
                <a:r>
                  <a:rPr lang="es-ES" altLang="en-US" sz="2300" kern="0" dirty="0">
                    <a:solidFill>
                      <a:srgbClr val="000000"/>
                    </a:solidFill>
                  </a:rPr>
                  <a:t>El Método Montecarlo provee una manera para calcular la esperanza de una distribución:</a:t>
                </a:r>
              </a:p>
              <a:p>
                <a:pPr marL="0" indent="0">
                  <a:buNone/>
                </a:pPr>
                <a:r>
                  <a:rPr lang="es-ES" altLang="en-US" sz="2300" kern="0" dirty="0">
                    <a:solidFill>
                      <a:srgbClr val="000000"/>
                    </a:solidFill>
                  </a:rPr>
                  <a:t>La esperanza de una distribución es el promedio (si fueran finitos) de los eventos posibles, multiplicados por la probabilidad de que ocurran.</a:t>
                </a:r>
              </a:p>
              <a:p>
                <a:pPr marL="0" indent="0">
                  <a:buNone/>
                </a:pPr>
                <a:r>
                  <a:rPr lang="es-ES" altLang="en-US" sz="2300" kern="0" dirty="0">
                    <a:solidFill>
                      <a:srgbClr val="000000"/>
                    </a:solidFill>
                  </a:rPr>
                  <a:t>En el caso de un </a:t>
                </a:r>
                <a:r>
                  <a:rPr lang="es-ES" altLang="en-US" sz="2300" i="1" kern="0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altLang="en-US" sz="2300" kern="0" dirty="0">
                    <a:solidFill>
                      <a:srgbClr val="000000"/>
                    </a:solidFill>
                  </a:rPr>
                  <a:t>: Si calculamos, para cada </a:t>
                </a:r>
                <a14:m>
                  <m:oMath xmlns:m="http://schemas.openxmlformats.org/officeDocument/2006/math">
                    <m:r>
                      <a:rPr lang="es-ES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ES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s-ES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" altLang="en-US" sz="2300" kern="0" dirty="0">
                    <a:solidFill>
                      <a:srgbClr val="000000"/>
                    </a:solidFill>
                  </a:rPr>
                  <a:t>:</a:t>
                </a:r>
              </a:p>
              <a:p>
                <a:pPr marL="0" indent="0">
                  <a:buNone/>
                </a:pPr>
                <a:r>
                  <a:rPr lang="es-ES" altLang="en-US" sz="2300" kern="0" dirty="0">
                    <a:solidFill>
                      <a:srgbClr val="00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en-US" sz="23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en-US" sz="23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3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en-US" sz="23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en-US" sz="23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en-US" sz="2300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en-US" sz="23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3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en-US" sz="23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en-US" sz="23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3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,0)</m:t>
                          </m:r>
                        </m:e>
                      </m:func>
                    </m:oMath>
                  </m:oMathPara>
                </a14:m>
                <a:endParaRPr lang="es-ES" altLang="en-US" sz="2300" kern="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s-ES" altLang="en-US" sz="2300" kern="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s-ES" altLang="en-US" sz="2300" kern="0" dirty="0">
                    <a:solidFill>
                      <a:srgbClr val="000000"/>
                    </a:solidFill>
                  </a:rPr>
                  <a:t>Entonces podemos aproximar la esperanza (y el precio del </a:t>
                </a:r>
                <a:r>
                  <a:rPr lang="es-ES" altLang="en-US" sz="2300" i="1" kern="0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altLang="en-US" sz="2300" kern="0" dirty="0">
                    <a:solidFill>
                      <a:srgbClr val="000000"/>
                    </a:solidFill>
                  </a:rPr>
                  <a:t>) por: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altLang="en-US" sz="2300" i="1" kern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en-US" sz="2300" i="1" kern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f>
                        <m:fPr>
                          <m:ctrlPr>
                            <a:rPr lang="en-US" altLang="en-US" sz="2300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300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300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ctrlPr>
                            <a:rPr lang="en-US" altLang="en-US" sz="2300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2300" i="1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300" i="1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en-US" sz="2300" i="1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sz="2300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en-US" sz="2300" i="1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300" i="1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en-US" sz="2300" i="1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en-US" sz="2300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altLang="en-US" sz="2300" i="1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300" i="1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en-US" sz="2300" i="1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altLang="en-US" sz="2300" i="1" kern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300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300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300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en-US" sz="2300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300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sz="2300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en-US" sz="2300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en-US" sz="2300" i="1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300" i="1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en-US" sz="2300" i="1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" altLang="en-US" sz="2300" kern="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s-ES" altLang="en-US" sz="2300" kern="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s-ES" altLang="en-US" sz="2300" kern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2E34B6E1-998B-4746-9D12-7C66372FA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4825" y="1268413"/>
                <a:ext cx="8458200" cy="5257800"/>
              </a:xfrm>
              <a:prstGeom prst="rect">
                <a:avLst/>
              </a:prstGeom>
              <a:blipFill>
                <a:blip r:embed="rId3"/>
                <a:stretch>
                  <a:fillRect l="-1009" t="-811" r="-115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040708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>
            <a:extLst>
              <a:ext uri="{FF2B5EF4-FFF2-40B4-BE49-F238E27FC236}">
                <a16:creationId xmlns:a16="http://schemas.microsoft.com/office/drawing/2014/main" id="{0D4B8590-E9F8-4B47-B7D8-EE5CBE01596C}"/>
              </a:ext>
            </a:extLst>
          </p:cNvPr>
          <p:cNvSpPr txBox="1">
            <a:spLocks noGrp="1"/>
          </p:cNvSpPr>
          <p:nvPr/>
        </p:nvSpPr>
        <p:spPr bwMode="auto">
          <a:xfrm>
            <a:off x="8534400" y="6553200"/>
            <a:ext cx="2133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A91AAF1-7646-4C0A-95AA-4D3D101EAE24}" type="slidenum">
              <a:rPr lang="en-US" altLang="en-US" sz="1400"/>
              <a:pPr algn="r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074CD850-F310-4580-8840-AC541349F8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51088" y="0"/>
            <a:ext cx="7416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AR" altLang="en-US" sz="3200" dirty="0">
                <a:solidFill>
                  <a:srgbClr val="000000"/>
                </a:solidFill>
                <a:latin typeface="+mn-lt"/>
              </a:rPr>
              <a:t>Modelo de Montecarlo (2/2)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2E34B6E1-998B-4746-9D12-7C66372FAA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4825" y="1268413"/>
                <a:ext cx="8458200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>
                  <a:buNone/>
                </a:pPr>
                <a:r>
                  <a:rPr lang="es-ES" altLang="en-US" sz="2300" kern="0" dirty="0">
                    <a:solidFill>
                      <a:srgbClr val="000000"/>
                    </a:solidFill>
                  </a:rPr>
                  <a:t>Para cada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altLang="en-US" sz="2300" kern="0" dirty="0">
                    <a:solidFill>
                      <a:srgbClr val="000000"/>
                    </a:solidFill>
                  </a:rPr>
                  <a:t>, necesitamos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s-ES" altLang="en-US" sz="2300" kern="0" dirty="0">
                    <a:solidFill>
                      <a:srgbClr val="000000"/>
                    </a:solidFill>
                  </a:rPr>
                  <a:t>, una realización de S a tiempo </a:t>
                </a:r>
                <a14:m>
                  <m:oMath xmlns:m="http://schemas.openxmlformats.org/officeDocument/2006/math">
                    <m:r>
                      <a:rPr lang="es-ES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ES" altLang="en-US" sz="2300" kern="0" dirty="0">
                    <a:solidFill>
                      <a:srgbClr val="000000"/>
                    </a:solidFill>
                  </a:rPr>
                  <a:t>:</a:t>
                </a:r>
              </a:p>
              <a:p>
                <a:pPr marL="0" indent="0">
                  <a:buClr>
                    <a:schemeClr val="tx1"/>
                  </a:buClr>
                  <a:buSzPct val="15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alt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altLang="en-US" sz="2300" dirty="0">
                  <a:solidFill>
                    <a:srgbClr val="0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SzPct val="150000"/>
                  <a:buNone/>
                </a:pPr>
                <a:r>
                  <a:rPr lang="en-US" altLang="en-US" sz="2300" dirty="0">
                    <a:solidFill>
                      <a:srgbClr val="000000"/>
                    </a:solidFill>
                  </a:rPr>
                  <a:t>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en-US" sz="2300" dirty="0">
                    <a:solidFill>
                      <a:srgbClr val="000000"/>
                    </a:solidFill>
                  </a:rPr>
                  <a:t> </a:t>
                </a:r>
                <a:r>
                  <a:rPr lang="es-AR" altLang="en-US" sz="2300" dirty="0">
                    <a:solidFill>
                      <a:srgbClr val="000000"/>
                    </a:solidFill>
                  </a:rPr>
                  <a:t>Es decir un numero aleatorio que siga la distribución normal con media 0 y desvió 1.</a:t>
                </a:r>
              </a:p>
              <a:p>
                <a:pPr marL="0" indent="0">
                  <a:buClr>
                    <a:schemeClr val="tx1"/>
                  </a:buClr>
                  <a:buSzPct val="150000"/>
                  <a:buNone/>
                </a:pPr>
                <a:r>
                  <a:rPr lang="en-US" altLang="en-US" sz="2300" b="1" dirty="0">
                    <a:solidFill>
                      <a:srgbClr val="000000"/>
                    </a:solidFill>
                  </a:rPr>
                  <a:t>Algoritmo: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ES" altLang="en-US" sz="2300" kern="0" dirty="0">
                    <a:solidFill>
                      <a:srgbClr val="000000"/>
                    </a:solidFill>
                  </a:rPr>
                  <a:t>Generar N realizaciones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ES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altLang="en-US" sz="2300" kern="0" dirty="0">
                    <a:solidFill>
                      <a:srgbClr val="000000"/>
                    </a:solidFill>
                  </a:rPr>
                  <a:t> de manera aleatoria: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s-ES" altLang="en-US" sz="1900" kern="0" dirty="0">
                    <a:solidFill>
                      <a:srgbClr val="000000"/>
                    </a:solidFill>
                  </a:rPr>
                  <a:t>Generar N números aleatorios </a:t>
                </a:r>
                <a14:m>
                  <m:oMath xmlns:m="http://schemas.openxmlformats.org/officeDocument/2006/math">
                    <m:r>
                      <a:rPr lang="es-ES" altLang="en-US" sz="19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𝑟𝑎𝑛</m:t>
                    </m:r>
                    <m:sSub>
                      <m:sSubPr>
                        <m:ctrlPr>
                          <a:rPr lang="es-ES" altLang="en-US" sz="19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altLang="en-US" sz="19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ES" altLang="en-US" sz="19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altLang="en-US" sz="1900" kern="0" dirty="0">
                    <a:solidFill>
                      <a:srgbClr val="000000"/>
                    </a:solidFill>
                  </a:rPr>
                  <a:t> con distribución uniforme en el (0,1)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s-ES" altLang="en-US" sz="1900" kern="0" dirty="0">
                    <a:solidFill>
                      <a:srgbClr val="000000"/>
                    </a:solidFill>
                  </a:rPr>
                  <a:t>Generar N números aleatorios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altLang="en-US" sz="19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altLang="en-US" sz="19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s-ES" altLang="en-US" sz="19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altLang="en-US" sz="1900" kern="0" dirty="0">
                    <a:solidFill>
                      <a:srgbClr val="000000"/>
                    </a:solidFill>
                  </a:rPr>
                  <a:t>  con distribución </a:t>
                </a:r>
                <a14:m>
                  <m:oMath xmlns:m="http://schemas.openxmlformats.org/officeDocument/2006/math">
                    <m:r>
                      <a:rPr lang="es-ES" altLang="en-US" sz="19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ES" altLang="en-US" sz="19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(0,1).</m:t>
                    </m:r>
                  </m:oMath>
                </a14:m>
                <a:endParaRPr lang="es-ES" altLang="en-US" sz="1900" kern="0" dirty="0">
                  <a:solidFill>
                    <a:srgbClr val="000000"/>
                  </a:solidFill>
                </a:endParaRP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s-ES" altLang="en-US" sz="1900" kern="0" dirty="0">
                    <a:solidFill>
                      <a:srgbClr val="000000"/>
                    </a:solidFill>
                  </a:rPr>
                  <a:t>Generar 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altLang="en-US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altLang="en-US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altLang="en-US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altLang="en-US" sz="20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altLang="en-US" sz="20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ES" altLang="en-US" sz="20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altLang="en-US" sz="2000" kern="0" dirty="0">
                    <a:solidFill>
                      <a:srgbClr val="000000"/>
                    </a:solidFill>
                  </a:rPr>
                  <a:t> con la formula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ES" altLang="en-US" sz="2300" kern="0" dirty="0">
                    <a:solidFill>
                      <a:srgbClr val="000000"/>
                    </a:solidFill>
                  </a:rPr>
                  <a:t>Generar los </a:t>
                </a:r>
                <a14:m>
                  <m:oMath xmlns:m="http://schemas.openxmlformats.org/officeDocument/2006/math">
                    <m:r>
                      <a:rPr lang="es-ES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ES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ES" altLang="en-US" sz="2300" i="1" kern="0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altLang="en-US" sz="2300" i="1" kern="0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ES" altLang="en-US" sz="2300" i="1" kern="0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altLang="en-US" sz="2300" kern="0" dirty="0">
                    <a:solidFill>
                      <a:srgbClr val="000000"/>
                    </a:solidFill>
                  </a:rPr>
                  <a:t> con la formula de descontar el </a:t>
                </a:r>
                <a:r>
                  <a:rPr lang="es-ES" altLang="en-US" sz="2300" kern="0" dirty="0" err="1">
                    <a:solidFill>
                      <a:srgbClr val="000000"/>
                    </a:solidFill>
                  </a:rPr>
                  <a:t>payoff</a:t>
                </a:r>
                <a:r>
                  <a:rPr lang="es-ES" altLang="en-US" sz="2300" kern="0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ES" altLang="en-US" sz="2300" kern="0" dirty="0">
                    <a:solidFill>
                      <a:srgbClr val="000000"/>
                    </a:solidFill>
                  </a:rPr>
                  <a:t>Promediarlos y obtener una aproximación al precio del </a:t>
                </a:r>
                <a:r>
                  <a:rPr lang="es-ES" altLang="en-US" sz="2300" i="1" kern="0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altLang="en-US" sz="2300" kern="0" dirty="0">
                    <a:solidFill>
                      <a:srgbClr val="000000"/>
                    </a:solidFill>
                  </a:rPr>
                  <a:t> a tiempo inicial, </a:t>
                </a:r>
                <a14:m>
                  <m:oMath xmlns:m="http://schemas.openxmlformats.org/officeDocument/2006/math">
                    <m:r>
                      <a:rPr lang="es-ES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en-US" sz="2300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ES" altLang="en-US" sz="2300" kern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2E34B6E1-998B-4746-9D12-7C66372FA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4825" y="1268413"/>
                <a:ext cx="8458200" cy="5257800"/>
              </a:xfrm>
              <a:prstGeom prst="rect">
                <a:avLst/>
              </a:prstGeom>
              <a:blipFill>
                <a:blip r:embed="rId3"/>
                <a:stretch>
                  <a:fillRect l="-1081" t="-8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32513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3">
            <a:extLst>
              <a:ext uri="{FF2B5EF4-FFF2-40B4-BE49-F238E27FC236}">
                <a16:creationId xmlns:a16="http://schemas.microsoft.com/office/drawing/2014/main" id="{6C3AC5A9-0DB7-4C4D-8E0E-97D9BCED5890}"/>
              </a:ext>
            </a:extLst>
          </p:cNvPr>
          <p:cNvSpPr txBox="1">
            <a:spLocks noGrp="1"/>
          </p:cNvSpPr>
          <p:nvPr/>
        </p:nvSpPr>
        <p:spPr bwMode="auto">
          <a:xfrm>
            <a:off x="8534401" y="6553201"/>
            <a:ext cx="2132013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defTabSz="457200">
              <a:spcBef>
                <a:spcPct val="20000"/>
              </a:spcBef>
              <a:buClr>
                <a:schemeClr val="folHlink"/>
              </a:buClr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4D4D4D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4D4D4D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4D4D4D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Clr>
                <a:srgbClr val="4D4D4D"/>
              </a:buClr>
              <a:buFont typeface="Times New Roman" panose="02020603050405020304" pitchFamily="18" charset="0"/>
              <a:buNone/>
            </a:pPr>
            <a:fld id="{67709870-7819-45E1-BAEA-EE19D085AA13}" type="slidenum">
              <a:rPr lang="en-GB" altLang="en-US" sz="1400">
                <a:latin typeface="Times New Roman" panose="02020603050405020304" pitchFamily="18" charset="0"/>
                <a:cs typeface="Lucida Sans Unicode" panose="020B0602030504020204" pitchFamily="34" charset="0"/>
              </a:rPr>
              <a:pPr algn="r">
                <a:spcBef>
                  <a:spcPct val="0"/>
                </a:spcBef>
                <a:buClr>
                  <a:srgbClr val="4D4D4D"/>
                </a:buClr>
                <a:buFont typeface="Times New Roman" panose="02020603050405020304" pitchFamily="18" charset="0"/>
                <a:buNone/>
              </a:pPr>
              <a:t>8</a:t>
            </a:fld>
            <a:endParaRPr lang="en-GB" altLang="en-US" sz="1400" dirty="0"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8E244AEF-CE4E-435F-B0D8-447469519BB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38401" y="0"/>
            <a:ext cx="7381875" cy="1144588"/>
          </a:xfrm>
        </p:spPr>
        <p:txBody>
          <a:bodyPr vert="horz" lIns="90000" tIns="46800" rIns="90000" bIns="46800" rtlCol="0" anchor="ctr">
            <a:normAutofit/>
          </a:bodyPr>
          <a:lstStyle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3200" dirty="0" err="1">
                <a:solidFill>
                  <a:srgbClr val="000000"/>
                </a:solidFill>
              </a:rPr>
              <a:t>Algoritmo</a:t>
            </a:r>
            <a:r>
              <a:rPr lang="en-GB" altLang="en-US" sz="3200" dirty="0">
                <a:solidFill>
                  <a:srgbClr val="000000"/>
                </a:solidFill>
              </a:rPr>
              <a:t> </a:t>
            </a:r>
            <a:r>
              <a:rPr lang="en-GB" altLang="en-US" sz="3200" dirty="0" err="1">
                <a:solidFill>
                  <a:srgbClr val="000000"/>
                </a:solidFill>
              </a:rPr>
              <a:t>Montecarlo</a:t>
            </a:r>
            <a:endParaRPr lang="en-GB" altLang="en-US" sz="32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4A8FB6-1C8D-4BE3-8B51-B8FE685AB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803" y="1722470"/>
            <a:ext cx="7248525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43136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9C4E8-581A-4E73-B27B-71D0BD093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5010B1-A23D-46C3-A2F0-4934E81DD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8542" y="0"/>
            <a:ext cx="7381875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defTabSz="4572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3200" kern="0" dirty="0" err="1">
                <a:solidFill>
                  <a:srgbClr val="000000"/>
                </a:solidFill>
              </a:rPr>
              <a:t>Disparadores</a:t>
            </a:r>
            <a:r>
              <a:rPr lang="en-GB" altLang="en-US" sz="3200" kern="0" dirty="0">
                <a:solidFill>
                  <a:srgbClr val="000000"/>
                </a:solidFill>
              </a:rPr>
              <a:t> a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otros</a:t>
            </a:r>
            <a:r>
              <a:rPr lang="en-GB" altLang="en-US" sz="3200" kern="0" dirty="0">
                <a:solidFill>
                  <a:srgbClr val="000000"/>
                </a:solidFill>
              </a:rPr>
              <a:t>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modelos</a:t>
            </a:r>
            <a:r>
              <a:rPr lang="en-GB" altLang="en-US" sz="3200" kern="0" dirty="0">
                <a:solidFill>
                  <a:srgbClr val="000000"/>
                </a:solidFill>
              </a:rPr>
              <a:t> – PDE (</a:t>
            </a:r>
            <a:r>
              <a:rPr lang="en-GB" altLang="en-US" sz="3200" kern="0" dirty="0" err="1">
                <a:solidFill>
                  <a:srgbClr val="000000"/>
                </a:solidFill>
              </a:rPr>
              <a:t>Ecuaciones</a:t>
            </a:r>
            <a:r>
              <a:rPr lang="en-GB" altLang="en-US" sz="3200" kern="0" dirty="0">
                <a:solidFill>
                  <a:srgbClr val="000000"/>
                </a:solidFill>
              </a:rPr>
              <a:t>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Diferenciales</a:t>
            </a:r>
            <a:r>
              <a:rPr lang="en-GB" altLang="en-US" sz="3200" kern="0" dirty="0">
                <a:solidFill>
                  <a:srgbClr val="000000"/>
                </a:solidFill>
              </a:rPr>
              <a:t>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Parciales</a:t>
            </a:r>
            <a:r>
              <a:rPr lang="en-GB" altLang="en-US" sz="3200" kern="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E49DB00-3752-4571-A409-8E893F91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4892" y="1377326"/>
            <a:ext cx="8602216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s-AR" altLang="en-US" sz="2300" kern="0" dirty="0">
                <a:solidFill>
                  <a:srgbClr val="000000"/>
                </a:solidFill>
              </a:rPr>
              <a:t>Recordemos que la estrategia de replicación nos llevo a que el precio del </a:t>
            </a:r>
            <a:r>
              <a:rPr lang="es-AR" altLang="en-US" sz="2300" i="1" kern="0" dirty="0" err="1">
                <a:solidFill>
                  <a:srgbClr val="000000"/>
                </a:solidFill>
              </a:rPr>
              <a:t>Call</a:t>
            </a:r>
            <a:r>
              <a:rPr lang="es-AR" altLang="en-US" sz="2300" kern="0" dirty="0">
                <a:solidFill>
                  <a:srgbClr val="000000"/>
                </a:solidFill>
              </a:rPr>
              <a:t> Europeo era la solución de la siguiente ecuación diferencial.</a:t>
            </a:r>
          </a:p>
          <a:p>
            <a:pPr marL="0" indent="0">
              <a:buNone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s-AR" altLang="en-US" sz="2300" kern="0" dirty="0">
                <a:solidFill>
                  <a:srgbClr val="000000"/>
                </a:solidFill>
              </a:rPr>
              <a:t>O, en general:</a:t>
            </a:r>
          </a:p>
          <a:p>
            <a:pPr marL="0" indent="0">
              <a:buNone/>
            </a:pPr>
            <a:r>
              <a:rPr lang="es-AR" altLang="en-US" sz="2300" kern="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CEF2A0-F4A4-41BC-9FB1-D59D53D0B2CC}"/>
              </a:ext>
            </a:extLst>
          </p:cNvPr>
          <p:cNvSpPr/>
          <p:nvPr/>
        </p:nvSpPr>
        <p:spPr>
          <a:xfrm>
            <a:off x="2135560" y="2220616"/>
            <a:ext cx="7207374" cy="2010916"/>
          </a:xfrm>
          <a:prstGeom prst="rect">
            <a:avLst/>
          </a:prstGeom>
          <a:noFill/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39579E-F31E-470C-8E07-AA236CD17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397" y="2292624"/>
            <a:ext cx="6743700" cy="1866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7A854B-9867-43CE-ADDC-83AE09F97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824" y="5261179"/>
            <a:ext cx="1858117" cy="9626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9D09BA-D447-44F4-9A9B-41EC04B4F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941" y="5261178"/>
            <a:ext cx="3439674" cy="96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325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>
            <a:extLst>
              <a:ext uri="{FF2B5EF4-FFF2-40B4-BE49-F238E27FC236}">
                <a16:creationId xmlns:a16="http://schemas.microsoft.com/office/drawing/2014/main" id="{0D4B8590-E9F8-4B47-B7D8-EE5CBE01596C}"/>
              </a:ext>
            </a:extLst>
          </p:cNvPr>
          <p:cNvSpPr txBox="1">
            <a:spLocks noGrp="1"/>
          </p:cNvSpPr>
          <p:nvPr/>
        </p:nvSpPr>
        <p:spPr bwMode="auto">
          <a:xfrm>
            <a:off x="8534400" y="6553200"/>
            <a:ext cx="2133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A91AAF1-7646-4C0A-95AA-4D3D101EAE24}" type="slidenum">
              <a:rPr lang="en-US" altLang="en-US" sz="1400"/>
              <a:pPr algn="r"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074CD850-F310-4580-8840-AC541349F8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51088" y="0"/>
            <a:ext cx="7416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AR" altLang="en-US" sz="3200" dirty="0">
                <a:solidFill>
                  <a:srgbClr val="000000"/>
                </a:solidFill>
                <a:latin typeface="+mn-lt"/>
              </a:rPr>
              <a:t>Modelos de diferencias finitas para </a:t>
            </a:r>
            <a:r>
              <a:rPr lang="es-AR" altLang="en-US" sz="3200" dirty="0" err="1">
                <a:solidFill>
                  <a:srgbClr val="000000"/>
                </a:solidFill>
                <a:latin typeface="+mn-lt"/>
              </a:rPr>
              <a:t>PDEs</a:t>
            </a:r>
            <a:endParaRPr lang="es-AR" altLang="en-US" sz="3200" dirty="0">
              <a:solidFill>
                <a:srgbClr val="00000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2E34B6E1-998B-4746-9D12-7C66372FAA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5664" y="912941"/>
                <a:ext cx="8458200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>
                  <a:buNone/>
                </a:pPr>
                <a:endParaRPr lang="es-ES" sz="2300" dirty="0"/>
              </a:p>
              <a:p>
                <a:pPr marL="0" indent="0">
                  <a:buNone/>
                </a:pPr>
                <a:r>
                  <a:rPr lang="es-ES" sz="2300" dirty="0"/>
                  <a:t>La idea del método es discretizar las derivadas parciales </a:t>
                </a:r>
                <a:r>
                  <a:rPr lang="es-AR" sz="2300" dirty="0"/>
                  <a:t>basándonos</a:t>
                </a:r>
                <a:r>
                  <a:rPr lang="es-ES" sz="2300" dirty="0"/>
                  <a:t> en la expansión en la serie de Taylor cerca de los puntos de interés. </a:t>
                </a:r>
                <a:endParaRPr lang="en-US" altLang="en-US" sz="2300" kern="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s-ES" sz="2300" dirty="0"/>
                  <a:t>Para las derivadas con respecto a </a:t>
                </a:r>
                <a14:m>
                  <m:oMath xmlns:m="http://schemas.openxmlformats.org/officeDocument/2006/math">
                    <m:r>
                      <a:rPr lang="es-ES" sz="23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ES" sz="2300" dirty="0"/>
                  <a:t> usaremos en ambos casos diferencias centradas. </a:t>
                </a:r>
                <a:r>
                  <a:rPr lang="en-US" sz="2300" dirty="0"/>
                  <a:t>Para la </a:t>
                </a:r>
                <a:r>
                  <a:rPr lang="es-AR" sz="2300" dirty="0"/>
                  <a:t>primera</a:t>
                </a:r>
                <a:r>
                  <a:rPr lang="en-US" sz="2300" dirty="0"/>
                  <a:t>:</a:t>
                </a:r>
              </a:p>
              <a:p>
                <a:pPr marL="0" indent="0">
                  <a:buNone/>
                </a:pPr>
                <a:endParaRPr lang="en-US" altLang="en-US" sz="2300" kern="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n-US" altLang="en-US" sz="2300" kern="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n-US" sz="2300" dirty="0"/>
              </a:p>
              <a:p>
                <a:pPr marL="0" indent="0">
                  <a:buNone/>
                </a:pPr>
                <a:endParaRPr lang="en-US" sz="2300" dirty="0"/>
              </a:p>
              <a:p>
                <a:pPr marL="0" indent="0">
                  <a:buNone/>
                </a:pPr>
                <a:r>
                  <a:rPr lang="en-US" sz="2300" dirty="0"/>
                  <a:t>Para la </a:t>
                </a:r>
                <a:r>
                  <a:rPr lang="es-AR" sz="2300" dirty="0"/>
                  <a:t>segunda</a:t>
                </a:r>
                <a:r>
                  <a:rPr lang="en-US" sz="2300" dirty="0"/>
                  <a:t>:</a:t>
                </a:r>
                <a:endParaRPr lang="es-ES" altLang="en-US" sz="2300" kern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2E34B6E1-998B-4746-9D12-7C66372FA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5664" y="912941"/>
                <a:ext cx="8458200" cy="5257800"/>
              </a:xfrm>
              <a:prstGeom prst="rect">
                <a:avLst/>
              </a:prstGeom>
              <a:blipFill>
                <a:blip r:embed="rId3"/>
                <a:stretch>
                  <a:fillRect l="-100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0A18095-33EF-40E5-89D6-B44C8DB75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1526" y="3319462"/>
            <a:ext cx="6086475" cy="9429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C90B7-1466-487B-8846-2511E5D373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0597" y="5346635"/>
            <a:ext cx="7381875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68177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>
            <a:extLst>
              <a:ext uri="{FF2B5EF4-FFF2-40B4-BE49-F238E27FC236}">
                <a16:creationId xmlns:a16="http://schemas.microsoft.com/office/drawing/2014/main" id="{0D4B8590-E9F8-4B47-B7D8-EE5CBE01596C}"/>
              </a:ext>
            </a:extLst>
          </p:cNvPr>
          <p:cNvSpPr txBox="1">
            <a:spLocks noGrp="1"/>
          </p:cNvSpPr>
          <p:nvPr/>
        </p:nvSpPr>
        <p:spPr bwMode="auto">
          <a:xfrm>
            <a:off x="8534400" y="6553200"/>
            <a:ext cx="2133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A91AAF1-7646-4C0A-95AA-4D3D101EAE24}" type="slidenum">
              <a:rPr lang="en-US" altLang="en-US" sz="1400"/>
              <a:pPr algn="r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074CD850-F310-4580-8840-AC541349F8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51088" y="0"/>
            <a:ext cx="7416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AR" altLang="en-US" sz="3200" dirty="0">
                <a:solidFill>
                  <a:srgbClr val="000000"/>
                </a:solidFill>
                <a:latin typeface="+mn-lt"/>
              </a:rPr>
              <a:t>Modelos de diferencias finitas para </a:t>
            </a:r>
            <a:r>
              <a:rPr lang="es-AR" altLang="en-US" sz="3200" dirty="0" err="1">
                <a:solidFill>
                  <a:srgbClr val="000000"/>
                </a:solidFill>
                <a:latin typeface="+mn-lt"/>
              </a:rPr>
              <a:t>PDEs</a:t>
            </a:r>
            <a:endParaRPr lang="es-AR" altLang="en-US" sz="3200" dirty="0">
              <a:solidFill>
                <a:srgbClr val="00000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2E34B6E1-998B-4746-9D12-7C66372FAA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5664" y="912941"/>
                <a:ext cx="8458200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>
                  <a:buNone/>
                </a:pPr>
                <a:endParaRPr lang="es-ES" sz="2300" dirty="0"/>
              </a:p>
              <a:p>
                <a:pPr marL="0" indent="0">
                  <a:buNone/>
                </a:pPr>
                <a:r>
                  <a:rPr lang="es-ES" sz="2300" dirty="0"/>
                  <a:t>Como se trata de una ecuación </a:t>
                </a:r>
                <a:r>
                  <a:rPr lang="es-ES" sz="2300" i="1" dirty="0" err="1"/>
                  <a:t>backward</a:t>
                </a:r>
                <a:r>
                  <a:rPr lang="es-ES" sz="2300" dirty="0"/>
                  <a:t>, para aproximar la derivada con respecto al tiempo usaremos </a:t>
                </a:r>
                <a:r>
                  <a:rPr lang="es-AR" sz="2300" dirty="0"/>
                  <a:t>diferencias</a:t>
                </a:r>
                <a:r>
                  <a:rPr lang="en-US" sz="2300" dirty="0"/>
                  <a:t> backward :</a:t>
                </a:r>
              </a:p>
              <a:p>
                <a:pPr marL="0" indent="0">
                  <a:buNone/>
                </a:pPr>
                <a:endParaRPr lang="en-US" sz="2300" dirty="0"/>
              </a:p>
              <a:p>
                <a:pPr marL="0" indent="0">
                  <a:buNone/>
                </a:pPr>
                <a:endParaRPr lang="en-US" sz="2300" dirty="0"/>
              </a:p>
              <a:p>
                <a:pPr marL="0" indent="0">
                  <a:buNone/>
                </a:pPr>
                <a:endParaRPr lang="en-US" sz="2300" dirty="0"/>
              </a:p>
              <a:p>
                <a:pPr marL="0" indent="0">
                  <a:buNone/>
                </a:pPr>
                <a:endParaRPr lang="en-US" sz="2300" dirty="0"/>
              </a:p>
              <a:p>
                <a:pPr marL="0" indent="0">
                  <a:buNone/>
                </a:pPr>
                <a:r>
                  <a:rPr lang="es-ES" sz="2300" dirty="0">
                    <a:solidFill>
                      <a:srgbClr val="4D4D4D"/>
                    </a:solidFill>
                  </a:rPr>
                  <a:t>Observar que </a:t>
                </a:r>
                <a14:m>
                  <m:oMath xmlns:m="http://schemas.openxmlformats.org/officeDocument/2006/math"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s-ES" sz="2300" i="1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AR" sz="2300" b="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sz="2300" i="1" dirty="0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2300" i="1" dirty="0" err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</a:rPr>
                              <m:t>𝑑𝑆</m:t>
                            </m:r>
                          </m:e>
                        </m:d>
                      </m:e>
                      <m:sup>
                        <m:r>
                          <a:rPr lang="es-ES" sz="2300" i="1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300" i="1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s-ES" sz="2300" i="1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s-ES" sz="2300" i="1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300" i="1" dirty="0" err="1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s-ES" sz="2300" i="1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s-ES" sz="2300" dirty="0">
                    <a:solidFill>
                      <a:srgbClr val="4D4D4D"/>
                    </a:solidFill>
                  </a:rPr>
                  <a:t>con lo cual las tres aproximaciones </a:t>
                </a:r>
                <a:r>
                  <a:rPr lang="en-US" sz="2300" dirty="0">
                    <a:solidFill>
                      <a:srgbClr val="4D4D4D"/>
                    </a:solidFill>
                  </a:rPr>
                  <a:t>son del </a:t>
                </a:r>
                <a:r>
                  <a:rPr lang="es-AR" sz="2300" dirty="0">
                    <a:solidFill>
                      <a:srgbClr val="4D4D4D"/>
                    </a:solidFill>
                  </a:rPr>
                  <a:t>mismo orden.</a:t>
                </a:r>
              </a:p>
              <a:p>
                <a:pPr marL="0" indent="0">
                  <a:buNone/>
                </a:pPr>
                <a:endParaRPr lang="en-US" sz="2300" dirty="0"/>
              </a:p>
              <a:p>
                <a:pPr marL="0" indent="0">
                  <a:buNone/>
                </a:pPr>
                <a:endParaRPr lang="en-US" altLang="en-US" sz="2300" kern="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n-US" altLang="en-US" sz="2300" kern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2E34B6E1-998B-4746-9D12-7C66372FA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5664" y="912941"/>
                <a:ext cx="8458200" cy="5257800"/>
              </a:xfrm>
              <a:prstGeom prst="rect">
                <a:avLst/>
              </a:prstGeom>
              <a:blipFill>
                <a:blip r:embed="rId3"/>
                <a:stretch>
                  <a:fillRect l="-1009" r="-108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EA9A6E28-3D7F-4F0F-95E3-58238EB75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6814" y="2570291"/>
            <a:ext cx="499110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3096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>
            <a:extLst>
              <a:ext uri="{FF2B5EF4-FFF2-40B4-BE49-F238E27FC236}">
                <a16:creationId xmlns:a16="http://schemas.microsoft.com/office/drawing/2014/main" id="{0D4B8590-E9F8-4B47-B7D8-EE5CBE01596C}"/>
              </a:ext>
            </a:extLst>
          </p:cNvPr>
          <p:cNvSpPr txBox="1">
            <a:spLocks noGrp="1"/>
          </p:cNvSpPr>
          <p:nvPr/>
        </p:nvSpPr>
        <p:spPr bwMode="auto">
          <a:xfrm>
            <a:off x="8534400" y="6553200"/>
            <a:ext cx="2133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A91AAF1-7646-4C0A-95AA-4D3D101EAE24}" type="slidenum">
              <a:rPr lang="en-US" altLang="en-US" sz="1400"/>
              <a:pPr algn="r"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074CD850-F310-4580-8840-AC541349F8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51088" y="0"/>
            <a:ext cx="7416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AR" altLang="en-US" sz="3200" dirty="0">
                <a:solidFill>
                  <a:srgbClr val="000000"/>
                </a:solidFill>
                <a:latin typeface="+mn-lt"/>
              </a:rPr>
              <a:t>Modelos de diferencias finitas para </a:t>
            </a:r>
            <a:r>
              <a:rPr lang="es-AR" altLang="en-US" sz="3200" dirty="0" err="1">
                <a:solidFill>
                  <a:srgbClr val="000000"/>
                </a:solidFill>
                <a:latin typeface="+mn-lt"/>
              </a:rPr>
              <a:t>PDEs</a:t>
            </a:r>
            <a:endParaRPr lang="es-AR" altLang="en-US" sz="3200" dirty="0">
              <a:solidFill>
                <a:srgbClr val="00000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9351339-988F-4227-8376-DDF42A8BA9FF}"/>
                  </a:ext>
                </a:extLst>
              </p:cNvPr>
              <p:cNvSpPr/>
              <p:nvPr/>
            </p:nvSpPr>
            <p:spPr>
              <a:xfrm>
                <a:off x="942974" y="991017"/>
                <a:ext cx="9471171" cy="61093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ES" sz="2300" dirty="0">
                    <a:solidFill>
                      <a:srgbClr val="4D4D4D"/>
                    </a:solidFill>
                  </a:rPr>
                  <a:t>El siguiente paso del método es discretizar el espacio </a:t>
                </a:r>
                <a14:m>
                  <m:oMath xmlns:m="http://schemas.openxmlformats.org/officeDocument/2006/math"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[0,+</m:t>
                    </m:r>
                    <m:r>
                      <a:rPr lang="en-US" sz="2300" b="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) × [0, </m:t>
                    </m:r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]. </m:t>
                    </m:r>
                  </m:oMath>
                </a14:m>
                <a:r>
                  <a:rPr lang="es-ES" sz="2300" dirty="0">
                    <a:solidFill>
                      <a:srgbClr val="4D4D4D"/>
                    </a:solidFill>
                  </a:rPr>
                  <a:t>Para eso, primero elijamos un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2300" b="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AR" sz="2300" b="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300" b="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𝐴𝑋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4D4D4D"/>
                    </a:solidFill>
                  </a:rPr>
                  <a:t> grande ya que no podremos discretizar el infinito y dividimos el eje de las </a:t>
                </a:r>
                <a14:m>
                  <m:oMath xmlns:m="http://schemas.openxmlformats.org/officeDocument/2006/math"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ES" sz="2300" dirty="0">
                    <a:solidFill>
                      <a:srgbClr val="4D4D4D"/>
                    </a:solidFill>
                  </a:rPr>
                  <a:t> uniformemente en nodos que distan </a:t>
                </a:r>
                <a14:m>
                  <m:oMath xmlns:m="http://schemas.openxmlformats.org/officeDocument/2006/math"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𝑑𝑆</m:t>
                    </m:r>
                  </m:oMath>
                </a14:m>
                <a:r>
                  <a:rPr lang="es-ES" sz="2300" dirty="0">
                    <a:solidFill>
                      <a:srgbClr val="4D4D4D"/>
                    </a:solidFill>
                  </a:rPr>
                  <a:t> entre sí. </a:t>
                </a:r>
              </a:p>
              <a:p>
                <a:r>
                  <a:rPr lang="es-ES" sz="2300" dirty="0">
                    <a:solidFill>
                      <a:srgbClr val="4D4D4D"/>
                    </a:solidFill>
                  </a:rPr>
                  <a:t>Lo mismo hacemos con el eje temporal, lo dividimos uniformemente en nodos que distan </a:t>
                </a:r>
                <a14:m>
                  <m:oMath xmlns:m="http://schemas.openxmlformats.org/officeDocument/2006/math"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s-ES" sz="2300" dirty="0">
                    <a:solidFill>
                      <a:srgbClr val="4D4D4D"/>
                    </a:solidFill>
                  </a:rPr>
                  <a:t> entre sí. Esto divide al plano </a:t>
                </a:r>
                <a14:m>
                  <m:oMath xmlns:m="http://schemas.openxmlformats.org/officeDocument/2006/math"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ES" sz="2300" dirty="0">
                    <a:solidFill>
                      <a:srgbClr val="4D4D4D"/>
                    </a:solidFill>
                  </a:rPr>
                  <a:t>en una grilla uniforme con puntos de la forma </a:t>
                </a:r>
                <a14:m>
                  <m:oMath xmlns:m="http://schemas.openxmlformats.org/officeDocument/2006/math"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300" i="1" dirty="0" err="1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𝑛𝑑𝑆</m:t>
                    </m:r>
                    <m:r>
                      <a:rPr lang="es-ES" sz="2300" i="1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s-ES" sz="2300" i="1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𝑚𝑑𝑡</m:t>
                    </m:r>
                    <m:r>
                      <a:rPr lang="es-ES" sz="2300" i="1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endParaRPr lang="es-ES" sz="2300" dirty="0">
                  <a:solidFill>
                    <a:srgbClr val="4D4D4D"/>
                  </a:solidFill>
                </a:endParaRPr>
              </a:p>
              <a:p>
                <a:r>
                  <a:rPr lang="es-ES" sz="2300" dirty="0">
                    <a:solidFill>
                      <a:srgbClr val="4D4D4D"/>
                    </a:solidFill>
                  </a:rPr>
                  <a:t>Nos concentramos entonces en el valor de </a:t>
                </a:r>
                <a14:m>
                  <m:oMath xmlns:m="http://schemas.openxmlformats.org/officeDocument/2006/math"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2300" dirty="0">
                    <a:solidFill>
                      <a:srgbClr val="4D4D4D"/>
                    </a:solidFill>
                  </a:rPr>
                  <a:t> sólo en los puntos de la grilla. Escribimos:</a:t>
                </a: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r>
                  <a:rPr lang="es-ES" sz="2300" dirty="0">
                    <a:solidFill>
                      <a:srgbClr val="4D4D4D"/>
                    </a:solidFill>
                  </a:rPr>
                  <a:t>Donde </a:t>
                </a:r>
                <a14:m>
                  <m:oMath xmlns:m="http://schemas.openxmlformats.org/officeDocument/2006/math"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𝑑𝑆</m:t>
                    </m:r>
                  </m:oMath>
                </a14:m>
                <a:r>
                  <a:rPr lang="es-ES" sz="2300" dirty="0">
                    <a:solidFill>
                      <a:srgbClr val="4D4D4D"/>
                    </a:solidFill>
                  </a:rPr>
                  <a:t> y</a:t>
                </a:r>
                <a14:m>
                  <m:oMath xmlns:m="http://schemas.openxmlformats.org/officeDocument/2006/math"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300" i="1" dirty="0" err="1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s-ES" sz="2300" i="1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300" dirty="0">
                    <a:solidFill>
                      <a:srgbClr val="4D4D4D"/>
                    </a:solidFill>
                  </a:rPr>
                  <a:t>es la distancia entre los nodos y tal que</a:t>
                </a:r>
              </a:p>
              <a:p>
                <a:endParaRPr lang="es-ES" sz="2300" i="1" dirty="0">
                  <a:solidFill>
                    <a:srgbClr val="4D4D4D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300" i="1" dirty="0" smtClean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300" i="1" dirty="0" smtClean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s-AR" sz="2300" b="0" i="1" dirty="0" smtClean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300" i="1" dirty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sz="2300" i="1" dirty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s-AR" sz="2300" b="0" i="1" dirty="0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i="1" dirty="0" err="1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AR" sz="2300" b="0" i="1" dirty="0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300" b="0" i="1" dirty="0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𝐴𝑋</m:t>
                          </m:r>
                        </m:sub>
                      </m:sSub>
                      <m:r>
                        <a:rPr lang="es-ES" sz="2300" i="1" dirty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300" i="1" dirty="0" smtClean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2300" i="1" dirty="0" smtClean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300" i="1" dirty="0" smtClean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s-ES" sz="2300" i="1" dirty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300" i="1" dirty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s-ES" sz="2300" i="1" dirty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s-ES" sz="2300" i="1" dirty="0" smtClean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s-ES" sz="2300" dirty="0">
                  <a:solidFill>
                    <a:srgbClr val="4D4D4D"/>
                  </a:solidFill>
                </a:endParaRPr>
              </a:p>
              <a:p>
                <a:endParaRPr lang="en-US" sz="2300" dirty="0">
                  <a:solidFill>
                    <a:srgbClr val="4D4D4D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9351339-988F-4227-8376-DDF42A8BA9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974" y="991017"/>
                <a:ext cx="9471171" cy="6109365"/>
              </a:xfrm>
              <a:prstGeom prst="rect">
                <a:avLst/>
              </a:prstGeom>
              <a:blipFill>
                <a:blip r:embed="rId3"/>
                <a:stretch>
                  <a:fillRect l="-966" t="-798" r="-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B73D456-91E3-4DE9-939F-E84A82ABB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296" y="4268837"/>
            <a:ext cx="532447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53585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6005F8-E957-4A67-A78D-D88341FBA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466725"/>
            <a:ext cx="9163050" cy="615315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55EC518F-606A-40E3-8530-D745FF861D65}"/>
              </a:ext>
            </a:extLst>
          </p:cNvPr>
          <p:cNvSpPr/>
          <p:nvPr/>
        </p:nvSpPr>
        <p:spPr>
          <a:xfrm>
            <a:off x="5172075" y="1438275"/>
            <a:ext cx="2286000" cy="17907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013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9F50805-289E-487A-84A8-BEA66E399010}"/>
                  </a:ext>
                </a:extLst>
              </p:cNvPr>
              <p:cNvSpPr/>
              <p:nvPr/>
            </p:nvSpPr>
            <p:spPr>
              <a:xfrm>
                <a:off x="741106" y="857318"/>
                <a:ext cx="8436077" cy="59069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r>
                  <a:rPr lang="es-ES" sz="2300" dirty="0">
                    <a:solidFill>
                      <a:srgbClr val="4D4D4D"/>
                    </a:solidFill>
                  </a:rPr>
                  <a:t>Aquí también necesitaremos condiciones de contorno y finales (ya que se trata de una ecuación </a:t>
                </a:r>
                <a:r>
                  <a:rPr lang="es-ES" sz="2300" dirty="0" err="1">
                    <a:solidFill>
                      <a:srgbClr val="4D4D4D"/>
                    </a:solidFill>
                  </a:rPr>
                  <a:t>backward</a:t>
                </a:r>
                <a:r>
                  <a:rPr lang="es-ES" sz="2300" dirty="0">
                    <a:solidFill>
                      <a:srgbClr val="4D4D4D"/>
                    </a:solidFill>
                  </a:rPr>
                  <a:t>). Las de contorno serán:</a:t>
                </a: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r>
                  <a:rPr lang="es-ES" sz="2300" dirty="0">
                    <a:solidFill>
                      <a:srgbClr val="4D4D4D"/>
                    </a:solidFill>
                  </a:rPr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2300" b="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AR" sz="2300" b="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sz="2300" i="1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2300" dirty="0">
                    <a:solidFill>
                      <a:srgbClr val="4D4D4D"/>
                    </a:solidFill>
                  </a:rPr>
                  <a:t> es lo que vale la función en el 0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30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2300" b="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AR" sz="2300" b="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𝑖𝑛𝑓</m:t>
                        </m:r>
                      </m:sub>
                    </m:sSub>
                    <m:r>
                      <a:rPr lang="es-AR" sz="2300" b="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sz="2300" i="1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2300" dirty="0">
                    <a:solidFill>
                      <a:srgbClr val="4D4D4D"/>
                    </a:solidFill>
                  </a:rPr>
                  <a:t> es lo que vale en el límite en infinito. La condición final será:</a:t>
                </a: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endParaRPr lang="en-US" sz="2300" dirty="0">
                  <a:solidFill>
                    <a:srgbClr val="4D4D4D"/>
                  </a:solidFill>
                </a:endParaRPr>
              </a:p>
              <a:p>
                <a:endParaRPr lang="en-US" sz="2300" dirty="0">
                  <a:solidFill>
                    <a:srgbClr val="4D4D4D"/>
                  </a:solidFill>
                </a:endParaRPr>
              </a:p>
              <a:p>
                <a:endParaRPr lang="en-US" sz="2300" dirty="0">
                  <a:solidFill>
                    <a:srgbClr val="4D4D4D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9F50805-289E-487A-84A8-BEA66E399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06" y="857318"/>
                <a:ext cx="8436077" cy="5906938"/>
              </a:xfrm>
              <a:prstGeom prst="rect">
                <a:avLst/>
              </a:prstGeom>
              <a:blipFill>
                <a:blip r:embed="rId2"/>
                <a:stretch>
                  <a:fillRect l="-1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7480744-2566-4EF1-84B6-803AF8097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119" y="2297914"/>
            <a:ext cx="4210050" cy="571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D8BA70-3E94-4213-B93A-C6A35A628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994" y="4705350"/>
            <a:ext cx="1885950" cy="60960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2C5DD1A-3780-4560-9CCE-D11C7CEF580E}"/>
              </a:ext>
            </a:extLst>
          </p:cNvPr>
          <p:cNvSpPr txBox="1">
            <a:spLocks noChangeArrowheads="1"/>
          </p:cNvSpPr>
          <p:nvPr/>
        </p:nvSpPr>
        <p:spPr>
          <a:xfrm>
            <a:off x="2351088" y="0"/>
            <a:ext cx="7416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AR" altLang="en-US" sz="3200">
                <a:solidFill>
                  <a:srgbClr val="000000"/>
                </a:solidFill>
                <a:latin typeface="+mn-lt"/>
              </a:rPr>
              <a:t>Modelos de diferencias finitas para PDEs</a:t>
            </a:r>
            <a:endParaRPr lang="es-AR" altLang="en-US" sz="32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0846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9F50805-289E-487A-84A8-BEA66E399010}"/>
                  </a:ext>
                </a:extLst>
              </p:cNvPr>
              <p:cNvSpPr/>
              <p:nvPr/>
            </p:nvSpPr>
            <p:spPr>
              <a:xfrm>
                <a:off x="741106" y="857318"/>
                <a:ext cx="8436077" cy="34009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r>
                  <a:rPr lang="es-ES" sz="2300" dirty="0">
                    <a:solidFill>
                      <a:srgbClr val="4D4D4D"/>
                    </a:solidFill>
                  </a:rPr>
                  <a:t>Donde </a:t>
                </a:r>
                <a14:m>
                  <m:oMath xmlns:m="http://schemas.openxmlformats.org/officeDocument/2006/math"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sz="2300" i="1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2300" dirty="0">
                    <a:solidFill>
                      <a:srgbClr val="4D4D4D"/>
                    </a:solidFill>
                  </a:rPr>
                  <a:t> es el </a:t>
                </a:r>
                <a:r>
                  <a:rPr lang="es-ES" sz="2300" i="1" dirty="0" err="1">
                    <a:solidFill>
                      <a:srgbClr val="4D4D4D"/>
                    </a:solidFill>
                  </a:rPr>
                  <a:t>payoff</a:t>
                </a:r>
                <a:r>
                  <a:rPr lang="es-ES" sz="2300" dirty="0">
                    <a:solidFill>
                      <a:srgbClr val="4D4D4D"/>
                    </a:solidFill>
                  </a:rPr>
                  <a:t> del derivado. Con todo lo anterior no queda más que reemplazar cada cosa por lo que </a:t>
                </a:r>
                <a:r>
                  <a:rPr lang="en-US" sz="2300" dirty="0">
                    <a:solidFill>
                      <a:srgbClr val="4D4D4D"/>
                    </a:solidFill>
                  </a:rPr>
                  <a:t>es:</a:t>
                </a:r>
              </a:p>
              <a:p>
                <a:endParaRPr lang="en-US" sz="2300" dirty="0">
                  <a:solidFill>
                    <a:srgbClr val="4D4D4D"/>
                  </a:solidFill>
                </a:endParaRPr>
              </a:p>
              <a:p>
                <a:endParaRPr lang="en-US" sz="2300" dirty="0">
                  <a:solidFill>
                    <a:srgbClr val="4D4D4D"/>
                  </a:solidFill>
                </a:endParaRPr>
              </a:p>
              <a:p>
                <a:endParaRPr lang="en-US" sz="2300" dirty="0">
                  <a:solidFill>
                    <a:srgbClr val="4D4D4D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9F50805-289E-487A-84A8-BEA66E399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06" y="857318"/>
                <a:ext cx="8436077" cy="3400931"/>
              </a:xfrm>
              <a:prstGeom prst="rect">
                <a:avLst/>
              </a:prstGeom>
              <a:blipFill>
                <a:blip r:embed="rId2"/>
                <a:stretch>
                  <a:fillRect l="-1085" r="-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74F5386-5468-41A7-AC82-68CC5AAC1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72" y="3429000"/>
            <a:ext cx="10039350" cy="962025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2C5DD1A-3780-4560-9CCE-D11C7CEF580E}"/>
              </a:ext>
            </a:extLst>
          </p:cNvPr>
          <p:cNvSpPr txBox="1">
            <a:spLocks noChangeArrowheads="1"/>
          </p:cNvSpPr>
          <p:nvPr/>
        </p:nvSpPr>
        <p:spPr>
          <a:xfrm>
            <a:off x="2351088" y="0"/>
            <a:ext cx="7416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AR" altLang="en-US" sz="3200">
                <a:solidFill>
                  <a:srgbClr val="000000"/>
                </a:solidFill>
                <a:latin typeface="+mn-lt"/>
              </a:rPr>
              <a:t>Modelos de diferencias finitas para PDEs</a:t>
            </a:r>
            <a:endParaRPr lang="es-AR" altLang="en-US" sz="32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F95425-798A-40D1-9DD0-89AB0C9C06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072" y="4752975"/>
            <a:ext cx="5162550" cy="1123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1139168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060A47D-2E7E-4030-B2F2-5CD2C54613C4}"/>
                  </a:ext>
                </a:extLst>
              </p:cNvPr>
              <p:cNvSpPr/>
              <p:nvPr/>
            </p:nvSpPr>
            <p:spPr>
              <a:xfrm>
                <a:off x="1632155" y="959285"/>
                <a:ext cx="9134168" cy="46935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r>
                  <a:rPr lang="es-ES" sz="2300" dirty="0">
                    <a:solidFill>
                      <a:srgbClr val="4D4D4D"/>
                    </a:solidFill>
                  </a:rPr>
                  <a:t>Ahora nos olvidamos del error y aceptamos que la igualdad vale en sentido discreto, de aproximación. Despejamos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30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300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4D4D4D"/>
                    </a:solidFill>
                  </a:rPr>
                  <a:t>  y simplificamos los </a:t>
                </a:r>
                <a14:m>
                  <m:oMath xmlns:m="http://schemas.openxmlformats.org/officeDocument/2006/math">
                    <m:r>
                      <a:rPr lang="es-ES" sz="230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𝑑𝑆</m:t>
                    </m:r>
                  </m:oMath>
                </a14:m>
                <a:r>
                  <a:rPr lang="es-ES" sz="2300" dirty="0">
                    <a:solidFill>
                      <a:srgbClr val="4D4D4D"/>
                    </a:solidFill>
                  </a:rPr>
                  <a:t>:</a:t>
                </a: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r>
                  <a:rPr lang="es-ES" sz="2300" dirty="0">
                    <a:solidFill>
                      <a:srgbClr val="4D4D4D"/>
                    </a:solidFill>
                  </a:rPr>
                  <a:t>Agrupando los términos llegamos finalmente al esquema de diferencias finitas:</a:t>
                </a: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060A47D-2E7E-4030-B2F2-5CD2C54613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155" y="959285"/>
                <a:ext cx="9134168" cy="4693593"/>
              </a:xfrm>
              <a:prstGeom prst="rect">
                <a:avLst/>
              </a:prstGeom>
              <a:blipFill>
                <a:blip r:embed="rId2"/>
                <a:stretch>
                  <a:fillRect l="-1001" r="-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60E6579-5E5C-4D51-979D-CFC33CA34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587" y="2474284"/>
            <a:ext cx="8791575" cy="800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7A70E3-2F23-44BA-A6C8-96E16F0D4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212" y="5122427"/>
            <a:ext cx="9124950" cy="695325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B1C2D96A-6DF3-42EF-92BB-976B6AF6371D}"/>
              </a:ext>
            </a:extLst>
          </p:cNvPr>
          <p:cNvSpPr txBox="1">
            <a:spLocks noChangeArrowheads="1"/>
          </p:cNvSpPr>
          <p:nvPr/>
        </p:nvSpPr>
        <p:spPr>
          <a:xfrm>
            <a:off x="2351088" y="0"/>
            <a:ext cx="7416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AR" altLang="en-US" sz="3200">
                <a:solidFill>
                  <a:srgbClr val="000000"/>
                </a:solidFill>
                <a:latin typeface="+mn-lt"/>
              </a:rPr>
              <a:t>Modelos de diferencias finitas para PDEs</a:t>
            </a:r>
            <a:endParaRPr lang="es-AR" altLang="en-US" sz="32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5855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060A47D-2E7E-4030-B2F2-5CD2C54613C4}"/>
                  </a:ext>
                </a:extLst>
              </p:cNvPr>
              <p:cNvSpPr/>
              <p:nvPr/>
            </p:nvSpPr>
            <p:spPr>
              <a:xfrm>
                <a:off x="1632155" y="959285"/>
                <a:ext cx="9134168" cy="50475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r>
                  <a:rPr lang="es-ES" sz="2300" dirty="0">
                    <a:solidFill>
                      <a:srgbClr val="4D4D4D"/>
                    </a:solidFill>
                  </a:rPr>
                  <a:t>La ecuación vale para </a:t>
                </a:r>
                <a14:m>
                  <m:oMath xmlns:m="http://schemas.openxmlformats.org/officeDocument/2006/math">
                    <m:r>
                      <a:rPr lang="es-ES" sz="230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30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s-ES" sz="230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30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s-ES" sz="2300" dirty="0" err="1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ES" sz="230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es-ES" sz="2300" dirty="0">
                    <a:solidFill>
                      <a:srgbClr val="4D4D4D"/>
                    </a:solidFill>
                  </a:rPr>
                  <a:t>y para </a:t>
                </a:r>
                <a14:m>
                  <m:oMath xmlns:m="http://schemas.openxmlformats.org/officeDocument/2006/math">
                    <m:r>
                      <a:rPr lang="es-ES" sz="230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30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30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30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300" dirty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" sz="2300" dirty="0">
                    <a:solidFill>
                      <a:srgbClr val="4D4D4D"/>
                    </a:solidFill>
                  </a:rPr>
                  <a:t>. </a:t>
                </a: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r>
                  <a:rPr lang="es-ES" sz="2300" dirty="0">
                    <a:solidFill>
                      <a:srgbClr val="4D4D4D"/>
                    </a:solidFill>
                  </a:rPr>
                  <a:t>En el caso de un </a:t>
                </a:r>
                <a:r>
                  <a:rPr lang="es-ES" sz="2300" i="1" dirty="0" err="1">
                    <a:solidFill>
                      <a:srgbClr val="4D4D4D"/>
                    </a:solidFill>
                  </a:rPr>
                  <a:t>Call</a:t>
                </a:r>
                <a:r>
                  <a:rPr lang="es-ES" sz="2300" i="1" dirty="0">
                    <a:solidFill>
                      <a:srgbClr val="4D4D4D"/>
                    </a:solidFill>
                  </a:rPr>
                  <a:t>, para</a:t>
                </a:r>
                <a:r>
                  <a:rPr lang="es-ES" sz="2300" dirty="0">
                    <a:solidFill>
                      <a:srgbClr val="4D4D4D"/>
                    </a:solidFill>
                  </a:rPr>
                  <a:t> 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30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300" dirty="0">
                    <a:solidFill>
                      <a:srgbClr val="4D4D4D"/>
                    </a:solidFill>
                  </a:rPr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2300" b="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AR" sz="2300" b="0" i="1" dirty="0" smtClean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s-ES" sz="2300" i="1" dirty="0" smtClean="0">
                        <a:solidFill>
                          <a:srgbClr val="4D4D4D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300" dirty="0">
                    <a:solidFill>
                      <a:srgbClr val="4D4D4D"/>
                    </a:solidFill>
                  </a:rPr>
                  <a:t>tenemos las condiciones de contorno </a:t>
                </a: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AR" sz="2300" b="0" i="1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300" b="0" i="1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AR" sz="2300" b="0" i="1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s-AR" sz="2300" b="0" i="1" smtClean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=0 ∀</m:t>
                      </m:r>
                      <m:r>
                        <a:rPr lang="es-AR" sz="2300" b="0" i="1" smtClean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AR" sz="2300" b="0" i="1" smtClean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 ;</m:t>
                      </m:r>
                      <m:sSubSup>
                        <m:sSubSupPr>
                          <m:ctrlPr>
                            <a:rPr lang="es-AR" sz="2300" i="1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AR" sz="2300" b="0" i="1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300" i="1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AR" sz="2300" b="0" i="1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s-AR" sz="2300" i="1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s-AR" sz="2300" i="1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2300" b="0" i="1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300" b="0" i="1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𝑀𝐴𝑋</m:t>
                          </m:r>
                        </m:sub>
                      </m:sSub>
                      <m:r>
                        <a:rPr lang="es-AR" sz="2300" i="1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 ∀</m:t>
                      </m:r>
                      <m:r>
                        <a:rPr lang="es-AR" sz="2300" i="1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AR" sz="2300" i="1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 ;</m:t>
                      </m:r>
                    </m:oMath>
                  </m:oMathPara>
                </a14:m>
                <a:endParaRPr lang="es-ES" sz="2300" dirty="0">
                  <a:solidFill>
                    <a:srgbClr val="4D4D4D"/>
                  </a:solidFill>
                </a:endParaRP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r>
                  <a:rPr lang="es-ES" sz="2300" dirty="0">
                    <a:solidFill>
                      <a:srgbClr val="4D4D4D"/>
                    </a:solidFill>
                  </a:rPr>
                  <a:t>Para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2300" i="1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300" i="1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s-AR" sz="2300" i="1" dirty="0">
                            <a:solidFill>
                              <a:srgbClr val="4D4D4D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sz="2300" dirty="0">
                    <a:solidFill>
                      <a:srgbClr val="4D4D4D"/>
                    </a:solidFill>
                  </a:rPr>
                  <a:t> </a:t>
                </a:r>
                <a:r>
                  <a:rPr lang="es-ES" sz="2300" dirty="0">
                    <a:solidFill>
                      <a:srgbClr val="4D4D4D"/>
                    </a:solidFill>
                  </a:rPr>
                  <a:t>tenemos el </a:t>
                </a:r>
                <a:r>
                  <a:rPr lang="es-ES" sz="2300" dirty="0" err="1">
                    <a:solidFill>
                      <a:srgbClr val="4D4D4D"/>
                    </a:solidFill>
                  </a:rPr>
                  <a:t>payoff</a:t>
                </a:r>
                <a:r>
                  <a:rPr lang="es-ES" sz="2300" dirty="0">
                    <a:solidFill>
                      <a:srgbClr val="4D4D4D"/>
                    </a:solidFill>
                  </a:rPr>
                  <a:t>. </a:t>
                </a: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AR" sz="2300" b="0" i="1" dirty="0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300" i="1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AR" sz="2300" b="0" i="1" dirty="0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s-AR" sz="2300" i="1" dirty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es-AR" sz="2300" b="0" i="1" dirty="0" smtClean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AR" sz="2300" b="0" i="1" dirty="0" smtClean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ctrlPr>
                            <a:rPr lang="es-AR" sz="2300" b="0" i="1" dirty="0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300" b="0" i="1" dirty="0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0, </m:t>
                          </m:r>
                          <m:sSub>
                            <m:sSubPr>
                              <m:ctrlPr>
                                <a:rPr lang="es-AR" sz="2300" b="0" i="1" dirty="0" smtClean="0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300" b="0" i="1" dirty="0" smtClean="0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AR" sz="2300" b="0" i="1" dirty="0" smtClean="0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AR" sz="2300" b="0" i="1" dirty="0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AR" sz="2300" b="0" i="1" dirty="0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s-AR" sz="2300" b="0" i="1" dirty="0" smtClean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2300" dirty="0">
                  <a:solidFill>
                    <a:srgbClr val="4D4D4D"/>
                  </a:solidFill>
                </a:endParaRPr>
              </a:p>
              <a:p>
                <a:endParaRPr lang="es-ES" sz="2300" dirty="0">
                  <a:solidFill>
                    <a:srgbClr val="4D4D4D"/>
                  </a:solidFill>
                </a:endParaRPr>
              </a:p>
              <a:p>
                <a:r>
                  <a:rPr lang="es-ES" sz="2300" dirty="0">
                    <a:solidFill>
                      <a:srgbClr val="4D4D4D"/>
                    </a:solidFill>
                  </a:rPr>
                  <a:t>El esquema propuesto es un esquema explicito, ya que sólo involucra variables conocidas, es decir, que al momento de invocarlas en el algoritmo ya tienen asignado un valor.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060A47D-2E7E-4030-B2F2-5CD2C54613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155" y="959285"/>
                <a:ext cx="9134168" cy="5047536"/>
              </a:xfrm>
              <a:prstGeom prst="rect">
                <a:avLst/>
              </a:prstGeom>
              <a:blipFill>
                <a:blip r:embed="rId2"/>
                <a:stretch>
                  <a:fillRect l="-1001" r="-1535" b="-1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>
            <a:extLst>
              <a:ext uri="{FF2B5EF4-FFF2-40B4-BE49-F238E27FC236}">
                <a16:creationId xmlns:a16="http://schemas.microsoft.com/office/drawing/2014/main" id="{B1C2D96A-6DF3-42EF-92BB-976B6AF6371D}"/>
              </a:ext>
            </a:extLst>
          </p:cNvPr>
          <p:cNvSpPr txBox="1">
            <a:spLocks noChangeArrowheads="1"/>
          </p:cNvSpPr>
          <p:nvPr/>
        </p:nvSpPr>
        <p:spPr>
          <a:xfrm>
            <a:off x="2351088" y="0"/>
            <a:ext cx="7416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AR" altLang="en-US" sz="3200" dirty="0">
                <a:solidFill>
                  <a:srgbClr val="000000"/>
                </a:solidFill>
                <a:latin typeface="+mn-lt"/>
              </a:rPr>
              <a:t>Modelos de diferencias finitas para </a:t>
            </a:r>
            <a:r>
              <a:rPr lang="es-AR" altLang="en-US" sz="3200" dirty="0" err="1">
                <a:solidFill>
                  <a:srgbClr val="000000"/>
                </a:solidFill>
                <a:latin typeface="+mn-lt"/>
              </a:rPr>
              <a:t>PDEs</a:t>
            </a:r>
            <a:endParaRPr lang="es-AR" altLang="en-US" sz="32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78471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EF00918-0B4E-4C30-B2BC-F319290E8015}"/>
                  </a:ext>
                </a:extLst>
              </p:cNvPr>
              <p:cNvSpPr/>
              <p:nvPr/>
            </p:nvSpPr>
            <p:spPr>
              <a:xfrm>
                <a:off x="182035" y="2089623"/>
                <a:ext cx="11867351" cy="39794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dirty="0" smtClean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ES" sz="1600" i="1" dirty="0" smtClean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1600" i="1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0" i="1" smtClean="0">
                                  <a:solidFill>
                                    <a:srgbClr val="4D4D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AR" sz="1600" b="0" i="1" smtClean="0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AR" sz="1600" b="0" i="1" smtClean="0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s-AR" sz="1600" b="0" i="1" smtClean="0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AR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s-AR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a:rPr lang="es-AR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s-AR" sz="1600" b="0" i="1" smtClean="0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AR" sz="1600" b="0" i="1" smtClean="0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  <m:r>
                                  <a:rPr lang="es-AR" sz="1600" b="0" i="1" smtClean="0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600" b="0" i="1" smtClean="0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1600" b="0" i="1" smtClean="0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  <m:d>
                                  <m:dPr>
                                    <m:ctrlPr>
                                      <a:rPr lang="es-AR" sz="1600" b="0" i="1" smtClean="0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s-AR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AR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s-AR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s-AR" sz="1600" b="0" i="1" smtClean="0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ctrlPr>
                                          <a:rPr lang="es-AR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AR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s-AR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AR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𝑑𝑖𝑣</m:t>
                                        </m:r>
                                      </m:e>
                                    </m:d>
                                    <m:r>
                                      <a:rPr lang="en-US" sz="1600" b="0" i="1" smtClean="0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s-ES" sz="1600" i="1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s-AR" sz="1600" b="0" i="1" smtClean="0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AR" sz="1600" b="0" i="1" smtClean="0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i="1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1600" i="1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  <m:d>
                                  <m:dPr>
                                    <m:ctrlPr>
                                      <a:rPr lang="es-AR" sz="1600" i="1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s-AR" sz="1600" b="0" i="1" smtClean="0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ctrlP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𝑑𝑖𝑣</m:t>
                                        </m:r>
                                      </m:e>
                                    </m:d>
                                    <m:r>
                                      <a:rPr lang="en-US" sz="1600" b="0" i="1" smtClean="0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s-AR" sz="1600" i="1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AR" sz="1600" i="1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s-AR" sz="1600" i="1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s-AR" sz="1600" i="1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AR" sz="1600" b="0" i="1" smtClean="0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  <m:r>
                                  <a:rPr lang="es-AR" sz="1600" b="0" i="1" smtClean="0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  <m:e>
                                <m:r>
                                  <a:rPr lang="es-ES" sz="1600" i="1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s-AR" sz="1600" b="0" i="1" smtClean="0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AR" sz="1600" b="0" i="1" smtClean="0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AR" sz="1600" i="1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s-AR" sz="1600" i="1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s-ES" sz="1600" i="1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s-AR" sz="1600" i="1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s-AR" sz="1600" i="1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s-AR" sz="1600" b="0" i="1" smtClean="0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AR" sz="1600" b="0" i="1" smtClean="0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1600" i="1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s-AR" sz="1600" i="1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AR" sz="1600" i="1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s-AR" sz="1600" i="1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−1)</m:t>
                                        </m:r>
                                      </m:e>
                                      <m:sup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s-AR" sz="1600" i="1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AR" sz="1600" i="1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  <m:r>
                                  <a:rPr lang="es-AR" sz="1600" i="1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i="1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1600" i="1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  <m:d>
                                  <m:dPr>
                                    <m:ctrlPr>
                                      <a:rPr lang="es-AR" sz="1600" i="1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p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s-AR" sz="1600" i="1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ctrlP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𝑑𝑖𝑣</m:t>
                                        </m:r>
                                      </m:e>
                                    </m:d>
                                    <m:r>
                                      <a:rPr lang="en-US" sz="1600" b="0" i="1" smtClean="0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s-AR" sz="1600" b="0" i="1" smtClean="0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AR" sz="1600" b="0" i="1" smtClean="0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1600" i="1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i="1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1600" i="1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  <m:d>
                                  <m:dPr>
                                    <m:ctrlPr>
                                      <a:rPr lang="es-AR" sz="1600" i="1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−1)</m:t>
                                        </m:r>
                                      </m:e>
                                      <m:sup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s-AR" sz="1600" b="0" i="1" smtClean="0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ctrlP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𝑑𝑖𝑣</m:t>
                                        </m:r>
                                      </m:e>
                                    </m:d>
                                    <m:r>
                                      <a:rPr lang="en-US" sz="1600" b="0" i="1" smtClean="0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−1) </m:t>
                                    </m:r>
                                  </m:e>
                                </m:d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s-AR" sz="1600" i="1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AR" sz="1600" i="1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s-AR" sz="1600" i="1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p>
                                        <m:r>
                                          <a:rPr lang="es-AR" sz="1600" i="1">
                                            <a:solidFill>
                                              <a:srgbClr val="4D4D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s-AR" sz="1600" i="1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AR" sz="1600" b="0" i="1" smtClean="0">
                                        <a:solidFill>
                                          <a:srgbClr val="4D4D4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  <m:r>
                                  <a:rPr lang="es-AR" sz="1600" b="0" i="1" smtClean="0">
                                    <a:solidFill>
                                      <a:srgbClr val="4D4D4D"/>
                                    </a:solidFill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1600" dirty="0">
                  <a:solidFill>
                    <a:srgbClr val="4D4D4D"/>
                  </a:solidFill>
                </a:endParaRPr>
              </a:p>
              <a:p>
                <a:endParaRPr lang="es-ES" dirty="0">
                  <a:solidFill>
                    <a:srgbClr val="4D4D4D"/>
                  </a:solidFill>
                </a:endParaRPr>
              </a:p>
              <a:p>
                <a:endParaRPr lang="es-ES" dirty="0">
                  <a:solidFill>
                    <a:srgbClr val="4D4D4D"/>
                  </a:solidFill>
                </a:endParaRPr>
              </a:p>
              <a:p>
                <a:endParaRPr lang="es-ES" dirty="0">
                  <a:solidFill>
                    <a:srgbClr val="4D4D4D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AR" b="0" i="1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b="0" i="1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s-AR" b="0" i="1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s-AR" b="0" i="1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s-AR" b="0" i="1" smtClean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b="0" i="1" smtClean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AR" b="0" i="1" smtClean="0">
                          <a:solidFill>
                            <a:srgbClr val="4D4D4D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s-AR" b="0" i="1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b="0" i="1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s-AR" b="0" i="1" smtClean="0">
                              <a:solidFill>
                                <a:srgbClr val="4D4D4D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s-ES" dirty="0">
                  <a:solidFill>
                    <a:srgbClr val="4D4D4D"/>
                  </a:solidFill>
                </a:endParaRPr>
              </a:p>
              <a:p>
                <a:endParaRPr lang="es-ES" dirty="0">
                  <a:solidFill>
                    <a:srgbClr val="4D4D4D"/>
                  </a:solidFill>
                </a:endParaRPr>
              </a:p>
              <a:p>
                <a:r>
                  <a:rPr lang="es-ES" sz="2300" dirty="0">
                    <a:solidFill>
                      <a:srgbClr val="4D4D4D"/>
                    </a:solidFill>
                  </a:rPr>
                  <a:t>Con el detalle de agregar las condiciones de contorno a la primera y ultima columna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EF00918-0B4E-4C30-B2BC-F319290E80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35" y="2089623"/>
                <a:ext cx="11867351" cy="3979487"/>
              </a:xfrm>
              <a:prstGeom prst="rect">
                <a:avLst/>
              </a:prstGeom>
              <a:blipFill>
                <a:blip r:embed="rId2"/>
                <a:stretch>
                  <a:fillRect l="-770" b="-24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F658ED5-8C40-4534-806C-5CE6E7007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026" y="1112490"/>
            <a:ext cx="912495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217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E6CBE2-4AA2-4A49-82CB-B03CD1B18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895" y="143060"/>
            <a:ext cx="8458200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67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3">
            <a:extLst>
              <a:ext uri="{FF2B5EF4-FFF2-40B4-BE49-F238E27FC236}">
                <a16:creationId xmlns:a16="http://schemas.microsoft.com/office/drawing/2014/main" id="{6C3AC5A9-0DB7-4C4D-8E0E-97D9BCED5890}"/>
              </a:ext>
            </a:extLst>
          </p:cNvPr>
          <p:cNvSpPr txBox="1">
            <a:spLocks noGrp="1"/>
          </p:cNvSpPr>
          <p:nvPr/>
        </p:nvSpPr>
        <p:spPr bwMode="auto">
          <a:xfrm>
            <a:off x="8534401" y="6553201"/>
            <a:ext cx="2132013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defTabSz="457200">
              <a:spcBef>
                <a:spcPct val="20000"/>
              </a:spcBef>
              <a:buClr>
                <a:schemeClr val="folHlink"/>
              </a:buClr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4D4D4D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4D4D4D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4D4D4D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Clr>
                <a:srgbClr val="4D4D4D"/>
              </a:buClr>
              <a:buFont typeface="Times New Roman" panose="02020603050405020304" pitchFamily="18" charset="0"/>
              <a:buNone/>
            </a:pPr>
            <a:fld id="{67709870-7819-45E1-BAEA-EE19D085AA13}" type="slidenum">
              <a:rPr lang="en-GB" altLang="en-US" sz="1400">
                <a:latin typeface="Times New Roman" panose="02020603050405020304" pitchFamily="18" charset="0"/>
                <a:cs typeface="Lucida Sans Unicode" panose="020B0602030504020204" pitchFamily="34" charset="0"/>
              </a:rPr>
              <a:pPr algn="r">
                <a:spcBef>
                  <a:spcPct val="0"/>
                </a:spcBef>
                <a:buClr>
                  <a:srgbClr val="4D4D4D"/>
                </a:buClr>
                <a:buFont typeface="Times New Roman" panose="02020603050405020304" pitchFamily="18" charset="0"/>
                <a:buNone/>
              </a:pPr>
              <a:t>20</a:t>
            </a:fld>
            <a:endParaRPr lang="en-GB" altLang="en-US" sz="1400" dirty="0"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8E244AEF-CE4E-435F-B0D8-447469519BB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38401" y="0"/>
            <a:ext cx="7381875" cy="1144588"/>
          </a:xfrm>
        </p:spPr>
        <p:txBody>
          <a:bodyPr vert="horz" lIns="90000" tIns="46800" rIns="90000" bIns="46800" rtlCol="0" anchor="ctr">
            <a:normAutofit/>
          </a:bodyPr>
          <a:lstStyle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3200" dirty="0" err="1">
                <a:solidFill>
                  <a:srgbClr val="000000"/>
                </a:solidFill>
              </a:rPr>
              <a:t>Algoritmo</a:t>
            </a:r>
            <a:r>
              <a:rPr lang="en-GB" altLang="en-US" sz="3200" dirty="0">
                <a:solidFill>
                  <a:srgbClr val="000000"/>
                </a:solidFill>
              </a:rPr>
              <a:t> </a:t>
            </a:r>
            <a:r>
              <a:rPr lang="en-GB" altLang="en-US" sz="3200" dirty="0" err="1">
                <a:solidFill>
                  <a:srgbClr val="000000"/>
                </a:solidFill>
              </a:rPr>
              <a:t>Diferencias</a:t>
            </a:r>
            <a:r>
              <a:rPr lang="en-GB" altLang="en-US" sz="3200" dirty="0">
                <a:solidFill>
                  <a:srgbClr val="000000"/>
                </a:solidFill>
              </a:rPr>
              <a:t> </a:t>
            </a:r>
            <a:r>
              <a:rPr lang="en-GB" altLang="en-US" sz="3200" dirty="0" err="1">
                <a:solidFill>
                  <a:srgbClr val="000000"/>
                </a:solidFill>
              </a:rPr>
              <a:t>Finitas</a:t>
            </a:r>
            <a:endParaRPr lang="en-GB" altLang="en-US" sz="3200" dirty="0">
              <a:solidFill>
                <a:srgbClr val="000000"/>
              </a:solidFill>
            </a:endParaRPr>
          </a:p>
        </p:txBody>
      </p:sp>
      <p:pic>
        <p:nvPicPr>
          <p:cNvPr id="5" name="Graphic 4" descr="Web design">
            <a:extLst>
              <a:ext uri="{FF2B5EF4-FFF2-40B4-BE49-F238E27FC236}">
                <a16:creationId xmlns:a16="http://schemas.microsoft.com/office/drawing/2014/main" id="{8A5E8D04-3D79-4772-8E76-D5BE332DD1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48328" y="230188"/>
            <a:ext cx="914400" cy="91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C71E0A-A73D-46FE-AE3A-CA3C1F0B2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5951" y="1781175"/>
            <a:ext cx="7934325" cy="2609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588FFF-75FA-4D20-A902-4DA5932DC8CA}"/>
              </a:ext>
            </a:extLst>
          </p:cNvPr>
          <p:cNvSpPr txBox="1"/>
          <p:nvPr/>
        </p:nvSpPr>
        <p:spPr>
          <a:xfrm>
            <a:off x="1372589" y="5027612"/>
            <a:ext cx="8981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4D4D4D"/>
                </a:solidFill>
              </a:rPr>
              <a:t>También esta la implementación en el caso Americano (misma lógica que en el Binomial)</a:t>
            </a:r>
            <a:endParaRPr lang="es-ES" sz="1800" dirty="0">
              <a:solidFill>
                <a:srgbClr val="4D4D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67768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66B07C-7EAA-4A1F-AB0B-527DC3D09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804" y="3939887"/>
            <a:ext cx="7972425" cy="1638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BAD3CB-27B2-43EF-998B-DE03B9D46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355" y="1838325"/>
            <a:ext cx="6791325" cy="15906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856C8E20-2A53-4248-AF51-8E85333D4081}"/>
              </a:ext>
            </a:extLst>
          </p:cNvPr>
          <p:cNvSpPr txBox="1">
            <a:spLocks noChangeArrowheads="1"/>
          </p:cNvSpPr>
          <p:nvPr/>
        </p:nvSpPr>
        <p:spPr>
          <a:xfrm>
            <a:off x="2351088" y="0"/>
            <a:ext cx="7416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AR" altLang="en-US" sz="3200" dirty="0">
                <a:solidFill>
                  <a:srgbClr val="000000"/>
                </a:solidFill>
                <a:latin typeface="+mn-lt"/>
              </a:rPr>
              <a:t>Comparativa de modelos vistos</a:t>
            </a:r>
          </a:p>
        </p:txBody>
      </p:sp>
      <p:pic>
        <p:nvPicPr>
          <p:cNvPr id="9" name="Graphic 8" descr="Web design">
            <a:extLst>
              <a:ext uri="{FF2B5EF4-FFF2-40B4-BE49-F238E27FC236}">
                <a16:creationId xmlns:a16="http://schemas.microsoft.com/office/drawing/2014/main" id="{963DCA51-3C35-43A8-9EC5-A5DF14995E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48328" y="23018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29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342384-9C30-4B90-B10B-45037CED2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591" y="3837421"/>
            <a:ext cx="6953250" cy="15716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6AF661-A15F-407F-8552-BC6E20793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023" y="1468005"/>
            <a:ext cx="7677150" cy="15525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3F6812D7-CB79-4293-A19A-5CE4F834A8EF}"/>
              </a:ext>
            </a:extLst>
          </p:cNvPr>
          <p:cNvSpPr txBox="1">
            <a:spLocks noChangeArrowheads="1"/>
          </p:cNvSpPr>
          <p:nvPr/>
        </p:nvSpPr>
        <p:spPr>
          <a:xfrm>
            <a:off x="2351088" y="0"/>
            <a:ext cx="7416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AR" altLang="en-US" sz="3200" dirty="0">
                <a:solidFill>
                  <a:srgbClr val="000000"/>
                </a:solidFill>
                <a:latin typeface="+mn-lt"/>
              </a:rPr>
              <a:t>Comparativa de modelos vistos</a:t>
            </a:r>
          </a:p>
        </p:txBody>
      </p:sp>
    </p:spTree>
    <p:extLst>
      <p:ext uri="{BB962C8B-B14F-4D97-AF65-F5344CB8AC3E}">
        <p14:creationId xmlns:p14="http://schemas.microsoft.com/office/powerpoint/2010/main" val="192355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233" y="76200"/>
            <a:ext cx="7772400" cy="914400"/>
          </a:xfrm>
        </p:spPr>
        <p:txBody>
          <a:bodyPr/>
          <a:lstStyle/>
          <a:p>
            <a:r>
              <a:rPr lang="en-US" altLang="en-US" sz="3200" dirty="0" err="1">
                <a:solidFill>
                  <a:srgbClr val="000000"/>
                </a:solidFill>
              </a:rPr>
              <a:t>QuantLib</a:t>
            </a:r>
            <a:r>
              <a:rPr lang="en-US" altLang="en-US" sz="3200" dirty="0">
                <a:solidFill>
                  <a:srgbClr val="000000"/>
                </a:solidFill>
              </a:rPr>
              <a:t> (1/2)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1999C43-9F1A-42C4-850A-B864BEC2C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70029" y="1281690"/>
            <a:ext cx="8153967" cy="5243654"/>
          </a:xfrm>
        </p:spPr>
        <p:txBody>
          <a:bodyPr>
            <a:noAutofit/>
          </a:bodyPr>
          <a:lstStyle/>
          <a:p>
            <a:pPr marL="0" indent="0">
              <a:buClr>
                <a:schemeClr val="tx1"/>
              </a:buClr>
              <a:buSzPct val="150000"/>
              <a:buNone/>
            </a:pPr>
            <a:r>
              <a:rPr lang="es-ES" altLang="en-US" sz="1800" dirty="0">
                <a:solidFill>
                  <a:srgbClr val="000000"/>
                </a:solidFill>
              </a:rPr>
              <a:t>Por mi tema de trabajo de </a:t>
            </a:r>
            <a:r>
              <a:rPr lang="es-ES" altLang="en-US" sz="1800" dirty="0" err="1">
                <a:solidFill>
                  <a:srgbClr val="000000"/>
                </a:solidFill>
              </a:rPr>
              <a:t>analisita</a:t>
            </a:r>
            <a:r>
              <a:rPr lang="es-ES" altLang="en-US" sz="1800" dirty="0">
                <a:solidFill>
                  <a:srgbClr val="000000"/>
                </a:solidFill>
              </a:rPr>
              <a:t> cuantitativo para bancos de inversión de EEUU, me tope varias veces con </a:t>
            </a:r>
            <a:r>
              <a:rPr lang="es-ES" altLang="en-US" sz="1800" dirty="0" err="1">
                <a:solidFill>
                  <a:srgbClr val="000000"/>
                </a:solidFill>
              </a:rPr>
              <a:t>quantlib</a:t>
            </a:r>
            <a:r>
              <a:rPr lang="es-ES" altLang="en-US" sz="1800" dirty="0">
                <a:solidFill>
                  <a:srgbClr val="000000"/>
                </a:solidFill>
              </a:rPr>
              <a:t> quantlib.org</a:t>
            </a:r>
          </a:p>
          <a:p>
            <a:pPr marL="0" indent="0">
              <a:buClr>
                <a:schemeClr val="tx1"/>
              </a:buClr>
              <a:buSzPct val="150000"/>
              <a:buNone/>
            </a:pPr>
            <a:endParaRPr lang="es-ES" altLang="en-US" sz="1800" dirty="0">
              <a:solidFill>
                <a:srgbClr val="000000"/>
              </a:solidFill>
            </a:endParaRPr>
          </a:p>
          <a:p>
            <a:pPr marL="0" indent="0">
              <a:buClr>
                <a:schemeClr val="tx1"/>
              </a:buClr>
              <a:buSzPct val="150000"/>
              <a:buNone/>
            </a:pPr>
            <a:r>
              <a:rPr lang="es-ES" altLang="en-US" sz="1800" dirty="0" err="1">
                <a:solidFill>
                  <a:srgbClr val="000000"/>
                </a:solidFill>
              </a:rPr>
              <a:t>QuantLib</a:t>
            </a:r>
            <a:r>
              <a:rPr lang="es-ES" altLang="en-US" sz="1800" dirty="0">
                <a:solidFill>
                  <a:srgbClr val="000000"/>
                </a:solidFill>
              </a:rPr>
              <a:t> es una </a:t>
            </a:r>
            <a:r>
              <a:rPr lang="es-ES" altLang="en-US" sz="1800" dirty="0" err="1">
                <a:solidFill>
                  <a:srgbClr val="000000"/>
                </a:solidFill>
              </a:rPr>
              <a:t>libreria</a:t>
            </a:r>
            <a:r>
              <a:rPr lang="es-ES" altLang="en-US" sz="1800" dirty="0">
                <a:solidFill>
                  <a:srgbClr val="000000"/>
                </a:solidFill>
              </a:rPr>
              <a:t> de finanzas cuantitativas </a:t>
            </a:r>
            <a:r>
              <a:rPr lang="es-ES" altLang="en-US" sz="1800" dirty="0" err="1">
                <a:solidFill>
                  <a:srgbClr val="000000"/>
                </a:solidFill>
              </a:rPr>
              <a:t>OpenSource</a:t>
            </a:r>
            <a:r>
              <a:rPr lang="es-ES" altLang="en-US" sz="1800" dirty="0">
                <a:solidFill>
                  <a:srgbClr val="000000"/>
                </a:solidFill>
              </a:rPr>
              <a:t>. Esta escrita en C++, puramente orientada a objetos. Existen </a:t>
            </a:r>
            <a:r>
              <a:rPr lang="es-ES" altLang="en-US" sz="1800" dirty="0" err="1">
                <a:solidFill>
                  <a:srgbClr val="000000"/>
                </a:solidFill>
              </a:rPr>
              <a:t>wrappers</a:t>
            </a:r>
            <a:r>
              <a:rPr lang="es-ES" altLang="en-US" sz="1800" dirty="0">
                <a:solidFill>
                  <a:srgbClr val="000000"/>
                </a:solidFill>
              </a:rPr>
              <a:t> en otros lenguajes como:</a:t>
            </a:r>
          </a:p>
          <a:p>
            <a:pPr marL="0" indent="0">
              <a:buClr>
                <a:schemeClr val="tx1"/>
              </a:buClr>
              <a:buSzPct val="150000"/>
              <a:buNone/>
            </a:pPr>
            <a:endParaRPr lang="es-ES" altLang="en-US" sz="1800" dirty="0">
              <a:solidFill>
                <a:srgbClr val="000000"/>
              </a:solidFill>
            </a:endParaRPr>
          </a:p>
          <a:p>
            <a:pPr marL="0" indent="0">
              <a:buClr>
                <a:schemeClr val="tx1"/>
              </a:buClr>
              <a:buSzPct val="150000"/>
              <a:buNone/>
            </a:pPr>
            <a:r>
              <a:rPr lang="es-ES" altLang="en-US" sz="1800" dirty="0">
                <a:solidFill>
                  <a:srgbClr val="000000"/>
                </a:solidFill>
              </a:rPr>
              <a:t>Python: quantlib-python-docs.readthedocs.io</a:t>
            </a:r>
          </a:p>
          <a:p>
            <a:pPr marL="0" indent="0">
              <a:buClr>
                <a:schemeClr val="tx1"/>
              </a:buClr>
              <a:buSzPct val="150000"/>
              <a:buNone/>
            </a:pPr>
            <a:r>
              <a:rPr lang="es-ES" altLang="en-US" sz="1800" dirty="0">
                <a:solidFill>
                  <a:srgbClr val="000000"/>
                </a:solidFill>
              </a:rPr>
              <a:t>R: cran.r-project.org/web/</a:t>
            </a:r>
            <a:r>
              <a:rPr lang="es-ES" altLang="en-US" sz="1800" dirty="0" err="1">
                <a:solidFill>
                  <a:srgbClr val="000000"/>
                </a:solidFill>
              </a:rPr>
              <a:t>packages</a:t>
            </a:r>
            <a:r>
              <a:rPr lang="es-ES" altLang="en-US" sz="1800" dirty="0">
                <a:solidFill>
                  <a:srgbClr val="000000"/>
                </a:solidFill>
              </a:rPr>
              <a:t>/</a:t>
            </a:r>
            <a:r>
              <a:rPr lang="es-ES" altLang="en-US" sz="1800" dirty="0" err="1">
                <a:solidFill>
                  <a:srgbClr val="000000"/>
                </a:solidFill>
              </a:rPr>
              <a:t>RQuantLib</a:t>
            </a:r>
            <a:endParaRPr lang="es-ES" altLang="en-US" sz="1800" dirty="0">
              <a:solidFill>
                <a:srgbClr val="000000"/>
              </a:solidFill>
            </a:endParaRPr>
          </a:p>
          <a:p>
            <a:pPr marL="0" indent="0">
              <a:buClr>
                <a:schemeClr val="tx1"/>
              </a:buClr>
              <a:buSzPct val="150000"/>
              <a:buNone/>
            </a:pPr>
            <a:r>
              <a:rPr lang="es-ES" altLang="en-US" sz="1800" dirty="0">
                <a:solidFill>
                  <a:srgbClr val="000000"/>
                </a:solidFill>
              </a:rPr>
              <a:t>Excel: quantlib.org/</a:t>
            </a:r>
            <a:r>
              <a:rPr lang="es-ES" altLang="en-US" sz="1800" dirty="0" err="1">
                <a:solidFill>
                  <a:srgbClr val="000000"/>
                </a:solidFill>
              </a:rPr>
              <a:t>quantlibxl</a:t>
            </a:r>
            <a:r>
              <a:rPr lang="es-ES" altLang="en-US" sz="1800" dirty="0">
                <a:solidFill>
                  <a:srgbClr val="000000"/>
                </a:solidFill>
              </a:rPr>
              <a:t>/</a:t>
            </a:r>
          </a:p>
          <a:p>
            <a:pPr marL="0" indent="0">
              <a:buClr>
                <a:schemeClr val="tx1"/>
              </a:buClr>
              <a:buSzPct val="150000"/>
              <a:buNone/>
            </a:pPr>
            <a:r>
              <a:rPr lang="es-ES" altLang="en-US" sz="1800" dirty="0">
                <a:solidFill>
                  <a:srgbClr val="000000"/>
                </a:solidFill>
              </a:rPr>
              <a:t>Cabe aclarar que la versión mas completa es la de C++, dado que muchas veces pasa tiempo hasta que se adaptan a los otros lenguajes, y algunos módulos directamente se dejan de lado y no se adaptan. Se usa tanto en la industria como en la academia.</a:t>
            </a:r>
          </a:p>
        </p:txBody>
      </p:sp>
    </p:spTree>
    <p:extLst>
      <p:ext uri="{BB962C8B-B14F-4D97-AF65-F5344CB8AC3E}">
        <p14:creationId xmlns:p14="http://schemas.microsoft.com/office/powerpoint/2010/main" val="211037054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5C5FB-722D-4AA8-8F1E-7C24ADE7C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Clr>
                <a:schemeClr val="tx1"/>
              </a:buClr>
              <a:buSzPct val="150000"/>
              <a:buNone/>
            </a:pPr>
            <a:endParaRPr lang="es-ES" altLang="en-US" sz="2800" dirty="0">
              <a:solidFill>
                <a:srgbClr val="000000"/>
              </a:solidFill>
            </a:endParaRPr>
          </a:p>
          <a:p>
            <a:pPr marL="0" indent="0">
              <a:buClr>
                <a:schemeClr val="tx1"/>
              </a:buClr>
              <a:buSzPct val="150000"/>
              <a:buNone/>
            </a:pPr>
            <a:r>
              <a:rPr lang="es-ES" altLang="en-US" sz="2800" dirty="0">
                <a:solidFill>
                  <a:srgbClr val="000000"/>
                </a:solidFill>
              </a:rPr>
              <a:t>Esta orientada </a:t>
            </a:r>
            <a:r>
              <a:rPr lang="es-ES" altLang="en-US" sz="2800" dirty="0" err="1">
                <a:solidFill>
                  <a:srgbClr val="000000"/>
                </a:solidFill>
              </a:rPr>
              <a:t>orientada</a:t>
            </a:r>
            <a:r>
              <a:rPr lang="es-ES" altLang="en-US" sz="2800" dirty="0">
                <a:solidFill>
                  <a:srgbClr val="000000"/>
                </a:solidFill>
              </a:rPr>
              <a:t> mas a los </a:t>
            </a:r>
            <a:r>
              <a:rPr lang="es-ES" altLang="en-US" sz="2800" dirty="0" err="1">
                <a:solidFill>
                  <a:srgbClr val="000000"/>
                </a:solidFill>
              </a:rPr>
              <a:t>Quants</a:t>
            </a:r>
            <a:r>
              <a:rPr lang="es-ES" altLang="en-US" sz="2800" dirty="0">
                <a:solidFill>
                  <a:srgbClr val="000000"/>
                </a:solidFill>
              </a:rPr>
              <a:t> Q que a los </a:t>
            </a:r>
            <a:r>
              <a:rPr lang="es-ES" altLang="en-US" sz="2800" dirty="0" err="1">
                <a:solidFill>
                  <a:srgbClr val="000000"/>
                </a:solidFill>
              </a:rPr>
              <a:t>Quant</a:t>
            </a:r>
            <a:r>
              <a:rPr lang="es-ES" altLang="en-US" sz="2800" dirty="0">
                <a:solidFill>
                  <a:srgbClr val="000000"/>
                </a:solidFill>
              </a:rPr>
              <a:t> P, según la ‘nomenclatura de Meucci’</a:t>
            </a:r>
          </a:p>
          <a:p>
            <a:pPr marL="0" indent="0">
              <a:buClr>
                <a:schemeClr val="tx1"/>
              </a:buClr>
              <a:buSzPct val="150000"/>
              <a:buNone/>
            </a:pPr>
            <a:endParaRPr lang="es-ES" altLang="en-US" sz="2800" dirty="0">
              <a:solidFill>
                <a:srgbClr val="000000"/>
              </a:solidFill>
            </a:endParaRPr>
          </a:p>
          <a:p>
            <a:pPr marL="0" indent="0">
              <a:buClr>
                <a:schemeClr val="tx1"/>
              </a:buClr>
              <a:buSzPct val="150000"/>
              <a:buNone/>
            </a:pPr>
            <a:r>
              <a:rPr lang="es-ES" altLang="en-US" sz="2800" dirty="0">
                <a:solidFill>
                  <a:srgbClr val="000000"/>
                </a:solidFill>
              </a:rPr>
              <a:t>http://talus.maths.usyd.edu.au/u/UG/SM/MATH3075/r/Meucci_2011.pdf</a:t>
            </a:r>
          </a:p>
          <a:p>
            <a:pPr marL="0" indent="0">
              <a:buClr>
                <a:schemeClr val="tx1"/>
              </a:buClr>
              <a:buSzPct val="150000"/>
              <a:buNone/>
            </a:pPr>
            <a:endParaRPr lang="es-ES" altLang="en-US" sz="2800" dirty="0">
              <a:solidFill>
                <a:srgbClr val="000000"/>
              </a:solidFill>
            </a:endParaRPr>
          </a:p>
          <a:p>
            <a:pPr marL="0" indent="0">
              <a:buClr>
                <a:schemeClr val="tx1"/>
              </a:buClr>
              <a:buSzPct val="150000"/>
              <a:buNone/>
            </a:pPr>
            <a:r>
              <a:rPr lang="es-ES" altLang="en-US" sz="2800" dirty="0">
                <a:solidFill>
                  <a:srgbClr val="000000"/>
                </a:solidFill>
              </a:rPr>
              <a:t>Con esto quiero decir que no es una librería de herramientas centradas en la estadística, sino en la probabilidad.</a:t>
            </a:r>
          </a:p>
          <a:p>
            <a:pPr marL="0" indent="0">
              <a:buClr>
                <a:schemeClr val="tx1"/>
              </a:buClr>
              <a:buSzPct val="150000"/>
              <a:buNone/>
            </a:pPr>
            <a:endParaRPr lang="es-ES" altLang="en-US" sz="2800" dirty="0">
              <a:solidFill>
                <a:srgbClr val="000000"/>
              </a:solidFill>
            </a:endParaRPr>
          </a:p>
          <a:p>
            <a:pPr marL="0" indent="0">
              <a:buClr>
                <a:schemeClr val="tx1"/>
              </a:buClr>
              <a:buSzPct val="150000"/>
              <a:buNone/>
            </a:pPr>
            <a:r>
              <a:rPr lang="es-ES" altLang="en-US" sz="2800" dirty="0">
                <a:solidFill>
                  <a:srgbClr val="000000"/>
                </a:solidFill>
              </a:rPr>
              <a:t>Uno de los objetivos fue armar una comunidad de desarrolladores </a:t>
            </a:r>
            <a:r>
              <a:rPr lang="es-ES" altLang="en-US" sz="2800" dirty="0" err="1">
                <a:solidFill>
                  <a:srgbClr val="000000"/>
                </a:solidFill>
              </a:rPr>
              <a:t>quant</a:t>
            </a:r>
            <a:r>
              <a:rPr lang="es-ES" altLang="en-US" sz="2800" dirty="0">
                <a:solidFill>
                  <a:srgbClr val="000000"/>
                </a:solidFill>
              </a:rPr>
              <a:t> y un código común, validado y testeado para evitar que los </a:t>
            </a:r>
            <a:r>
              <a:rPr lang="es-ES" altLang="en-US" sz="2800" dirty="0" err="1">
                <a:solidFill>
                  <a:srgbClr val="000000"/>
                </a:solidFill>
              </a:rPr>
              <a:t>quants</a:t>
            </a:r>
            <a:r>
              <a:rPr lang="es-ES" altLang="en-US" sz="2800" dirty="0">
                <a:solidFill>
                  <a:srgbClr val="000000"/>
                </a:solidFill>
              </a:rPr>
              <a:t> (cito) ‘reinventen la rueda’ cada vez que se disponían a armar las librerías numéricas en sus respectivos trabajos.</a:t>
            </a:r>
          </a:p>
          <a:p>
            <a:pPr marL="0" indent="0">
              <a:buClr>
                <a:schemeClr val="tx1"/>
              </a:buClr>
              <a:buSzPct val="150000"/>
              <a:buNone/>
            </a:pPr>
            <a:endParaRPr lang="es-ES" altLang="en-US" sz="2800" dirty="0">
              <a:solidFill>
                <a:srgbClr val="000000"/>
              </a:solidFill>
            </a:endParaRPr>
          </a:p>
          <a:p>
            <a:pPr marL="0" indent="0">
              <a:buClr>
                <a:schemeClr val="tx1"/>
              </a:buClr>
              <a:buSzPct val="150000"/>
              <a:buNone/>
            </a:pPr>
            <a:r>
              <a:rPr lang="es-ES" altLang="en-US" sz="2800" dirty="0">
                <a:solidFill>
                  <a:srgbClr val="000000"/>
                </a:solidFill>
              </a:rPr>
              <a:t>Es una excelente puerta de entrada a como funciona una verdadera librería(OOP) de </a:t>
            </a:r>
            <a:r>
              <a:rPr lang="es-ES" altLang="en-US" sz="2800" dirty="0" err="1">
                <a:solidFill>
                  <a:srgbClr val="000000"/>
                </a:solidFill>
              </a:rPr>
              <a:t>pricing</a:t>
            </a:r>
            <a:r>
              <a:rPr lang="es-ES" altLang="en-US" sz="2800" dirty="0">
                <a:solidFill>
                  <a:srgbClr val="000000"/>
                </a:solidFill>
              </a:rPr>
              <a:t>/riesgo en un banco de inversión, o en un fondo cuantitativo. Resuelve de manera sencilla grandes dolores de cabeza como convenciones de ‘</a:t>
            </a:r>
            <a:r>
              <a:rPr lang="es-ES" altLang="en-US" sz="2800" dirty="0" err="1">
                <a:solidFill>
                  <a:srgbClr val="000000"/>
                </a:solidFill>
              </a:rPr>
              <a:t>daycount</a:t>
            </a:r>
            <a:r>
              <a:rPr lang="es-ES" altLang="en-US" sz="2800" dirty="0">
                <a:solidFill>
                  <a:srgbClr val="000000"/>
                </a:solidFill>
              </a:rPr>
              <a:t>’, calendarios de diferentes mercados, etc. Personalmente lo use mas que nada de referencia, comparativa, de </a:t>
            </a:r>
            <a:r>
              <a:rPr lang="es-ES" altLang="en-US" sz="2800" dirty="0" err="1">
                <a:solidFill>
                  <a:srgbClr val="000000"/>
                </a:solidFill>
              </a:rPr>
              <a:t>benchmark</a:t>
            </a:r>
            <a:r>
              <a:rPr lang="es-ES" altLang="en-US" sz="2800" dirty="0">
                <a:solidFill>
                  <a:srgbClr val="000000"/>
                </a:solidFill>
              </a:rPr>
              <a:t> y a modo de ‘juego’. Pero tranquilamente se puede montar uno en </a:t>
            </a:r>
            <a:r>
              <a:rPr lang="es-ES" altLang="en-US" sz="2800" dirty="0" err="1">
                <a:solidFill>
                  <a:srgbClr val="000000"/>
                </a:solidFill>
              </a:rPr>
              <a:t>Quantlib</a:t>
            </a:r>
            <a:r>
              <a:rPr lang="es-ES" altLang="en-US" sz="2800" dirty="0">
                <a:solidFill>
                  <a:srgbClr val="000000"/>
                </a:solidFill>
              </a:rPr>
              <a:t> para tener una librería robusta de </a:t>
            </a:r>
            <a:r>
              <a:rPr lang="es-ES" altLang="en-US" sz="2800" dirty="0" err="1">
                <a:solidFill>
                  <a:srgbClr val="000000"/>
                </a:solidFill>
              </a:rPr>
              <a:t>pricing</a:t>
            </a:r>
            <a:r>
              <a:rPr lang="es-ES" altLang="en-US" sz="2800" dirty="0">
                <a:solidFill>
                  <a:srgbClr val="000000"/>
                </a:solidFill>
              </a:rPr>
              <a:t> y riesgo.</a:t>
            </a:r>
          </a:p>
          <a:p>
            <a:pPr marL="0" indent="0">
              <a:buClr>
                <a:schemeClr val="tx1"/>
              </a:buClr>
              <a:buSzPct val="150000"/>
              <a:buNone/>
            </a:pPr>
            <a:endParaRPr lang="es-ES" altLang="en-US" dirty="0">
              <a:solidFill>
                <a:srgbClr val="000000"/>
              </a:solidFill>
            </a:endParaRPr>
          </a:p>
          <a:p>
            <a:pPr marL="0" indent="0">
              <a:buClr>
                <a:schemeClr val="tx1"/>
              </a:buClr>
              <a:buSzPct val="150000"/>
              <a:buNone/>
            </a:pPr>
            <a:r>
              <a:rPr lang="es-ES" altLang="en-US" sz="2800" dirty="0">
                <a:solidFill>
                  <a:srgbClr val="000000"/>
                </a:solidFill>
              </a:rPr>
              <a:t>Veremos una demo y les voy a dejar una serie de notebooks. </a:t>
            </a:r>
            <a:r>
              <a:rPr lang="es-ES" altLang="en-US" sz="2800" b="1" dirty="0">
                <a:solidFill>
                  <a:srgbClr val="000000"/>
                </a:solidFill>
              </a:rPr>
              <a:t>Les hiper recomiendo explorarla.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2361F4-9BCE-488B-9178-7C015E02EE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9720" y="730170"/>
            <a:ext cx="7772400" cy="914400"/>
          </a:xfrm>
        </p:spPr>
        <p:txBody>
          <a:bodyPr/>
          <a:lstStyle/>
          <a:p>
            <a:r>
              <a:rPr lang="en-US" altLang="en-US" sz="3200" dirty="0" err="1">
                <a:solidFill>
                  <a:srgbClr val="000000"/>
                </a:solidFill>
              </a:rPr>
              <a:t>QuantLib</a:t>
            </a:r>
            <a:r>
              <a:rPr lang="en-US" altLang="en-US" sz="3200" dirty="0">
                <a:solidFill>
                  <a:srgbClr val="000000"/>
                </a:solidFill>
              </a:rPr>
              <a:t> (2/2)</a:t>
            </a:r>
          </a:p>
        </p:txBody>
      </p:sp>
    </p:spTree>
    <p:extLst>
      <p:ext uri="{BB962C8B-B14F-4D97-AF65-F5344CB8AC3E}">
        <p14:creationId xmlns:p14="http://schemas.microsoft.com/office/powerpoint/2010/main" val="1455765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F8EB-E384-48E0-AA40-8E3741CD8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Disparadores</a:t>
            </a:r>
            <a:r>
              <a:rPr lang="en-US" dirty="0"/>
              <a:t> para </a:t>
            </a:r>
            <a:r>
              <a:rPr lang="en-US" dirty="0" err="1"/>
              <a:t>ejercicios</a:t>
            </a:r>
            <a:r>
              <a:rPr lang="en-US" dirty="0"/>
              <a:t>, o TPs… (1/2)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6F7940-5905-4125-A2C0-6DE9248F8C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buFontTx/>
                  <a:buChar char="-"/>
                </a:pPr>
                <a:r>
                  <a:rPr lang="es-AR" dirty="0"/>
                  <a:t>Market data de paginas/</a:t>
                </a:r>
                <a:r>
                  <a:rPr lang="es-AR" dirty="0" err="1"/>
                  <a:t>brokers</a:t>
                </a:r>
                <a:r>
                  <a:rPr lang="es-AR" dirty="0"/>
                  <a:t> que no hayamos trabajado:</a:t>
                </a:r>
              </a:p>
              <a:p>
                <a:pPr lvl="1">
                  <a:buFontTx/>
                  <a:buChar char="-"/>
                </a:pPr>
                <a:r>
                  <a:rPr lang="es-AR" dirty="0"/>
                  <a:t>TD </a:t>
                </a:r>
                <a:r>
                  <a:rPr lang="es-AR" dirty="0" err="1"/>
                  <a:t>Ameritrade</a:t>
                </a:r>
                <a:r>
                  <a:rPr lang="es-AR" dirty="0"/>
                  <a:t> / IBKR</a:t>
                </a:r>
              </a:p>
              <a:p>
                <a:pPr lvl="1">
                  <a:buFontTx/>
                  <a:buChar char="-"/>
                </a:pPr>
                <a:r>
                  <a:rPr lang="es-AR" dirty="0"/>
                  <a:t>Invertir online?</a:t>
                </a:r>
              </a:p>
              <a:p>
                <a:pPr lvl="1">
                  <a:buFontTx/>
                  <a:buChar char="-"/>
                </a:pPr>
                <a:r>
                  <a:rPr lang="es-AR" dirty="0" err="1"/>
                  <a:t>Rofex</a:t>
                </a:r>
                <a:endParaRPr lang="es-AR" dirty="0"/>
              </a:p>
              <a:p>
                <a:pPr lvl="1">
                  <a:buFontTx/>
                  <a:buChar char="-"/>
                </a:pPr>
                <a:r>
                  <a:rPr lang="es-AR" dirty="0"/>
                  <a:t>Pagina de BYMA</a:t>
                </a:r>
              </a:p>
              <a:p>
                <a:pPr lvl="1">
                  <a:buFontTx/>
                  <a:buChar char="-"/>
                </a:pPr>
                <a:r>
                  <a:rPr lang="es-AR" dirty="0"/>
                  <a:t>…</a:t>
                </a:r>
              </a:p>
              <a:p>
                <a:pPr>
                  <a:buFontTx/>
                  <a:buChar char="-"/>
                </a:pPr>
                <a:r>
                  <a:rPr lang="en-US" dirty="0" err="1"/>
                  <a:t>Estudiar</a:t>
                </a:r>
                <a:r>
                  <a:rPr lang="en-US" dirty="0"/>
                  <a:t> </a:t>
                </a:r>
                <a:r>
                  <a:rPr lang="en-US" dirty="0" err="1"/>
                  <a:t>modelos</a:t>
                </a:r>
                <a:r>
                  <a:rPr lang="en-US" dirty="0"/>
                  <a:t> de </a:t>
                </a:r>
                <a:r>
                  <a:rPr lang="en-US" dirty="0" err="1"/>
                  <a:t>tasas</a:t>
                </a:r>
                <a:r>
                  <a:rPr lang="en-US" dirty="0"/>
                  <a:t> de </a:t>
                </a:r>
                <a:r>
                  <a:rPr lang="en-US" dirty="0" err="1"/>
                  <a:t>curvas</a:t>
                </a:r>
                <a:r>
                  <a:rPr lang="en-US" dirty="0"/>
                  <a:t> para </a:t>
                </a:r>
                <a:r>
                  <a:rPr lang="en-US" dirty="0" err="1"/>
                  <a:t>el</a:t>
                </a:r>
                <a:r>
                  <a:rPr lang="en-US" dirty="0"/>
                  <a:t> mercado </a:t>
                </a:r>
                <a:r>
                  <a:rPr lang="en-US" dirty="0" err="1"/>
                  <a:t>correpsondiente</a:t>
                </a:r>
                <a:r>
                  <a:rPr lang="en-US" dirty="0"/>
                  <a:t> e </a:t>
                </a:r>
                <a:r>
                  <a:rPr lang="en-US" dirty="0" err="1"/>
                  <a:t>incorporar</a:t>
                </a:r>
                <a:r>
                  <a:rPr lang="en-US" dirty="0"/>
                  <a:t> a los </a:t>
                </a:r>
                <a:r>
                  <a:rPr lang="en-US" dirty="0" err="1"/>
                  <a:t>modelos</a:t>
                </a:r>
                <a:r>
                  <a:rPr lang="en-US" dirty="0"/>
                  <a:t>. (idem </a:t>
                </a:r>
                <a:r>
                  <a:rPr lang="en-US" dirty="0" err="1"/>
                  <a:t>dividendos</a:t>
                </a:r>
                <a:r>
                  <a:rPr lang="en-US" dirty="0"/>
                  <a:t>)</a:t>
                </a:r>
              </a:p>
              <a:p>
                <a:pPr>
                  <a:buFontTx/>
                  <a:buChar char="-"/>
                </a:pPr>
                <a:endParaRPr lang="en-US" dirty="0"/>
              </a:p>
              <a:p>
                <a:pPr>
                  <a:buFontTx/>
                  <a:buChar char="-"/>
                </a:pPr>
                <a:r>
                  <a:rPr lang="en-US" dirty="0" err="1"/>
                  <a:t>Superficie</a:t>
                </a:r>
                <a:r>
                  <a:rPr lang="en-US" dirty="0"/>
                  <a:t> de </a:t>
                </a:r>
                <a:r>
                  <a:rPr lang="en-US" dirty="0" err="1"/>
                  <a:t>Volatilidad</a:t>
                </a:r>
                <a:r>
                  <a:rPr lang="en-US" dirty="0"/>
                  <a:t> – La idea es </a:t>
                </a:r>
                <a:r>
                  <a:rPr lang="en-US" dirty="0" err="1"/>
                  <a:t>mapear</a:t>
                </a:r>
                <a:r>
                  <a:rPr lang="en-US" dirty="0"/>
                  <a:t> </a:t>
                </a:r>
                <a:r>
                  <a:rPr lang="en-US" dirty="0" err="1"/>
                  <a:t>todas</a:t>
                </a:r>
                <a:r>
                  <a:rPr lang="en-US" dirty="0"/>
                  <a:t> las </a:t>
                </a:r>
                <a:r>
                  <a:rPr lang="en-US" dirty="0" err="1"/>
                  <a:t>opciones</a:t>
                </a:r>
                <a:r>
                  <a:rPr lang="en-US" dirty="0"/>
                  <a:t> con </a:t>
                </a:r>
                <a:r>
                  <a:rPr lang="en-US" dirty="0" err="1"/>
                  <a:t>su</a:t>
                </a:r>
                <a:r>
                  <a:rPr lang="en-US" dirty="0"/>
                  <a:t> </a:t>
                </a:r>
                <a:r>
                  <a:rPr lang="en-US" dirty="0" err="1"/>
                  <a:t>volatilidad</a:t>
                </a:r>
                <a:r>
                  <a:rPr lang="en-US" dirty="0"/>
                  <a:t> </a:t>
                </a:r>
                <a:r>
                  <a:rPr lang="en-US" dirty="0" err="1"/>
                  <a:t>implicita</a:t>
                </a:r>
                <a:r>
                  <a:rPr lang="en-US" dirty="0"/>
                  <a:t> y </a:t>
                </a:r>
                <a:r>
                  <a:rPr lang="en-US" dirty="0" err="1"/>
                  <a:t>generar</a:t>
                </a:r>
                <a:r>
                  <a:rPr lang="en-US" dirty="0"/>
                  <a:t> una function que para </a:t>
                </a:r>
                <a:r>
                  <a:rPr lang="en-US" dirty="0" err="1"/>
                  <a:t>cualquier</a:t>
                </a:r>
                <a:r>
                  <a:rPr lang="en-US" dirty="0"/>
                  <a:t> maturity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y </a:t>
                </a:r>
                <a:r>
                  <a:rPr lang="en-US" dirty="0" err="1"/>
                  <a:t>cualquier</a:t>
                </a:r>
                <a:r>
                  <a:rPr lang="en-US" dirty="0"/>
                  <a:t> </a:t>
                </a:r>
                <a:r>
                  <a:rPr lang="en-US" dirty="0" err="1"/>
                  <a:t>strke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se </a:t>
                </a:r>
                <a:r>
                  <a:rPr lang="en-US" dirty="0" err="1"/>
                  <a:t>obtenga</a:t>
                </a:r>
                <a:r>
                  <a:rPr lang="en-US" dirty="0"/>
                  <a:t> la </a:t>
                </a:r>
                <a:r>
                  <a:rPr lang="en-US" dirty="0" err="1"/>
                  <a:t>volatilidad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n-US" dirty="0" err="1"/>
                  <a:t>desde</a:t>
                </a:r>
                <a:r>
                  <a:rPr lang="en-US" dirty="0"/>
                  <a:t> </a:t>
                </a:r>
                <a:r>
                  <a:rPr lang="en-US" dirty="0" err="1"/>
                  <a:t>ya</a:t>
                </a:r>
                <a:r>
                  <a:rPr lang="en-US" dirty="0"/>
                  <a:t> </a:t>
                </a:r>
                <a:r>
                  <a:rPr lang="en-US" dirty="0" err="1"/>
                  <a:t>eso</a:t>
                </a:r>
                <a:r>
                  <a:rPr lang="en-US" dirty="0"/>
                  <a:t> </a:t>
                </a:r>
                <a:r>
                  <a:rPr lang="en-US" dirty="0" err="1"/>
                  <a:t>podria</a:t>
                </a:r>
                <a:r>
                  <a:rPr lang="en-US" dirty="0"/>
                  <a:t> </a:t>
                </a:r>
                <a:r>
                  <a:rPr lang="en-US" dirty="0" err="1"/>
                  <a:t>darnos</a:t>
                </a:r>
                <a:r>
                  <a:rPr lang="en-US" dirty="0"/>
                  <a:t> los </a:t>
                </a:r>
                <a:r>
                  <a:rPr lang="en-US" dirty="0" err="1"/>
                  <a:t>precios</a:t>
                </a:r>
                <a:r>
                  <a:rPr lang="en-US" dirty="0"/>
                  <a:t> Tambien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6F7940-5905-4125-A2C0-6DE9248F8C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3641" r="-110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5776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F8EB-E384-48E0-AA40-8E3741CD8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Disparadores</a:t>
            </a:r>
            <a:r>
              <a:rPr lang="en-US" dirty="0"/>
              <a:t> para </a:t>
            </a:r>
            <a:r>
              <a:rPr lang="en-US" dirty="0" err="1"/>
              <a:t>ejercicios</a:t>
            </a:r>
            <a:r>
              <a:rPr lang="en-US" dirty="0"/>
              <a:t>, o TPs…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F7940-5905-4125-A2C0-6DE9248F8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Tx/>
              <a:buChar char="-"/>
            </a:pPr>
            <a:r>
              <a:rPr lang="en-US" dirty="0"/>
              <a:t>‘</a:t>
            </a:r>
            <a:r>
              <a:rPr lang="en-US" dirty="0" err="1"/>
              <a:t>mejorar</a:t>
            </a:r>
            <a:r>
              <a:rPr lang="en-US" dirty="0"/>
              <a:t>’ los </a:t>
            </a:r>
            <a:r>
              <a:rPr lang="en-US" dirty="0" err="1"/>
              <a:t>modelos</a:t>
            </a:r>
            <a:r>
              <a:rPr lang="en-US" dirty="0"/>
              <a:t> vistos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:</a:t>
            </a:r>
          </a:p>
          <a:p>
            <a:pPr lvl="1">
              <a:buFontTx/>
              <a:buChar char="-"/>
            </a:pPr>
            <a:r>
              <a:rPr lang="en-US" dirty="0" err="1"/>
              <a:t>Incorporando</a:t>
            </a:r>
            <a:r>
              <a:rPr lang="en-US" dirty="0"/>
              <a:t> major </a:t>
            </a:r>
            <a:r>
              <a:rPr lang="en-US" dirty="0" err="1"/>
              <a:t>manejo</a:t>
            </a:r>
            <a:r>
              <a:rPr lang="en-US" dirty="0"/>
              <a:t> del </a:t>
            </a:r>
            <a:r>
              <a:rPr lang="en-US" dirty="0" err="1"/>
              <a:t>calendario</a:t>
            </a:r>
            <a:r>
              <a:rPr lang="en-US" dirty="0"/>
              <a:t>, </a:t>
            </a:r>
            <a:r>
              <a:rPr lang="en-US" dirty="0" err="1"/>
              <a:t>convenciones</a:t>
            </a:r>
            <a:r>
              <a:rPr lang="en-US" dirty="0"/>
              <a:t> de </a:t>
            </a:r>
            <a:r>
              <a:rPr lang="en-US" dirty="0" err="1"/>
              <a:t>daycount</a:t>
            </a:r>
            <a:endParaRPr lang="en-US" dirty="0"/>
          </a:p>
          <a:p>
            <a:pPr lvl="1">
              <a:buFontTx/>
              <a:buChar char="-"/>
            </a:pPr>
            <a:r>
              <a:rPr lang="en-US" dirty="0" err="1"/>
              <a:t>Mejorando</a:t>
            </a:r>
            <a:r>
              <a:rPr lang="en-US" dirty="0"/>
              <a:t> la </a:t>
            </a:r>
            <a:r>
              <a:rPr lang="en-US" dirty="0" err="1"/>
              <a:t>manera</a:t>
            </a:r>
            <a:r>
              <a:rPr lang="en-US" dirty="0"/>
              <a:t> de </a:t>
            </a:r>
            <a:r>
              <a:rPr lang="en-US" dirty="0" err="1"/>
              <a:t>obener</a:t>
            </a:r>
            <a:r>
              <a:rPr lang="en-US" dirty="0"/>
              <a:t> </a:t>
            </a:r>
            <a:r>
              <a:rPr lang="en-US" dirty="0" err="1"/>
              <a:t>volatilidad</a:t>
            </a:r>
            <a:r>
              <a:rPr lang="en-US" dirty="0"/>
              <a:t> de mercado</a:t>
            </a:r>
          </a:p>
          <a:p>
            <a:pPr lvl="1">
              <a:buFontTx/>
              <a:buChar char="-"/>
            </a:pPr>
            <a:r>
              <a:rPr lang="en-US" dirty="0" err="1"/>
              <a:t>Optimizando</a:t>
            </a:r>
            <a:r>
              <a:rPr lang="en-US" dirty="0"/>
              <a:t> la </a:t>
            </a:r>
            <a:r>
              <a:rPr lang="en-US" dirty="0" err="1"/>
              <a:t>cantidad</a:t>
            </a:r>
            <a:r>
              <a:rPr lang="en-US" dirty="0"/>
              <a:t> de pasos (binomial, DF, </a:t>
            </a:r>
            <a:r>
              <a:rPr lang="en-US" dirty="0" err="1"/>
              <a:t>Montecarlo</a:t>
            </a:r>
            <a:r>
              <a:rPr lang="en-US" dirty="0"/>
              <a:t>)</a:t>
            </a:r>
          </a:p>
          <a:p>
            <a:pPr>
              <a:buFontTx/>
              <a:buChar char="-"/>
            </a:pPr>
            <a:r>
              <a:rPr lang="en-US" dirty="0" err="1"/>
              <a:t>Masterizar</a:t>
            </a:r>
            <a:r>
              <a:rPr lang="en-US" dirty="0"/>
              <a:t> la </a:t>
            </a:r>
            <a:r>
              <a:rPr lang="en-US" dirty="0" err="1"/>
              <a:t>libreria</a:t>
            </a:r>
            <a:r>
              <a:rPr lang="en-US" dirty="0"/>
              <a:t> </a:t>
            </a:r>
            <a:r>
              <a:rPr lang="en-US" dirty="0" err="1"/>
              <a:t>QuantLib</a:t>
            </a:r>
            <a:r>
              <a:rPr lang="en-US" dirty="0"/>
              <a:t> y </a:t>
            </a:r>
            <a:r>
              <a:rPr lang="en-US" dirty="0" err="1"/>
              <a:t>usarla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herramienta</a:t>
            </a:r>
            <a:r>
              <a:rPr lang="en-US" dirty="0"/>
              <a:t> principal.</a:t>
            </a:r>
          </a:p>
          <a:p>
            <a:pPr>
              <a:buFontTx/>
              <a:buChar char="-"/>
            </a:pPr>
            <a:r>
              <a:rPr lang="en-US" dirty="0" err="1"/>
              <a:t>Estudiar</a:t>
            </a:r>
            <a:r>
              <a:rPr lang="en-US" dirty="0"/>
              <a:t> </a:t>
            </a:r>
            <a:r>
              <a:rPr lang="en-US" dirty="0" err="1"/>
              <a:t>otro</a:t>
            </a:r>
            <a:r>
              <a:rPr lang="en-US" dirty="0"/>
              <a:t> </a:t>
            </a:r>
            <a:r>
              <a:rPr lang="en-US" dirty="0" err="1"/>
              <a:t>tipo</a:t>
            </a:r>
            <a:r>
              <a:rPr lang="en-US" dirty="0"/>
              <a:t> de payoffs y </a:t>
            </a:r>
            <a:r>
              <a:rPr lang="en-US" dirty="0" err="1"/>
              <a:t>estructuras</a:t>
            </a:r>
            <a:r>
              <a:rPr lang="en-US" dirty="0"/>
              <a:t> y </a:t>
            </a:r>
            <a:r>
              <a:rPr lang="en-US" dirty="0" err="1"/>
              <a:t>modelos</a:t>
            </a:r>
            <a:r>
              <a:rPr lang="en-US" dirty="0"/>
              <a:t> para </a:t>
            </a:r>
            <a:r>
              <a:rPr lang="en-US" dirty="0" err="1"/>
              <a:t>estos</a:t>
            </a:r>
            <a:r>
              <a:rPr lang="en-US" dirty="0"/>
              <a:t>:</a:t>
            </a:r>
          </a:p>
          <a:p>
            <a:pPr lvl="1">
              <a:buFontTx/>
              <a:buChar char="-"/>
            </a:pPr>
            <a:r>
              <a:rPr lang="en-US" dirty="0"/>
              <a:t>Barrera</a:t>
            </a:r>
          </a:p>
          <a:p>
            <a:pPr lvl="1">
              <a:buFontTx/>
              <a:buChar char="-"/>
            </a:pPr>
            <a:r>
              <a:rPr lang="en-US" dirty="0" err="1"/>
              <a:t>Asiaticas</a:t>
            </a:r>
            <a:endParaRPr lang="en-US" dirty="0"/>
          </a:p>
          <a:p>
            <a:pPr lvl="1">
              <a:buFontTx/>
              <a:buChar char="-"/>
            </a:pPr>
            <a:r>
              <a:rPr lang="en-US" dirty="0"/>
              <a:t>Baskets</a:t>
            </a:r>
          </a:p>
          <a:p>
            <a:pPr lvl="1"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Estudiar</a:t>
            </a:r>
            <a:r>
              <a:rPr lang="en-US" dirty="0"/>
              <a:t> </a:t>
            </a:r>
            <a:r>
              <a:rPr lang="en-US" dirty="0" err="1"/>
              <a:t>particularidades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subyacentes</a:t>
            </a:r>
            <a:r>
              <a:rPr lang="en-US" dirty="0"/>
              <a:t>:</a:t>
            </a:r>
          </a:p>
          <a:p>
            <a:pPr lvl="1">
              <a:buFontTx/>
              <a:buChar char="-"/>
            </a:pPr>
            <a:r>
              <a:rPr lang="en-US" dirty="0"/>
              <a:t>FX</a:t>
            </a:r>
          </a:p>
          <a:p>
            <a:pPr lvl="1">
              <a:buFontTx/>
              <a:buChar char="-"/>
            </a:pPr>
            <a:r>
              <a:rPr lang="en-US" dirty="0"/>
              <a:t>Commodities</a:t>
            </a:r>
          </a:p>
          <a:p>
            <a:pPr lvl="1">
              <a:buFontTx/>
              <a:buChar char="-"/>
            </a:pPr>
            <a:r>
              <a:rPr lang="en-US" dirty="0"/>
              <a:t>Tasa</a:t>
            </a:r>
          </a:p>
          <a:p>
            <a:pPr lvl="1">
              <a:buFontTx/>
              <a:buChar char="-"/>
            </a:pPr>
            <a:r>
              <a:rPr lang="en-US" dirty="0" err="1"/>
              <a:t>Credito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4853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F8EB-E384-48E0-AA40-8E3741CD8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F7940-5905-4125-A2C0-6DE9248F8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Gracias por </a:t>
            </a:r>
            <a:r>
              <a:rPr lang="en-US" dirty="0" err="1"/>
              <a:t>todo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Cualquier</a:t>
            </a:r>
            <a:r>
              <a:rPr lang="en-US" dirty="0"/>
              <a:t> </a:t>
            </a:r>
            <a:r>
              <a:rPr lang="en-US" dirty="0" err="1"/>
              <a:t>duda</a:t>
            </a:r>
            <a:r>
              <a:rPr lang="en-US" dirty="0"/>
              <a:t>/</a:t>
            </a:r>
            <a:r>
              <a:rPr lang="en-US" dirty="0" err="1"/>
              <a:t>comentario</a:t>
            </a:r>
            <a:r>
              <a:rPr lang="en-US" dirty="0"/>
              <a:t> con respect a </a:t>
            </a:r>
            <a:r>
              <a:rPr lang="en-US" dirty="0" err="1"/>
              <a:t>este</a:t>
            </a:r>
            <a:r>
              <a:rPr lang="en-US" dirty="0"/>
              <a:t> modulo,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general, los TP finales o lo que sea!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manuelmaurette@gmail.com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774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30882</TotalTime>
  <Words>1658</Words>
  <Application>Microsoft Office PowerPoint</Application>
  <PresentationFormat>Widescreen</PresentationFormat>
  <Paragraphs>237</Paragraphs>
  <Slides>27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El Browniano Geométrico (1/2)</vt:lpstr>
      <vt:lpstr>El Browniano Geométrico (2/2)</vt:lpstr>
      <vt:lpstr>Modelo de Montecarlo (1/2)</vt:lpstr>
      <vt:lpstr>Modelo de Montecarlo (2/2)</vt:lpstr>
      <vt:lpstr>Algoritmo Montecarlo</vt:lpstr>
      <vt:lpstr>PowerPoint Presentation</vt:lpstr>
      <vt:lpstr>Modelos de diferencias finitas para PDEs</vt:lpstr>
      <vt:lpstr>Modelos de diferencias finitas para PDEs</vt:lpstr>
      <vt:lpstr>Modelos de diferencias finitas para PDEs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Algoritmo Diferencias Finitas</vt:lpstr>
      <vt:lpstr>PowerPoint Presentation</vt:lpstr>
      <vt:lpstr>PowerPoint Presentation</vt:lpstr>
      <vt:lpstr>QuantLib (1/2)</vt:lpstr>
      <vt:lpstr>QuantLib (2/2)</vt:lpstr>
      <vt:lpstr>Disparadores para ejercicios, o TPs… (1/2)</vt:lpstr>
      <vt:lpstr>Disparadores para ejercicios, o TPs… (1/2)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DF2021 - Clase 5</dc:title>
  <dc:creator>Manuel Maurette</dc:creator>
  <cp:lastModifiedBy>Manuel Maurette</cp:lastModifiedBy>
  <cp:revision>26</cp:revision>
  <dcterms:created xsi:type="dcterms:W3CDTF">2020-08-04T03:31:07Z</dcterms:created>
  <dcterms:modified xsi:type="dcterms:W3CDTF">2022-08-14T18:13:31Z</dcterms:modified>
</cp:coreProperties>
</file>